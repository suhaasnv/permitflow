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PermitFlow is the application I built for the Full Stack Developer assessment: a licensing operations platform for a Food Establishment Licence, live at permitflow.space with two demonstration accounts. In the next ten minutes I will show the problem as the brief describes it, the product decisions I made, the working system, and what I would do next. Everything on these slides is in the repository; I will name the file where it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describes a slow, lossy loop between a business and a licensing officer. An application comes in, documents are attached, an officer reviews, sends feedback, the business resubmits, and the officer reviews again; the loop closes on itself, and each turn loses something. [Click] Six specific frictions, taken from the brief and recorded in docs/discovery/PROBLEM.md: incomplete submissions cause repeated rejection cycles; feedback is not tied to a section or a document; operators re-enter everything and data is lost between rounds; officers cannot see what changed or whether an issue was actually fixed; officers retype the same comments; and applications get lost through status changes, with an incomplete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one continuous workflow that both people share. The operator applies through a four-section form, uploads the four required documents, sees an automatic check on each one, and presses Submit application. [Click] The officer presses Start review, sees the findings beside each document, adds feedback tied to a section or a document, from a template if it is a common issue, and presses Request resubmission. [Click] The operator sees exactly what was asked for, replaces only the flagged documents or edits only the flagged sections, and presses Resubmit. [Click] The officer compares the two revisions, marks each item resolved, records the site visit as scheduled and then done, routes the application to approval and approves. Every verb here is a button in the product, spelled as it appears; the officer's available actions come from the state machine, not from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as deployed, captured on 19 September 2026 on the development environment. The operator's dashboard groups applications by what needs the operator's attention. The documents page shows each upload with its check result in operator language: Verified, or Needs your attention, never a confidence figure. The officer's case page shows the same documents with the finding, the quoted evidence, the confidence and the model, and the feedback rail on the right. The compare view lists what changed between two revisions. [Click] Zooming into the officer's case: the finding for the tenancy agreement quotes the line in the document, the rail shows two open feedback items, and the primary action is Request resubmission. One workflow, two personas, full traceability.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is a verifier, not a decider. When a document is uploaded, before anyone submits, the text is extracted and checked for readability, compared with the form, and the model returns a structured result: issues with a closed code, a quoted piece of evidence, and a self-reported confidence. The operator sees the outcome, a plain explanation and each issue in plain words, never the evidence quote and never the confidence. The officer sees everything: the outcome, each issue with its code and evidence, the confidence and the model on the card, with the prompt version recorded in the audit event and the trace, and a Re-run check button. The decision is the officer's. The Approve dialog warns about unresolved findings but never blocks. Three things are deterministic on purpose and never touched by the model: feedback templates, the revision compare, and status changes. The provider sits behind an interface with a mock used in tests and CI, so the model is replaceable. That design is ADR-006. One more rule: the injection check is a deterministic rule that runs before the verdict is read, and the output passes two strict schemas before it is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record from today, PF-2026-001009 on the development environment, with the demonstration documents from docs/demo/documents; the clean business profile was uploaded, so two of the set's three planted issues are in play. Kopi and Kaya Toast House applies for 10 Jalan Besar #01-12. [Click] Revision 1 is submitted and it carries two planted problems: the tenancy agreement names unit #01-21 and the food hygiene certificate has expired. Both checks return Issues found; the business profile and floor plan are Verified. [Click] The officer adds feedback on both documents, one from the template for an expired certificate, and presses Request resubmission. [Click] The operator sees Pending Pre-Site Resubmission and a notice that the licensing office asked for two changes. Only those two document slots reopen; the server refuses any other change with a 403. The operator replaces both files and presses Resubmit. [Click] Revision 2 is stored as a new immutable snapshot. Both checks now say Verified, and each feedback item shows Addressed in Revision 2. The officer's compare view reads: 0 sections and 2 documents changed. [Click] The officer presses Start review on Revision 2, marks both items resolved and presses Mark site visit scheduled; the site visit is only reachable from Under Review, which the state machine enforces. Every step is in the audit trail with the actor and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principles, each enforced by code or a test; where the evidence is a layering test rather than a named test, I say so. One: one continuous workflow. Fourteen states, actors, guards and labels are a table in domain/workflow.py; every status change goes through one function, and 588 combinations are tested. Two: immutable revisions and a read-time diff. Every submission is a snapshot; the compare view is computed, never stored, so nothing is lost between rounds by construction. Three: contextual feedback. Every item is tied to a section or a document, and 'only the flagged parts' is an authorization rule the server answers with 403, not a hint in the UI. [Click] Four: AI-assisted, never AI-decided. The verifier writes only to verification_runs and the state machine has no AI actor; the layering test and the transition tests cover it, and there is no single test named for that property, which is a fair criticism I would accept. The state machine does define a system actor; it is the checklist auto-transition for use case 3, not the verifier. Five: the status change, its audit row, the notification and, on approval, the licence certificate all happen in one transaction or not at all. Six: role-aware by construction. Authorization is server-side on every route, every endpoint has an authorization test, and operators never receive an internal status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 modular monolith: React 19 with TypeScript in front, FastAPI behind it. The API layer owns authentication and the role guards and returns one error envelope; AI verification runs beside it as an in-process background task. Application services call a pure Python domain, where the workflow table, the verification rules and the diff live with no framework imports; a layering test enforces that. The provider interface takes structured output through two strict schemas and deterministic post-rules. Repositories write audit rows in the same transaction; files sit on a volume behind a storage interface; the provider calls OpenAI, or the mock provider by default and in tests; with no key configured a check is stored as unavailable and no model is called. PostgreSQL 16 stores revisions as JSONB snapshots. CI builds two images once and Railway pulls them; dev deploys on every push, production is run by hand from main and pauses for an approval before Railway is touched. The full diagram is docs/architecture/permitflow-architecture.png and the decisions are the twelve ADRs.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first: 748 backend tests on a real PostgreSQL, 152 frontend tests, eight Playwright specs, 96 and 80.6 percent coverage enforced in CI, 588 state-machine combinations, 22 threats with controls, 12 ADRs, 70 stories. [Click] Each line of the checklist has one piece of evidence. The state machine test rejects every invalid transition with a clear error. Every endpoint has an authorization test and ownership is answered as 404. Pydantic validates the HTTP boundary and the model's output with one error envelope carrying a request id. Audit rows are append-only in the same transaction. CI gates: lint, types, tests with coverage thresholds, a six-stage AI gate on the mock, the axe-core accessibility gate, gitleaks, pip-audit, bandit and npm audit. The live AI evaluation runs 14 golden cases and a 21-run fairness check against the real model, nightly and on change, blocking at 14 of 14 and 21 of 21. Deployment builds the images once; production is run by hand from main, pauses for an approval, and is gated on health afterwards. [Click] Scope: use cases 1 and 2 are complete with the brief's twelve states plus draft and withdrawn. Use case 3, the site-visit checklist, is deferred with its three statuses present and tested. Four things are simplified for a demonstration and listed with severity in the readiness review: email is mocked, files live on a volume, AI checks run as in-process background tasks, and the rate limiter is in-process. One more thing the panel will ask: the code was written with Claude Code under standing rules in CLAUDE.md; I read every diff before it was committed, every story carried its tests, and AI_USAGE.md records what the AI got wrong, from invented enum values on the first live run to a scratch file swept into a commit, and what was done about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would do next, in the README's order, each with a severity in the readiness review. Use case 3 first, because it is the largest functional gap. Then the infrastructure changes production needs: a queue and worker so AI checks survive deploys, object storage with signed URLs and a virus scan, an httpOnly cookie with CSRF protection, CSP nonces and edge rate limiting. Three High items from the readiness review sit here as well: backups with a tested restore; identity, because the demonstration runs on seeded accounts with no registration, reset, MFA or SSO; and data protection, because extracted document text goes to OpenAI with no retention or redaction policy yet. For the AI: a labelled set grown from officer overrides, red-teaming beyond the two injection cases, Project Moonshot as the Singapore assurance evidence, confidence calibration, a multilingual injection classifier, in-region tracing and OCR for scanned uploads. The admin epic, delivery hardening including backups and a restore drill, and then product: email delivery, officer assignment, more licence types through a configurable form schema, a public licence verification page and digital signing. Each item has an entry with severity in docs/reviews/PRODUCTION_READINESS_REVIEW.md.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from submission to resolution, one traceable licensing workflow. Submit, check, review, feedback, resubmit, compare, resolve, decide. It is a working MVP built with production practices in a three-day constraint, and the documents say plainly what is not production yet. The site is permitflow.space and the repository is github.com/SuhaasNv/permitflow. If it helps in the discussion, the six things I would open first are SCOPE.md, domain/workflow.py with its exhaustive test, the resubmission loop in the browser, domain/verification_rules.py with the evals folder, the deploy workflow with the production approval, and the production readiness review.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pic>
        <p:nvPicPr>
          <p:cNvPr id="2" name="Image 0" descr="/Users/suhaasnv/Documents/Desktop ALT/portfolioprojects/permitflow/notes/pitch/deck/pptx/build/cover-queue-1440.png">    </p:cNvPr>
          <p:cNvPicPr>
            <a:picLocks noChangeAspect="1"/>
          </p:cNvPicPr>
          <p:nvPr/>
        </p:nvPicPr>
        <p:blipFill>
          <a:blip r:embed="rId1">
            <a:alphaModFix amt="22000"/>
          </a:blip>
          <a:stretch>
            <a:fillRect/>
          </a:stretch>
        </p:blipFill>
        <p:spPr>
          <a:xfrm>
            <a:off x="0" y="0"/>
            <a:ext cx="12192000" cy="6667500"/>
          </a:xfrm>
          <a:prstGeom prst="rect">
            <a:avLst/>
          </a:prstGeom>
        </p:spPr>
      </p:pic>
      <p:sp>
        <p:nvSpPr>
          <p:cNvPr id="3" name="Shape 0"/>
          <p:cNvSpPr/>
          <p:nvPr/>
        </p:nvSpPr>
        <p:spPr>
          <a:xfrm>
            <a:off x="203200" y="152400"/>
            <a:ext cx="721360" cy="215900"/>
          </a:xfrm>
          <a:prstGeom prst="roundRect">
            <a:avLst>
              <a:gd name="adj" fmla="val 17647"/>
            </a:avLst>
          </a:prstGeom>
          <a:solidFill>
            <a:srgbClr val="EEF4FF"/>
          </a:solidFill>
          <a:ln w="9525">
            <a:solidFill>
              <a:srgbClr val="B2CCFA"/>
            </a:solidFill>
            <a:prstDash val="solid"/>
          </a:ln>
        </p:spPr>
      </p:sp>
      <p:sp>
        <p:nvSpPr>
          <p:cNvPr id="4" name="Text 1"/>
          <p:cNvSpPr txBox="1"/>
          <p:nvPr/>
        </p:nvSpPr>
        <p:spPr>
          <a:xfrm>
            <a:off x="203200" y="152400"/>
            <a:ext cx="721360" cy="215900"/>
          </a:xfrm>
          <a:prstGeom prst="rect">
            <a:avLst/>
          </a:prstGeom>
          <a:noFill/>
          <a:ln/>
        </p:spPr>
        <p:txBody>
          <a:bodyPr wrap="none" lIns="0" tIns="0" rIns="0" bIns="0" rtlCol="0" anchor="ctr"/>
          <a:lstStyle/>
          <a:p>
            <a:pPr algn="ctr" indent="0" marL="0">
              <a:lnSpc>
                <a:spcPct val="115000"/>
              </a:lnSpc>
              <a:buNone/>
            </a:pPr>
            <a:r>
              <a:rPr lang="en-US" sz="1000" b="1" dirty="0">
                <a:solidFill>
                  <a:srgbClr val="175CD3"/>
                </a:solidFill>
                <a:latin typeface="Arial" pitchFamily="34" charset="0"/>
                <a:ea typeface="Arial" pitchFamily="34" charset="-122"/>
                <a:cs typeface="Arial" pitchFamily="34" charset="-120"/>
              </a:rPr>
              <a:t>Officer</a:t>
            </a:r>
            <a:endParaRPr lang="en-US" sz="1000" dirty="0"/>
          </a:p>
        </p:txBody>
      </p:sp>
      <p:pic>
        <p:nvPicPr>
          <p:cNvPr id="5" name="Image 1" descr="/Users/suhaasnv/Documents/Desktop ALT/portfolioprojects/permitflow/notes/pitch/deck/pptx/build/mark.png">    </p:cNvPr>
          <p:cNvPicPr>
            <a:picLocks noChangeAspect="1"/>
          </p:cNvPicPr>
          <p:nvPr/>
        </p:nvPicPr>
        <p:blipFill>
          <a:blip r:embed="rId2"/>
          <a:stretch>
            <a:fillRect/>
          </a:stretch>
        </p:blipFill>
        <p:spPr>
          <a:xfrm>
            <a:off x="762000" y="1905000"/>
            <a:ext cx="609600" cy="609600"/>
          </a:xfrm>
          <a:prstGeom prst="rect">
            <a:avLst/>
          </a:prstGeom>
        </p:spPr>
      </p:pic>
      <p:sp>
        <p:nvSpPr>
          <p:cNvPr id="6" name="Text 2"/>
          <p:cNvSpPr txBox="1"/>
          <p:nvPr/>
        </p:nvSpPr>
        <p:spPr>
          <a:xfrm>
            <a:off x="1549400" y="1905000"/>
            <a:ext cx="3810000" cy="609600"/>
          </a:xfrm>
          <a:prstGeom prst="rect">
            <a:avLst/>
          </a:prstGeom>
          <a:noFill/>
          <a:ln/>
        </p:spPr>
        <p:txBody>
          <a:bodyPr wrap="square" lIns="0" tIns="0" rIns="0" bIns="0" rtlCol="0" anchor="ctr"/>
          <a:lstStyle/>
          <a:p>
            <a:pPr algn="l" indent="0" marL="0">
              <a:lnSpc>
                <a:spcPct val="115000"/>
              </a:lnSpc>
              <a:buNone/>
            </a:pPr>
            <a:r>
              <a:rPr lang="en-US" sz="2976" b="1" spc="-100" kern="0" dirty="0">
                <a:solidFill>
                  <a:srgbClr val="FFFFFF"/>
                </a:solidFill>
                <a:latin typeface="Arial" pitchFamily="34" charset="0"/>
                <a:ea typeface="Arial" pitchFamily="34" charset="-122"/>
                <a:cs typeface="Arial" pitchFamily="34" charset="-120"/>
              </a:rPr>
              <a:t>PermitFlow</a:t>
            </a:r>
            <a:endParaRPr lang="en-US" sz="2976" dirty="0"/>
          </a:p>
        </p:txBody>
      </p:sp>
      <p:sp>
        <p:nvSpPr>
          <p:cNvPr id="7" name="Text 3"/>
          <p:cNvSpPr txBox="1"/>
          <p:nvPr/>
        </p:nvSpPr>
        <p:spPr>
          <a:xfrm>
            <a:off x="762000" y="2870200"/>
            <a:ext cx="8255000" cy="1524000"/>
          </a:xfrm>
          <a:prstGeom prst="rect">
            <a:avLst/>
          </a:prstGeom>
          <a:noFill/>
          <a:ln/>
        </p:spPr>
        <p:txBody>
          <a:bodyPr wrap="square" lIns="0" tIns="0" rIns="0" bIns="0" rtlCol="0" anchor="t"/>
          <a:lstStyle/>
          <a:p>
            <a:pPr algn="l" indent="0" marL="0">
              <a:lnSpc>
                <a:spcPct val="108000"/>
              </a:lnSpc>
              <a:buNone/>
            </a:pPr>
            <a:r>
              <a:rPr lang="en-US" sz="4400" dirty="0">
                <a:solidFill>
                  <a:srgbClr val="FFFFFF"/>
                </a:solidFill>
                <a:latin typeface="Cambria" pitchFamily="34" charset="0"/>
                <a:ea typeface="Cambria" pitchFamily="34" charset="-122"/>
                <a:cs typeface="Cambria" pitchFamily="34" charset="-120"/>
              </a:rPr>
              <a:t>Modernising regulatory licensing workflows</a:t>
            </a:r>
            <a:endParaRPr lang="en-US" sz="4400" dirty="0"/>
          </a:p>
        </p:txBody>
      </p:sp>
      <p:sp>
        <p:nvSpPr>
          <p:cNvPr id="8" name="Text 4"/>
          <p:cNvSpPr txBox="1"/>
          <p:nvPr/>
        </p:nvSpPr>
        <p:spPr>
          <a:xfrm>
            <a:off x="762000" y="4470400"/>
            <a:ext cx="8255000" cy="698500"/>
          </a:xfrm>
          <a:prstGeom prst="rect">
            <a:avLst/>
          </a:prstGeom>
          <a:noFill/>
          <a:ln/>
        </p:spPr>
        <p:txBody>
          <a:bodyPr wrap="square" lIns="0" tIns="0" rIns="0" bIns="0" rtlCol="0" anchor="t"/>
          <a:lstStyle/>
          <a:p>
            <a:pPr algn="l" indent="0" marL="0">
              <a:lnSpc>
                <a:spcPct val="130000"/>
              </a:lnSpc>
              <a:buNone/>
            </a:pPr>
            <a:r>
              <a:rPr lang="en-US" sz="1600" dirty="0">
                <a:solidFill>
                  <a:srgbClr val="C5CBD4"/>
                </a:solidFill>
                <a:latin typeface="Arial" pitchFamily="34" charset="0"/>
                <a:ea typeface="Arial" pitchFamily="34" charset="-122"/>
                <a:cs typeface="Arial" pitchFamily="34" charset="-120"/>
              </a:rPr>
              <a:t>A working product for the Food Establishment Licence: submit, review, feedback, resubmit and decide, with an advisory document check.</a:t>
            </a:r>
            <a:endParaRPr lang="en-US" sz="1600" dirty="0"/>
          </a:p>
        </p:txBody>
      </p:sp>
      <p:sp>
        <p:nvSpPr>
          <p:cNvPr id="9" name="Text 5"/>
          <p:cNvSpPr txBox="1"/>
          <p:nvPr/>
        </p:nvSpPr>
        <p:spPr>
          <a:xfrm>
            <a:off x="762000" y="6096000"/>
            <a:ext cx="7620000" cy="254000"/>
          </a:xfrm>
          <a:prstGeom prst="rect">
            <a:avLst/>
          </a:prstGeom>
          <a:noFill/>
          <a:ln/>
        </p:spPr>
        <p:txBody>
          <a:bodyPr wrap="square" lIns="0" tIns="0" rIns="0" bIns="0" rtlCol="0" anchor="t"/>
          <a:lstStyle/>
          <a:p>
            <a:pPr algn="l" indent="0" marL="0">
              <a:lnSpc>
                <a:spcPct val="115000"/>
              </a:lnSpc>
              <a:buNone/>
            </a:pPr>
            <a:r>
              <a:rPr lang="en-US" sz="1200" b="1" dirty="0">
                <a:solidFill>
                  <a:srgbClr val="FFFFFF"/>
                </a:solidFill>
                <a:latin typeface="Arial" pitchFamily="34" charset="0"/>
                <a:ea typeface="Arial" pitchFamily="34" charset="-122"/>
                <a:cs typeface="Arial" pitchFamily="34" charset="-120"/>
              </a:rPr>
              <a:t>Full Stack Developer Assessment</a:t>
            </a:r>
            <a:pPr algn="l" indent="0" marL="0">
              <a:lnSpc>
                <a:spcPct val="115000"/>
              </a:lnSpc>
              <a:buNone/>
            </a:pPr>
            <a:r>
              <a:rPr lang="en-US" sz="1200" dirty="0">
                <a:solidFill>
                  <a:srgbClr val="9AA3B0"/>
                </a:solidFill>
                <a:latin typeface="Arial" pitchFamily="34" charset="0"/>
                <a:ea typeface="Arial" pitchFamily="34" charset="-122"/>
                <a:cs typeface="Arial" pitchFamily="34" charset="-120"/>
              </a:rPr>
              <a:t> · Xtremax, Singapore · September 2026</a:t>
            </a:r>
            <a:endParaRPr lang="en-US" sz="1200" dirty="0"/>
          </a:p>
        </p:txBody>
      </p:sp>
      <p:sp>
        <p:nvSpPr>
          <p:cNvPr id="10" name="Text 6"/>
          <p:cNvSpPr txBox="1"/>
          <p:nvPr/>
        </p:nvSpPr>
        <p:spPr>
          <a:xfrm>
            <a:off x="7620000" y="6096000"/>
            <a:ext cx="3810000" cy="254000"/>
          </a:xfrm>
          <a:prstGeom prst="rect">
            <a:avLst/>
          </a:prstGeom>
          <a:noFill/>
          <a:ln/>
        </p:spPr>
        <p:txBody>
          <a:bodyPr wrap="square" lIns="0" tIns="0" rIns="0" bIns="0" rtlCol="0" anchor="t"/>
          <a:lstStyle/>
          <a:p>
            <a:pPr algn="r" indent="0" marL="0">
              <a:lnSpc>
                <a:spcPct val="115000"/>
              </a:lnSpc>
              <a:buNone/>
            </a:pPr>
            <a:r>
              <a:rPr lang="en-US" sz="1200" dirty="0">
                <a:solidFill>
                  <a:srgbClr val="9AA3B0"/>
                </a:solidFill>
                <a:latin typeface="Arial" pitchFamily="34" charset="0"/>
                <a:ea typeface="Arial" pitchFamily="34" charset="-122"/>
                <a:cs typeface="Arial" pitchFamily="34" charset="-120"/>
              </a:rPr>
              <a:t>v0.3.0 · permitflow.space</a:t>
            </a:r>
            <a:endParaRPr lang="en-US" sz="1200" dirty="0"/>
          </a:p>
        </p:txBody>
      </p:sp>
    </p:spTree>
  </p:cSld>
  <p:clrMapOvr>
    <a:masterClrMapping/>
  </p:clrMapOvr>
  <p:transition spd="fast">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THE PROBLEM</a:t>
            </a:r>
            <a:endParaRPr lang="en-US" sz="1100" dirty="0"/>
          </a:p>
        </p:txBody>
      </p:sp>
      <p:sp>
        <p:nvSpPr>
          <p:cNvPr id="3" name="Text 1"/>
          <p:cNvSpPr txBox="1"/>
          <p:nvPr/>
        </p:nvSpPr>
        <p:spPr>
          <a:xfrm>
            <a:off x="762000" y="863600"/>
            <a:ext cx="9906000" cy="1016000"/>
          </a:xfrm>
          <a:prstGeom prst="rect">
            <a:avLst/>
          </a:prstGeom>
          <a:noFill/>
          <a:ln/>
        </p:spPr>
        <p:txBody>
          <a:bodyPr wrap="square" lIns="0" tIns="0" rIns="0" bIns="0" rtlCol="0" anchor="t"/>
          <a:lstStyle/>
          <a:p>
            <a:pPr algn="l" indent="0" marL="0">
              <a:lnSpc>
                <a:spcPct val="108000"/>
              </a:lnSpc>
              <a:buNone/>
            </a:pPr>
            <a:r>
              <a:rPr lang="en-US" sz="3000" dirty="0">
                <a:solidFill>
                  <a:srgbClr val="1B2430"/>
                </a:solidFill>
                <a:latin typeface="Cambria" pitchFamily="34" charset="0"/>
                <a:ea typeface="Cambria" pitchFamily="34" charset="-122"/>
                <a:cs typeface="Cambria" pitchFamily="34" charset="-120"/>
              </a:rPr>
              <a:t>Licence applications go round in a slow, lossy loop, and each turn costs both sides time and trust.</a:t>
            </a:r>
            <a:endParaRPr lang="en-US" sz="3000" dirty="0"/>
          </a:p>
        </p:txBody>
      </p:sp>
      <p:sp>
        <p:nvSpPr>
          <p:cNvPr id="4" name="Shape 2"/>
          <p:cNvSpPr/>
          <p:nvPr/>
        </p:nvSpPr>
        <p:spPr>
          <a:xfrm>
            <a:off x="1491343" y="2489200"/>
            <a:ext cx="9209314" cy="736600"/>
          </a:xfrm>
          <a:prstGeom prst="roundRect">
            <a:avLst>
              <a:gd name="adj" fmla="val 24138"/>
            </a:avLst>
          </a:prstGeom>
          <a:solidFill>
            <a:srgbClr val="F4F5F7"/>
          </a:solidFill>
          <a:ln w="28575">
            <a:solidFill>
              <a:srgbClr val="AEB6C2"/>
            </a:solidFill>
            <a:prstDash val="solid"/>
          </a:ln>
        </p:spPr>
      </p:sp>
      <p:sp>
        <p:nvSpPr>
          <p:cNvPr id="5" name="Shape 3"/>
          <p:cNvSpPr/>
          <p:nvPr/>
        </p:nvSpPr>
        <p:spPr>
          <a:xfrm flipV="1">
            <a:off x="1415143" y="2794000"/>
            <a:ext cx="76200" cy="101600"/>
          </a:xfrm>
          <a:prstGeom prst="line">
            <a:avLst/>
          </a:prstGeom>
          <a:noFill/>
          <a:ln w="28575">
            <a:solidFill>
              <a:srgbClr val="AEB6C2"/>
            </a:solidFill>
            <a:prstDash val="solid"/>
          </a:ln>
        </p:spPr>
      </p:sp>
      <p:sp>
        <p:nvSpPr>
          <p:cNvPr id="6" name="Shape 4"/>
          <p:cNvSpPr/>
          <p:nvPr/>
        </p:nvSpPr>
        <p:spPr>
          <a:xfrm>
            <a:off x="1491343" y="2794000"/>
            <a:ext cx="76200" cy="101600"/>
          </a:xfrm>
          <a:prstGeom prst="line">
            <a:avLst/>
          </a:prstGeom>
          <a:noFill/>
          <a:ln w="28575">
            <a:solidFill>
              <a:srgbClr val="AEB6C2"/>
            </a:solidFill>
            <a:prstDash val="solid"/>
          </a:ln>
        </p:spPr>
      </p:sp>
      <p:sp>
        <p:nvSpPr>
          <p:cNvPr id="7" name="Shape 5"/>
          <p:cNvSpPr/>
          <p:nvPr/>
        </p:nvSpPr>
        <p:spPr>
          <a:xfrm>
            <a:off x="762000" y="2197100"/>
            <a:ext cx="10668000" cy="584200"/>
          </a:xfrm>
          <a:prstGeom prst="roundRect">
            <a:avLst/>
          </a:prstGeom>
          <a:solidFill>
            <a:srgbClr val="F4F5F7"/>
          </a:solidFill>
          <a:ln w="12700">
            <a:solidFill>
              <a:srgbClr val="F4F5F7"/>
            </a:solidFill>
            <a:prstDash val="solid"/>
          </a:ln>
        </p:spPr>
      </p:sp>
      <p:sp>
        <p:nvSpPr>
          <p:cNvPr id="8" name="Shape 6"/>
          <p:cNvSpPr/>
          <p:nvPr/>
        </p:nvSpPr>
        <p:spPr>
          <a:xfrm>
            <a:off x="762000" y="2222500"/>
            <a:ext cx="1458686" cy="533400"/>
          </a:xfrm>
          <a:prstGeom prst="roundRect">
            <a:avLst>
              <a:gd name="adj" fmla="val 714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9" name="Text 7"/>
          <p:cNvSpPr txBox="1"/>
          <p:nvPr/>
        </p:nvSpPr>
        <p:spPr>
          <a:xfrm>
            <a:off x="762000" y="2222500"/>
            <a:ext cx="1458686" cy="533400"/>
          </a:xfrm>
          <a:prstGeom prst="rect">
            <a:avLst/>
          </a:prstGeom>
          <a:noFill/>
          <a:ln/>
        </p:spPr>
        <p:txBody>
          <a:bodyPr wrap="none" lIns="0" tIns="0" rIns="0" bIns="0" rtlCol="0" anchor="ctr"/>
          <a:lstStyle/>
          <a:p>
            <a:pPr algn="ctr" indent="0" marL="0">
              <a:lnSpc>
                <a:spcPct val="115000"/>
              </a:lnSpc>
              <a:buNone/>
            </a:pPr>
            <a:r>
              <a:rPr lang="en-US" sz="1350" b="1" dirty="0">
                <a:solidFill>
                  <a:srgbClr val="1B2430"/>
                </a:solidFill>
                <a:latin typeface="Arial" pitchFamily="34" charset="0"/>
                <a:ea typeface="Arial" pitchFamily="34" charset="-122"/>
                <a:cs typeface="Arial" pitchFamily="34" charset="-120"/>
              </a:rPr>
              <a:t>Application</a:t>
            </a:r>
            <a:endParaRPr lang="en-US" sz="1350" dirty="0"/>
          </a:p>
        </p:txBody>
      </p:sp>
      <p:sp>
        <p:nvSpPr>
          <p:cNvPr id="10" name="Shape 8"/>
          <p:cNvSpPr/>
          <p:nvPr/>
        </p:nvSpPr>
        <p:spPr>
          <a:xfrm>
            <a:off x="2296886" y="2222500"/>
            <a:ext cx="1458686" cy="533400"/>
          </a:xfrm>
          <a:prstGeom prst="roundRect">
            <a:avLst>
              <a:gd name="adj" fmla="val 714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1" name="Text 9"/>
          <p:cNvSpPr txBox="1"/>
          <p:nvPr/>
        </p:nvSpPr>
        <p:spPr>
          <a:xfrm>
            <a:off x="2296886" y="2222500"/>
            <a:ext cx="1458686" cy="533400"/>
          </a:xfrm>
          <a:prstGeom prst="rect">
            <a:avLst/>
          </a:prstGeom>
          <a:noFill/>
          <a:ln/>
        </p:spPr>
        <p:txBody>
          <a:bodyPr wrap="none" lIns="0" tIns="0" rIns="0" bIns="0" rtlCol="0" anchor="ctr"/>
          <a:lstStyle/>
          <a:p>
            <a:pPr algn="ctr" indent="0" marL="0">
              <a:lnSpc>
                <a:spcPct val="115000"/>
              </a:lnSpc>
              <a:buNone/>
            </a:pPr>
            <a:r>
              <a:rPr lang="en-US" sz="1350" b="1" dirty="0">
                <a:solidFill>
                  <a:srgbClr val="1B2430"/>
                </a:solidFill>
                <a:latin typeface="Arial" pitchFamily="34" charset="0"/>
                <a:ea typeface="Arial" pitchFamily="34" charset="-122"/>
                <a:cs typeface="Arial" pitchFamily="34" charset="-120"/>
              </a:rPr>
              <a:t>Documents</a:t>
            </a:r>
            <a:endParaRPr lang="en-US" sz="1350" dirty="0"/>
          </a:p>
        </p:txBody>
      </p:sp>
      <p:sp>
        <p:nvSpPr>
          <p:cNvPr id="12" name="Shape 10"/>
          <p:cNvSpPr/>
          <p:nvPr/>
        </p:nvSpPr>
        <p:spPr>
          <a:xfrm>
            <a:off x="3831771" y="2222500"/>
            <a:ext cx="1458686" cy="533400"/>
          </a:xfrm>
          <a:prstGeom prst="roundRect">
            <a:avLst>
              <a:gd name="adj" fmla="val 714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3" name="Text 11"/>
          <p:cNvSpPr txBox="1"/>
          <p:nvPr/>
        </p:nvSpPr>
        <p:spPr>
          <a:xfrm>
            <a:off x="3831771" y="2222500"/>
            <a:ext cx="1458686" cy="533400"/>
          </a:xfrm>
          <a:prstGeom prst="rect">
            <a:avLst/>
          </a:prstGeom>
          <a:noFill/>
          <a:ln/>
        </p:spPr>
        <p:txBody>
          <a:bodyPr wrap="none" lIns="0" tIns="0" rIns="0" bIns="0" rtlCol="0" anchor="ctr"/>
          <a:lstStyle/>
          <a:p>
            <a:pPr algn="ctr" indent="0" marL="0">
              <a:lnSpc>
                <a:spcPct val="115000"/>
              </a:lnSpc>
              <a:buNone/>
            </a:pPr>
            <a:r>
              <a:rPr lang="en-US" sz="1350" b="1" dirty="0">
                <a:solidFill>
                  <a:srgbClr val="1B2430"/>
                </a:solidFill>
                <a:latin typeface="Arial" pitchFamily="34" charset="0"/>
                <a:ea typeface="Arial" pitchFamily="34" charset="-122"/>
                <a:cs typeface="Arial" pitchFamily="34" charset="-120"/>
              </a:rPr>
              <a:t>Review</a:t>
            </a:r>
            <a:endParaRPr lang="en-US" sz="1350" dirty="0"/>
          </a:p>
        </p:txBody>
      </p:sp>
      <p:sp>
        <p:nvSpPr>
          <p:cNvPr id="14" name="Shape 12"/>
          <p:cNvSpPr/>
          <p:nvPr/>
        </p:nvSpPr>
        <p:spPr>
          <a:xfrm>
            <a:off x="5366657" y="2222500"/>
            <a:ext cx="1458686" cy="533400"/>
          </a:xfrm>
          <a:prstGeom prst="roundRect">
            <a:avLst>
              <a:gd name="adj" fmla="val 714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5" name="Text 13"/>
          <p:cNvSpPr txBox="1"/>
          <p:nvPr/>
        </p:nvSpPr>
        <p:spPr>
          <a:xfrm>
            <a:off x="5366657" y="2222500"/>
            <a:ext cx="1458686" cy="533400"/>
          </a:xfrm>
          <a:prstGeom prst="rect">
            <a:avLst/>
          </a:prstGeom>
          <a:noFill/>
          <a:ln/>
        </p:spPr>
        <p:txBody>
          <a:bodyPr wrap="none" lIns="0" tIns="0" rIns="0" bIns="0" rtlCol="0" anchor="ctr"/>
          <a:lstStyle/>
          <a:p>
            <a:pPr algn="ctr" indent="0" marL="0">
              <a:lnSpc>
                <a:spcPct val="115000"/>
              </a:lnSpc>
              <a:buNone/>
            </a:pPr>
            <a:r>
              <a:rPr lang="en-US" sz="1350" b="1" dirty="0">
                <a:solidFill>
                  <a:srgbClr val="1B2430"/>
                </a:solidFill>
                <a:latin typeface="Arial" pitchFamily="34" charset="0"/>
                <a:ea typeface="Arial" pitchFamily="34" charset="-122"/>
                <a:cs typeface="Arial" pitchFamily="34" charset="-120"/>
              </a:rPr>
              <a:t>Feedback</a:t>
            </a:r>
            <a:endParaRPr lang="en-US" sz="1350" dirty="0"/>
          </a:p>
        </p:txBody>
      </p:sp>
      <p:sp>
        <p:nvSpPr>
          <p:cNvPr id="16" name="Shape 14"/>
          <p:cNvSpPr/>
          <p:nvPr/>
        </p:nvSpPr>
        <p:spPr>
          <a:xfrm>
            <a:off x="6901543" y="2222500"/>
            <a:ext cx="1458686" cy="533400"/>
          </a:xfrm>
          <a:prstGeom prst="roundRect">
            <a:avLst>
              <a:gd name="adj" fmla="val 714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7" name="Text 15"/>
          <p:cNvSpPr txBox="1"/>
          <p:nvPr/>
        </p:nvSpPr>
        <p:spPr>
          <a:xfrm>
            <a:off x="6901543" y="2222500"/>
            <a:ext cx="1458686" cy="533400"/>
          </a:xfrm>
          <a:prstGeom prst="rect">
            <a:avLst/>
          </a:prstGeom>
          <a:noFill/>
          <a:ln/>
        </p:spPr>
        <p:txBody>
          <a:bodyPr wrap="none" lIns="0" tIns="0" rIns="0" bIns="0" rtlCol="0" anchor="ctr"/>
          <a:lstStyle/>
          <a:p>
            <a:pPr algn="ctr" indent="0" marL="0">
              <a:lnSpc>
                <a:spcPct val="115000"/>
              </a:lnSpc>
              <a:buNone/>
            </a:pPr>
            <a:r>
              <a:rPr lang="en-US" sz="1350" b="1" dirty="0">
                <a:solidFill>
                  <a:srgbClr val="1B2430"/>
                </a:solidFill>
                <a:latin typeface="Arial" pitchFamily="34" charset="0"/>
                <a:ea typeface="Arial" pitchFamily="34" charset="-122"/>
                <a:cs typeface="Arial" pitchFamily="34" charset="-120"/>
              </a:rPr>
              <a:t>Resubmission</a:t>
            </a:r>
            <a:endParaRPr lang="en-US" sz="1350" dirty="0"/>
          </a:p>
        </p:txBody>
      </p:sp>
      <p:sp>
        <p:nvSpPr>
          <p:cNvPr id="18" name="Shape 16"/>
          <p:cNvSpPr/>
          <p:nvPr/>
        </p:nvSpPr>
        <p:spPr>
          <a:xfrm>
            <a:off x="8436429" y="2222500"/>
            <a:ext cx="1458686" cy="533400"/>
          </a:xfrm>
          <a:prstGeom prst="roundRect">
            <a:avLst>
              <a:gd name="adj" fmla="val 714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9" name="Text 17"/>
          <p:cNvSpPr txBox="1"/>
          <p:nvPr/>
        </p:nvSpPr>
        <p:spPr>
          <a:xfrm>
            <a:off x="8436429" y="2222500"/>
            <a:ext cx="1458686" cy="533400"/>
          </a:xfrm>
          <a:prstGeom prst="rect">
            <a:avLst/>
          </a:prstGeom>
          <a:noFill/>
          <a:ln/>
        </p:spPr>
        <p:txBody>
          <a:bodyPr wrap="none" lIns="0" tIns="0" rIns="0" bIns="0" rtlCol="0" anchor="ctr"/>
          <a:lstStyle/>
          <a:p>
            <a:pPr algn="ctr" indent="0" marL="0">
              <a:lnSpc>
                <a:spcPct val="115000"/>
              </a:lnSpc>
              <a:buNone/>
            </a:pPr>
            <a:r>
              <a:rPr lang="en-US" sz="1350" b="1" dirty="0">
                <a:solidFill>
                  <a:srgbClr val="1B2430"/>
                </a:solidFill>
                <a:latin typeface="Arial" pitchFamily="34" charset="0"/>
                <a:ea typeface="Arial" pitchFamily="34" charset="-122"/>
                <a:cs typeface="Arial" pitchFamily="34" charset="-120"/>
              </a:rPr>
              <a:t>Review again</a:t>
            </a:r>
            <a:endParaRPr lang="en-US" sz="1350" dirty="0"/>
          </a:p>
        </p:txBody>
      </p:sp>
      <p:sp>
        <p:nvSpPr>
          <p:cNvPr id="20" name="Shape 18"/>
          <p:cNvSpPr/>
          <p:nvPr/>
        </p:nvSpPr>
        <p:spPr>
          <a:xfrm>
            <a:off x="9971314" y="2222500"/>
            <a:ext cx="1458686" cy="533400"/>
          </a:xfrm>
          <a:prstGeom prst="roundRect">
            <a:avLst>
              <a:gd name="adj" fmla="val 714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21" name="Text 19"/>
          <p:cNvSpPr txBox="1"/>
          <p:nvPr/>
        </p:nvSpPr>
        <p:spPr>
          <a:xfrm>
            <a:off x="9971314" y="2222500"/>
            <a:ext cx="1458686" cy="533400"/>
          </a:xfrm>
          <a:prstGeom prst="rect">
            <a:avLst/>
          </a:prstGeom>
          <a:noFill/>
          <a:ln/>
        </p:spPr>
        <p:txBody>
          <a:bodyPr wrap="none" lIns="0" tIns="0" rIns="0" bIns="0" rtlCol="0" anchor="ctr"/>
          <a:lstStyle/>
          <a:p>
            <a:pPr algn="ctr" indent="0" marL="0">
              <a:lnSpc>
                <a:spcPct val="115000"/>
              </a:lnSpc>
              <a:buNone/>
            </a:pPr>
            <a:r>
              <a:rPr lang="en-US" sz="1350" b="1" dirty="0">
                <a:solidFill>
                  <a:srgbClr val="1B2430"/>
                </a:solidFill>
                <a:latin typeface="Arial" pitchFamily="34" charset="0"/>
                <a:ea typeface="Arial" pitchFamily="34" charset="-122"/>
                <a:cs typeface="Arial" pitchFamily="34" charset="-120"/>
              </a:rPr>
              <a:t>Feedback again</a:t>
            </a:r>
            <a:endParaRPr lang="en-US" sz="1350" dirty="0"/>
          </a:p>
        </p:txBody>
      </p:sp>
      <p:sp>
        <p:nvSpPr>
          <p:cNvPr id="22" name="b1"/>
          <p:cNvSpPr txBox="1"/>
          <p:nvPr/>
        </p:nvSpPr>
        <p:spPr>
          <a:xfrm>
            <a:off x="762000" y="3587750"/>
            <a:ext cx="304800" cy="254000"/>
          </a:xfrm>
          <a:prstGeom prst="rect">
            <a:avLst/>
          </a:prstGeom>
          <a:noFill/>
          <a:ln/>
        </p:spPr>
        <p:txBody>
          <a:bodyPr wrap="square" lIns="0" tIns="0" rIns="0" bIns="0" rtlCol="0" anchor="t"/>
          <a:lstStyle/>
          <a:p>
            <a:pPr algn="l" indent="0" marL="0">
              <a:lnSpc>
                <a:spcPct val="115000"/>
              </a:lnSpc>
              <a:buNone/>
            </a:pPr>
            <a:r>
              <a:rPr lang="en-US" sz="1200" dirty="0">
                <a:solidFill>
                  <a:srgbClr val="616C7A"/>
                </a:solidFill>
                <a:latin typeface="Courier New" pitchFamily="34" charset="0"/>
                <a:ea typeface="Courier New" pitchFamily="34" charset="-122"/>
                <a:cs typeface="Courier New" pitchFamily="34" charset="-120"/>
              </a:rPr>
              <a:t>01</a:t>
            </a:r>
            <a:endParaRPr lang="en-US" sz="1200" dirty="0"/>
          </a:p>
        </p:txBody>
      </p:sp>
      <p:sp>
        <p:nvSpPr>
          <p:cNvPr id="23" name="b1"/>
          <p:cNvSpPr txBox="1"/>
          <p:nvPr/>
        </p:nvSpPr>
        <p:spPr>
          <a:xfrm>
            <a:off x="1143000" y="3556000"/>
            <a:ext cx="4699000" cy="558800"/>
          </a:xfrm>
          <a:prstGeom prst="rect">
            <a:avLst/>
          </a:prstGeom>
          <a:noFill/>
          <a:ln/>
        </p:spPr>
        <p:txBody>
          <a:bodyPr wrap="square" lIns="0" tIns="0" rIns="0" bIns="0" rtlCol="0" anchor="t"/>
          <a:lstStyle/>
          <a:p>
            <a:pPr algn="l" indent="0" marL="0">
              <a:lnSpc>
                <a:spcPct val="130000"/>
              </a:lnSpc>
              <a:buNone/>
            </a:pPr>
            <a:r>
              <a:rPr lang="en-US" sz="1500" dirty="0">
                <a:solidFill>
                  <a:srgbClr val="465060"/>
                </a:solidFill>
                <a:latin typeface="Arial" pitchFamily="34" charset="0"/>
                <a:ea typeface="Arial" pitchFamily="34" charset="-122"/>
                <a:cs typeface="Arial" pitchFamily="34" charset="-120"/>
              </a:rPr>
              <a:t>Incomplete or incorrect submissions cause repeated rejection cycles.</a:t>
            </a:r>
            <a:endParaRPr lang="en-US" sz="1500" dirty="0"/>
          </a:p>
        </p:txBody>
      </p:sp>
      <p:sp>
        <p:nvSpPr>
          <p:cNvPr id="24" name="b1"/>
          <p:cNvSpPr txBox="1"/>
          <p:nvPr/>
        </p:nvSpPr>
        <p:spPr>
          <a:xfrm>
            <a:off x="6096000" y="3587750"/>
            <a:ext cx="304800" cy="254000"/>
          </a:xfrm>
          <a:prstGeom prst="rect">
            <a:avLst/>
          </a:prstGeom>
          <a:noFill/>
          <a:ln/>
        </p:spPr>
        <p:txBody>
          <a:bodyPr wrap="square" lIns="0" tIns="0" rIns="0" bIns="0" rtlCol="0" anchor="t"/>
          <a:lstStyle/>
          <a:p>
            <a:pPr algn="l" indent="0" marL="0">
              <a:lnSpc>
                <a:spcPct val="115000"/>
              </a:lnSpc>
              <a:buNone/>
            </a:pPr>
            <a:r>
              <a:rPr lang="en-US" sz="1200" dirty="0">
                <a:solidFill>
                  <a:srgbClr val="616C7A"/>
                </a:solidFill>
                <a:latin typeface="Courier New" pitchFamily="34" charset="0"/>
                <a:ea typeface="Courier New" pitchFamily="34" charset="-122"/>
                <a:cs typeface="Courier New" pitchFamily="34" charset="-120"/>
              </a:rPr>
              <a:t>02</a:t>
            </a:r>
            <a:endParaRPr lang="en-US" sz="1200" dirty="0"/>
          </a:p>
        </p:txBody>
      </p:sp>
      <p:sp>
        <p:nvSpPr>
          <p:cNvPr id="25" name="b1"/>
          <p:cNvSpPr txBox="1"/>
          <p:nvPr/>
        </p:nvSpPr>
        <p:spPr>
          <a:xfrm>
            <a:off x="6477000" y="3556000"/>
            <a:ext cx="4699000" cy="558800"/>
          </a:xfrm>
          <a:prstGeom prst="rect">
            <a:avLst/>
          </a:prstGeom>
          <a:noFill/>
          <a:ln/>
        </p:spPr>
        <p:txBody>
          <a:bodyPr wrap="square" lIns="0" tIns="0" rIns="0" bIns="0" rtlCol="0" anchor="t"/>
          <a:lstStyle/>
          <a:p>
            <a:pPr algn="l" indent="0" marL="0">
              <a:lnSpc>
                <a:spcPct val="130000"/>
              </a:lnSpc>
              <a:buNone/>
            </a:pPr>
            <a:r>
              <a:rPr lang="en-US" sz="1500" dirty="0">
                <a:solidFill>
                  <a:srgbClr val="465060"/>
                </a:solidFill>
                <a:latin typeface="Arial" pitchFamily="34" charset="0"/>
                <a:ea typeface="Arial" pitchFamily="34" charset="-122"/>
                <a:cs typeface="Arial" pitchFamily="34" charset="-120"/>
              </a:rPr>
              <a:t>Feedback is not tied to a section or a document, so the business does not know what to fix.</a:t>
            </a:r>
            <a:endParaRPr lang="en-US" sz="1500" dirty="0"/>
          </a:p>
        </p:txBody>
      </p:sp>
      <p:sp>
        <p:nvSpPr>
          <p:cNvPr id="26" name="b1"/>
          <p:cNvSpPr txBox="1"/>
          <p:nvPr/>
        </p:nvSpPr>
        <p:spPr>
          <a:xfrm>
            <a:off x="762000" y="4273550"/>
            <a:ext cx="304800" cy="254000"/>
          </a:xfrm>
          <a:prstGeom prst="rect">
            <a:avLst/>
          </a:prstGeom>
          <a:noFill/>
          <a:ln/>
        </p:spPr>
        <p:txBody>
          <a:bodyPr wrap="square" lIns="0" tIns="0" rIns="0" bIns="0" rtlCol="0" anchor="t"/>
          <a:lstStyle/>
          <a:p>
            <a:pPr algn="l" indent="0" marL="0">
              <a:lnSpc>
                <a:spcPct val="115000"/>
              </a:lnSpc>
              <a:buNone/>
            </a:pPr>
            <a:r>
              <a:rPr lang="en-US" sz="1200" dirty="0">
                <a:solidFill>
                  <a:srgbClr val="616C7A"/>
                </a:solidFill>
                <a:latin typeface="Courier New" pitchFamily="34" charset="0"/>
                <a:ea typeface="Courier New" pitchFamily="34" charset="-122"/>
                <a:cs typeface="Courier New" pitchFamily="34" charset="-120"/>
              </a:rPr>
              <a:t>03</a:t>
            </a:r>
            <a:endParaRPr lang="en-US" sz="1200" dirty="0"/>
          </a:p>
        </p:txBody>
      </p:sp>
      <p:sp>
        <p:nvSpPr>
          <p:cNvPr id="27" name="b1"/>
          <p:cNvSpPr txBox="1"/>
          <p:nvPr/>
        </p:nvSpPr>
        <p:spPr>
          <a:xfrm>
            <a:off x="1143000" y="4241800"/>
            <a:ext cx="4699000" cy="558800"/>
          </a:xfrm>
          <a:prstGeom prst="rect">
            <a:avLst/>
          </a:prstGeom>
          <a:noFill/>
          <a:ln/>
        </p:spPr>
        <p:txBody>
          <a:bodyPr wrap="square" lIns="0" tIns="0" rIns="0" bIns="0" rtlCol="0" anchor="t"/>
          <a:lstStyle/>
          <a:p>
            <a:pPr algn="l" indent="0" marL="0">
              <a:lnSpc>
                <a:spcPct val="130000"/>
              </a:lnSpc>
              <a:buNone/>
            </a:pPr>
            <a:r>
              <a:rPr lang="en-US" sz="1500" dirty="0">
                <a:solidFill>
                  <a:srgbClr val="465060"/>
                </a:solidFill>
                <a:latin typeface="Arial" pitchFamily="34" charset="0"/>
                <a:ea typeface="Arial" pitchFamily="34" charset="-122"/>
                <a:cs typeface="Arial" pitchFamily="34" charset="-120"/>
              </a:rPr>
              <a:t>The whole application is re-entered on resubmission and data is lost between rounds.</a:t>
            </a:r>
            <a:endParaRPr lang="en-US" sz="1500" dirty="0"/>
          </a:p>
        </p:txBody>
      </p:sp>
      <p:sp>
        <p:nvSpPr>
          <p:cNvPr id="28" name="b1"/>
          <p:cNvSpPr txBox="1"/>
          <p:nvPr/>
        </p:nvSpPr>
        <p:spPr>
          <a:xfrm>
            <a:off x="6096000" y="4273550"/>
            <a:ext cx="304800" cy="254000"/>
          </a:xfrm>
          <a:prstGeom prst="rect">
            <a:avLst/>
          </a:prstGeom>
          <a:noFill/>
          <a:ln/>
        </p:spPr>
        <p:txBody>
          <a:bodyPr wrap="square" lIns="0" tIns="0" rIns="0" bIns="0" rtlCol="0" anchor="t"/>
          <a:lstStyle/>
          <a:p>
            <a:pPr algn="l" indent="0" marL="0">
              <a:lnSpc>
                <a:spcPct val="115000"/>
              </a:lnSpc>
              <a:buNone/>
            </a:pPr>
            <a:r>
              <a:rPr lang="en-US" sz="1200" dirty="0">
                <a:solidFill>
                  <a:srgbClr val="616C7A"/>
                </a:solidFill>
                <a:latin typeface="Courier New" pitchFamily="34" charset="0"/>
                <a:ea typeface="Courier New" pitchFamily="34" charset="-122"/>
                <a:cs typeface="Courier New" pitchFamily="34" charset="-120"/>
              </a:rPr>
              <a:t>04</a:t>
            </a:r>
            <a:endParaRPr lang="en-US" sz="1200" dirty="0"/>
          </a:p>
        </p:txBody>
      </p:sp>
      <p:sp>
        <p:nvSpPr>
          <p:cNvPr id="29" name="b1"/>
          <p:cNvSpPr txBox="1"/>
          <p:nvPr/>
        </p:nvSpPr>
        <p:spPr>
          <a:xfrm>
            <a:off x="6477000" y="4241800"/>
            <a:ext cx="4699000" cy="558800"/>
          </a:xfrm>
          <a:prstGeom prst="rect">
            <a:avLst/>
          </a:prstGeom>
          <a:noFill/>
          <a:ln/>
        </p:spPr>
        <p:txBody>
          <a:bodyPr wrap="square" lIns="0" tIns="0" rIns="0" bIns="0" rtlCol="0" anchor="t"/>
          <a:lstStyle/>
          <a:p>
            <a:pPr algn="l" indent="0" marL="0">
              <a:lnSpc>
                <a:spcPct val="130000"/>
              </a:lnSpc>
              <a:buNone/>
            </a:pPr>
            <a:r>
              <a:rPr lang="en-US" sz="1500" dirty="0">
                <a:solidFill>
                  <a:srgbClr val="465060"/>
                </a:solidFill>
                <a:latin typeface="Arial" pitchFamily="34" charset="0"/>
                <a:ea typeface="Arial" pitchFamily="34" charset="-122"/>
                <a:cs typeface="Arial" pitchFamily="34" charset="-120"/>
              </a:rPr>
              <a:t>The officer cannot see what changed, or whether an earlier issue was actually resolved.</a:t>
            </a:r>
            <a:endParaRPr lang="en-US" sz="1500" dirty="0"/>
          </a:p>
        </p:txBody>
      </p:sp>
      <p:sp>
        <p:nvSpPr>
          <p:cNvPr id="30" name="b1"/>
          <p:cNvSpPr txBox="1"/>
          <p:nvPr/>
        </p:nvSpPr>
        <p:spPr>
          <a:xfrm>
            <a:off x="762000" y="4959350"/>
            <a:ext cx="304800" cy="254000"/>
          </a:xfrm>
          <a:prstGeom prst="rect">
            <a:avLst/>
          </a:prstGeom>
          <a:noFill/>
          <a:ln/>
        </p:spPr>
        <p:txBody>
          <a:bodyPr wrap="square" lIns="0" tIns="0" rIns="0" bIns="0" rtlCol="0" anchor="t"/>
          <a:lstStyle/>
          <a:p>
            <a:pPr algn="l" indent="0" marL="0">
              <a:lnSpc>
                <a:spcPct val="115000"/>
              </a:lnSpc>
              <a:buNone/>
            </a:pPr>
            <a:r>
              <a:rPr lang="en-US" sz="1200" dirty="0">
                <a:solidFill>
                  <a:srgbClr val="616C7A"/>
                </a:solidFill>
                <a:latin typeface="Courier New" pitchFamily="34" charset="0"/>
                <a:ea typeface="Courier New" pitchFamily="34" charset="-122"/>
                <a:cs typeface="Courier New" pitchFamily="34" charset="-120"/>
              </a:rPr>
              <a:t>05</a:t>
            </a:r>
            <a:endParaRPr lang="en-US" sz="1200" dirty="0"/>
          </a:p>
        </p:txBody>
      </p:sp>
      <p:sp>
        <p:nvSpPr>
          <p:cNvPr id="31" name="b1"/>
          <p:cNvSpPr txBox="1"/>
          <p:nvPr/>
        </p:nvSpPr>
        <p:spPr>
          <a:xfrm>
            <a:off x="1143000" y="4927600"/>
            <a:ext cx="4699000" cy="558800"/>
          </a:xfrm>
          <a:prstGeom prst="rect">
            <a:avLst/>
          </a:prstGeom>
          <a:noFill/>
          <a:ln/>
        </p:spPr>
        <p:txBody>
          <a:bodyPr wrap="square" lIns="0" tIns="0" rIns="0" bIns="0" rtlCol="0" anchor="t"/>
          <a:lstStyle/>
          <a:p>
            <a:pPr algn="l" indent="0" marL="0">
              <a:lnSpc>
                <a:spcPct val="130000"/>
              </a:lnSpc>
              <a:buNone/>
            </a:pPr>
            <a:r>
              <a:rPr lang="en-US" sz="1500" dirty="0">
                <a:solidFill>
                  <a:srgbClr val="465060"/>
                </a:solidFill>
                <a:latin typeface="Arial" pitchFamily="34" charset="0"/>
                <a:ea typeface="Arial" pitchFamily="34" charset="-122"/>
                <a:cs typeface="Arial" pitchFamily="34" charset="-120"/>
              </a:rPr>
              <a:t>The same comments are rewritten for the same common problems.</a:t>
            </a:r>
            <a:endParaRPr lang="en-US" sz="1500" dirty="0"/>
          </a:p>
        </p:txBody>
      </p:sp>
      <p:sp>
        <p:nvSpPr>
          <p:cNvPr id="32" name="b1"/>
          <p:cNvSpPr txBox="1"/>
          <p:nvPr/>
        </p:nvSpPr>
        <p:spPr>
          <a:xfrm>
            <a:off x="6096000" y="4959350"/>
            <a:ext cx="304800" cy="254000"/>
          </a:xfrm>
          <a:prstGeom prst="rect">
            <a:avLst/>
          </a:prstGeom>
          <a:noFill/>
          <a:ln/>
        </p:spPr>
        <p:txBody>
          <a:bodyPr wrap="square" lIns="0" tIns="0" rIns="0" bIns="0" rtlCol="0" anchor="t"/>
          <a:lstStyle/>
          <a:p>
            <a:pPr algn="l" indent="0" marL="0">
              <a:lnSpc>
                <a:spcPct val="115000"/>
              </a:lnSpc>
              <a:buNone/>
            </a:pPr>
            <a:r>
              <a:rPr lang="en-US" sz="1200" dirty="0">
                <a:solidFill>
                  <a:srgbClr val="616C7A"/>
                </a:solidFill>
                <a:latin typeface="Courier New" pitchFamily="34" charset="0"/>
                <a:ea typeface="Courier New" pitchFamily="34" charset="-122"/>
                <a:cs typeface="Courier New" pitchFamily="34" charset="-120"/>
              </a:rPr>
              <a:t>06</a:t>
            </a:r>
            <a:endParaRPr lang="en-US" sz="1200" dirty="0"/>
          </a:p>
        </p:txBody>
      </p:sp>
      <p:sp>
        <p:nvSpPr>
          <p:cNvPr id="33" name="b1"/>
          <p:cNvSpPr txBox="1"/>
          <p:nvPr/>
        </p:nvSpPr>
        <p:spPr>
          <a:xfrm>
            <a:off x="6477000" y="4927600"/>
            <a:ext cx="4699000" cy="558800"/>
          </a:xfrm>
          <a:prstGeom prst="rect">
            <a:avLst/>
          </a:prstGeom>
          <a:noFill/>
          <a:ln/>
        </p:spPr>
        <p:txBody>
          <a:bodyPr wrap="square" lIns="0" tIns="0" rIns="0" bIns="0" rtlCol="0" anchor="t"/>
          <a:lstStyle/>
          <a:p>
            <a:pPr algn="l" indent="0" marL="0">
              <a:lnSpc>
                <a:spcPct val="130000"/>
              </a:lnSpc>
              <a:buNone/>
            </a:pPr>
            <a:r>
              <a:rPr lang="en-US" sz="1500" dirty="0">
                <a:solidFill>
                  <a:srgbClr val="465060"/>
                </a:solidFill>
                <a:latin typeface="Arial" pitchFamily="34" charset="0"/>
                <a:ea typeface="Arial" pitchFamily="34" charset="-122"/>
                <a:cs typeface="Arial" pitchFamily="34" charset="-120"/>
              </a:rPr>
              <a:t>Applications get lost between stages and the record of what happened is incomplete.</a:t>
            </a:r>
            <a:endParaRPr lang="en-US" sz="1500" dirty="0"/>
          </a:p>
        </p:txBody>
      </p:sp>
      <p:sp>
        <p:nvSpPr>
          <p:cNvPr id="34" name="Text 32"/>
          <p:cNvSpPr txBox="1"/>
          <p:nvPr/>
        </p:nvSpPr>
        <p:spPr>
          <a:xfrm>
            <a:off x="762000" y="6299200"/>
            <a:ext cx="6350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Arial" pitchFamily="34" charset="0"/>
                <a:ea typeface="Arial" pitchFamily="34" charset="-122"/>
                <a:cs typeface="Arial" pitchFamily="34" charset="-120"/>
              </a:rPr>
              <a:t>Source: the assessment brief</a:t>
            </a:r>
            <a:endParaRPr lang="en-US" sz="1000" dirty="0"/>
          </a:p>
        </p:txBody>
      </p:sp>
      <p:sp>
        <p:nvSpPr>
          <p:cNvPr id="35" name="Text 33"/>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02 / 11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320"/>
                                        <p:tgtEl>
                                          <p:spTgt spid="22"/>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320"/>
                                        <p:tgtEl>
                                          <p:spTgt spid="23"/>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320"/>
                                        <p:tgtEl>
                                          <p:spTgt spid="24"/>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320"/>
                                        <p:tgtEl>
                                          <p:spTgt spid="25"/>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320"/>
                                        <p:tgtEl>
                                          <p:spTgt spid="26"/>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320"/>
                                        <p:tgtEl>
                                          <p:spTgt spid="27"/>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320"/>
                                        <p:tgtEl>
                                          <p:spTgt spid="28"/>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320"/>
                                        <p:tgtEl>
                                          <p:spTgt spid="29"/>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320"/>
                                        <p:tgtEl>
                                          <p:spTgt spid="30"/>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320"/>
                                        <p:tgtEl>
                                          <p:spTgt spid="31"/>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320"/>
                                        <p:tgtEl>
                                          <p:spTgt spid="32"/>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3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THE SOLUTION</a:t>
            </a:r>
            <a:endParaRPr lang="en-US" sz="1100" dirty="0"/>
          </a:p>
        </p:txBody>
      </p:sp>
      <p:sp>
        <p:nvSpPr>
          <p:cNvPr id="3" name="Text 1"/>
          <p:cNvSpPr txBox="1"/>
          <p:nvPr/>
        </p:nvSpPr>
        <p:spPr>
          <a:xfrm>
            <a:off x="762000" y="863600"/>
            <a:ext cx="9906000" cy="1016000"/>
          </a:xfrm>
          <a:prstGeom prst="rect">
            <a:avLst/>
          </a:prstGeom>
          <a:noFill/>
          <a:ln/>
        </p:spPr>
        <p:txBody>
          <a:bodyPr wrap="square" lIns="0" tIns="0" rIns="0" bIns="0" rtlCol="0" anchor="t"/>
          <a:lstStyle/>
          <a:p>
            <a:pPr algn="l" indent="0" marL="0">
              <a:lnSpc>
                <a:spcPct val="108000"/>
              </a:lnSpc>
              <a:buNone/>
            </a:pPr>
            <a:r>
              <a:rPr lang="en-US" sz="3000" dirty="0">
                <a:solidFill>
                  <a:srgbClr val="1B2430"/>
                </a:solidFill>
                <a:latin typeface="Cambria" pitchFamily="34" charset="0"/>
                <a:ea typeface="Cambria" pitchFamily="34" charset="-122"/>
                <a:cs typeface="Cambria" pitchFamily="34" charset="-120"/>
              </a:rPr>
              <a:t>One continuous workflow: submit, review, feedback tied to a section or a document, then resubmit only what was flagged.</a:t>
            </a:r>
            <a:endParaRPr lang="en-US" sz="3000" dirty="0"/>
          </a:p>
        </p:txBody>
      </p:sp>
      <p:sp>
        <p:nvSpPr>
          <p:cNvPr id="4" name="Shape 2"/>
          <p:cNvSpPr/>
          <p:nvPr/>
        </p:nvSpPr>
        <p:spPr>
          <a:xfrm>
            <a:off x="762000" y="2019300"/>
            <a:ext cx="10668000" cy="825500"/>
          </a:xfrm>
          <a:prstGeom prst="roundRect">
            <a:avLst>
              <a:gd name="adj" fmla="val 4615"/>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Shape 3"/>
          <p:cNvSpPr/>
          <p:nvPr/>
        </p:nvSpPr>
        <p:spPr>
          <a:xfrm>
            <a:off x="990600" y="2171700"/>
            <a:ext cx="802640" cy="215900"/>
          </a:xfrm>
          <a:prstGeom prst="roundRect">
            <a:avLst>
              <a:gd name="adj" fmla="val 17647"/>
            </a:avLst>
          </a:prstGeom>
          <a:solidFill>
            <a:srgbClr val="F2F4F7"/>
          </a:solidFill>
          <a:ln w="9525">
            <a:solidFill>
              <a:srgbClr val="D0D5DD"/>
            </a:solidFill>
            <a:prstDash val="solid"/>
          </a:ln>
        </p:spPr>
      </p:sp>
      <p:sp>
        <p:nvSpPr>
          <p:cNvPr id="6" name="Text 4"/>
          <p:cNvSpPr txBox="1"/>
          <p:nvPr/>
        </p:nvSpPr>
        <p:spPr>
          <a:xfrm>
            <a:off x="990600" y="2171700"/>
            <a:ext cx="802640" cy="215900"/>
          </a:xfrm>
          <a:prstGeom prst="rect">
            <a:avLst/>
          </a:prstGeom>
          <a:noFill/>
          <a:ln/>
        </p:spPr>
        <p:txBody>
          <a:bodyPr wrap="none" lIns="0" tIns="0" rIns="0" bIns="0" rtlCol="0" anchor="ctr"/>
          <a:lstStyle/>
          <a:p>
            <a:pPr algn="ctr" indent="0" marL="0">
              <a:lnSpc>
                <a:spcPct val="115000"/>
              </a:lnSpc>
              <a:buNone/>
            </a:pPr>
            <a:r>
              <a:rPr lang="en-US" sz="1000" b="1" dirty="0">
                <a:solidFill>
                  <a:srgbClr val="475467"/>
                </a:solidFill>
                <a:latin typeface="Arial" pitchFamily="34" charset="0"/>
                <a:ea typeface="Arial" pitchFamily="34" charset="-122"/>
                <a:cs typeface="Arial" pitchFamily="34" charset="-120"/>
              </a:rPr>
              <a:t>Operator</a:t>
            </a:r>
            <a:endParaRPr lang="en-US" sz="1000" dirty="0"/>
          </a:p>
        </p:txBody>
      </p:sp>
      <p:sp>
        <p:nvSpPr>
          <p:cNvPr id="7" name="Text 5"/>
          <p:cNvSpPr txBox="1"/>
          <p:nvPr/>
        </p:nvSpPr>
        <p:spPr>
          <a:xfrm>
            <a:off x="990600" y="2451100"/>
            <a:ext cx="12700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Arial" pitchFamily="34" charset="0"/>
                <a:ea typeface="Arial" pitchFamily="34" charset="-122"/>
                <a:cs typeface="Arial" pitchFamily="34" charset="-120"/>
              </a:rPr>
              <a:t>Applies</a:t>
            </a:r>
            <a:endParaRPr lang="en-US" sz="1100" dirty="0"/>
          </a:p>
        </p:txBody>
      </p:sp>
      <p:sp>
        <p:nvSpPr>
          <p:cNvPr id="8" name="Shape 6"/>
          <p:cNvSpPr/>
          <p:nvPr/>
        </p:nvSpPr>
        <p:spPr>
          <a:xfrm>
            <a:off x="2387600" y="2159000"/>
            <a:ext cx="1518920" cy="228600"/>
          </a:xfrm>
          <a:prstGeom prst="roundRect">
            <a:avLst>
              <a:gd name="adj" fmla="val 16667"/>
            </a:avLst>
          </a:prstGeom>
          <a:solidFill>
            <a:srgbClr val="1B2430"/>
          </a:solidFill>
          <a:ln w="9525">
            <a:solidFill>
              <a:srgbClr val="1B2430"/>
            </a:solidFill>
            <a:prstDash val="solid"/>
          </a:ln>
        </p:spPr>
      </p:sp>
      <p:sp>
        <p:nvSpPr>
          <p:cNvPr id="9" name="Text 7"/>
          <p:cNvSpPr txBox="1"/>
          <p:nvPr/>
        </p:nvSpPr>
        <p:spPr>
          <a:xfrm>
            <a:off x="2387600" y="2159000"/>
            <a:ext cx="1518920" cy="228600"/>
          </a:xfrm>
          <a:prstGeom prst="rect">
            <a:avLst/>
          </a:prstGeom>
          <a:noFill/>
          <a:ln/>
        </p:spPr>
        <p:txBody>
          <a:bodyPr wrap="none" lIns="0" tIns="0" rIns="0" bIns="0" rtlCol="0" anchor="ctr"/>
          <a:lstStyle/>
          <a:p>
            <a:pPr algn="ctr" indent="0" marL="0">
              <a:lnSpc>
                <a:spcPct val="115000"/>
              </a:lnSpc>
              <a:buNone/>
            </a:pPr>
            <a:r>
              <a:rPr lang="en-US" sz="1100" b="1" dirty="0">
                <a:solidFill>
                  <a:srgbClr val="FFFFFF"/>
                </a:solidFill>
                <a:latin typeface="Arial" pitchFamily="34" charset="0"/>
                <a:ea typeface="Arial" pitchFamily="34" charset="-122"/>
                <a:cs typeface="Arial" pitchFamily="34" charset="-120"/>
              </a:rPr>
              <a:t>New application</a:t>
            </a:r>
            <a:endParaRPr lang="en-US" sz="1100" dirty="0"/>
          </a:p>
        </p:txBody>
      </p:sp>
      <p:sp>
        <p:nvSpPr>
          <p:cNvPr id="10" name="Text 8"/>
          <p:cNvSpPr txBox="1"/>
          <p:nvPr/>
        </p:nvSpPr>
        <p:spPr>
          <a:xfrm>
            <a:off x="3982720" y="2159000"/>
            <a:ext cx="190500" cy="228600"/>
          </a:xfrm>
          <a:prstGeom prst="rect">
            <a:avLst/>
          </a:prstGeom>
          <a:noFill/>
          <a:ln/>
        </p:spPr>
        <p:txBody>
          <a:bodyPr wrap="none" lIns="0" tIns="0" rIns="0" bIns="0" rtlCol="0" anchor="ctr"/>
          <a:lstStyle/>
          <a:p>
            <a:pPr algn="ctr" indent="0" marL="0">
              <a:lnSpc>
                <a:spcPct val="115000"/>
              </a:lnSpc>
              <a:buNone/>
            </a:pPr>
            <a:r>
              <a:rPr lang="en-US" sz="1100" dirty="0">
                <a:solidFill>
                  <a:srgbClr val="AEB6C2"/>
                </a:solidFill>
                <a:latin typeface="Arial" pitchFamily="34" charset="0"/>
                <a:ea typeface="Arial" pitchFamily="34" charset="-122"/>
                <a:cs typeface="Arial" pitchFamily="34" charset="-120"/>
              </a:rPr>
              <a:t>→</a:t>
            </a:r>
            <a:endParaRPr lang="en-US" sz="1100" dirty="0"/>
          </a:p>
        </p:txBody>
      </p:sp>
      <p:sp>
        <p:nvSpPr>
          <p:cNvPr id="11" name="Text 9"/>
          <p:cNvSpPr txBox="1"/>
          <p:nvPr/>
        </p:nvSpPr>
        <p:spPr>
          <a:xfrm>
            <a:off x="4262120" y="2159000"/>
            <a:ext cx="2846832" cy="228600"/>
          </a:xfrm>
          <a:prstGeom prst="rect">
            <a:avLst/>
          </a:prstGeom>
          <a:noFill/>
          <a:ln/>
        </p:spPr>
        <p:txBody>
          <a:bodyPr wrap="none" lIns="0" tIns="0" rIns="0" bIns="0" rtlCol="0" anchor="ctr"/>
          <a:lstStyle/>
          <a:p>
            <a:pPr algn="l" indent="0" marL="0">
              <a:lnSpc>
                <a:spcPct val="115000"/>
              </a:lnSpc>
              <a:buNone/>
            </a:pPr>
            <a:r>
              <a:rPr lang="en-US" sz="1200" dirty="0">
                <a:solidFill>
                  <a:srgbClr val="465060"/>
                </a:solidFill>
                <a:latin typeface="Arial" pitchFamily="34" charset="0"/>
                <a:ea typeface="Arial" pitchFamily="34" charset="-122"/>
                <a:cs typeface="Arial" pitchFamily="34" charset="-120"/>
              </a:rPr>
              <a:t>four sections, validated as you go</a:t>
            </a:r>
            <a:endParaRPr lang="en-US" sz="1200" dirty="0"/>
          </a:p>
        </p:txBody>
      </p:sp>
      <p:sp>
        <p:nvSpPr>
          <p:cNvPr id="12" name="Shape 10"/>
          <p:cNvSpPr/>
          <p:nvPr/>
        </p:nvSpPr>
        <p:spPr>
          <a:xfrm>
            <a:off x="2387600" y="2451100"/>
            <a:ext cx="1250696" cy="228600"/>
          </a:xfrm>
          <a:prstGeom prst="roundRect">
            <a:avLst>
              <a:gd name="adj" fmla="val 16667"/>
            </a:avLst>
          </a:prstGeom>
          <a:solidFill>
            <a:srgbClr val="FFFFFF"/>
          </a:solidFill>
          <a:ln w="9525">
            <a:solidFill>
              <a:srgbClr val="AEB6C2"/>
            </a:solidFill>
            <a:prstDash val="solid"/>
          </a:ln>
        </p:spPr>
      </p:sp>
      <p:sp>
        <p:nvSpPr>
          <p:cNvPr id="13" name="Text 11"/>
          <p:cNvSpPr txBox="1"/>
          <p:nvPr/>
        </p:nvSpPr>
        <p:spPr>
          <a:xfrm>
            <a:off x="2387600" y="2451100"/>
            <a:ext cx="1250696" cy="228600"/>
          </a:xfrm>
          <a:prstGeom prst="rect">
            <a:avLst/>
          </a:prstGeom>
          <a:noFill/>
          <a:ln/>
        </p:spPr>
        <p:txBody>
          <a:bodyPr wrap="none" lIns="0" tIns="0" rIns="0" bIns="0" rtlCol="0" anchor="ctr"/>
          <a:lstStyle/>
          <a:p>
            <a:pPr algn="ctr" indent="0" marL="0">
              <a:lnSpc>
                <a:spcPct val="115000"/>
              </a:lnSpc>
              <a:buNone/>
            </a:pPr>
            <a:r>
              <a:rPr lang="en-US" sz="1100" b="1" dirty="0">
                <a:solidFill>
                  <a:srgbClr val="1B2430"/>
                </a:solidFill>
                <a:latin typeface="Arial" pitchFamily="34" charset="0"/>
                <a:ea typeface="Arial" pitchFamily="34" charset="-122"/>
                <a:cs typeface="Arial" pitchFamily="34" charset="-120"/>
              </a:rPr>
              <a:t>Browse files</a:t>
            </a:r>
            <a:endParaRPr lang="en-US" sz="1100" dirty="0"/>
          </a:p>
        </p:txBody>
      </p:sp>
      <p:sp>
        <p:nvSpPr>
          <p:cNvPr id="14" name="Text 12"/>
          <p:cNvSpPr txBox="1"/>
          <p:nvPr/>
        </p:nvSpPr>
        <p:spPr>
          <a:xfrm>
            <a:off x="3714496" y="2451100"/>
            <a:ext cx="190500" cy="228600"/>
          </a:xfrm>
          <a:prstGeom prst="rect">
            <a:avLst/>
          </a:prstGeom>
          <a:noFill/>
          <a:ln/>
        </p:spPr>
        <p:txBody>
          <a:bodyPr wrap="none" lIns="0" tIns="0" rIns="0" bIns="0" rtlCol="0" anchor="ctr"/>
          <a:lstStyle/>
          <a:p>
            <a:pPr algn="ctr" indent="0" marL="0">
              <a:lnSpc>
                <a:spcPct val="115000"/>
              </a:lnSpc>
              <a:buNone/>
            </a:pPr>
            <a:r>
              <a:rPr lang="en-US" sz="1100" dirty="0">
                <a:solidFill>
                  <a:srgbClr val="AEB6C2"/>
                </a:solidFill>
                <a:latin typeface="Arial" pitchFamily="34" charset="0"/>
                <a:ea typeface="Arial" pitchFamily="34" charset="-122"/>
                <a:cs typeface="Arial" pitchFamily="34" charset="-120"/>
              </a:rPr>
              <a:t>→</a:t>
            </a:r>
            <a:endParaRPr lang="en-US" sz="1100" dirty="0"/>
          </a:p>
        </p:txBody>
      </p:sp>
      <p:sp>
        <p:nvSpPr>
          <p:cNvPr id="15" name="Text 13"/>
          <p:cNvSpPr txBox="1"/>
          <p:nvPr/>
        </p:nvSpPr>
        <p:spPr>
          <a:xfrm>
            <a:off x="3993896" y="2451100"/>
            <a:ext cx="2292096" cy="228600"/>
          </a:xfrm>
          <a:prstGeom prst="rect">
            <a:avLst/>
          </a:prstGeom>
          <a:noFill/>
          <a:ln/>
        </p:spPr>
        <p:txBody>
          <a:bodyPr wrap="none" lIns="0" tIns="0" rIns="0" bIns="0" rtlCol="0" anchor="ctr"/>
          <a:lstStyle/>
          <a:p>
            <a:pPr algn="l" indent="0" marL="0">
              <a:lnSpc>
                <a:spcPct val="115000"/>
              </a:lnSpc>
              <a:buNone/>
            </a:pPr>
            <a:r>
              <a:rPr lang="en-US" sz="1200" dirty="0">
                <a:solidFill>
                  <a:srgbClr val="465060"/>
                </a:solidFill>
                <a:latin typeface="Arial" pitchFamily="34" charset="0"/>
                <a:ea typeface="Arial" pitchFamily="34" charset="-122"/>
                <a:cs typeface="Arial" pitchFamily="34" charset="-120"/>
              </a:rPr>
              <a:t>a check runs on each upload</a:t>
            </a:r>
            <a:endParaRPr lang="en-US" sz="1200" dirty="0"/>
          </a:p>
        </p:txBody>
      </p:sp>
      <p:sp>
        <p:nvSpPr>
          <p:cNvPr id="16" name="Text 14"/>
          <p:cNvSpPr txBox="1"/>
          <p:nvPr/>
        </p:nvSpPr>
        <p:spPr>
          <a:xfrm>
            <a:off x="6222492" y="2451100"/>
            <a:ext cx="190500" cy="228600"/>
          </a:xfrm>
          <a:prstGeom prst="rect">
            <a:avLst/>
          </a:prstGeom>
          <a:noFill/>
          <a:ln/>
        </p:spPr>
        <p:txBody>
          <a:bodyPr wrap="none" lIns="0" tIns="0" rIns="0" bIns="0" rtlCol="0" anchor="ctr"/>
          <a:lstStyle/>
          <a:p>
            <a:pPr algn="ctr" indent="0" marL="0">
              <a:lnSpc>
                <a:spcPct val="115000"/>
              </a:lnSpc>
              <a:buNone/>
            </a:pPr>
            <a:r>
              <a:rPr lang="en-US" sz="1100" dirty="0">
                <a:solidFill>
                  <a:srgbClr val="AEB6C2"/>
                </a:solidFill>
                <a:latin typeface="Arial" pitchFamily="34" charset="0"/>
                <a:ea typeface="Arial" pitchFamily="34" charset="-122"/>
                <a:cs typeface="Arial" pitchFamily="34" charset="-120"/>
              </a:rPr>
              <a:t>→</a:t>
            </a:r>
            <a:endParaRPr lang="en-US" sz="1100" dirty="0"/>
          </a:p>
        </p:txBody>
      </p:sp>
      <p:sp>
        <p:nvSpPr>
          <p:cNvPr id="17" name="Shape 15"/>
          <p:cNvSpPr/>
          <p:nvPr/>
        </p:nvSpPr>
        <p:spPr>
          <a:xfrm>
            <a:off x="6501892" y="2451100"/>
            <a:ext cx="1787144" cy="228600"/>
          </a:xfrm>
          <a:prstGeom prst="roundRect">
            <a:avLst>
              <a:gd name="adj" fmla="val 16667"/>
            </a:avLst>
          </a:prstGeom>
          <a:solidFill>
            <a:srgbClr val="1B2430"/>
          </a:solidFill>
          <a:ln w="9525">
            <a:solidFill>
              <a:srgbClr val="1B2430"/>
            </a:solidFill>
            <a:prstDash val="solid"/>
          </a:ln>
        </p:spPr>
      </p:sp>
      <p:sp>
        <p:nvSpPr>
          <p:cNvPr id="18" name="Text 16"/>
          <p:cNvSpPr txBox="1"/>
          <p:nvPr/>
        </p:nvSpPr>
        <p:spPr>
          <a:xfrm>
            <a:off x="6501892" y="2451100"/>
            <a:ext cx="1787144" cy="228600"/>
          </a:xfrm>
          <a:prstGeom prst="rect">
            <a:avLst/>
          </a:prstGeom>
          <a:noFill/>
          <a:ln/>
        </p:spPr>
        <p:txBody>
          <a:bodyPr wrap="none" lIns="0" tIns="0" rIns="0" bIns="0" rtlCol="0" anchor="ctr"/>
          <a:lstStyle/>
          <a:p>
            <a:pPr algn="ctr" indent="0" marL="0">
              <a:lnSpc>
                <a:spcPct val="115000"/>
              </a:lnSpc>
              <a:buNone/>
            </a:pPr>
            <a:r>
              <a:rPr lang="en-US" sz="1100" b="1" dirty="0">
                <a:solidFill>
                  <a:srgbClr val="FFFFFF"/>
                </a:solidFill>
                <a:latin typeface="Arial" pitchFamily="34" charset="0"/>
                <a:ea typeface="Arial" pitchFamily="34" charset="-122"/>
                <a:cs typeface="Arial" pitchFamily="34" charset="-120"/>
              </a:rPr>
              <a:t>Submit application</a:t>
            </a:r>
            <a:endParaRPr lang="en-US" sz="1100" dirty="0"/>
          </a:p>
        </p:txBody>
      </p:sp>
      <p:sp>
        <p:nvSpPr>
          <p:cNvPr id="19" name="b1"/>
          <p:cNvSpPr/>
          <p:nvPr/>
        </p:nvSpPr>
        <p:spPr>
          <a:xfrm>
            <a:off x="762000" y="2933700"/>
            <a:ext cx="10668000" cy="825500"/>
          </a:xfrm>
          <a:prstGeom prst="roundRect">
            <a:avLst>
              <a:gd name="adj" fmla="val 4615"/>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20" name="b1"/>
          <p:cNvSpPr/>
          <p:nvPr/>
        </p:nvSpPr>
        <p:spPr>
          <a:xfrm>
            <a:off x="990600" y="3086100"/>
            <a:ext cx="721360" cy="215900"/>
          </a:xfrm>
          <a:prstGeom prst="roundRect">
            <a:avLst>
              <a:gd name="adj" fmla="val 17647"/>
            </a:avLst>
          </a:prstGeom>
          <a:solidFill>
            <a:srgbClr val="EEF4FF"/>
          </a:solidFill>
          <a:ln w="9525">
            <a:solidFill>
              <a:srgbClr val="B2CCFA"/>
            </a:solidFill>
            <a:prstDash val="solid"/>
          </a:ln>
        </p:spPr>
      </p:sp>
      <p:sp>
        <p:nvSpPr>
          <p:cNvPr id="21" name="b1"/>
          <p:cNvSpPr txBox="1"/>
          <p:nvPr/>
        </p:nvSpPr>
        <p:spPr>
          <a:xfrm>
            <a:off x="990600" y="3086100"/>
            <a:ext cx="721360" cy="215900"/>
          </a:xfrm>
          <a:prstGeom prst="rect">
            <a:avLst/>
          </a:prstGeom>
          <a:noFill/>
          <a:ln/>
        </p:spPr>
        <p:txBody>
          <a:bodyPr wrap="none" lIns="0" tIns="0" rIns="0" bIns="0" rtlCol="0" anchor="ctr"/>
          <a:lstStyle/>
          <a:p>
            <a:pPr algn="ctr" indent="0" marL="0">
              <a:lnSpc>
                <a:spcPct val="115000"/>
              </a:lnSpc>
              <a:buNone/>
            </a:pPr>
            <a:r>
              <a:rPr lang="en-US" sz="1000" b="1" dirty="0">
                <a:solidFill>
                  <a:srgbClr val="175CD3"/>
                </a:solidFill>
                <a:latin typeface="Arial" pitchFamily="34" charset="0"/>
                <a:ea typeface="Arial" pitchFamily="34" charset="-122"/>
                <a:cs typeface="Arial" pitchFamily="34" charset="-120"/>
              </a:rPr>
              <a:t>Officer</a:t>
            </a:r>
            <a:endParaRPr lang="en-US" sz="1000" dirty="0"/>
          </a:p>
        </p:txBody>
      </p:sp>
      <p:sp>
        <p:nvSpPr>
          <p:cNvPr id="22" name="b1"/>
          <p:cNvSpPr txBox="1"/>
          <p:nvPr/>
        </p:nvSpPr>
        <p:spPr>
          <a:xfrm>
            <a:off x="990600" y="3365500"/>
            <a:ext cx="12700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Arial" pitchFamily="34" charset="0"/>
                <a:ea typeface="Arial" pitchFamily="34" charset="-122"/>
                <a:cs typeface="Arial" pitchFamily="34" charset="-120"/>
              </a:rPr>
              <a:t>Reviews</a:t>
            </a:r>
            <a:endParaRPr lang="en-US" sz="1100" dirty="0"/>
          </a:p>
        </p:txBody>
      </p:sp>
      <p:sp>
        <p:nvSpPr>
          <p:cNvPr id="23" name="b1"/>
          <p:cNvSpPr/>
          <p:nvPr/>
        </p:nvSpPr>
        <p:spPr>
          <a:xfrm>
            <a:off x="2387600" y="3073400"/>
            <a:ext cx="1250696" cy="228600"/>
          </a:xfrm>
          <a:prstGeom prst="roundRect">
            <a:avLst>
              <a:gd name="adj" fmla="val 16667"/>
            </a:avLst>
          </a:prstGeom>
          <a:solidFill>
            <a:srgbClr val="1B2430"/>
          </a:solidFill>
          <a:ln w="9525">
            <a:solidFill>
              <a:srgbClr val="1B2430"/>
            </a:solidFill>
            <a:prstDash val="solid"/>
          </a:ln>
        </p:spPr>
      </p:sp>
      <p:sp>
        <p:nvSpPr>
          <p:cNvPr id="24" name="b1"/>
          <p:cNvSpPr txBox="1"/>
          <p:nvPr/>
        </p:nvSpPr>
        <p:spPr>
          <a:xfrm>
            <a:off x="2387600" y="3073400"/>
            <a:ext cx="1250696" cy="228600"/>
          </a:xfrm>
          <a:prstGeom prst="rect">
            <a:avLst/>
          </a:prstGeom>
          <a:noFill/>
          <a:ln/>
        </p:spPr>
        <p:txBody>
          <a:bodyPr wrap="none" lIns="0" tIns="0" rIns="0" bIns="0" rtlCol="0" anchor="ctr"/>
          <a:lstStyle/>
          <a:p>
            <a:pPr algn="ctr" indent="0" marL="0">
              <a:lnSpc>
                <a:spcPct val="115000"/>
              </a:lnSpc>
              <a:buNone/>
            </a:pPr>
            <a:r>
              <a:rPr lang="en-US" sz="1100" b="1" dirty="0">
                <a:solidFill>
                  <a:srgbClr val="FFFFFF"/>
                </a:solidFill>
                <a:latin typeface="Arial" pitchFamily="34" charset="0"/>
                <a:ea typeface="Arial" pitchFamily="34" charset="-122"/>
                <a:cs typeface="Arial" pitchFamily="34" charset="-120"/>
              </a:rPr>
              <a:t>Start review</a:t>
            </a:r>
            <a:endParaRPr lang="en-US" sz="1100" dirty="0"/>
          </a:p>
        </p:txBody>
      </p:sp>
      <p:sp>
        <p:nvSpPr>
          <p:cNvPr id="25" name="b1"/>
          <p:cNvSpPr txBox="1"/>
          <p:nvPr/>
        </p:nvSpPr>
        <p:spPr>
          <a:xfrm>
            <a:off x="3714496" y="3073400"/>
            <a:ext cx="190500" cy="228600"/>
          </a:xfrm>
          <a:prstGeom prst="rect">
            <a:avLst/>
          </a:prstGeom>
          <a:noFill/>
          <a:ln/>
        </p:spPr>
        <p:txBody>
          <a:bodyPr wrap="none" lIns="0" tIns="0" rIns="0" bIns="0" rtlCol="0" anchor="ctr"/>
          <a:lstStyle/>
          <a:p>
            <a:pPr algn="ctr" indent="0" marL="0">
              <a:lnSpc>
                <a:spcPct val="115000"/>
              </a:lnSpc>
              <a:buNone/>
            </a:pPr>
            <a:r>
              <a:rPr lang="en-US" sz="1100" dirty="0">
                <a:solidFill>
                  <a:srgbClr val="AEB6C2"/>
                </a:solidFill>
                <a:latin typeface="Arial" pitchFamily="34" charset="0"/>
                <a:ea typeface="Arial" pitchFamily="34" charset="-122"/>
                <a:cs typeface="Arial" pitchFamily="34" charset="-120"/>
              </a:rPr>
              <a:t>→</a:t>
            </a:r>
            <a:endParaRPr lang="en-US" sz="1100" dirty="0"/>
          </a:p>
        </p:txBody>
      </p:sp>
      <p:sp>
        <p:nvSpPr>
          <p:cNvPr id="26" name="b1"/>
          <p:cNvSpPr txBox="1"/>
          <p:nvPr/>
        </p:nvSpPr>
        <p:spPr>
          <a:xfrm>
            <a:off x="3993896" y="3073400"/>
            <a:ext cx="2450592" cy="228600"/>
          </a:xfrm>
          <a:prstGeom prst="rect">
            <a:avLst/>
          </a:prstGeom>
          <a:noFill/>
          <a:ln/>
        </p:spPr>
        <p:txBody>
          <a:bodyPr wrap="none" lIns="0" tIns="0" rIns="0" bIns="0" rtlCol="0" anchor="ctr"/>
          <a:lstStyle/>
          <a:p>
            <a:pPr algn="l" indent="0" marL="0">
              <a:lnSpc>
                <a:spcPct val="115000"/>
              </a:lnSpc>
              <a:buNone/>
            </a:pPr>
            <a:r>
              <a:rPr lang="en-US" sz="1200" dirty="0">
                <a:solidFill>
                  <a:srgbClr val="465060"/>
                </a:solidFill>
                <a:latin typeface="Arial" pitchFamily="34" charset="0"/>
                <a:ea typeface="Arial" pitchFamily="34" charset="-122"/>
                <a:cs typeface="Arial" pitchFamily="34" charset="-120"/>
              </a:rPr>
              <a:t>findings beside each document</a:t>
            </a:r>
            <a:endParaRPr lang="en-US" sz="1200" dirty="0"/>
          </a:p>
        </p:txBody>
      </p:sp>
      <p:sp>
        <p:nvSpPr>
          <p:cNvPr id="27" name="b1"/>
          <p:cNvSpPr txBox="1"/>
          <p:nvPr/>
        </p:nvSpPr>
        <p:spPr>
          <a:xfrm>
            <a:off x="6380988" y="3073400"/>
            <a:ext cx="190500" cy="228600"/>
          </a:xfrm>
          <a:prstGeom prst="rect">
            <a:avLst/>
          </a:prstGeom>
          <a:noFill/>
          <a:ln/>
        </p:spPr>
        <p:txBody>
          <a:bodyPr wrap="none" lIns="0" tIns="0" rIns="0" bIns="0" rtlCol="0" anchor="ctr"/>
          <a:lstStyle/>
          <a:p>
            <a:pPr algn="ctr" indent="0" marL="0">
              <a:lnSpc>
                <a:spcPct val="115000"/>
              </a:lnSpc>
              <a:buNone/>
            </a:pPr>
            <a:r>
              <a:rPr lang="en-US" sz="1100" dirty="0">
                <a:solidFill>
                  <a:srgbClr val="AEB6C2"/>
                </a:solidFill>
                <a:latin typeface="Arial" pitchFamily="34" charset="0"/>
                <a:ea typeface="Arial" pitchFamily="34" charset="-122"/>
                <a:cs typeface="Arial" pitchFamily="34" charset="-120"/>
              </a:rPr>
              <a:t>→</a:t>
            </a:r>
            <a:endParaRPr lang="en-US" sz="1100" dirty="0"/>
          </a:p>
        </p:txBody>
      </p:sp>
      <p:sp>
        <p:nvSpPr>
          <p:cNvPr id="28" name="b1"/>
          <p:cNvSpPr/>
          <p:nvPr/>
        </p:nvSpPr>
        <p:spPr>
          <a:xfrm>
            <a:off x="6660388" y="3073400"/>
            <a:ext cx="1250696" cy="228600"/>
          </a:xfrm>
          <a:prstGeom prst="roundRect">
            <a:avLst>
              <a:gd name="adj" fmla="val 16667"/>
            </a:avLst>
          </a:prstGeom>
          <a:solidFill>
            <a:srgbClr val="FFFFFF"/>
          </a:solidFill>
          <a:ln w="9525">
            <a:solidFill>
              <a:srgbClr val="AEB6C2"/>
            </a:solidFill>
            <a:prstDash val="solid"/>
          </a:ln>
        </p:spPr>
      </p:sp>
      <p:sp>
        <p:nvSpPr>
          <p:cNvPr id="29" name="b1"/>
          <p:cNvSpPr txBox="1"/>
          <p:nvPr/>
        </p:nvSpPr>
        <p:spPr>
          <a:xfrm>
            <a:off x="6660388" y="3073400"/>
            <a:ext cx="1250696" cy="228600"/>
          </a:xfrm>
          <a:prstGeom prst="rect">
            <a:avLst/>
          </a:prstGeom>
          <a:noFill/>
          <a:ln/>
        </p:spPr>
        <p:txBody>
          <a:bodyPr wrap="none" lIns="0" tIns="0" rIns="0" bIns="0" rtlCol="0" anchor="ctr"/>
          <a:lstStyle/>
          <a:p>
            <a:pPr algn="ctr" indent="0" marL="0">
              <a:lnSpc>
                <a:spcPct val="115000"/>
              </a:lnSpc>
              <a:buNone/>
            </a:pPr>
            <a:r>
              <a:rPr lang="en-US" sz="1100" b="1" dirty="0">
                <a:solidFill>
                  <a:srgbClr val="1B2430"/>
                </a:solidFill>
                <a:latin typeface="Arial" pitchFamily="34" charset="0"/>
                <a:ea typeface="Arial" pitchFamily="34" charset="-122"/>
                <a:cs typeface="Arial" pitchFamily="34" charset="-120"/>
              </a:rPr>
              <a:t>Add feedback</a:t>
            </a:r>
            <a:endParaRPr lang="en-US" sz="1100" dirty="0"/>
          </a:p>
        </p:txBody>
      </p:sp>
      <p:sp>
        <p:nvSpPr>
          <p:cNvPr id="30" name="b1"/>
          <p:cNvSpPr txBox="1"/>
          <p:nvPr/>
        </p:nvSpPr>
        <p:spPr>
          <a:xfrm>
            <a:off x="2387600" y="3365500"/>
            <a:ext cx="6016752" cy="228600"/>
          </a:xfrm>
          <a:prstGeom prst="rect">
            <a:avLst/>
          </a:prstGeom>
          <a:noFill/>
          <a:ln/>
        </p:spPr>
        <p:txBody>
          <a:bodyPr wrap="none" lIns="0" tIns="0" rIns="0" bIns="0" rtlCol="0" anchor="ctr"/>
          <a:lstStyle/>
          <a:p>
            <a:pPr algn="l" indent="0" marL="0">
              <a:lnSpc>
                <a:spcPct val="115000"/>
              </a:lnSpc>
              <a:buNone/>
            </a:pPr>
            <a:r>
              <a:rPr lang="en-US" sz="1200" dirty="0">
                <a:solidFill>
                  <a:srgbClr val="465060"/>
                </a:solidFill>
                <a:latin typeface="Arial" pitchFamily="34" charset="0"/>
                <a:ea typeface="Arial" pitchFamily="34" charset="-122"/>
                <a:cs typeface="Arial" pitchFamily="34" charset="-120"/>
              </a:rPr>
              <a:t>tied to a section or a document, from a template when it is a common issue</a:t>
            </a:r>
            <a:endParaRPr lang="en-US" sz="1200" dirty="0"/>
          </a:p>
        </p:txBody>
      </p:sp>
      <p:sp>
        <p:nvSpPr>
          <p:cNvPr id="31" name="b1"/>
          <p:cNvSpPr txBox="1"/>
          <p:nvPr/>
        </p:nvSpPr>
        <p:spPr>
          <a:xfrm>
            <a:off x="8340852" y="3365500"/>
            <a:ext cx="190500" cy="228600"/>
          </a:xfrm>
          <a:prstGeom prst="rect">
            <a:avLst/>
          </a:prstGeom>
          <a:noFill/>
          <a:ln/>
        </p:spPr>
        <p:txBody>
          <a:bodyPr wrap="none" lIns="0" tIns="0" rIns="0" bIns="0" rtlCol="0" anchor="ctr"/>
          <a:lstStyle/>
          <a:p>
            <a:pPr algn="ctr" indent="0" marL="0">
              <a:lnSpc>
                <a:spcPct val="115000"/>
              </a:lnSpc>
              <a:buNone/>
            </a:pPr>
            <a:r>
              <a:rPr lang="en-US" sz="1100" dirty="0">
                <a:solidFill>
                  <a:srgbClr val="AEB6C2"/>
                </a:solidFill>
                <a:latin typeface="Arial" pitchFamily="34" charset="0"/>
                <a:ea typeface="Arial" pitchFamily="34" charset="-122"/>
                <a:cs typeface="Arial" pitchFamily="34" charset="-120"/>
              </a:rPr>
              <a:t>→</a:t>
            </a:r>
            <a:endParaRPr lang="en-US" sz="1100" dirty="0"/>
          </a:p>
        </p:txBody>
      </p:sp>
      <p:sp>
        <p:nvSpPr>
          <p:cNvPr id="32" name="b1"/>
          <p:cNvSpPr/>
          <p:nvPr/>
        </p:nvSpPr>
        <p:spPr>
          <a:xfrm>
            <a:off x="8620252" y="3365500"/>
            <a:ext cx="1965960" cy="228600"/>
          </a:xfrm>
          <a:prstGeom prst="roundRect">
            <a:avLst>
              <a:gd name="adj" fmla="val 16667"/>
            </a:avLst>
          </a:prstGeom>
          <a:solidFill>
            <a:srgbClr val="1B2430"/>
          </a:solidFill>
          <a:ln w="9525">
            <a:solidFill>
              <a:srgbClr val="1B2430"/>
            </a:solidFill>
            <a:prstDash val="solid"/>
          </a:ln>
        </p:spPr>
      </p:sp>
      <p:sp>
        <p:nvSpPr>
          <p:cNvPr id="33" name="b1"/>
          <p:cNvSpPr txBox="1"/>
          <p:nvPr/>
        </p:nvSpPr>
        <p:spPr>
          <a:xfrm>
            <a:off x="8620252" y="3365500"/>
            <a:ext cx="1965960" cy="228600"/>
          </a:xfrm>
          <a:prstGeom prst="rect">
            <a:avLst/>
          </a:prstGeom>
          <a:noFill/>
          <a:ln/>
        </p:spPr>
        <p:txBody>
          <a:bodyPr wrap="none" lIns="0" tIns="0" rIns="0" bIns="0" rtlCol="0" anchor="ctr"/>
          <a:lstStyle/>
          <a:p>
            <a:pPr algn="ctr" indent="0" marL="0">
              <a:lnSpc>
                <a:spcPct val="115000"/>
              </a:lnSpc>
              <a:buNone/>
            </a:pPr>
            <a:r>
              <a:rPr lang="en-US" sz="1100" b="1" dirty="0">
                <a:solidFill>
                  <a:srgbClr val="FFFFFF"/>
                </a:solidFill>
                <a:latin typeface="Arial" pitchFamily="34" charset="0"/>
                <a:ea typeface="Arial" pitchFamily="34" charset="-122"/>
                <a:cs typeface="Arial" pitchFamily="34" charset="-120"/>
              </a:rPr>
              <a:t>Request resubmission</a:t>
            </a:r>
            <a:endParaRPr lang="en-US" sz="1100" dirty="0"/>
          </a:p>
        </p:txBody>
      </p:sp>
      <p:sp>
        <p:nvSpPr>
          <p:cNvPr id="34" name="b2"/>
          <p:cNvSpPr/>
          <p:nvPr/>
        </p:nvSpPr>
        <p:spPr>
          <a:xfrm>
            <a:off x="762000" y="3848100"/>
            <a:ext cx="10668000" cy="825500"/>
          </a:xfrm>
          <a:prstGeom prst="roundRect">
            <a:avLst>
              <a:gd name="adj" fmla="val 4615"/>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35" name="b2"/>
          <p:cNvSpPr/>
          <p:nvPr/>
        </p:nvSpPr>
        <p:spPr>
          <a:xfrm>
            <a:off x="990600" y="4000500"/>
            <a:ext cx="802640" cy="215900"/>
          </a:xfrm>
          <a:prstGeom prst="roundRect">
            <a:avLst>
              <a:gd name="adj" fmla="val 17647"/>
            </a:avLst>
          </a:prstGeom>
          <a:solidFill>
            <a:srgbClr val="F2F4F7"/>
          </a:solidFill>
          <a:ln w="9525">
            <a:solidFill>
              <a:srgbClr val="D0D5DD"/>
            </a:solidFill>
            <a:prstDash val="solid"/>
          </a:ln>
        </p:spPr>
      </p:sp>
      <p:sp>
        <p:nvSpPr>
          <p:cNvPr id="36" name="b2"/>
          <p:cNvSpPr txBox="1"/>
          <p:nvPr/>
        </p:nvSpPr>
        <p:spPr>
          <a:xfrm>
            <a:off x="990600" y="4000500"/>
            <a:ext cx="802640" cy="215900"/>
          </a:xfrm>
          <a:prstGeom prst="rect">
            <a:avLst/>
          </a:prstGeom>
          <a:noFill/>
          <a:ln/>
        </p:spPr>
        <p:txBody>
          <a:bodyPr wrap="none" lIns="0" tIns="0" rIns="0" bIns="0" rtlCol="0" anchor="ctr"/>
          <a:lstStyle/>
          <a:p>
            <a:pPr algn="ctr" indent="0" marL="0">
              <a:lnSpc>
                <a:spcPct val="115000"/>
              </a:lnSpc>
              <a:buNone/>
            </a:pPr>
            <a:r>
              <a:rPr lang="en-US" sz="1000" b="1" dirty="0">
                <a:solidFill>
                  <a:srgbClr val="475467"/>
                </a:solidFill>
                <a:latin typeface="Arial" pitchFamily="34" charset="0"/>
                <a:ea typeface="Arial" pitchFamily="34" charset="-122"/>
                <a:cs typeface="Arial" pitchFamily="34" charset="-120"/>
              </a:rPr>
              <a:t>Operator</a:t>
            </a:r>
            <a:endParaRPr lang="en-US" sz="1000" dirty="0"/>
          </a:p>
        </p:txBody>
      </p:sp>
      <p:sp>
        <p:nvSpPr>
          <p:cNvPr id="37" name="b2"/>
          <p:cNvSpPr txBox="1"/>
          <p:nvPr/>
        </p:nvSpPr>
        <p:spPr>
          <a:xfrm>
            <a:off x="990600" y="4279900"/>
            <a:ext cx="12700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Arial" pitchFamily="34" charset="0"/>
                <a:ea typeface="Arial" pitchFamily="34" charset="-122"/>
                <a:cs typeface="Arial" pitchFamily="34" charset="-120"/>
              </a:rPr>
              <a:t>Responds</a:t>
            </a:r>
            <a:endParaRPr lang="en-US" sz="1100" dirty="0"/>
          </a:p>
        </p:txBody>
      </p:sp>
      <p:sp>
        <p:nvSpPr>
          <p:cNvPr id="38" name="b2"/>
          <p:cNvSpPr/>
          <p:nvPr/>
        </p:nvSpPr>
        <p:spPr>
          <a:xfrm>
            <a:off x="2387600" y="3987800"/>
            <a:ext cx="1876552" cy="228600"/>
          </a:xfrm>
          <a:prstGeom prst="roundRect">
            <a:avLst>
              <a:gd name="adj" fmla="val 16667"/>
            </a:avLst>
          </a:prstGeom>
          <a:solidFill>
            <a:srgbClr val="FFFFFF"/>
          </a:solidFill>
          <a:ln w="9525">
            <a:solidFill>
              <a:srgbClr val="AEB6C2"/>
            </a:solidFill>
            <a:prstDash val="solid"/>
          </a:ln>
        </p:spPr>
      </p:sp>
      <p:sp>
        <p:nvSpPr>
          <p:cNvPr id="39" name="b2"/>
          <p:cNvSpPr txBox="1"/>
          <p:nvPr/>
        </p:nvSpPr>
        <p:spPr>
          <a:xfrm>
            <a:off x="2387600" y="3987800"/>
            <a:ext cx="1876552" cy="228600"/>
          </a:xfrm>
          <a:prstGeom prst="rect">
            <a:avLst/>
          </a:prstGeom>
          <a:noFill/>
          <a:ln/>
        </p:spPr>
        <p:txBody>
          <a:bodyPr wrap="none" lIns="0" tIns="0" rIns="0" bIns="0" rtlCol="0" anchor="ctr"/>
          <a:lstStyle/>
          <a:p>
            <a:pPr algn="ctr" indent="0" marL="0">
              <a:lnSpc>
                <a:spcPct val="115000"/>
              </a:lnSpc>
              <a:buNone/>
            </a:pPr>
            <a:r>
              <a:rPr lang="en-US" sz="1100" b="1" dirty="0">
                <a:solidFill>
                  <a:srgbClr val="1B2430"/>
                </a:solidFill>
                <a:latin typeface="Arial" pitchFamily="34" charset="0"/>
                <a:ea typeface="Arial" pitchFamily="34" charset="-122"/>
                <a:cs typeface="Arial" pitchFamily="34" charset="-120"/>
              </a:rPr>
              <a:t>Respond to feedback</a:t>
            </a:r>
            <a:endParaRPr lang="en-US" sz="1100" dirty="0"/>
          </a:p>
        </p:txBody>
      </p:sp>
      <p:sp>
        <p:nvSpPr>
          <p:cNvPr id="40" name="b2"/>
          <p:cNvSpPr txBox="1"/>
          <p:nvPr/>
        </p:nvSpPr>
        <p:spPr>
          <a:xfrm>
            <a:off x="4340352" y="3987800"/>
            <a:ext cx="190500" cy="228600"/>
          </a:xfrm>
          <a:prstGeom prst="rect">
            <a:avLst/>
          </a:prstGeom>
          <a:noFill/>
          <a:ln/>
        </p:spPr>
        <p:txBody>
          <a:bodyPr wrap="none" lIns="0" tIns="0" rIns="0" bIns="0" rtlCol="0" anchor="ctr"/>
          <a:lstStyle/>
          <a:p>
            <a:pPr algn="ctr" indent="0" marL="0">
              <a:lnSpc>
                <a:spcPct val="115000"/>
              </a:lnSpc>
              <a:buNone/>
            </a:pPr>
            <a:r>
              <a:rPr lang="en-US" sz="1100" dirty="0">
                <a:solidFill>
                  <a:srgbClr val="AEB6C2"/>
                </a:solidFill>
                <a:latin typeface="Arial" pitchFamily="34" charset="0"/>
                <a:ea typeface="Arial" pitchFamily="34" charset="-122"/>
                <a:cs typeface="Arial" pitchFamily="34" charset="-120"/>
              </a:rPr>
              <a:t>→</a:t>
            </a:r>
            <a:endParaRPr lang="en-US" sz="1100" dirty="0"/>
          </a:p>
        </p:txBody>
      </p:sp>
      <p:sp>
        <p:nvSpPr>
          <p:cNvPr id="41" name="b2"/>
          <p:cNvSpPr txBox="1"/>
          <p:nvPr/>
        </p:nvSpPr>
        <p:spPr>
          <a:xfrm>
            <a:off x="4619752" y="3987800"/>
            <a:ext cx="2450592" cy="228600"/>
          </a:xfrm>
          <a:prstGeom prst="rect">
            <a:avLst/>
          </a:prstGeom>
          <a:noFill/>
          <a:ln/>
        </p:spPr>
        <p:txBody>
          <a:bodyPr wrap="none" lIns="0" tIns="0" rIns="0" bIns="0" rtlCol="0" anchor="ctr"/>
          <a:lstStyle/>
          <a:p>
            <a:pPr algn="l" indent="0" marL="0">
              <a:lnSpc>
                <a:spcPct val="115000"/>
              </a:lnSpc>
              <a:buNone/>
            </a:pPr>
            <a:r>
              <a:rPr lang="en-US" sz="1200" dirty="0">
                <a:solidFill>
                  <a:srgbClr val="465060"/>
                </a:solidFill>
                <a:latin typeface="Arial" pitchFamily="34" charset="0"/>
                <a:ea typeface="Arial" pitchFamily="34" charset="-122"/>
                <a:cs typeface="Arial" pitchFamily="34" charset="-120"/>
              </a:rPr>
              <a:t>only the flagged parts reopen</a:t>
            </a:r>
            <a:endParaRPr lang="en-US" sz="1200" dirty="0"/>
          </a:p>
        </p:txBody>
      </p:sp>
      <p:sp>
        <p:nvSpPr>
          <p:cNvPr id="42" name="b2"/>
          <p:cNvSpPr txBox="1"/>
          <p:nvPr/>
        </p:nvSpPr>
        <p:spPr>
          <a:xfrm>
            <a:off x="7006844" y="3987800"/>
            <a:ext cx="190500" cy="228600"/>
          </a:xfrm>
          <a:prstGeom prst="rect">
            <a:avLst/>
          </a:prstGeom>
          <a:noFill/>
          <a:ln/>
        </p:spPr>
        <p:txBody>
          <a:bodyPr wrap="none" lIns="0" tIns="0" rIns="0" bIns="0" rtlCol="0" anchor="ctr"/>
          <a:lstStyle/>
          <a:p>
            <a:pPr algn="ctr" indent="0" marL="0">
              <a:lnSpc>
                <a:spcPct val="115000"/>
              </a:lnSpc>
              <a:buNone/>
            </a:pPr>
            <a:r>
              <a:rPr lang="en-US" sz="1100" dirty="0">
                <a:solidFill>
                  <a:srgbClr val="AEB6C2"/>
                </a:solidFill>
                <a:latin typeface="Arial" pitchFamily="34" charset="0"/>
                <a:ea typeface="Arial" pitchFamily="34" charset="-122"/>
                <a:cs typeface="Arial" pitchFamily="34" charset="-120"/>
              </a:rPr>
              <a:t>→</a:t>
            </a:r>
            <a:endParaRPr lang="en-US" sz="1100" dirty="0"/>
          </a:p>
        </p:txBody>
      </p:sp>
      <p:sp>
        <p:nvSpPr>
          <p:cNvPr id="43" name="b2"/>
          <p:cNvSpPr/>
          <p:nvPr/>
        </p:nvSpPr>
        <p:spPr>
          <a:xfrm>
            <a:off x="7286244" y="3987800"/>
            <a:ext cx="1608328" cy="228600"/>
          </a:xfrm>
          <a:prstGeom prst="roundRect">
            <a:avLst>
              <a:gd name="adj" fmla="val 16667"/>
            </a:avLst>
          </a:prstGeom>
          <a:solidFill>
            <a:srgbClr val="FFFFFF"/>
          </a:solidFill>
          <a:ln w="9525">
            <a:solidFill>
              <a:srgbClr val="AEB6C2"/>
            </a:solidFill>
            <a:prstDash val="solid"/>
          </a:ln>
        </p:spPr>
      </p:sp>
      <p:sp>
        <p:nvSpPr>
          <p:cNvPr id="44" name="b2"/>
          <p:cNvSpPr txBox="1"/>
          <p:nvPr/>
        </p:nvSpPr>
        <p:spPr>
          <a:xfrm>
            <a:off x="7286244" y="3987800"/>
            <a:ext cx="1608328" cy="228600"/>
          </a:xfrm>
          <a:prstGeom prst="rect">
            <a:avLst/>
          </a:prstGeom>
          <a:noFill/>
          <a:ln/>
        </p:spPr>
        <p:txBody>
          <a:bodyPr wrap="none" lIns="0" tIns="0" rIns="0" bIns="0" rtlCol="0" anchor="ctr"/>
          <a:lstStyle/>
          <a:p>
            <a:pPr algn="ctr" indent="0" marL="0">
              <a:lnSpc>
                <a:spcPct val="115000"/>
              </a:lnSpc>
              <a:buNone/>
            </a:pPr>
            <a:r>
              <a:rPr lang="en-US" sz="1100" b="1" dirty="0">
                <a:solidFill>
                  <a:srgbClr val="1B2430"/>
                </a:solidFill>
                <a:latin typeface="Arial" pitchFamily="34" charset="0"/>
                <a:ea typeface="Arial" pitchFamily="34" charset="-122"/>
                <a:cs typeface="Arial" pitchFamily="34" charset="-120"/>
              </a:rPr>
              <a:t>Replace document</a:t>
            </a:r>
            <a:endParaRPr lang="en-US" sz="1100" dirty="0"/>
          </a:p>
        </p:txBody>
      </p:sp>
      <p:sp>
        <p:nvSpPr>
          <p:cNvPr id="45" name="b2"/>
          <p:cNvSpPr/>
          <p:nvPr/>
        </p:nvSpPr>
        <p:spPr>
          <a:xfrm>
            <a:off x="2387600" y="4279900"/>
            <a:ext cx="893064" cy="228600"/>
          </a:xfrm>
          <a:prstGeom prst="roundRect">
            <a:avLst>
              <a:gd name="adj" fmla="val 16667"/>
            </a:avLst>
          </a:prstGeom>
          <a:solidFill>
            <a:srgbClr val="1B2430"/>
          </a:solidFill>
          <a:ln w="9525">
            <a:solidFill>
              <a:srgbClr val="1B2430"/>
            </a:solidFill>
            <a:prstDash val="solid"/>
          </a:ln>
        </p:spPr>
      </p:sp>
      <p:sp>
        <p:nvSpPr>
          <p:cNvPr id="46" name="b2"/>
          <p:cNvSpPr txBox="1"/>
          <p:nvPr/>
        </p:nvSpPr>
        <p:spPr>
          <a:xfrm>
            <a:off x="2387600" y="4279900"/>
            <a:ext cx="893064" cy="228600"/>
          </a:xfrm>
          <a:prstGeom prst="rect">
            <a:avLst/>
          </a:prstGeom>
          <a:noFill/>
          <a:ln/>
        </p:spPr>
        <p:txBody>
          <a:bodyPr wrap="none" lIns="0" tIns="0" rIns="0" bIns="0" rtlCol="0" anchor="ctr"/>
          <a:lstStyle/>
          <a:p>
            <a:pPr algn="ctr" indent="0" marL="0">
              <a:lnSpc>
                <a:spcPct val="115000"/>
              </a:lnSpc>
              <a:buNone/>
            </a:pPr>
            <a:r>
              <a:rPr lang="en-US" sz="1100" b="1" dirty="0">
                <a:solidFill>
                  <a:srgbClr val="FFFFFF"/>
                </a:solidFill>
                <a:latin typeface="Arial" pitchFamily="34" charset="0"/>
                <a:ea typeface="Arial" pitchFamily="34" charset="-122"/>
                <a:cs typeface="Arial" pitchFamily="34" charset="-120"/>
              </a:rPr>
              <a:t>Resubmit</a:t>
            </a:r>
            <a:endParaRPr lang="en-US" sz="1100" dirty="0"/>
          </a:p>
        </p:txBody>
      </p:sp>
      <p:sp>
        <p:nvSpPr>
          <p:cNvPr id="47" name="b2"/>
          <p:cNvSpPr txBox="1"/>
          <p:nvPr/>
        </p:nvSpPr>
        <p:spPr>
          <a:xfrm>
            <a:off x="3356864" y="4279900"/>
            <a:ext cx="1499616" cy="228600"/>
          </a:xfrm>
          <a:prstGeom prst="rect">
            <a:avLst/>
          </a:prstGeom>
          <a:noFill/>
          <a:ln/>
        </p:spPr>
        <p:txBody>
          <a:bodyPr wrap="none" lIns="0" tIns="0" rIns="0" bIns="0" rtlCol="0" anchor="ctr"/>
          <a:lstStyle/>
          <a:p>
            <a:pPr algn="l" indent="0" marL="0">
              <a:lnSpc>
                <a:spcPct val="115000"/>
              </a:lnSpc>
              <a:buNone/>
            </a:pPr>
            <a:r>
              <a:rPr lang="en-US" sz="1200" dirty="0">
                <a:solidFill>
                  <a:srgbClr val="465060"/>
                </a:solidFill>
                <a:latin typeface="Arial" pitchFamily="34" charset="0"/>
                <a:ea typeface="Arial" pitchFamily="34" charset="-122"/>
                <a:cs typeface="Arial" pitchFamily="34" charset="-120"/>
              </a:rPr>
              <a:t>as a new revision</a:t>
            </a:r>
            <a:endParaRPr lang="en-US" sz="1200" dirty="0"/>
          </a:p>
        </p:txBody>
      </p:sp>
      <p:sp>
        <p:nvSpPr>
          <p:cNvPr id="48" name="b3"/>
          <p:cNvSpPr/>
          <p:nvPr/>
        </p:nvSpPr>
        <p:spPr>
          <a:xfrm>
            <a:off x="762000" y="4762500"/>
            <a:ext cx="10668000" cy="825500"/>
          </a:xfrm>
          <a:prstGeom prst="roundRect">
            <a:avLst>
              <a:gd name="adj" fmla="val 4615"/>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49" name="b3"/>
          <p:cNvSpPr/>
          <p:nvPr/>
        </p:nvSpPr>
        <p:spPr>
          <a:xfrm>
            <a:off x="990600" y="4914900"/>
            <a:ext cx="721360" cy="215900"/>
          </a:xfrm>
          <a:prstGeom prst="roundRect">
            <a:avLst>
              <a:gd name="adj" fmla="val 17647"/>
            </a:avLst>
          </a:prstGeom>
          <a:solidFill>
            <a:srgbClr val="EEF4FF"/>
          </a:solidFill>
          <a:ln w="9525">
            <a:solidFill>
              <a:srgbClr val="B2CCFA"/>
            </a:solidFill>
            <a:prstDash val="solid"/>
          </a:ln>
        </p:spPr>
      </p:sp>
      <p:sp>
        <p:nvSpPr>
          <p:cNvPr id="50" name="b3"/>
          <p:cNvSpPr txBox="1"/>
          <p:nvPr/>
        </p:nvSpPr>
        <p:spPr>
          <a:xfrm>
            <a:off x="990600" y="4914900"/>
            <a:ext cx="721360" cy="215900"/>
          </a:xfrm>
          <a:prstGeom prst="rect">
            <a:avLst/>
          </a:prstGeom>
          <a:noFill/>
          <a:ln/>
        </p:spPr>
        <p:txBody>
          <a:bodyPr wrap="none" lIns="0" tIns="0" rIns="0" bIns="0" rtlCol="0" anchor="ctr"/>
          <a:lstStyle/>
          <a:p>
            <a:pPr algn="ctr" indent="0" marL="0">
              <a:lnSpc>
                <a:spcPct val="115000"/>
              </a:lnSpc>
              <a:buNone/>
            </a:pPr>
            <a:r>
              <a:rPr lang="en-US" sz="1000" b="1" dirty="0">
                <a:solidFill>
                  <a:srgbClr val="175CD3"/>
                </a:solidFill>
                <a:latin typeface="Arial" pitchFamily="34" charset="0"/>
                <a:ea typeface="Arial" pitchFamily="34" charset="-122"/>
                <a:cs typeface="Arial" pitchFamily="34" charset="-120"/>
              </a:rPr>
              <a:t>Officer</a:t>
            </a:r>
            <a:endParaRPr lang="en-US" sz="1000" dirty="0"/>
          </a:p>
        </p:txBody>
      </p:sp>
      <p:sp>
        <p:nvSpPr>
          <p:cNvPr id="51" name="b3"/>
          <p:cNvSpPr txBox="1"/>
          <p:nvPr/>
        </p:nvSpPr>
        <p:spPr>
          <a:xfrm>
            <a:off x="990600" y="5194300"/>
            <a:ext cx="12700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Arial" pitchFamily="34" charset="0"/>
                <a:ea typeface="Arial" pitchFamily="34" charset="-122"/>
                <a:cs typeface="Arial" pitchFamily="34" charset="-120"/>
              </a:rPr>
              <a:t>Continues</a:t>
            </a:r>
            <a:endParaRPr lang="en-US" sz="1100" dirty="0"/>
          </a:p>
        </p:txBody>
      </p:sp>
      <p:sp>
        <p:nvSpPr>
          <p:cNvPr id="52" name="b3"/>
          <p:cNvSpPr txBox="1"/>
          <p:nvPr/>
        </p:nvSpPr>
        <p:spPr>
          <a:xfrm>
            <a:off x="2387600" y="4902200"/>
            <a:ext cx="1499616" cy="228600"/>
          </a:xfrm>
          <a:prstGeom prst="rect">
            <a:avLst/>
          </a:prstGeom>
          <a:noFill/>
          <a:ln/>
        </p:spPr>
        <p:txBody>
          <a:bodyPr wrap="none" lIns="0" tIns="0" rIns="0" bIns="0" rtlCol="0" anchor="ctr"/>
          <a:lstStyle/>
          <a:p>
            <a:pPr algn="l" indent="0" marL="0">
              <a:lnSpc>
                <a:spcPct val="115000"/>
              </a:lnSpc>
              <a:buNone/>
            </a:pPr>
            <a:r>
              <a:rPr lang="en-US" sz="1200" dirty="0">
                <a:solidFill>
                  <a:srgbClr val="465060"/>
                </a:solidFill>
                <a:latin typeface="Arial" pitchFamily="34" charset="0"/>
                <a:ea typeface="Arial" pitchFamily="34" charset="-122"/>
                <a:cs typeface="Arial" pitchFamily="34" charset="-120"/>
              </a:rPr>
              <a:t>Compare revisions</a:t>
            </a:r>
            <a:endParaRPr lang="en-US" sz="1200" dirty="0"/>
          </a:p>
        </p:txBody>
      </p:sp>
      <p:sp>
        <p:nvSpPr>
          <p:cNvPr id="53" name="b3"/>
          <p:cNvSpPr txBox="1"/>
          <p:nvPr/>
        </p:nvSpPr>
        <p:spPr>
          <a:xfrm>
            <a:off x="3823716" y="4902200"/>
            <a:ext cx="190500" cy="228600"/>
          </a:xfrm>
          <a:prstGeom prst="rect">
            <a:avLst/>
          </a:prstGeom>
          <a:noFill/>
          <a:ln/>
        </p:spPr>
        <p:txBody>
          <a:bodyPr wrap="none" lIns="0" tIns="0" rIns="0" bIns="0" rtlCol="0" anchor="ctr"/>
          <a:lstStyle/>
          <a:p>
            <a:pPr algn="ctr" indent="0" marL="0">
              <a:lnSpc>
                <a:spcPct val="115000"/>
              </a:lnSpc>
              <a:buNone/>
            </a:pPr>
            <a:r>
              <a:rPr lang="en-US" sz="1100" dirty="0">
                <a:solidFill>
                  <a:srgbClr val="AEB6C2"/>
                </a:solidFill>
                <a:latin typeface="Arial" pitchFamily="34" charset="0"/>
                <a:ea typeface="Arial" pitchFamily="34" charset="-122"/>
                <a:cs typeface="Arial" pitchFamily="34" charset="-120"/>
              </a:rPr>
              <a:t>→</a:t>
            </a:r>
            <a:endParaRPr lang="en-US" sz="1100" dirty="0"/>
          </a:p>
        </p:txBody>
      </p:sp>
      <p:sp>
        <p:nvSpPr>
          <p:cNvPr id="54" name="b3"/>
          <p:cNvSpPr/>
          <p:nvPr/>
        </p:nvSpPr>
        <p:spPr>
          <a:xfrm>
            <a:off x="4103116" y="4902200"/>
            <a:ext cx="1340104" cy="228600"/>
          </a:xfrm>
          <a:prstGeom prst="roundRect">
            <a:avLst>
              <a:gd name="adj" fmla="val 16667"/>
            </a:avLst>
          </a:prstGeom>
          <a:solidFill>
            <a:srgbClr val="FFFFFF"/>
          </a:solidFill>
          <a:ln w="9525">
            <a:solidFill>
              <a:srgbClr val="AEB6C2"/>
            </a:solidFill>
            <a:prstDash val="solid"/>
          </a:ln>
        </p:spPr>
      </p:sp>
      <p:sp>
        <p:nvSpPr>
          <p:cNvPr id="55" name="b3"/>
          <p:cNvSpPr txBox="1"/>
          <p:nvPr/>
        </p:nvSpPr>
        <p:spPr>
          <a:xfrm>
            <a:off x="4103116" y="4902200"/>
            <a:ext cx="1340104" cy="228600"/>
          </a:xfrm>
          <a:prstGeom prst="rect">
            <a:avLst/>
          </a:prstGeom>
          <a:noFill/>
          <a:ln/>
        </p:spPr>
        <p:txBody>
          <a:bodyPr wrap="none" lIns="0" tIns="0" rIns="0" bIns="0" rtlCol="0" anchor="ctr"/>
          <a:lstStyle/>
          <a:p>
            <a:pPr algn="ctr" indent="0" marL="0">
              <a:lnSpc>
                <a:spcPct val="115000"/>
              </a:lnSpc>
              <a:buNone/>
            </a:pPr>
            <a:r>
              <a:rPr lang="en-US" sz="1100" b="1" dirty="0">
                <a:solidFill>
                  <a:srgbClr val="1B2430"/>
                </a:solidFill>
                <a:latin typeface="Arial" pitchFamily="34" charset="0"/>
                <a:ea typeface="Arial" pitchFamily="34" charset="-122"/>
                <a:cs typeface="Arial" pitchFamily="34" charset="-120"/>
              </a:rPr>
              <a:t>Mark resolved</a:t>
            </a:r>
            <a:endParaRPr lang="en-US" sz="1100" dirty="0"/>
          </a:p>
        </p:txBody>
      </p:sp>
      <p:sp>
        <p:nvSpPr>
          <p:cNvPr id="56" name="b3"/>
          <p:cNvSpPr txBox="1"/>
          <p:nvPr/>
        </p:nvSpPr>
        <p:spPr>
          <a:xfrm>
            <a:off x="5519420" y="4902200"/>
            <a:ext cx="190500" cy="228600"/>
          </a:xfrm>
          <a:prstGeom prst="rect">
            <a:avLst/>
          </a:prstGeom>
          <a:noFill/>
          <a:ln/>
        </p:spPr>
        <p:txBody>
          <a:bodyPr wrap="none" lIns="0" tIns="0" rIns="0" bIns="0" rtlCol="0" anchor="ctr"/>
          <a:lstStyle/>
          <a:p>
            <a:pPr algn="ctr" indent="0" marL="0">
              <a:lnSpc>
                <a:spcPct val="115000"/>
              </a:lnSpc>
              <a:buNone/>
            </a:pPr>
            <a:r>
              <a:rPr lang="en-US" sz="1100" dirty="0">
                <a:solidFill>
                  <a:srgbClr val="AEB6C2"/>
                </a:solidFill>
                <a:latin typeface="Arial" pitchFamily="34" charset="0"/>
                <a:ea typeface="Arial" pitchFamily="34" charset="-122"/>
                <a:cs typeface="Arial" pitchFamily="34" charset="-120"/>
              </a:rPr>
              <a:t>→</a:t>
            </a:r>
            <a:endParaRPr lang="en-US" sz="1100" dirty="0"/>
          </a:p>
        </p:txBody>
      </p:sp>
      <p:sp>
        <p:nvSpPr>
          <p:cNvPr id="57" name="b3"/>
          <p:cNvSpPr/>
          <p:nvPr/>
        </p:nvSpPr>
        <p:spPr>
          <a:xfrm>
            <a:off x="5798820" y="4902200"/>
            <a:ext cx="2413000" cy="228600"/>
          </a:xfrm>
          <a:prstGeom prst="roundRect">
            <a:avLst>
              <a:gd name="adj" fmla="val 16667"/>
            </a:avLst>
          </a:prstGeom>
          <a:solidFill>
            <a:srgbClr val="FFFFFF"/>
          </a:solidFill>
          <a:ln w="9525">
            <a:solidFill>
              <a:srgbClr val="AEB6C2"/>
            </a:solidFill>
            <a:prstDash val="solid"/>
          </a:ln>
        </p:spPr>
      </p:sp>
      <p:sp>
        <p:nvSpPr>
          <p:cNvPr id="58" name="b3"/>
          <p:cNvSpPr txBox="1"/>
          <p:nvPr/>
        </p:nvSpPr>
        <p:spPr>
          <a:xfrm>
            <a:off x="5798820" y="4902200"/>
            <a:ext cx="2413000" cy="228600"/>
          </a:xfrm>
          <a:prstGeom prst="rect">
            <a:avLst/>
          </a:prstGeom>
          <a:noFill/>
          <a:ln/>
        </p:spPr>
        <p:txBody>
          <a:bodyPr wrap="none" lIns="0" tIns="0" rIns="0" bIns="0" rtlCol="0" anchor="ctr"/>
          <a:lstStyle/>
          <a:p>
            <a:pPr algn="ctr" indent="0" marL="0">
              <a:lnSpc>
                <a:spcPct val="115000"/>
              </a:lnSpc>
              <a:buNone/>
            </a:pPr>
            <a:r>
              <a:rPr lang="en-US" sz="1100" b="1" dirty="0">
                <a:solidFill>
                  <a:srgbClr val="1B2430"/>
                </a:solidFill>
                <a:latin typeface="Arial" pitchFamily="34" charset="0"/>
                <a:ea typeface="Arial" pitchFamily="34" charset="-122"/>
                <a:cs typeface="Arial" pitchFamily="34" charset="-120"/>
              </a:rPr>
              <a:t>Mark site visit scheduled</a:t>
            </a:r>
            <a:endParaRPr lang="en-US" sz="1100" dirty="0"/>
          </a:p>
        </p:txBody>
      </p:sp>
      <p:sp>
        <p:nvSpPr>
          <p:cNvPr id="59" name="b3"/>
          <p:cNvSpPr txBox="1"/>
          <p:nvPr/>
        </p:nvSpPr>
        <p:spPr>
          <a:xfrm>
            <a:off x="8288020" y="4902200"/>
            <a:ext cx="190500" cy="228600"/>
          </a:xfrm>
          <a:prstGeom prst="rect">
            <a:avLst/>
          </a:prstGeom>
          <a:noFill/>
          <a:ln/>
        </p:spPr>
        <p:txBody>
          <a:bodyPr wrap="none" lIns="0" tIns="0" rIns="0" bIns="0" rtlCol="0" anchor="ctr"/>
          <a:lstStyle/>
          <a:p>
            <a:pPr algn="ctr" indent="0" marL="0">
              <a:lnSpc>
                <a:spcPct val="115000"/>
              </a:lnSpc>
              <a:buNone/>
            </a:pPr>
            <a:r>
              <a:rPr lang="en-US" sz="1100" dirty="0">
                <a:solidFill>
                  <a:srgbClr val="AEB6C2"/>
                </a:solidFill>
                <a:latin typeface="Arial" pitchFamily="34" charset="0"/>
                <a:ea typeface="Arial" pitchFamily="34" charset="-122"/>
                <a:cs typeface="Arial" pitchFamily="34" charset="-120"/>
              </a:rPr>
              <a:t>→</a:t>
            </a:r>
            <a:endParaRPr lang="en-US" sz="1100" dirty="0"/>
          </a:p>
        </p:txBody>
      </p:sp>
      <p:sp>
        <p:nvSpPr>
          <p:cNvPr id="60" name="b3"/>
          <p:cNvSpPr/>
          <p:nvPr/>
        </p:nvSpPr>
        <p:spPr>
          <a:xfrm>
            <a:off x="8567420" y="4902200"/>
            <a:ext cx="1965960" cy="228600"/>
          </a:xfrm>
          <a:prstGeom prst="roundRect">
            <a:avLst>
              <a:gd name="adj" fmla="val 16667"/>
            </a:avLst>
          </a:prstGeom>
          <a:solidFill>
            <a:srgbClr val="FFFFFF"/>
          </a:solidFill>
          <a:ln w="9525">
            <a:solidFill>
              <a:srgbClr val="AEB6C2"/>
            </a:solidFill>
            <a:prstDash val="solid"/>
          </a:ln>
        </p:spPr>
      </p:sp>
      <p:sp>
        <p:nvSpPr>
          <p:cNvPr id="61" name="b3"/>
          <p:cNvSpPr txBox="1"/>
          <p:nvPr/>
        </p:nvSpPr>
        <p:spPr>
          <a:xfrm>
            <a:off x="8567420" y="4902200"/>
            <a:ext cx="1965960" cy="228600"/>
          </a:xfrm>
          <a:prstGeom prst="rect">
            <a:avLst/>
          </a:prstGeom>
          <a:noFill/>
          <a:ln/>
        </p:spPr>
        <p:txBody>
          <a:bodyPr wrap="none" lIns="0" tIns="0" rIns="0" bIns="0" rtlCol="0" anchor="ctr"/>
          <a:lstStyle/>
          <a:p>
            <a:pPr algn="ctr" indent="0" marL="0">
              <a:lnSpc>
                <a:spcPct val="115000"/>
              </a:lnSpc>
              <a:buNone/>
            </a:pPr>
            <a:r>
              <a:rPr lang="en-US" sz="1100" b="1" dirty="0">
                <a:solidFill>
                  <a:srgbClr val="1B2430"/>
                </a:solidFill>
                <a:latin typeface="Arial" pitchFamily="34" charset="0"/>
                <a:ea typeface="Arial" pitchFamily="34" charset="-122"/>
                <a:cs typeface="Arial" pitchFamily="34" charset="-120"/>
              </a:rPr>
              <a:t>Mark site visit done</a:t>
            </a:r>
            <a:endParaRPr lang="en-US" sz="1100" dirty="0"/>
          </a:p>
        </p:txBody>
      </p:sp>
      <p:sp>
        <p:nvSpPr>
          <p:cNvPr id="62" name="b3"/>
          <p:cNvSpPr/>
          <p:nvPr/>
        </p:nvSpPr>
        <p:spPr>
          <a:xfrm>
            <a:off x="2387600" y="5194300"/>
            <a:ext cx="1697736" cy="228600"/>
          </a:xfrm>
          <a:prstGeom prst="roundRect">
            <a:avLst>
              <a:gd name="adj" fmla="val 16667"/>
            </a:avLst>
          </a:prstGeom>
          <a:solidFill>
            <a:srgbClr val="FFFFFF"/>
          </a:solidFill>
          <a:ln w="9525">
            <a:solidFill>
              <a:srgbClr val="AEB6C2"/>
            </a:solidFill>
            <a:prstDash val="solid"/>
          </a:ln>
        </p:spPr>
      </p:sp>
      <p:sp>
        <p:nvSpPr>
          <p:cNvPr id="63" name="b3"/>
          <p:cNvSpPr txBox="1"/>
          <p:nvPr/>
        </p:nvSpPr>
        <p:spPr>
          <a:xfrm>
            <a:off x="2387600" y="5194300"/>
            <a:ext cx="1697736" cy="228600"/>
          </a:xfrm>
          <a:prstGeom prst="rect">
            <a:avLst/>
          </a:prstGeom>
          <a:noFill/>
          <a:ln/>
        </p:spPr>
        <p:txBody>
          <a:bodyPr wrap="none" lIns="0" tIns="0" rIns="0" bIns="0" rtlCol="0" anchor="ctr"/>
          <a:lstStyle/>
          <a:p>
            <a:pPr algn="ctr" indent="0" marL="0">
              <a:lnSpc>
                <a:spcPct val="115000"/>
              </a:lnSpc>
              <a:buNone/>
            </a:pPr>
            <a:r>
              <a:rPr lang="en-US" sz="1100" b="1" dirty="0">
                <a:solidFill>
                  <a:srgbClr val="1B2430"/>
                </a:solidFill>
                <a:latin typeface="Arial" pitchFamily="34" charset="0"/>
                <a:ea typeface="Arial" pitchFamily="34" charset="-122"/>
                <a:cs typeface="Arial" pitchFamily="34" charset="-120"/>
              </a:rPr>
              <a:t>Route to approval</a:t>
            </a:r>
            <a:endParaRPr lang="en-US" sz="1100" dirty="0"/>
          </a:p>
        </p:txBody>
      </p:sp>
      <p:sp>
        <p:nvSpPr>
          <p:cNvPr id="64" name="b3"/>
          <p:cNvSpPr txBox="1"/>
          <p:nvPr/>
        </p:nvSpPr>
        <p:spPr>
          <a:xfrm>
            <a:off x="4161536" y="5194300"/>
            <a:ext cx="190500" cy="228600"/>
          </a:xfrm>
          <a:prstGeom prst="rect">
            <a:avLst/>
          </a:prstGeom>
          <a:noFill/>
          <a:ln/>
        </p:spPr>
        <p:txBody>
          <a:bodyPr wrap="none" lIns="0" tIns="0" rIns="0" bIns="0" rtlCol="0" anchor="ctr"/>
          <a:lstStyle/>
          <a:p>
            <a:pPr algn="ctr" indent="0" marL="0">
              <a:lnSpc>
                <a:spcPct val="115000"/>
              </a:lnSpc>
              <a:buNone/>
            </a:pPr>
            <a:r>
              <a:rPr lang="en-US" sz="1100" dirty="0">
                <a:solidFill>
                  <a:srgbClr val="AEB6C2"/>
                </a:solidFill>
                <a:latin typeface="Arial" pitchFamily="34" charset="0"/>
                <a:ea typeface="Arial" pitchFamily="34" charset="-122"/>
                <a:cs typeface="Arial" pitchFamily="34" charset="-120"/>
              </a:rPr>
              <a:t>→</a:t>
            </a:r>
            <a:endParaRPr lang="en-US" sz="1100" dirty="0"/>
          </a:p>
        </p:txBody>
      </p:sp>
      <p:sp>
        <p:nvSpPr>
          <p:cNvPr id="65" name="b3"/>
          <p:cNvSpPr/>
          <p:nvPr/>
        </p:nvSpPr>
        <p:spPr>
          <a:xfrm>
            <a:off x="4440936" y="5194300"/>
            <a:ext cx="803656" cy="228600"/>
          </a:xfrm>
          <a:prstGeom prst="roundRect">
            <a:avLst>
              <a:gd name="adj" fmla="val 16667"/>
            </a:avLst>
          </a:prstGeom>
          <a:solidFill>
            <a:srgbClr val="1B2430"/>
          </a:solidFill>
          <a:ln w="9525">
            <a:solidFill>
              <a:srgbClr val="1B2430"/>
            </a:solidFill>
            <a:prstDash val="solid"/>
          </a:ln>
        </p:spPr>
      </p:sp>
      <p:sp>
        <p:nvSpPr>
          <p:cNvPr id="66" name="b3"/>
          <p:cNvSpPr txBox="1"/>
          <p:nvPr/>
        </p:nvSpPr>
        <p:spPr>
          <a:xfrm>
            <a:off x="4440936" y="5194300"/>
            <a:ext cx="803656" cy="228600"/>
          </a:xfrm>
          <a:prstGeom prst="rect">
            <a:avLst/>
          </a:prstGeom>
          <a:noFill/>
          <a:ln/>
        </p:spPr>
        <p:txBody>
          <a:bodyPr wrap="none" lIns="0" tIns="0" rIns="0" bIns="0" rtlCol="0" anchor="ctr"/>
          <a:lstStyle/>
          <a:p>
            <a:pPr algn="ctr" indent="0" marL="0">
              <a:lnSpc>
                <a:spcPct val="115000"/>
              </a:lnSpc>
              <a:buNone/>
            </a:pPr>
            <a:r>
              <a:rPr lang="en-US" sz="1100" b="1" dirty="0">
                <a:solidFill>
                  <a:srgbClr val="FFFFFF"/>
                </a:solidFill>
                <a:latin typeface="Arial" pitchFamily="34" charset="0"/>
                <a:ea typeface="Arial" pitchFamily="34" charset="-122"/>
                <a:cs typeface="Arial" pitchFamily="34" charset="-120"/>
              </a:rPr>
              <a:t>Approve</a:t>
            </a:r>
            <a:endParaRPr lang="en-US" sz="1100" dirty="0"/>
          </a:p>
        </p:txBody>
      </p:sp>
      <p:sp>
        <p:nvSpPr>
          <p:cNvPr id="67" name="b3"/>
          <p:cNvSpPr txBox="1"/>
          <p:nvPr/>
        </p:nvSpPr>
        <p:spPr>
          <a:xfrm>
            <a:off x="5320792" y="5194300"/>
            <a:ext cx="2529840" cy="228600"/>
          </a:xfrm>
          <a:prstGeom prst="rect">
            <a:avLst/>
          </a:prstGeom>
          <a:noFill/>
          <a:ln/>
        </p:spPr>
        <p:txBody>
          <a:bodyPr wrap="none" lIns="0" tIns="0" rIns="0" bIns="0" rtlCol="0" anchor="ctr"/>
          <a:lstStyle/>
          <a:p>
            <a:pPr algn="l" indent="0" marL="0">
              <a:lnSpc>
                <a:spcPct val="115000"/>
              </a:lnSpc>
              <a:buNone/>
            </a:pPr>
            <a:r>
              <a:rPr lang="en-US" sz="1200" dirty="0">
                <a:solidFill>
                  <a:srgbClr val="465060"/>
                </a:solidFill>
                <a:latin typeface="Arial" pitchFamily="34" charset="0"/>
                <a:ea typeface="Arial" pitchFamily="34" charset="-122"/>
                <a:cs typeface="Arial" pitchFamily="34" charset="-120"/>
              </a:rPr>
              <a:t>issues the licence certificate</a:t>
            </a:r>
            <a:endParaRPr lang="en-US" sz="1200" dirty="0"/>
          </a:p>
        </p:txBody>
      </p:sp>
      <p:sp>
        <p:nvSpPr>
          <p:cNvPr id="68" name="Text 66"/>
          <p:cNvSpPr txBox="1"/>
          <p:nvPr/>
        </p:nvSpPr>
        <p:spPr>
          <a:xfrm>
            <a:off x="762000" y="6299200"/>
            <a:ext cx="698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Arial" pitchFamily="34" charset="0"/>
                <a:ea typeface="Arial" pitchFamily="34" charset="-122"/>
                <a:cs typeface="Arial" pitchFamily="34" charset="-120"/>
              </a:rPr>
              <a:t>Every dark or outlined chip is a control label in the product, spelled as it appears.</a:t>
            </a:r>
            <a:endParaRPr lang="en-US" sz="1000" dirty="0"/>
          </a:p>
        </p:txBody>
      </p:sp>
      <p:sp>
        <p:nvSpPr>
          <p:cNvPr id="69" name="Text 67"/>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03 / 11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150" fill="hold">
                      <p:stCondLst>
                        <p:cond delay="indefinite"/>
                      </p:stCondLst>
                      <p:childTnLst>
                        <p:par>
                          <p:cTn id="15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320"/>
                                        <p:tgtEl>
                                          <p:spTgt spid="19"/>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320"/>
                                        <p:tgtEl>
                                          <p:spTgt spid="20"/>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320"/>
                                        <p:tgtEl>
                                          <p:spTgt spid="21"/>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320"/>
                                        <p:tgtEl>
                                          <p:spTgt spid="22"/>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320"/>
                                        <p:tgtEl>
                                          <p:spTgt spid="23"/>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320"/>
                                        <p:tgtEl>
                                          <p:spTgt spid="24"/>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320"/>
                                        <p:tgtEl>
                                          <p:spTgt spid="25"/>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320"/>
                                        <p:tgtEl>
                                          <p:spTgt spid="26"/>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320"/>
                                        <p:tgtEl>
                                          <p:spTgt spid="27"/>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320"/>
                                        <p:tgtEl>
                                          <p:spTgt spid="28"/>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320"/>
                                        <p:tgtEl>
                                          <p:spTgt spid="29"/>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320"/>
                                        <p:tgtEl>
                                          <p:spTgt spid="30"/>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320"/>
                                        <p:tgtEl>
                                          <p:spTgt spid="31"/>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320"/>
                                        <p:tgtEl>
                                          <p:spTgt spid="32"/>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320"/>
                                        <p:tgtEl>
                                          <p:spTgt spid="33"/>
                                        </p:tgtEl>
                                      </p:cBhvr>
                                    </p:animEffect>
                                  </p:childTnLst>
                                </p:cTn>
                              </p:par>
                              <p:par>
                                <p:cTn id="48" presetID="10" presetClass="entr" presetSubtype="0" fill="hold" grpId="0" nodeType="withEffect">
                                  <p:stCondLst>
                                    <p:cond delay="60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320"/>
                                        <p:tgtEl>
                                          <p:spTgt spid="34"/>
                                        </p:tgtEl>
                                      </p:cBhvr>
                                    </p:animEffect>
                                  </p:childTnLst>
                                </p:cTn>
                              </p:par>
                              <p:par>
                                <p:cTn id="51" presetID="10" presetClass="entr" presetSubtype="0" fill="hold" grpId="0" nodeType="withEffect">
                                  <p:stCondLst>
                                    <p:cond delay="70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320"/>
                                        <p:tgtEl>
                                          <p:spTgt spid="35"/>
                                        </p:tgtEl>
                                      </p:cBhvr>
                                    </p:animEffect>
                                  </p:childTnLst>
                                </p:cTn>
                              </p:par>
                              <p:par>
                                <p:cTn id="54" presetID="10" presetClass="entr" presetSubtype="0" fill="hold" grpId="0" nodeType="withEffect">
                                  <p:stCondLst>
                                    <p:cond delay="800"/>
                                  </p:stCondLst>
                                  <p:childTnLst>
                                    <p:set>
                                      <p:cBhvr>
                                        <p:cTn id="55" dur="1" fill="hold">
                                          <p:stCondLst>
                                            <p:cond delay="0"/>
                                          </p:stCondLst>
                                        </p:cTn>
                                        <p:tgtEl>
                                          <p:spTgt spid="36"/>
                                        </p:tgtEl>
                                        <p:attrNameLst>
                                          <p:attrName>style.visibility</p:attrName>
                                        </p:attrNameLst>
                                      </p:cBhvr>
                                      <p:to>
                                        <p:strVal val="visible"/>
                                      </p:to>
                                    </p:set>
                                    <p:animEffect transition="in" filter="fade">
                                      <p:cBhvr>
                                        <p:cTn id="56" dur="320"/>
                                        <p:tgtEl>
                                          <p:spTgt spid="36"/>
                                        </p:tgtEl>
                                      </p:cBhvr>
                                    </p:animEffect>
                                  </p:childTnLst>
                                </p:cTn>
                              </p:par>
                              <p:par>
                                <p:cTn id="57" presetID="10" presetClass="entr" presetSubtype="0" fill="hold" grpId="0" nodeType="withEffect">
                                  <p:stCondLst>
                                    <p:cond delay="900"/>
                                  </p:stCondLst>
                                  <p:childTnLst>
                                    <p:set>
                                      <p:cBhvr>
                                        <p:cTn id="58" dur="1" fill="hold">
                                          <p:stCondLst>
                                            <p:cond delay="0"/>
                                          </p:stCondLst>
                                        </p:cTn>
                                        <p:tgtEl>
                                          <p:spTgt spid="37"/>
                                        </p:tgtEl>
                                        <p:attrNameLst>
                                          <p:attrName>style.visibility</p:attrName>
                                        </p:attrNameLst>
                                      </p:cBhvr>
                                      <p:to>
                                        <p:strVal val="visible"/>
                                      </p:to>
                                    </p:set>
                                    <p:animEffect transition="in" filter="fade">
                                      <p:cBhvr>
                                        <p:cTn id="59" dur="320"/>
                                        <p:tgtEl>
                                          <p:spTgt spid="37"/>
                                        </p:tgtEl>
                                      </p:cBhvr>
                                    </p:animEffect>
                                  </p:childTnLst>
                                </p:cTn>
                              </p:par>
                              <p:par>
                                <p:cTn id="60" presetID="10" presetClass="entr" presetSubtype="0" fill="hold" grpId="0" nodeType="withEffect">
                                  <p:stCondLst>
                                    <p:cond delay="1000"/>
                                  </p:stCondLst>
                                  <p:childTnLst>
                                    <p:set>
                                      <p:cBhvr>
                                        <p:cTn id="61" dur="1" fill="hold">
                                          <p:stCondLst>
                                            <p:cond delay="0"/>
                                          </p:stCondLst>
                                        </p:cTn>
                                        <p:tgtEl>
                                          <p:spTgt spid="38"/>
                                        </p:tgtEl>
                                        <p:attrNameLst>
                                          <p:attrName>style.visibility</p:attrName>
                                        </p:attrNameLst>
                                      </p:cBhvr>
                                      <p:to>
                                        <p:strVal val="visible"/>
                                      </p:to>
                                    </p:set>
                                    <p:animEffect transition="in" filter="fade">
                                      <p:cBhvr>
                                        <p:cTn id="62" dur="320"/>
                                        <p:tgtEl>
                                          <p:spTgt spid="38"/>
                                        </p:tgtEl>
                                      </p:cBhvr>
                                    </p:animEffect>
                                  </p:childTnLst>
                                </p:cTn>
                              </p:par>
                              <p:par>
                                <p:cTn id="63" presetID="10" presetClass="entr" presetSubtype="0" fill="hold" grpId="0" nodeType="withEffect">
                                  <p:stCondLst>
                                    <p:cond delay="1100"/>
                                  </p:stCondLst>
                                  <p:childTnLst>
                                    <p:set>
                                      <p:cBhvr>
                                        <p:cTn id="64" dur="1" fill="hold">
                                          <p:stCondLst>
                                            <p:cond delay="0"/>
                                          </p:stCondLst>
                                        </p:cTn>
                                        <p:tgtEl>
                                          <p:spTgt spid="39"/>
                                        </p:tgtEl>
                                        <p:attrNameLst>
                                          <p:attrName>style.visibility</p:attrName>
                                        </p:attrNameLst>
                                      </p:cBhvr>
                                      <p:to>
                                        <p:strVal val="visible"/>
                                      </p:to>
                                    </p:set>
                                    <p:animEffect transition="in" filter="fade">
                                      <p:cBhvr>
                                        <p:cTn id="65" dur="320"/>
                                        <p:tgtEl>
                                          <p:spTgt spid="39"/>
                                        </p:tgtEl>
                                      </p:cBhvr>
                                    </p:animEffect>
                                  </p:childTnLst>
                                </p:cTn>
                              </p:par>
                              <p:par>
                                <p:cTn id="66" presetID="10" presetClass="entr" presetSubtype="0" fill="hold" grpId="0" nodeType="withEffect">
                                  <p:stCondLst>
                                    <p:cond delay="1200"/>
                                  </p:stCondLst>
                                  <p:childTnLst>
                                    <p:set>
                                      <p:cBhvr>
                                        <p:cTn id="67" dur="1" fill="hold">
                                          <p:stCondLst>
                                            <p:cond delay="0"/>
                                          </p:stCondLst>
                                        </p:cTn>
                                        <p:tgtEl>
                                          <p:spTgt spid="40"/>
                                        </p:tgtEl>
                                        <p:attrNameLst>
                                          <p:attrName>style.visibility</p:attrName>
                                        </p:attrNameLst>
                                      </p:cBhvr>
                                      <p:to>
                                        <p:strVal val="visible"/>
                                      </p:to>
                                    </p:set>
                                    <p:animEffect transition="in" filter="fade">
                                      <p:cBhvr>
                                        <p:cTn id="68" dur="320"/>
                                        <p:tgtEl>
                                          <p:spTgt spid="40"/>
                                        </p:tgtEl>
                                      </p:cBhvr>
                                    </p:animEffect>
                                  </p:childTnLst>
                                </p:cTn>
                              </p:par>
                              <p:par>
                                <p:cTn id="69" presetID="10" presetClass="entr" presetSubtype="0" fill="hold" grpId="0" nodeType="withEffect">
                                  <p:stCondLst>
                                    <p:cond delay="130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320"/>
                                        <p:tgtEl>
                                          <p:spTgt spid="41"/>
                                        </p:tgtEl>
                                      </p:cBhvr>
                                    </p:animEffect>
                                  </p:childTnLst>
                                </p:cTn>
                              </p:par>
                              <p:par>
                                <p:cTn id="72" presetID="10" presetClass="entr" presetSubtype="0" fill="hold" grpId="0" nodeType="withEffect">
                                  <p:stCondLst>
                                    <p:cond delay="1400"/>
                                  </p:stCondLst>
                                  <p:childTnLst>
                                    <p:set>
                                      <p:cBhvr>
                                        <p:cTn id="73" dur="1" fill="hold">
                                          <p:stCondLst>
                                            <p:cond delay="0"/>
                                          </p:stCondLst>
                                        </p:cTn>
                                        <p:tgtEl>
                                          <p:spTgt spid="42"/>
                                        </p:tgtEl>
                                        <p:attrNameLst>
                                          <p:attrName>style.visibility</p:attrName>
                                        </p:attrNameLst>
                                      </p:cBhvr>
                                      <p:to>
                                        <p:strVal val="visible"/>
                                      </p:to>
                                    </p:set>
                                    <p:animEffect transition="in" filter="fade">
                                      <p:cBhvr>
                                        <p:cTn id="74" dur="320"/>
                                        <p:tgtEl>
                                          <p:spTgt spid="42"/>
                                        </p:tgtEl>
                                      </p:cBhvr>
                                    </p:animEffect>
                                  </p:childTnLst>
                                </p:cTn>
                              </p:par>
                              <p:par>
                                <p:cTn id="75" presetID="10" presetClass="entr" presetSubtype="0" fill="hold" grpId="0" nodeType="withEffect">
                                  <p:stCondLst>
                                    <p:cond delay="1500"/>
                                  </p:stCondLst>
                                  <p:childTnLst>
                                    <p:set>
                                      <p:cBhvr>
                                        <p:cTn id="76" dur="1" fill="hold">
                                          <p:stCondLst>
                                            <p:cond delay="0"/>
                                          </p:stCondLst>
                                        </p:cTn>
                                        <p:tgtEl>
                                          <p:spTgt spid="43"/>
                                        </p:tgtEl>
                                        <p:attrNameLst>
                                          <p:attrName>style.visibility</p:attrName>
                                        </p:attrNameLst>
                                      </p:cBhvr>
                                      <p:to>
                                        <p:strVal val="visible"/>
                                      </p:to>
                                    </p:set>
                                    <p:animEffect transition="in" filter="fade">
                                      <p:cBhvr>
                                        <p:cTn id="77" dur="320"/>
                                        <p:tgtEl>
                                          <p:spTgt spid="43"/>
                                        </p:tgtEl>
                                      </p:cBhvr>
                                    </p:animEffect>
                                  </p:childTnLst>
                                </p:cTn>
                              </p:par>
                              <p:par>
                                <p:cTn id="78" presetID="10" presetClass="entr" presetSubtype="0" fill="hold" grpId="0" nodeType="withEffect">
                                  <p:stCondLst>
                                    <p:cond delay="1600"/>
                                  </p:stCondLst>
                                  <p:childTnLst>
                                    <p:set>
                                      <p:cBhvr>
                                        <p:cTn id="79" dur="1" fill="hold">
                                          <p:stCondLst>
                                            <p:cond delay="0"/>
                                          </p:stCondLst>
                                        </p:cTn>
                                        <p:tgtEl>
                                          <p:spTgt spid="44"/>
                                        </p:tgtEl>
                                        <p:attrNameLst>
                                          <p:attrName>style.visibility</p:attrName>
                                        </p:attrNameLst>
                                      </p:cBhvr>
                                      <p:to>
                                        <p:strVal val="visible"/>
                                      </p:to>
                                    </p:set>
                                    <p:animEffect transition="in" filter="fade">
                                      <p:cBhvr>
                                        <p:cTn id="80" dur="320"/>
                                        <p:tgtEl>
                                          <p:spTgt spid="44"/>
                                        </p:tgtEl>
                                      </p:cBhvr>
                                    </p:animEffect>
                                  </p:childTnLst>
                                </p:cTn>
                              </p:par>
                              <p:par>
                                <p:cTn id="81" presetID="10" presetClass="entr" presetSubtype="0" fill="hold" grpId="0" nodeType="withEffect">
                                  <p:stCondLst>
                                    <p:cond delay="1700"/>
                                  </p:stCondLst>
                                  <p:childTnLst>
                                    <p:set>
                                      <p:cBhvr>
                                        <p:cTn id="82" dur="1" fill="hold">
                                          <p:stCondLst>
                                            <p:cond delay="0"/>
                                          </p:stCondLst>
                                        </p:cTn>
                                        <p:tgtEl>
                                          <p:spTgt spid="45"/>
                                        </p:tgtEl>
                                        <p:attrNameLst>
                                          <p:attrName>style.visibility</p:attrName>
                                        </p:attrNameLst>
                                      </p:cBhvr>
                                      <p:to>
                                        <p:strVal val="visible"/>
                                      </p:to>
                                    </p:set>
                                    <p:animEffect transition="in" filter="fade">
                                      <p:cBhvr>
                                        <p:cTn id="83" dur="320"/>
                                        <p:tgtEl>
                                          <p:spTgt spid="45"/>
                                        </p:tgtEl>
                                      </p:cBhvr>
                                    </p:animEffect>
                                  </p:childTnLst>
                                </p:cTn>
                              </p:par>
                              <p:par>
                                <p:cTn id="84" presetID="10" presetClass="entr" presetSubtype="0" fill="hold" grpId="0" nodeType="withEffect">
                                  <p:stCondLst>
                                    <p:cond delay="1800"/>
                                  </p:stCondLst>
                                  <p:childTnLst>
                                    <p:set>
                                      <p:cBhvr>
                                        <p:cTn id="85" dur="1" fill="hold">
                                          <p:stCondLst>
                                            <p:cond delay="0"/>
                                          </p:stCondLst>
                                        </p:cTn>
                                        <p:tgtEl>
                                          <p:spTgt spid="46"/>
                                        </p:tgtEl>
                                        <p:attrNameLst>
                                          <p:attrName>style.visibility</p:attrName>
                                        </p:attrNameLst>
                                      </p:cBhvr>
                                      <p:to>
                                        <p:strVal val="visible"/>
                                      </p:to>
                                    </p:set>
                                    <p:animEffect transition="in" filter="fade">
                                      <p:cBhvr>
                                        <p:cTn id="86" dur="320"/>
                                        <p:tgtEl>
                                          <p:spTgt spid="46"/>
                                        </p:tgtEl>
                                      </p:cBhvr>
                                    </p:animEffect>
                                  </p:childTnLst>
                                </p:cTn>
                              </p:par>
                              <p:par>
                                <p:cTn id="87" presetID="10" presetClass="entr" presetSubtype="0" fill="hold" grpId="0" nodeType="withEffect">
                                  <p:stCondLst>
                                    <p:cond delay="1900"/>
                                  </p:stCondLst>
                                  <p:childTnLst>
                                    <p:set>
                                      <p:cBhvr>
                                        <p:cTn id="88" dur="1" fill="hold">
                                          <p:stCondLst>
                                            <p:cond delay="0"/>
                                          </p:stCondLst>
                                        </p:cTn>
                                        <p:tgtEl>
                                          <p:spTgt spid="47"/>
                                        </p:tgtEl>
                                        <p:attrNameLst>
                                          <p:attrName>style.visibility</p:attrName>
                                        </p:attrNameLst>
                                      </p:cBhvr>
                                      <p:to>
                                        <p:strVal val="visible"/>
                                      </p:to>
                                    </p:set>
                                    <p:animEffect transition="in" filter="fade">
                                      <p:cBhvr>
                                        <p:cTn id="89" dur="320"/>
                                        <p:tgtEl>
                                          <p:spTgt spid="47"/>
                                        </p:tgtEl>
                                      </p:cBhvr>
                                    </p:animEffect>
                                  </p:childTnLst>
                                </p:cTn>
                              </p:par>
                              <p:par>
                                <p:cTn id="90" presetID="10" presetClass="entr" presetSubtype="0" fill="hold" grpId="0" nodeType="withEffect">
                                  <p:stCondLst>
                                    <p:cond delay="1200"/>
                                  </p:stCondLst>
                                  <p:childTnLst>
                                    <p:set>
                                      <p:cBhvr>
                                        <p:cTn id="91" dur="1" fill="hold">
                                          <p:stCondLst>
                                            <p:cond delay="0"/>
                                          </p:stCondLst>
                                        </p:cTn>
                                        <p:tgtEl>
                                          <p:spTgt spid="48"/>
                                        </p:tgtEl>
                                        <p:attrNameLst>
                                          <p:attrName>style.visibility</p:attrName>
                                        </p:attrNameLst>
                                      </p:cBhvr>
                                      <p:to>
                                        <p:strVal val="visible"/>
                                      </p:to>
                                    </p:set>
                                    <p:animEffect transition="in" filter="fade">
                                      <p:cBhvr>
                                        <p:cTn id="92" dur="320"/>
                                        <p:tgtEl>
                                          <p:spTgt spid="48"/>
                                        </p:tgtEl>
                                      </p:cBhvr>
                                    </p:animEffect>
                                  </p:childTnLst>
                                </p:cTn>
                              </p:par>
                              <p:par>
                                <p:cTn id="93" presetID="10" presetClass="entr" presetSubtype="0" fill="hold" grpId="0" nodeType="withEffect">
                                  <p:stCondLst>
                                    <p:cond delay="1300"/>
                                  </p:stCondLst>
                                  <p:childTnLst>
                                    <p:set>
                                      <p:cBhvr>
                                        <p:cTn id="94" dur="1" fill="hold">
                                          <p:stCondLst>
                                            <p:cond delay="0"/>
                                          </p:stCondLst>
                                        </p:cTn>
                                        <p:tgtEl>
                                          <p:spTgt spid="49"/>
                                        </p:tgtEl>
                                        <p:attrNameLst>
                                          <p:attrName>style.visibility</p:attrName>
                                        </p:attrNameLst>
                                      </p:cBhvr>
                                      <p:to>
                                        <p:strVal val="visible"/>
                                      </p:to>
                                    </p:set>
                                    <p:animEffect transition="in" filter="fade">
                                      <p:cBhvr>
                                        <p:cTn id="95" dur="320"/>
                                        <p:tgtEl>
                                          <p:spTgt spid="49"/>
                                        </p:tgtEl>
                                      </p:cBhvr>
                                    </p:animEffect>
                                  </p:childTnLst>
                                </p:cTn>
                              </p:par>
                              <p:par>
                                <p:cTn id="96" presetID="10" presetClass="entr" presetSubtype="0" fill="hold" grpId="0" nodeType="withEffect">
                                  <p:stCondLst>
                                    <p:cond delay="1400"/>
                                  </p:stCondLst>
                                  <p:childTnLst>
                                    <p:set>
                                      <p:cBhvr>
                                        <p:cTn id="97" dur="1" fill="hold">
                                          <p:stCondLst>
                                            <p:cond delay="0"/>
                                          </p:stCondLst>
                                        </p:cTn>
                                        <p:tgtEl>
                                          <p:spTgt spid="50"/>
                                        </p:tgtEl>
                                        <p:attrNameLst>
                                          <p:attrName>style.visibility</p:attrName>
                                        </p:attrNameLst>
                                      </p:cBhvr>
                                      <p:to>
                                        <p:strVal val="visible"/>
                                      </p:to>
                                    </p:set>
                                    <p:animEffect transition="in" filter="fade">
                                      <p:cBhvr>
                                        <p:cTn id="98" dur="320"/>
                                        <p:tgtEl>
                                          <p:spTgt spid="50"/>
                                        </p:tgtEl>
                                      </p:cBhvr>
                                    </p:animEffect>
                                  </p:childTnLst>
                                </p:cTn>
                              </p:par>
                              <p:par>
                                <p:cTn id="99" presetID="10" presetClass="entr" presetSubtype="0" fill="hold" grpId="0" nodeType="withEffect">
                                  <p:stCondLst>
                                    <p:cond delay="1500"/>
                                  </p:stCondLst>
                                  <p:childTnLst>
                                    <p:set>
                                      <p:cBhvr>
                                        <p:cTn id="100" dur="1" fill="hold">
                                          <p:stCondLst>
                                            <p:cond delay="0"/>
                                          </p:stCondLst>
                                        </p:cTn>
                                        <p:tgtEl>
                                          <p:spTgt spid="51"/>
                                        </p:tgtEl>
                                        <p:attrNameLst>
                                          <p:attrName>style.visibility</p:attrName>
                                        </p:attrNameLst>
                                      </p:cBhvr>
                                      <p:to>
                                        <p:strVal val="visible"/>
                                      </p:to>
                                    </p:set>
                                    <p:animEffect transition="in" filter="fade">
                                      <p:cBhvr>
                                        <p:cTn id="101" dur="320"/>
                                        <p:tgtEl>
                                          <p:spTgt spid="51"/>
                                        </p:tgtEl>
                                      </p:cBhvr>
                                    </p:animEffect>
                                  </p:childTnLst>
                                </p:cTn>
                              </p:par>
                              <p:par>
                                <p:cTn id="102" presetID="10" presetClass="entr" presetSubtype="0" fill="hold" grpId="0" nodeType="withEffect">
                                  <p:stCondLst>
                                    <p:cond delay="1600"/>
                                  </p:stCondLst>
                                  <p:childTnLst>
                                    <p:set>
                                      <p:cBhvr>
                                        <p:cTn id="103" dur="1" fill="hold">
                                          <p:stCondLst>
                                            <p:cond delay="0"/>
                                          </p:stCondLst>
                                        </p:cTn>
                                        <p:tgtEl>
                                          <p:spTgt spid="52"/>
                                        </p:tgtEl>
                                        <p:attrNameLst>
                                          <p:attrName>style.visibility</p:attrName>
                                        </p:attrNameLst>
                                      </p:cBhvr>
                                      <p:to>
                                        <p:strVal val="visible"/>
                                      </p:to>
                                    </p:set>
                                    <p:animEffect transition="in" filter="fade">
                                      <p:cBhvr>
                                        <p:cTn id="104" dur="320"/>
                                        <p:tgtEl>
                                          <p:spTgt spid="52"/>
                                        </p:tgtEl>
                                      </p:cBhvr>
                                    </p:animEffect>
                                  </p:childTnLst>
                                </p:cTn>
                              </p:par>
                              <p:par>
                                <p:cTn id="105" presetID="10" presetClass="entr" presetSubtype="0" fill="hold" grpId="0" nodeType="withEffect">
                                  <p:stCondLst>
                                    <p:cond delay="1700"/>
                                  </p:stCondLst>
                                  <p:childTnLst>
                                    <p:set>
                                      <p:cBhvr>
                                        <p:cTn id="106" dur="1" fill="hold">
                                          <p:stCondLst>
                                            <p:cond delay="0"/>
                                          </p:stCondLst>
                                        </p:cTn>
                                        <p:tgtEl>
                                          <p:spTgt spid="53"/>
                                        </p:tgtEl>
                                        <p:attrNameLst>
                                          <p:attrName>style.visibility</p:attrName>
                                        </p:attrNameLst>
                                      </p:cBhvr>
                                      <p:to>
                                        <p:strVal val="visible"/>
                                      </p:to>
                                    </p:set>
                                    <p:animEffect transition="in" filter="fade">
                                      <p:cBhvr>
                                        <p:cTn id="107" dur="320"/>
                                        <p:tgtEl>
                                          <p:spTgt spid="53"/>
                                        </p:tgtEl>
                                      </p:cBhvr>
                                    </p:animEffect>
                                  </p:childTnLst>
                                </p:cTn>
                              </p:par>
                              <p:par>
                                <p:cTn id="108" presetID="10" presetClass="entr" presetSubtype="0" fill="hold" grpId="0" nodeType="withEffect">
                                  <p:stCondLst>
                                    <p:cond delay="1800"/>
                                  </p:stCondLst>
                                  <p:childTnLst>
                                    <p:set>
                                      <p:cBhvr>
                                        <p:cTn id="109" dur="1" fill="hold">
                                          <p:stCondLst>
                                            <p:cond delay="0"/>
                                          </p:stCondLst>
                                        </p:cTn>
                                        <p:tgtEl>
                                          <p:spTgt spid="54"/>
                                        </p:tgtEl>
                                        <p:attrNameLst>
                                          <p:attrName>style.visibility</p:attrName>
                                        </p:attrNameLst>
                                      </p:cBhvr>
                                      <p:to>
                                        <p:strVal val="visible"/>
                                      </p:to>
                                    </p:set>
                                    <p:animEffect transition="in" filter="fade">
                                      <p:cBhvr>
                                        <p:cTn id="110" dur="320"/>
                                        <p:tgtEl>
                                          <p:spTgt spid="54"/>
                                        </p:tgtEl>
                                      </p:cBhvr>
                                    </p:animEffect>
                                  </p:childTnLst>
                                </p:cTn>
                              </p:par>
                              <p:par>
                                <p:cTn id="111" presetID="10" presetClass="entr" presetSubtype="0" fill="hold" grpId="0" nodeType="withEffect">
                                  <p:stCondLst>
                                    <p:cond delay="1900"/>
                                  </p:stCondLst>
                                  <p:childTnLst>
                                    <p:set>
                                      <p:cBhvr>
                                        <p:cTn id="112" dur="1" fill="hold">
                                          <p:stCondLst>
                                            <p:cond delay="0"/>
                                          </p:stCondLst>
                                        </p:cTn>
                                        <p:tgtEl>
                                          <p:spTgt spid="55"/>
                                        </p:tgtEl>
                                        <p:attrNameLst>
                                          <p:attrName>style.visibility</p:attrName>
                                        </p:attrNameLst>
                                      </p:cBhvr>
                                      <p:to>
                                        <p:strVal val="visible"/>
                                      </p:to>
                                    </p:set>
                                    <p:animEffect transition="in" filter="fade">
                                      <p:cBhvr>
                                        <p:cTn id="113" dur="320"/>
                                        <p:tgtEl>
                                          <p:spTgt spid="55"/>
                                        </p:tgtEl>
                                      </p:cBhvr>
                                    </p:animEffect>
                                  </p:childTnLst>
                                </p:cTn>
                              </p:par>
                              <p:par>
                                <p:cTn id="114" presetID="10" presetClass="entr" presetSubtype="0" fill="hold" grpId="0" nodeType="withEffect">
                                  <p:stCondLst>
                                    <p:cond delay="200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320"/>
                                        <p:tgtEl>
                                          <p:spTgt spid="56"/>
                                        </p:tgtEl>
                                      </p:cBhvr>
                                    </p:animEffect>
                                  </p:childTnLst>
                                </p:cTn>
                              </p:par>
                              <p:par>
                                <p:cTn id="117" presetID="10" presetClass="entr" presetSubtype="0" fill="hold" grpId="0" nodeType="withEffect">
                                  <p:stCondLst>
                                    <p:cond delay="2100"/>
                                  </p:stCondLst>
                                  <p:childTnLst>
                                    <p:set>
                                      <p:cBhvr>
                                        <p:cTn id="118" dur="1" fill="hold">
                                          <p:stCondLst>
                                            <p:cond delay="0"/>
                                          </p:stCondLst>
                                        </p:cTn>
                                        <p:tgtEl>
                                          <p:spTgt spid="57"/>
                                        </p:tgtEl>
                                        <p:attrNameLst>
                                          <p:attrName>style.visibility</p:attrName>
                                        </p:attrNameLst>
                                      </p:cBhvr>
                                      <p:to>
                                        <p:strVal val="visible"/>
                                      </p:to>
                                    </p:set>
                                    <p:animEffect transition="in" filter="fade">
                                      <p:cBhvr>
                                        <p:cTn id="119" dur="320"/>
                                        <p:tgtEl>
                                          <p:spTgt spid="57"/>
                                        </p:tgtEl>
                                      </p:cBhvr>
                                    </p:animEffect>
                                  </p:childTnLst>
                                </p:cTn>
                              </p:par>
                              <p:par>
                                <p:cTn id="120" presetID="10" presetClass="entr" presetSubtype="0" fill="hold" grpId="0" nodeType="withEffect">
                                  <p:stCondLst>
                                    <p:cond delay="2200"/>
                                  </p:stCondLst>
                                  <p:childTnLst>
                                    <p:set>
                                      <p:cBhvr>
                                        <p:cTn id="121" dur="1" fill="hold">
                                          <p:stCondLst>
                                            <p:cond delay="0"/>
                                          </p:stCondLst>
                                        </p:cTn>
                                        <p:tgtEl>
                                          <p:spTgt spid="58"/>
                                        </p:tgtEl>
                                        <p:attrNameLst>
                                          <p:attrName>style.visibility</p:attrName>
                                        </p:attrNameLst>
                                      </p:cBhvr>
                                      <p:to>
                                        <p:strVal val="visible"/>
                                      </p:to>
                                    </p:set>
                                    <p:animEffect transition="in" filter="fade">
                                      <p:cBhvr>
                                        <p:cTn id="122" dur="320"/>
                                        <p:tgtEl>
                                          <p:spTgt spid="58"/>
                                        </p:tgtEl>
                                      </p:cBhvr>
                                    </p:animEffect>
                                  </p:childTnLst>
                                </p:cTn>
                              </p:par>
                              <p:par>
                                <p:cTn id="123" presetID="10" presetClass="entr" presetSubtype="0" fill="hold" grpId="0" nodeType="withEffect">
                                  <p:stCondLst>
                                    <p:cond delay="2300"/>
                                  </p:stCondLst>
                                  <p:childTnLst>
                                    <p:set>
                                      <p:cBhvr>
                                        <p:cTn id="124" dur="1" fill="hold">
                                          <p:stCondLst>
                                            <p:cond delay="0"/>
                                          </p:stCondLst>
                                        </p:cTn>
                                        <p:tgtEl>
                                          <p:spTgt spid="59"/>
                                        </p:tgtEl>
                                        <p:attrNameLst>
                                          <p:attrName>style.visibility</p:attrName>
                                        </p:attrNameLst>
                                      </p:cBhvr>
                                      <p:to>
                                        <p:strVal val="visible"/>
                                      </p:to>
                                    </p:set>
                                    <p:animEffect transition="in" filter="fade">
                                      <p:cBhvr>
                                        <p:cTn id="125" dur="320"/>
                                        <p:tgtEl>
                                          <p:spTgt spid="59"/>
                                        </p:tgtEl>
                                      </p:cBhvr>
                                    </p:animEffect>
                                  </p:childTnLst>
                                </p:cTn>
                              </p:par>
                              <p:par>
                                <p:cTn id="126" presetID="10" presetClass="entr" presetSubtype="0" fill="hold" grpId="0" nodeType="withEffect">
                                  <p:stCondLst>
                                    <p:cond delay="2400"/>
                                  </p:stCondLst>
                                  <p:childTnLst>
                                    <p:set>
                                      <p:cBhvr>
                                        <p:cTn id="127" dur="1" fill="hold">
                                          <p:stCondLst>
                                            <p:cond delay="0"/>
                                          </p:stCondLst>
                                        </p:cTn>
                                        <p:tgtEl>
                                          <p:spTgt spid="60"/>
                                        </p:tgtEl>
                                        <p:attrNameLst>
                                          <p:attrName>style.visibility</p:attrName>
                                        </p:attrNameLst>
                                      </p:cBhvr>
                                      <p:to>
                                        <p:strVal val="visible"/>
                                      </p:to>
                                    </p:set>
                                    <p:animEffect transition="in" filter="fade">
                                      <p:cBhvr>
                                        <p:cTn id="128" dur="320"/>
                                        <p:tgtEl>
                                          <p:spTgt spid="60"/>
                                        </p:tgtEl>
                                      </p:cBhvr>
                                    </p:animEffect>
                                  </p:childTnLst>
                                </p:cTn>
                              </p:par>
                              <p:par>
                                <p:cTn id="129" presetID="10" presetClass="entr" presetSubtype="0" fill="hold" grpId="0" nodeType="withEffect">
                                  <p:stCondLst>
                                    <p:cond delay="2500"/>
                                  </p:stCondLst>
                                  <p:childTnLst>
                                    <p:set>
                                      <p:cBhvr>
                                        <p:cTn id="130" dur="1" fill="hold">
                                          <p:stCondLst>
                                            <p:cond delay="0"/>
                                          </p:stCondLst>
                                        </p:cTn>
                                        <p:tgtEl>
                                          <p:spTgt spid="61"/>
                                        </p:tgtEl>
                                        <p:attrNameLst>
                                          <p:attrName>style.visibility</p:attrName>
                                        </p:attrNameLst>
                                      </p:cBhvr>
                                      <p:to>
                                        <p:strVal val="visible"/>
                                      </p:to>
                                    </p:set>
                                    <p:animEffect transition="in" filter="fade">
                                      <p:cBhvr>
                                        <p:cTn id="131" dur="320"/>
                                        <p:tgtEl>
                                          <p:spTgt spid="61"/>
                                        </p:tgtEl>
                                      </p:cBhvr>
                                    </p:animEffect>
                                  </p:childTnLst>
                                </p:cTn>
                              </p:par>
                              <p:par>
                                <p:cTn id="132" presetID="10" presetClass="entr" presetSubtype="0" fill="hold" grpId="0" nodeType="withEffect">
                                  <p:stCondLst>
                                    <p:cond delay="2600"/>
                                  </p:stCondLst>
                                  <p:childTnLst>
                                    <p:set>
                                      <p:cBhvr>
                                        <p:cTn id="133" dur="1" fill="hold">
                                          <p:stCondLst>
                                            <p:cond delay="0"/>
                                          </p:stCondLst>
                                        </p:cTn>
                                        <p:tgtEl>
                                          <p:spTgt spid="62"/>
                                        </p:tgtEl>
                                        <p:attrNameLst>
                                          <p:attrName>style.visibility</p:attrName>
                                        </p:attrNameLst>
                                      </p:cBhvr>
                                      <p:to>
                                        <p:strVal val="visible"/>
                                      </p:to>
                                    </p:set>
                                    <p:animEffect transition="in" filter="fade">
                                      <p:cBhvr>
                                        <p:cTn id="134" dur="320"/>
                                        <p:tgtEl>
                                          <p:spTgt spid="62"/>
                                        </p:tgtEl>
                                      </p:cBhvr>
                                    </p:animEffect>
                                  </p:childTnLst>
                                </p:cTn>
                              </p:par>
                              <p:par>
                                <p:cTn id="135" presetID="10" presetClass="entr" presetSubtype="0" fill="hold" grpId="0" nodeType="withEffect">
                                  <p:stCondLst>
                                    <p:cond delay="2700"/>
                                  </p:stCondLst>
                                  <p:childTnLst>
                                    <p:set>
                                      <p:cBhvr>
                                        <p:cTn id="136" dur="1" fill="hold">
                                          <p:stCondLst>
                                            <p:cond delay="0"/>
                                          </p:stCondLst>
                                        </p:cTn>
                                        <p:tgtEl>
                                          <p:spTgt spid="63"/>
                                        </p:tgtEl>
                                        <p:attrNameLst>
                                          <p:attrName>style.visibility</p:attrName>
                                        </p:attrNameLst>
                                      </p:cBhvr>
                                      <p:to>
                                        <p:strVal val="visible"/>
                                      </p:to>
                                    </p:set>
                                    <p:animEffect transition="in" filter="fade">
                                      <p:cBhvr>
                                        <p:cTn id="137" dur="320"/>
                                        <p:tgtEl>
                                          <p:spTgt spid="63"/>
                                        </p:tgtEl>
                                      </p:cBhvr>
                                    </p:animEffect>
                                  </p:childTnLst>
                                </p:cTn>
                              </p:par>
                              <p:par>
                                <p:cTn id="138" presetID="10" presetClass="entr" presetSubtype="0" fill="hold" grpId="0" nodeType="withEffect">
                                  <p:stCondLst>
                                    <p:cond delay="2800"/>
                                  </p:stCondLst>
                                  <p:childTnLst>
                                    <p:set>
                                      <p:cBhvr>
                                        <p:cTn id="139" dur="1" fill="hold">
                                          <p:stCondLst>
                                            <p:cond delay="0"/>
                                          </p:stCondLst>
                                        </p:cTn>
                                        <p:tgtEl>
                                          <p:spTgt spid="64"/>
                                        </p:tgtEl>
                                        <p:attrNameLst>
                                          <p:attrName>style.visibility</p:attrName>
                                        </p:attrNameLst>
                                      </p:cBhvr>
                                      <p:to>
                                        <p:strVal val="visible"/>
                                      </p:to>
                                    </p:set>
                                    <p:animEffect transition="in" filter="fade">
                                      <p:cBhvr>
                                        <p:cTn id="140" dur="320"/>
                                        <p:tgtEl>
                                          <p:spTgt spid="64"/>
                                        </p:tgtEl>
                                      </p:cBhvr>
                                    </p:animEffect>
                                  </p:childTnLst>
                                </p:cTn>
                              </p:par>
                              <p:par>
                                <p:cTn id="141" presetID="10" presetClass="entr" presetSubtype="0" fill="hold" grpId="0" nodeType="withEffect">
                                  <p:stCondLst>
                                    <p:cond delay="2900"/>
                                  </p:stCondLst>
                                  <p:childTnLst>
                                    <p:set>
                                      <p:cBhvr>
                                        <p:cTn id="142" dur="1" fill="hold">
                                          <p:stCondLst>
                                            <p:cond delay="0"/>
                                          </p:stCondLst>
                                        </p:cTn>
                                        <p:tgtEl>
                                          <p:spTgt spid="65"/>
                                        </p:tgtEl>
                                        <p:attrNameLst>
                                          <p:attrName>style.visibility</p:attrName>
                                        </p:attrNameLst>
                                      </p:cBhvr>
                                      <p:to>
                                        <p:strVal val="visible"/>
                                      </p:to>
                                    </p:set>
                                    <p:animEffect transition="in" filter="fade">
                                      <p:cBhvr>
                                        <p:cTn id="143" dur="320"/>
                                        <p:tgtEl>
                                          <p:spTgt spid="65"/>
                                        </p:tgtEl>
                                      </p:cBhvr>
                                    </p:animEffect>
                                  </p:childTnLst>
                                </p:cTn>
                              </p:par>
                              <p:par>
                                <p:cTn id="144" presetID="10" presetClass="entr" presetSubtype="0" fill="hold" grpId="0" nodeType="withEffect">
                                  <p:stCondLst>
                                    <p:cond delay="3000"/>
                                  </p:stCondLst>
                                  <p:childTnLst>
                                    <p:set>
                                      <p:cBhvr>
                                        <p:cTn id="145" dur="1" fill="hold">
                                          <p:stCondLst>
                                            <p:cond delay="0"/>
                                          </p:stCondLst>
                                        </p:cTn>
                                        <p:tgtEl>
                                          <p:spTgt spid="66"/>
                                        </p:tgtEl>
                                        <p:attrNameLst>
                                          <p:attrName>style.visibility</p:attrName>
                                        </p:attrNameLst>
                                      </p:cBhvr>
                                      <p:to>
                                        <p:strVal val="visible"/>
                                      </p:to>
                                    </p:set>
                                    <p:animEffect transition="in" filter="fade">
                                      <p:cBhvr>
                                        <p:cTn id="146" dur="320"/>
                                        <p:tgtEl>
                                          <p:spTgt spid="66"/>
                                        </p:tgtEl>
                                      </p:cBhvr>
                                    </p:animEffect>
                                  </p:childTnLst>
                                </p:cTn>
                              </p:par>
                              <p:par>
                                <p:cTn id="147" presetID="10" presetClass="entr" presetSubtype="0" fill="hold" grpId="0" nodeType="withEffect">
                                  <p:stCondLst>
                                    <p:cond delay="3100"/>
                                  </p:stCondLst>
                                  <p:childTnLst>
                                    <p:set>
                                      <p:cBhvr>
                                        <p:cTn id="148" dur="1" fill="hold">
                                          <p:stCondLst>
                                            <p:cond delay="0"/>
                                          </p:stCondLst>
                                        </p:cTn>
                                        <p:tgtEl>
                                          <p:spTgt spid="67"/>
                                        </p:tgtEl>
                                        <p:attrNameLst>
                                          <p:attrName>style.visibility</p:attrName>
                                        </p:attrNameLst>
                                      </p:cBhvr>
                                      <p:to>
                                        <p:strVal val="visible"/>
                                      </p:to>
                                    </p:set>
                                    <p:animEffect transition="in" filter="fade">
                                      <p:cBhvr>
                                        <p:cTn id="149" dur="32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9906000" cy="635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Cambria" pitchFamily="34" charset="0"/>
                <a:ea typeface="Cambria" pitchFamily="34" charset="-122"/>
                <a:cs typeface="Cambria" pitchFamily="34" charset="-120"/>
              </a:rPr>
              <a:t>The product runs one workflow for two personas and keeps every step traceable.</a:t>
            </a:r>
            <a:endParaRPr lang="en-US" sz="2200" dirty="0"/>
          </a:p>
        </p:txBody>
      </p:sp>
      <p:sp>
        <p:nvSpPr>
          <p:cNvPr id="3" name="Shape 1"/>
          <p:cNvSpPr/>
          <p:nvPr/>
        </p:nvSpPr>
        <p:spPr>
          <a:xfrm>
            <a:off x="755650" y="1111250"/>
            <a:ext cx="4025900" cy="2273300"/>
          </a:xfrm>
          <a:prstGeom prst="roundRect">
            <a:avLst>
              <a:gd name="adj" fmla="val 1676"/>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4" name="Image 0" descr="/Users/suhaasnv/Documents/Desktop ALT/portfolioprojects/permitflow/notes/pitch/deck/pptx/build/operator-dashboard-16x9.png">    </p:cNvPr>
          <p:cNvPicPr>
            <a:picLocks noChangeAspect="1"/>
          </p:cNvPicPr>
          <p:nvPr/>
        </p:nvPicPr>
        <p:blipFill>
          <a:blip r:embed="rId1"/>
          <a:stretch>
            <a:fillRect/>
          </a:stretch>
        </p:blipFill>
        <p:spPr>
          <a:xfrm>
            <a:off x="762000" y="1117600"/>
            <a:ext cx="4013200" cy="2260600"/>
          </a:xfrm>
          <a:prstGeom prst="rect">
            <a:avLst/>
          </a:prstGeom>
        </p:spPr>
      </p:pic>
      <p:sp>
        <p:nvSpPr>
          <p:cNvPr id="5" name="Shape 2"/>
          <p:cNvSpPr/>
          <p:nvPr/>
        </p:nvSpPr>
        <p:spPr>
          <a:xfrm>
            <a:off x="762000" y="3454400"/>
            <a:ext cx="802640" cy="203200"/>
          </a:xfrm>
          <a:prstGeom prst="roundRect">
            <a:avLst>
              <a:gd name="adj" fmla="val 18750"/>
            </a:avLst>
          </a:prstGeom>
          <a:solidFill>
            <a:srgbClr val="F2F4F7"/>
          </a:solidFill>
          <a:ln w="9525">
            <a:solidFill>
              <a:srgbClr val="D0D5DD"/>
            </a:solidFill>
            <a:prstDash val="solid"/>
          </a:ln>
        </p:spPr>
      </p:sp>
      <p:sp>
        <p:nvSpPr>
          <p:cNvPr id="6" name="Text 3"/>
          <p:cNvSpPr txBox="1"/>
          <p:nvPr/>
        </p:nvSpPr>
        <p:spPr>
          <a:xfrm>
            <a:off x="762000" y="3454400"/>
            <a:ext cx="802640" cy="203200"/>
          </a:xfrm>
          <a:prstGeom prst="rect">
            <a:avLst/>
          </a:prstGeom>
          <a:noFill/>
          <a:ln/>
        </p:spPr>
        <p:txBody>
          <a:bodyPr wrap="none" lIns="0" tIns="0" rIns="0" bIns="0" rtlCol="0" anchor="ctr"/>
          <a:lstStyle/>
          <a:p>
            <a:pPr algn="ctr" indent="0" marL="0">
              <a:lnSpc>
                <a:spcPct val="115000"/>
              </a:lnSpc>
              <a:buNone/>
            </a:pPr>
            <a:r>
              <a:rPr lang="en-US" sz="1000" b="1" dirty="0">
                <a:solidFill>
                  <a:srgbClr val="475467"/>
                </a:solidFill>
                <a:latin typeface="Arial" pitchFamily="34" charset="0"/>
                <a:ea typeface="Arial" pitchFamily="34" charset="-122"/>
                <a:cs typeface="Arial" pitchFamily="34" charset="-120"/>
              </a:rPr>
              <a:t>Operator</a:t>
            </a:r>
            <a:endParaRPr lang="en-US" sz="1000" dirty="0"/>
          </a:p>
        </p:txBody>
      </p:sp>
      <p:sp>
        <p:nvSpPr>
          <p:cNvPr id="7" name="Text 4"/>
          <p:cNvSpPr txBox="1"/>
          <p:nvPr/>
        </p:nvSpPr>
        <p:spPr>
          <a:xfrm>
            <a:off x="1640840" y="3441700"/>
            <a:ext cx="3134360" cy="279400"/>
          </a:xfrm>
          <a:prstGeom prst="rect">
            <a:avLst/>
          </a:prstGeom>
          <a:noFill/>
          <a:ln/>
        </p:spPr>
        <p:txBody>
          <a:bodyPr wrap="square" lIns="0" tIns="0" rIns="0" bIns="0" rtlCol="0" anchor="t"/>
          <a:lstStyle/>
          <a:p>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Dashboard: applications grouped by who needs to act</a:t>
            </a:r>
            <a:endParaRPr lang="en-US" sz="1000" dirty="0"/>
          </a:p>
        </p:txBody>
      </p:sp>
      <p:sp>
        <p:nvSpPr>
          <p:cNvPr id="8" name="Shape 5"/>
          <p:cNvSpPr/>
          <p:nvPr/>
        </p:nvSpPr>
        <p:spPr>
          <a:xfrm>
            <a:off x="4972050" y="1111250"/>
            <a:ext cx="4025900" cy="2273300"/>
          </a:xfrm>
          <a:prstGeom prst="roundRect">
            <a:avLst>
              <a:gd name="adj" fmla="val 1676"/>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9" name="Image 1" descr="/Users/suhaasnv/Documents/Desktop ALT/portfolioprojects/permitflow/notes/pitch/deck/pptx/build/operator-documents-16x9.png">    </p:cNvPr>
          <p:cNvPicPr>
            <a:picLocks noChangeAspect="1"/>
          </p:cNvPicPr>
          <p:nvPr/>
        </p:nvPicPr>
        <p:blipFill>
          <a:blip r:embed="rId2"/>
          <a:stretch>
            <a:fillRect/>
          </a:stretch>
        </p:blipFill>
        <p:spPr>
          <a:xfrm>
            <a:off x="4978400" y="1117600"/>
            <a:ext cx="4013200" cy="2260600"/>
          </a:xfrm>
          <a:prstGeom prst="rect">
            <a:avLst/>
          </a:prstGeom>
        </p:spPr>
      </p:pic>
      <p:sp>
        <p:nvSpPr>
          <p:cNvPr id="10" name="Shape 6"/>
          <p:cNvSpPr/>
          <p:nvPr/>
        </p:nvSpPr>
        <p:spPr>
          <a:xfrm>
            <a:off x="4978400" y="3454400"/>
            <a:ext cx="802640" cy="203200"/>
          </a:xfrm>
          <a:prstGeom prst="roundRect">
            <a:avLst>
              <a:gd name="adj" fmla="val 18750"/>
            </a:avLst>
          </a:prstGeom>
          <a:solidFill>
            <a:srgbClr val="F2F4F7"/>
          </a:solidFill>
          <a:ln w="9525">
            <a:solidFill>
              <a:srgbClr val="D0D5DD"/>
            </a:solidFill>
            <a:prstDash val="solid"/>
          </a:ln>
        </p:spPr>
      </p:sp>
      <p:sp>
        <p:nvSpPr>
          <p:cNvPr id="11" name="Text 7"/>
          <p:cNvSpPr txBox="1"/>
          <p:nvPr/>
        </p:nvSpPr>
        <p:spPr>
          <a:xfrm>
            <a:off x="4978400" y="3454400"/>
            <a:ext cx="802640" cy="203200"/>
          </a:xfrm>
          <a:prstGeom prst="rect">
            <a:avLst/>
          </a:prstGeom>
          <a:noFill/>
          <a:ln/>
        </p:spPr>
        <p:txBody>
          <a:bodyPr wrap="none" lIns="0" tIns="0" rIns="0" bIns="0" rtlCol="0" anchor="ctr"/>
          <a:lstStyle/>
          <a:p>
            <a:pPr algn="ctr" indent="0" marL="0">
              <a:lnSpc>
                <a:spcPct val="115000"/>
              </a:lnSpc>
              <a:buNone/>
            </a:pPr>
            <a:r>
              <a:rPr lang="en-US" sz="1000" b="1" dirty="0">
                <a:solidFill>
                  <a:srgbClr val="475467"/>
                </a:solidFill>
                <a:latin typeface="Arial" pitchFamily="34" charset="0"/>
                <a:ea typeface="Arial" pitchFamily="34" charset="-122"/>
                <a:cs typeface="Arial" pitchFamily="34" charset="-120"/>
              </a:rPr>
              <a:t>Operator</a:t>
            </a:r>
            <a:endParaRPr lang="en-US" sz="1000" dirty="0"/>
          </a:p>
        </p:txBody>
      </p:sp>
      <p:sp>
        <p:nvSpPr>
          <p:cNvPr id="12" name="Text 8"/>
          <p:cNvSpPr txBox="1"/>
          <p:nvPr/>
        </p:nvSpPr>
        <p:spPr>
          <a:xfrm>
            <a:off x="5857240" y="3441700"/>
            <a:ext cx="3134360" cy="279400"/>
          </a:xfrm>
          <a:prstGeom prst="rect">
            <a:avLst/>
          </a:prstGeom>
          <a:noFill/>
          <a:ln/>
        </p:spPr>
        <p:txBody>
          <a:bodyPr wrap="square" lIns="0" tIns="0" rIns="0" bIns="0" rtlCol="0" anchor="t"/>
          <a:lstStyle/>
          <a:p>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Documents: a check result on each upload, in plain language</a:t>
            </a:r>
            <a:endParaRPr lang="en-US" sz="1000" dirty="0"/>
          </a:p>
        </p:txBody>
      </p:sp>
      <p:sp>
        <p:nvSpPr>
          <p:cNvPr id="13" name="Shape 9"/>
          <p:cNvSpPr/>
          <p:nvPr/>
        </p:nvSpPr>
        <p:spPr>
          <a:xfrm>
            <a:off x="755650" y="3816350"/>
            <a:ext cx="4025900" cy="2273300"/>
          </a:xfrm>
          <a:prstGeom prst="roundRect">
            <a:avLst>
              <a:gd name="adj" fmla="val 1676"/>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14" name="Image 2" descr="/Users/suhaasnv/Documents/Desktop ALT/portfolioprojects/permitflow/notes/pitch/deck/pptx/build/officer-case-findings-16x9.png">    </p:cNvPr>
          <p:cNvPicPr>
            <a:picLocks noChangeAspect="1"/>
          </p:cNvPicPr>
          <p:nvPr/>
        </p:nvPicPr>
        <p:blipFill>
          <a:blip r:embed="rId3"/>
          <a:stretch>
            <a:fillRect/>
          </a:stretch>
        </p:blipFill>
        <p:spPr>
          <a:xfrm>
            <a:off x="762000" y="3822700"/>
            <a:ext cx="4013200" cy="2260600"/>
          </a:xfrm>
          <a:prstGeom prst="rect">
            <a:avLst/>
          </a:prstGeom>
        </p:spPr>
      </p:pic>
      <p:sp>
        <p:nvSpPr>
          <p:cNvPr id="15" name="Shape 10"/>
          <p:cNvSpPr/>
          <p:nvPr/>
        </p:nvSpPr>
        <p:spPr>
          <a:xfrm>
            <a:off x="762000" y="6159500"/>
            <a:ext cx="721360" cy="203200"/>
          </a:xfrm>
          <a:prstGeom prst="roundRect">
            <a:avLst>
              <a:gd name="adj" fmla="val 18750"/>
            </a:avLst>
          </a:prstGeom>
          <a:solidFill>
            <a:srgbClr val="EEF4FF"/>
          </a:solidFill>
          <a:ln w="9525">
            <a:solidFill>
              <a:srgbClr val="B2CCFA"/>
            </a:solidFill>
            <a:prstDash val="solid"/>
          </a:ln>
        </p:spPr>
      </p:sp>
      <p:sp>
        <p:nvSpPr>
          <p:cNvPr id="16" name="Text 11"/>
          <p:cNvSpPr txBox="1"/>
          <p:nvPr/>
        </p:nvSpPr>
        <p:spPr>
          <a:xfrm>
            <a:off x="762000" y="6159500"/>
            <a:ext cx="721360" cy="203200"/>
          </a:xfrm>
          <a:prstGeom prst="rect">
            <a:avLst/>
          </a:prstGeom>
          <a:noFill/>
          <a:ln/>
        </p:spPr>
        <p:txBody>
          <a:bodyPr wrap="none" lIns="0" tIns="0" rIns="0" bIns="0" rtlCol="0" anchor="ctr"/>
          <a:lstStyle/>
          <a:p>
            <a:pPr algn="ctr" indent="0" marL="0">
              <a:lnSpc>
                <a:spcPct val="115000"/>
              </a:lnSpc>
              <a:buNone/>
            </a:pPr>
            <a:r>
              <a:rPr lang="en-US" sz="1000" b="1" dirty="0">
                <a:solidFill>
                  <a:srgbClr val="175CD3"/>
                </a:solidFill>
                <a:latin typeface="Arial" pitchFamily="34" charset="0"/>
                <a:ea typeface="Arial" pitchFamily="34" charset="-122"/>
                <a:cs typeface="Arial" pitchFamily="34" charset="-120"/>
              </a:rPr>
              <a:t>Officer</a:t>
            </a:r>
            <a:endParaRPr lang="en-US" sz="1000" dirty="0"/>
          </a:p>
        </p:txBody>
      </p:sp>
      <p:sp>
        <p:nvSpPr>
          <p:cNvPr id="17" name="Text 12"/>
          <p:cNvSpPr txBox="1"/>
          <p:nvPr/>
        </p:nvSpPr>
        <p:spPr>
          <a:xfrm>
            <a:off x="1559560" y="6146800"/>
            <a:ext cx="3215640" cy="279400"/>
          </a:xfrm>
          <a:prstGeom prst="rect">
            <a:avLst/>
          </a:prstGeom>
          <a:noFill/>
          <a:ln/>
        </p:spPr>
        <p:txBody>
          <a:bodyPr wrap="square" lIns="0" tIns="0" rIns="0" bIns="0" rtlCol="0" anchor="t"/>
          <a:lstStyle/>
          <a:p>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Case: findings with evidence beside each document, feedback rail on the right</a:t>
            </a:r>
            <a:endParaRPr lang="en-US" sz="1000" dirty="0"/>
          </a:p>
        </p:txBody>
      </p:sp>
      <p:sp>
        <p:nvSpPr>
          <p:cNvPr id="18" name="Shape 13"/>
          <p:cNvSpPr/>
          <p:nvPr/>
        </p:nvSpPr>
        <p:spPr>
          <a:xfrm>
            <a:off x="4972050" y="3816350"/>
            <a:ext cx="4025900" cy="2273300"/>
          </a:xfrm>
          <a:prstGeom prst="roundRect">
            <a:avLst>
              <a:gd name="adj" fmla="val 1676"/>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19" name="Image 3" descr="/Users/suhaasnv/Documents/Desktop ALT/portfolioprojects/permitflow/notes/pitch/deck/pptx/build/officer-compare-16x9.png">    </p:cNvPr>
          <p:cNvPicPr>
            <a:picLocks noChangeAspect="1"/>
          </p:cNvPicPr>
          <p:nvPr/>
        </p:nvPicPr>
        <p:blipFill>
          <a:blip r:embed="rId4"/>
          <a:stretch>
            <a:fillRect/>
          </a:stretch>
        </p:blipFill>
        <p:spPr>
          <a:xfrm>
            <a:off x="4978400" y="3822700"/>
            <a:ext cx="4013200" cy="2260600"/>
          </a:xfrm>
          <a:prstGeom prst="rect">
            <a:avLst/>
          </a:prstGeom>
        </p:spPr>
      </p:pic>
      <p:sp>
        <p:nvSpPr>
          <p:cNvPr id="20" name="Shape 14"/>
          <p:cNvSpPr/>
          <p:nvPr/>
        </p:nvSpPr>
        <p:spPr>
          <a:xfrm>
            <a:off x="4978400" y="6159500"/>
            <a:ext cx="721360" cy="203200"/>
          </a:xfrm>
          <a:prstGeom prst="roundRect">
            <a:avLst>
              <a:gd name="adj" fmla="val 18750"/>
            </a:avLst>
          </a:prstGeom>
          <a:solidFill>
            <a:srgbClr val="EEF4FF"/>
          </a:solidFill>
          <a:ln w="9525">
            <a:solidFill>
              <a:srgbClr val="B2CCFA"/>
            </a:solidFill>
            <a:prstDash val="solid"/>
          </a:ln>
        </p:spPr>
      </p:sp>
      <p:sp>
        <p:nvSpPr>
          <p:cNvPr id="21" name="Text 15"/>
          <p:cNvSpPr txBox="1"/>
          <p:nvPr/>
        </p:nvSpPr>
        <p:spPr>
          <a:xfrm>
            <a:off x="4978400" y="6159500"/>
            <a:ext cx="721360" cy="203200"/>
          </a:xfrm>
          <a:prstGeom prst="rect">
            <a:avLst/>
          </a:prstGeom>
          <a:noFill/>
          <a:ln/>
        </p:spPr>
        <p:txBody>
          <a:bodyPr wrap="none" lIns="0" tIns="0" rIns="0" bIns="0" rtlCol="0" anchor="ctr"/>
          <a:lstStyle/>
          <a:p>
            <a:pPr algn="ctr" indent="0" marL="0">
              <a:lnSpc>
                <a:spcPct val="115000"/>
              </a:lnSpc>
              <a:buNone/>
            </a:pPr>
            <a:r>
              <a:rPr lang="en-US" sz="1000" b="1" dirty="0">
                <a:solidFill>
                  <a:srgbClr val="175CD3"/>
                </a:solidFill>
                <a:latin typeface="Arial" pitchFamily="34" charset="0"/>
                <a:ea typeface="Arial" pitchFamily="34" charset="-122"/>
                <a:cs typeface="Arial" pitchFamily="34" charset="-120"/>
              </a:rPr>
              <a:t>Officer</a:t>
            </a:r>
            <a:endParaRPr lang="en-US" sz="1000" dirty="0"/>
          </a:p>
        </p:txBody>
      </p:sp>
      <p:sp>
        <p:nvSpPr>
          <p:cNvPr id="22" name="Text 16"/>
          <p:cNvSpPr txBox="1"/>
          <p:nvPr/>
        </p:nvSpPr>
        <p:spPr>
          <a:xfrm>
            <a:off x="5775960" y="6146800"/>
            <a:ext cx="3215640" cy="279400"/>
          </a:xfrm>
          <a:prstGeom prst="rect">
            <a:avLst/>
          </a:prstGeom>
          <a:noFill/>
          <a:ln/>
        </p:spPr>
        <p:txBody>
          <a:bodyPr wrap="square" lIns="0" tIns="0" rIns="0" bIns="0" rtlCol="0" anchor="t"/>
          <a:lstStyle/>
          <a:p>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Compare revisions: what changed, and each item's resolution</a:t>
            </a:r>
            <a:endParaRPr lang="en-US" sz="1000" dirty="0"/>
          </a:p>
        </p:txBody>
      </p:sp>
      <p:sp>
        <p:nvSpPr>
          <p:cNvPr id="23" name="Text 17"/>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04 / 11</a:t>
            </a:r>
            <a:endParaRPr lang="en-US" sz="1000" dirty="0"/>
          </a:p>
        </p:txBody>
      </p:sp>
      <p:sp>
        <p:nvSpPr>
          <p:cNvPr id="24" name="b1"/>
          <p:cNvSpPr/>
          <p:nvPr/>
        </p:nvSpPr>
        <p:spPr>
          <a:xfrm>
            <a:off x="0" y="0"/>
            <a:ext cx="12192000" cy="6858000"/>
          </a:xfrm>
          <a:prstGeom prst="roundRect">
            <a:avLst/>
          </a:prstGeom>
          <a:solidFill>
            <a:srgbClr val="F4F5F7"/>
          </a:solidFill>
          <a:ln w="12700">
            <a:solidFill>
              <a:srgbClr val="F4F5F7"/>
            </a:solidFill>
            <a:prstDash val="solid"/>
          </a:ln>
        </p:spPr>
      </p:sp>
      <p:sp>
        <p:nvSpPr>
          <p:cNvPr id="25" name="b1"/>
          <p:cNvSpPr/>
          <p:nvPr/>
        </p:nvSpPr>
        <p:spPr>
          <a:xfrm>
            <a:off x="755650" y="946150"/>
            <a:ext cx="10680700" cy="4159250"/>
          </a:xfrm>
          <a:prstGeom prst="roundRect">
            <a:avLst>
              <a:gd name="adj" fmla="val 916"/>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26" name="b1" descr="/Users/suhaasnv/Documents/Desktop ALT/portfolioprojects/permitflow/notes/pitch/deck/pptx/build/officer-case-zoom-1680.png">    </p:cNvPr>
          <p:cNvPicPr>
            <a:picLocks noChangeAspect="1"/>
          </p:cNvPicPr>
          <p:nvPr/>
        </p:nvPicPr>
        <p:blipFill>
          <a:blip r:embed="rId5"/>
          <a:stretch>
            <a:fillRect/>
          </a:stretch>
        </p:blipFill>
        <p:spPr>
          <a:xfrm>
            <a:off x="762000" y="952500"/>
            <a:ext cx="10668000" cy="4146550"/>
          </a:xfrm>
          <a:prstGeom prst="rect">
            <a:avLst/>
          </a:prstGeom>
        </p:spPr>
      </p:pic>
      <p:sp>
        <p:nvSpPr>
          <p:cNvPr id="27" name="b1"/>
          <p:cNvSpPr/>
          <p:nvPr/>
        </p:nvSpPr>
        <p:spPr>
          <a:xfrm>
            <a:off x="762000" y="584200"/>
            <a:ext cx="721360" cy="215900"/>
          </a:xfrm>
          <a:prstGeom prst="roundRect">
            <a:avLst>
              <a:gd name="adj" fmla="val 17647"/>
            </a:avLst>
          </a:prstGeom>
          <a:solidFill>
            <a:srgbClr val="EEF4FF"/>
          </a:solidFill>
          <a:ln w="9525">
            <a:solidFill>
              <a:srgbClr val="B2CCFA"/>
            </a:solidFill>
            <a:prstDash val="solid"/>
          </a:ln>
        </p:spPr>
      </p:sp>
      <p:sp>
        <p:nvSpPr>
          <p:cNvPr id="28" name="b1"/>
          <p:cNvSpPr txBox="1"/>
          <p:nvPr/>
        </p:nvSpPr>
        <p:spPr>
          <a:xfrm>
            <a:off x="762000" y="584200"/>
            <a:ext cx="721360" cy="215900"/>
          </a:xfrm>
          <a:prstGeom prst="rect">
            <a:avLst/>
          </a:prstGeom>
          <a:noFill/>
          <a:ln/>
        </p:spPr>
        <p:txBody>
          <a:bodyPr wrap="none" lIns="0" tIns="0" rIns="0" bIns="0" rtlCol="0" anchor="ctr"/>
          <a:lstStyle/>
          <a:p>
            <a:pPr algn="ctr" indent="0" marL="0">
              <a:lnSpc>
                <a:spcPct val="115000"/>
              </a:lnSpc>
              <a:buNone/>
            </a:pPr>
            <a:r>
              <a:rPr lang="en-US" sz="1000" b="1" dirty="0">
                <a:solidFill>
                  <a:srgbClr val="175CD3"/>
                </a:solidFill>
                <a:latin typeface="Arial" pitchFamily="34" charset="0"/>
                <a:ea typeface="Arial" pitchFamily="34" charset="-122"/>
                <a:cs typeface="Arial" pitchFamily="34" charset="-120"/>
              </a:rPr>
              <a:t>Officer</a:t>
            </a:r>
            <a:endParaRPr lang="en-US" sz="1000" dirty="0"/>
          </a:p>
        </p:txBody>
      </p:sp>
      <p:sp>
        <p:nvSpPr>
          <p:cNvPr id="29" name="b1"/>
          <p:cNvSpPr txBox="1"/>
          <p:nvPr/>
        </p:nvSpPr>
        <p:spPr>
          <a:xfrm>
            <a:off x="1572260" y="584200"/>
            <a:ext cx="9525000" cy="215900"/>
          </a:xfrm>
          <a:prstGeom prst="rect">
            <a:avLst/>
          </a:prstGeom>
          <a:noFill/>
          <a:ln/>
        </p:spPr>
        <p:txBody>
          <a:bodyPr wrap="none" lIns="0" tIns="0" rIns="0" bIns="0" rtlCol="0" anchor="ctr"/>
          <a:lstStyle/>
          <a:p>
            <a:pPr algn="l" indent="0" marL="0">
              <a:lnSpc>
                <a:spcPct val="115000"/>
              </a:lnSpc>
              <a:buNone/>
            </a:pPr>
            <a:r>
              <a:rPr lang="en-US" sz="1200" dirty="0">
                <a:solidFill>
                  <a:srgbClr val="465060"/>
                </a:solidFill>
                <a:latin typeface="Arial" pitchFamily="34" charset="0"/>
                <a:ea typeface="Arial" pitchFamily="34" charset="-122"/>
                <a:cs typeface="Arial" pitchFamily="34" charset="-120"/>
              </a:rPr>
              <a:t>Finding, evidence and confidence beside the document · two open feedback items</a:t>
            </a:r>
            <a:endParaRPr lang="en-US" sz="12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4"/>
                                        </p:tgtEl>
                                        <p:attrNameLst>
                                          <p:attrName>style.visibility</p:attrName>
                                        </p:attrNameLst>
                                      </p:cBhvr>
                                      <p:to>
                                        <p:strVal val="visible"/>
                                      </p:to>
                                    </p:set>
                                    <p:animEffect transition="in" filter="fade">
                                      <p:cBhvr>
                                        <p:cTn id="5" dur="320"/>
                                        <p:tgtEl>
                                          <p:spTgt spid="24"/>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5"/>
                                        </p:tgtEl>
                                        <p:attrNameLst>
                                          <p:attrName>style.visibility</p:attrName>
                                        </p:attrNameLst>
                                      </p:cBhvr>
                                      <p:to>
                                        <p:strVal val="visible"/>
                                      </p:to>
                                    </p:set>
                                    <p:animEffect transition="in" filter="fade">
                                      <p:cBhvr>
                                        <p:cTn id="8" dur="320"/>
                                        <p:tgtEl>
                                          <p:spTgt spid="25"/>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320"/>
                                        <p:tgtEl>
                                          <p:spTgt spid="26"/>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320"/>
                                        <p:tgtEl>
                                          <p:spTgt spid="27"/>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320"/>
                                        <p:tgtEl>
                                          <p:spTgt spid="28"/>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32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AI DOCUMENT VERIFICATION</a:t>
            </a:r>
            <a:endParaRPr lang="en-US" sz="1100" dirty="0"/>
          </a:p>
        </p:txBody>
      </p:sp>
      <p:sp>
        <p:nvSpPr>
          <p:cNvPr id="3" name="Text 1"/>
          <p:cNvSpPr txBox="1"/>
          <p:nvPr/>
        </p:nvSpPr>
        <p:spPr>
          <a:xfrm>
            <a:off x="762000" y="863600"/>
            <a:ext cx="9906000" cy="508000"/>
          </a:xfrm>
          <a:prstGeom prst="rect">
            <a:avLst/>
          </a:prstGeom>
          <a:noFill/>
          <a:ln/>
        </p:spPr>
        <p:txBody>
          <a:bodyPr wrap="square" lIns="0" tIns="0" rIns="0" bIns="0" rtlCol="0" anchor="t"/>
          <a:lstStyle/>
          <a:p>
            <a:pPr algn="l" indent="0" marL="0">
              <a:lnSpc>
                <a:spcPct val="108000"/>
              </a:lnSpc>
              <a:buNone/>
            </a:pPr>
            <a:r>
              <a:rPr lang="en-US" sz="3000" dirty="0">
                <a:solidFill>
                  <a:srgbClr val="1B2430"/>
                </a:solidFill>
                <a:latin typeface="Cambria" pitchFamily="34" charset="0"/>
                <a:ea typeface="Cambria" pitchFamily="34" charset="-122"/>
                <a:cs typeface="Cambria" pitchFamily="34" charset="-120"/>
              </a:rPr>
              <a:t>The AI assists. Humans decide.</a:t>
            </a:r>
            <a:endParaRPr lang="en-US" sz="3000" dirty="0"/>
          </a:p>
        </p:txBody>
      </p:sp>
      <p:sp>
        <p:nvSpPr>
          <p:cNvPr id="4" name="Shape 2"/>
          <p:cNvSpPr/>
          <p:nvPr/>
        </p:nvSpPr>
        <p:spPr>
          <a:xfrm>
            <a:off x="762000" y="1752600"/>
            <a:ext cx="2730500" cy="3746500"/>
          </a:xfrm>
          <a:prstGeom prst="roundRect">
            <a:avLst>
              <a:gd name="adj" fmla="val 1395"/>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52500" y="1917700"/>
            <a:ext cx="2349500" cy="508000"/>
          </a:xfrm>
          <a:prstGeom prst="rect">
            <a:avLst/>
          </a:prstGeom>
          <a:noFill/>
          <a:ln/>
        </p:spPr>
        <p:txBody>
          <a:bodyPr wrap="square" lIns="0" tIns="0" rIns="0" bIns="0" rtlCol="0" anchor="t"/>
          <a:lstStyle/>
          <a:p>
            <a:pPr algn="l" indent="0" marL="0">
              <a:lnSpc>
                <a:spcPct val="115000"/>
              </a:lnSpc>
              <a:buNone/>
            </a:pPr>
            <a:r>
              <a:rPr lang="en-US" sz="1400" b="1" dirty="0">
                <a:solidFill>
                  <a:srgbClr val="1B2430"/>
                </a:solidFill>
                <a:latin typeface="Arial" pitchFamily="34" charset="0"/>
                <a:ea typeface="Arial" pitchFamily="34" charset="-122"/>
                <a:cs typeface="Arial" pitchFamily="34" charset="-120"/>
              </a:rPr>
              <a:t>Per upload, before submission</a:t>
            </a:r>
            <a:endParaRPr lang="en-US" sz="1400" dirty="0"/>
          </a:p>
        </p:txBody>
      </p:sp>
      <p:sp>
        <p:nvSpPr>
          <p:cNvPr id="6" name="Text 4"/>
          <p:cNvSpPr txBox="1"/>
          <p:nvPr/>
        </p:nvSpPr>
        <p:spPr>
          <a:xfrm>
            <a:off x="952500" y="2451100"/>
            <a:ext cx="2349500" cy="355600"/>
          </a:xfrm>
          <a:prstGeom prst="rect">
            <a:avLst/>
          </a:prstGeom>
          <a:noFill/>
          <a:ln/>
        </p:spPr>
        <p:txBody>
          <a:bodyPr wrap="square" lIns="0" tIns="0" rIns="0" bIns="0" rtlCol="0" anchor="t"/>
          <a:lstStyle/>
          <a:p>
            <a:pPr algn="l" indent="0" marL="0">
              <a:lnSpc>
                <a:spcPct val="120000"/>
              </a:lnSpc>
              <a:buNone/>
            </a:pPr>
            <a:r>
              <a:rPr lang="en-US" sz="1050" dirty="0">
                <a:solidFill>
                  <a:srgbClr val="616C7A"/>
                </a:solidFill>
                <a:latin typeface="Arial" pitchFamily="34" charset="0"/>
                <a:ea typeface="Arial" pitchFamily="34" charset="-122"/>
                <a:cs typeface="Arial" pitchFamily="34" charset="-120"/>
              </a:rPr>
              <a:t>Advisory check on every document</a:t>
            </a:r>
            <a:endParaRPr lang="en-US" sz="1050" dirty="0"/>
          </a:p>
        </p:txBody>
      </p:sp>
      <p:sp>
        <p:nvSpPr>
          <p:cNvPr id="7" name="Text 5"/>
          <p:cNvSpPr txBox="1"/>
          <p:nvPr/>
        </p:nvSpPr>
        <p:spPr>
          <a:xfrm>
            <a:off x="952500" y="2730500"/>
            <a:ext cx="2349500" cy="2641600"/>
          </a:xfrm>
          <a:prstGeom prst="rect">
            <a:avLst/>
          </a:prstGeom>
          <a:noFill/>
          <a:ln/>
        </p:spPr>
        <p:txBody>
          <a:bodyPr wrap="square" lIns="0" tIns="0" rIns="0" bIns="0" rtlCol="0" anchor="t"/>
          <a:lstStyle/>
          <a:p>
            <a:pPr algn="l" marL="228600" indent="-228600">
              <a:lnSpc>
                <a:spcPct val="120000"/>
              </a:lnSpc>
              <a:spcAft>
                <a:spcPts val="900"/>
              </a:spcAft>
              <a:buSzPct val="100000"/>
              <a:buChar char="•"/>
            </a:pPr>
            <a:r>
              <a:rPr lang="en-US" sz="1100" dirty="0">
                <a:solidFill>
                  <a:srgbClr val="465060"/>
                </a:solidFill>
                <a:latin typeface="Arial" pitchFamily="34" charset="0"/>
                <a:ea typeface="Arial" pitchFamily="34" charset="-122"/>
                <a:cs typeface="Arial" pitchFamily="34" charset="-120"/>
              </a:rPr>
              <a:t>Extract the text; unreadable files are reported without a model call</a:t>
            </a:r>
            <a:endParaRPr lang="en-US" sz="1100" dirty="0"/>
          </a:p>
          <a:p>
            <a:pPr algn="l" marL="228600" indent="-228600">
              <a:lnSpc>
                <a:spcPct val="120000"/>
              </a:lnSpc>
              <a:spcAft>
                <a:spcPts val="900"/>
              </a:spcAft>
              <a:buSzPct val="100000"/>
              <a:buChar char="•"/>
            </a:pPr>
            <a:r>
              <a:rPr lang="en-US" sz="1100" dirty="0">
                <a:solidFill>
                  <a:srgbClr val="465060"/>
                </a:solidFill>
                <a:latin typeface="Arial" pitchFamily="34" charset="0"/>
                <a:ea typeface="Arial" pitchFamily="34" charset="-122"/>
                <a:cs typeface="Arial" pitchFamily="34" charset="-120"/>
              </a:rPr>
              <a:t>Compare the document with the form: name, UEN, address, dates</a:t>
            </a:r>
            <a:endParaRPr lang="en-US" sz="1100" dirty="0"/>
          </a:p>
          <a:p>
            <a:pPr algn="l" marL="228600" indent="-228600">
              <a:lnSpc>
                <a:spcPct val="120000"/>
              </a:lnSpc>
              <a:spcAft>
                <a:spcPts val="900"/>
              </a:spcAft>
              <a:buSzPct val="100000"/>
              <a:buChar char="•"/>
            </a:pPr>
            <a:r>
              <a:rPr lang="en-US" sz="1100" dirty="0">
                <a:solidFill>
                  <a:srgbClr val="465060"/>
                </a:solidFill>
                <a:latin typeface="Arial" pitchFamily="34" charset="0"/>
                <a:ea typeface="Arial" pitchFamily="34" charset="-122"/>
                <a:cs typeface="Arial" pitchFamily="34" charset="-120"/>
              </a:rPr>
              <a:t>Flag issues with a closed issue code</a:t>
            </a:r>
            <a:endParaRPr lang="en-US" sz="1100" dirty="0"/>
          </a:p>
          <a:p>
            <a:pPr algn="l" marL="228600" indent="-228600">
              <a:lnSpc>
                <a:spcPct val="120000"/>
              </a:lnSpc>
              <a:spcAft>
                <a:spcPts val="900"/>
              </a:spcAft>
              <a:buSzPct val="100000"/>
              <a:buChar char="•"/>
            </a:pPr>
            <a:r>
              <a:rPr lang="en-US" sz="1100" dirty="0">
                <a:solidFill>
                  <a:srgbClr val="465060"/>
                </a:solidFill>
                <a:latin typeface="Arial" pitchFamily="34" charset="0"/>
                <a:ea typeface="Arial" pitchFamily="34" charset="-122"/>
                <a:cs typeface="Arial" pitchFamily="34" charset="-120"/>
              </a:rPr>
              <a:t>Quote the evidence from the document</a:t>
            </a:r>
            <a:endParaRPr lang="en-US" sz="1100" dirty="0"/>
          </a:p>
          <a:p>
            <a:pPr algn="l" marL="228600" indent="-228600">
              <a:lnSpc>
                <a:spcPct val="120000"/>
              </a:lnSpc>
              <a:spcAft>
                <a:spcPts val="900"/>
              </a:spcAft>
              <a:buSzPct val="100000"/>
              <a:buChar char="•"/>
            </a:pPr>
            <a:r>
              <a:rPr lang="en-US" sz="1100" dirty="0">
                <a:solidFill>
                  <a:srgbClr val="465060"/>
                </a:solidFill>
                <a:latin typeface="Arial" pitchFamily="34" charset="0"/>
                <a:ea typeface="Arial" pitchFamily="34" charset="-122"/>
                <a:cs typeface="Arial" pitchFamily="34" charset="-120"/>
              </a:rPr>
              <a:t>Self-reported confidence; below 0.6 becomes Needs your review</a:t>
            </a:r>
            <a:endParaRPr lang="en-US" sz="1100" dirty="0"/>
          </a:p>
        </p:txBody>
      </p:sp>
      <p:sp>
        <p:nvSpPr>
          <p:cNvPr id="8" name="Shape 6"/>
          <p:cNvSpPr/>
          <p:nvPr/>
        </p:nvSpPr>
        <p:spPr>
          <a:xfrm>
            <a:off x="3657600" y="1752600"/>
            <a:ext cx="2730500" cy="3746500"/>
          </a:xfrm>
          <a:prstGeom prst="roundRect">
            <a:avLst>
              <a:gd name="adj" fmla="val 1395"/>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9" name="Text 7"/>
          <p:cNvSpPr txBox="1"/>
          <p:nvPr/>
        </p:nvSpPr>
        <p:spPr>
          <a:xfrm>
            <a:off x="3848100" y="1917700"/>
            <a:ext cx="2349500" cy="508000"/>
          </a:xfrm>
          <a:prstGeom prst="rect">
            <a:avLst/>
          </a:prstGeom>
          <a:noFill/>
          <a:ln/>
        </p:spPr>
        <p:txBody>
          <a:bodyPr wrap="square" lIns="0" tIns="0" rIns="0" bIns="0" rtlCol="0" anchor="t"/>
          <a:lstStyle/>
          <a:p>
            <a:pPr algn="l" indent="0" marL="0">
              <a:lnSpc>
                <a:spcPct val="115000"/>
              </a:lnSpc>
              <a:buNone/>
            </a:pPr>
            <a:r>
              <a:rPr lang="en-US" sz="1400" b="1" dirty="0">
                <a:solidFill>
                  <a:srgbClr val="1B2430"/>
                </a:solidFill>
                <a:latin typeface="Arial" pitchFamily="34" charset="0"/>
                <a:ea typeface="Arial" pitchFamily="34" charset="-122"/>
                <a:cs typeface="Arial" pitchFamily="34" charset="-120"/>
              </a:rPr>
              <a:t>What the officer sees</a:t>
            </a:r>
            <a:endParaRPr lang="en-US" sz="1400" dirty="0"/>
          </a:p>
        </p:txBody>
      </p:sp>
      <p:sp>
        <p:nvSpPr>
          <p:cNvPr id="10" name="Shape 8"/>
          <p:cNvSpPr/>
          <p:nvPr/>
        </p:nvSpPr>
        <p:spPr>
          <a:xfrm>
            <a:off x="3848100" y="2451100"/>
            <a:ext cx="721360" cy="215900"/>
          </a:xfrm>
          <a:prstGeom prst="roundRect">
            <a:avLst>
              <a:gd name="adj" fmla="val 17647"/>
            </a:avLst>
          </a:prstGeom>
          <a:solidFill>
            <a:srgbClr val="EEF4FF"/>
          </a:solidFill>
          <a:ln w="9525">
            <a:solidFill>
              <a:srgbClr val="B2CCFA"/>
            </a:solidFill>
            <a:prstDash val="solid"/>
          </a:ln>
        </p:spPr>
      </p:sp>
      <p:sp>
        <p:nvSpPr>
          <p:cNvPr id="11" name="Text 9"/>
          <p:cNvSpPr txBox="1"/>
          <p:nvPr/>
        </p:nvSpPr>
        <p:spPr>
          <a:xfrm>
            <a:off x="3848100" y="2451100"/>
            <a:ext cx="721360" cy="215900"/>
          </a:xfrm>
          <a:prstGeom prst="rect">
            <a:avLst/>
          </a:prstGeom>
          <a:noFill/>
          <a:ln/>
        </p:spPr>
        <p:txBody>
          <a:bodyPr wrap="none" lIns="0" tIns="0" rIns="0" bIns="0" rtlCol="0" anchor="ctr"/>
          <a:lstStyle/>
          <a:p>
            <a:pPr algn="ctr" indent="0" marL="0">
              <a:lnSpc>
                <a:spcPct val="115000"/>
              </a:lnSpc>
              <a:buNone/>
            </a:pPr>
            <a:r>
              <a:rPr lang="en-US" sz="1000" b="1" dirty="0">
                <a:solidFill>
                  <a:srgbClr val="175CD3"/>
                </a:solidFill>
                <a:latin typeface="Arial" pitchFamily="34" charset="0"/>
                <a:ea typeface="Arial" pitchFamily="34" charset="-122"/>
                <a:cs typeface="Arial" pitchFamily="34" charset="-120"/>
              </a:rPr>
              <a:t>Officer</a:t>
            </a:r>
            <a:endParaRPr lang="en-US" sz="1000" dirty="0"/>
          </a:p>
        </p:txBody>
      </p:sp>
      <p:sp>
        <p:nvSpPr>
          <p:cNvPr id="12" name="Text 10"/>
          <p:cNvSpPr txBox="1"/>
          <p:nvPr/>
        </p:nvSpPr>
        <p:spPr>
          <a:xfrm>
            <a:off x="3848100" y="2755900"/>
            <a:ext cx="2349500" cy="2616200"/>
          </a:xfrm>
          <a:prstGeom prst="rect">
            <a:avLst/>
          </a:prstGeom>
          <a:noFill/>
          <a:ln/>
        </p:spPr>
        <p:txBody>
          <a:bodyPr wrap="square" lIns="0" tIns="0" rIns="0" bIns="0" rtlCol="0" anchor="t"/>
          <a:lstStyle/>
          <a:p>
            <a:pPr algn="l" marL="228600" indent="-228600">
              <a:lnSpc>
                <a:spcPct val="120000"/>
              </a:lnSpc>
              <a:spcAft>
                <a:spcPts val="900"/>
              </a:spcAft>
              <a:buSzPct val="100000"/>
              <a:buChar char="•"/>
            </a:pPr>
            <a:r>
              <a:rPr lang="en-US" sz="1100" dirty="0">
                <a:solidFill>
                  <a:srgbClr val="465060"/>
                </a:solidFill>
                <a:latin typeface="Arial" pitchFamily="34" charset="0"/>
                <a:ea typeface="Arial" pitchFamily="34" charset="-122"/>
                <a:cs typeface="Arial" pitchFamily="34" charset="-120"/>
              </a:rPr>
              <a:t>Outcome: Verified, Issues found, Needs your review</a:t>
            </a:r>
            <a:endParaRPr lang="en-US" sz="1100" dirty="0"/>
          </a:p>
          <a:p>
            <a:pPr algn="l" marL="228600" indent="-228600">
              <a:lnSpc>
                <a:spcPct val="120000"/>
              </a:lnSpc>
              <a:spcAft>
                <a:spcPts val="900"/>
              </a:spcAft>
              <a:buSzPct val="100000"/>
              <a:buChar char="•"/>
            </a:pPr>
            <a:r>
              <a:rPr lang="en-US" sz="1100" dirty="0">
                <a:solidFill>
                  <a:srgbClr val="465060"/>
                </a:solidFill>
                <a:latin typeface="Arial" pitchFamily="34" charset="0"/>
                <a:ea typeface="Arial" pitchFamily="34" charset="-122"/>
                <a:cs typeface="Arial" pitchFamily="34" charset="-120"/>
              </a:rPr>
              <a:t>Each issue with its code, severity and evidence quote</a:t>
            </a:r>
            <a:endParaRPr lang="en-US" sz="1100" dirty="0"/>
          </a:p>
          <a:p>
            <a:pPr algn="l" marL="228600" indent="-228600">
              <a:lnSpc>
                <a:spcPct val="120000"/>
              </a:lnSpc>
              <a:spcAft>
                <a:spcPts val="900"/>
              </a:spcAft>
              <a:buSzPct val="100000"/>
              <a:buChar char="•"/>
            </a:pPr>
            <a:r>
              <a:rPr lang="en-US" sz="1100" dirty="0">
                <a:solidFill>
                  <a:srgbClr val="465060"/>
                </a:solidFill>
                <a:latin typeface="Arial" pitchFamily="34" charset="0"/>
                <a:ea typeface="Arial" pitchFamily="34" charset="-122"/>
                <a:cs typeface="Arial" pitchFamily="34" charset="-120"/>
              </a:rPr>
              <a:t>Confidence and model on the card; prompt version in the audit event and the trace</a:t>
            </a:r>
            <a:endParaRPr lang="en-US" sz="1100" dirty="0"/>
          </a:p>
          <a:p>
            <a:pPr algn="l" marL="228600" indent="-228600">
              <a:lnSpc>
                <a:spcPct val="120000"/>
              </a:lnSpc>
              <a:spcAft>
                <a:spcPts val="900"/>
              </a:spcAft>
              <a:buSzPct val="100000"/>
              <a:buChar char="•"/>
            </a:pPr>
            <a:r>
              <a:rPr lang="en-US" sz="1100" b="1" dirty="0">
                <a:solidFill>
                  <a:srgbClr val="465060"/>
                </a:solidFill>
                <a:latin typeface="Arial" pitchFamily="34" charset="0"/>
                <a:ea typeface="Arial" pitchFamily="34" charset="-122"/>
                <a:cs typeface="Arial" pitchFamily="34" charset="-120"/>
              </a:rPr>
              <a:t>Re-run check</a:t>
            </a:r>
            <a:pPr algn="l" indent="0" marL="0">
              <a:lnSpc>
                <a:spcPct val="120000"/>
              </a:lnSpc>
              <a:spcAft>
                <a:spcPts val="900"/>
              </a:spcAft>
              <a:buNone/>
            </a:pPr>
            <a:r>
              <a:rPr lang="en-US" sz="1100" dirty="0">
                <a:solidFill>
                  <a:srgbClr val="465060"/>
                </a:solidFill>
                <a:latin typeface="Arial" pitchFamily="34" charset="0"/>
                <a:ea typeface="Arial" pitchFamily="34" charset="-122"/>
                <a:cs typeface="Arial" pitchFamily="34" charset="-120"/>
              </a:rPr>
              <a:t> at any time</a:t>
            </a:r>
            <a:endParaRPr lang="en-US" sz="1100" dirty="0"/>
          </a:p>
        </p:txBody>
      </p:sp>
      <p:sp>
        <p:nvSpPr>
          <p:cNvPr id="13" name="Shape 11"/>
          <p:cNvSpPr/>
          <p:nvPr/>
        </p:nvSpPr>
        <p:spPr>
          <a:xfrm>
            <a:off x="6553200" y="1752600"/>
            <a:ext cx="2730500" cy="3746500"/>
          </a:xfrm>
          <a:prstGeom prst="roundRect">
            <a:avLst>
              <a:gd name="adj" fmla="val 1395"/>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4" name="Text 12"/>
          <p:cNvSpPr txBox="1"/>
          <p:nvPr/>
        </p:nvSpPr>
        <p:spPr>
          <a:xfrm>
            <a:off x="6743700" y="1917700"/>
            <a:ext cx="2349500" cy="508000"/>
          </a:xfrm>
          <a:prstGeom prst="rect">
            <a:avLst/>
          </a:prstGeom>
          <a:noFill/>
          <a:ln/>
        </p:spPr>
        <p:txBody>
          <a:bodyPr wrap="square" lIns="0" tIns="0" rIns="0" bIns="0" rtlCol="0" anchor="t"/>
          <a:lstStyle/>
          <a:p>
            <a:pPr algn="l" indent="0" marL="0">
              <a:lnSpc>
                <a:spcPct val="115000"/>
              </a:lnSpc>
              <a:buNone/>
            </a:pPr>
            <a:r>
              <a:rPr lang="en-US" sz="1400" b="1" dirty="0">
                <a:solidFill>
                  <a:srgbClr val="1B2430"/>
                </a:solidFill>
                <a:latin typeface="Arial" pitchFamily="34" charset="0"/>
                <a:ea typeface="Arial" pitchFamily="34" charset="-122"/>
                <a:cs typeface="Arial" pitchFamily="34" charset="-120"/>
              </a:rPr>
              <a:t>What the officer decides</a:t>
            </a:r>
            <a:endParaRPr lang="en-US" sz="1400" dirty="0"/>
          </a:p>
        </p:txBody>
      </p:sp>
      <p:sp>
        <p:nvSpPr>
          <p:cNvPr id="15" name="Text 13"/>
          <p:cNvSpPr txBox="1"/>
          <p:nvPr/>
        </p:nvSpPr>
        <p:spPr>
          <a:xfrm>
            <a:off x="6743700" y="2451100"/>
            <a:ext cx="2349500" cy="355600"/>
          </a:xfrm>
          <a:prstGeom prst="rect">
            <a:avLst/>
          </a:prstGeom>
          <a:noFill/>
          <a:ln/>
        </p:spPr>
        <p:txBody>
          <a:bodyPr wrap="square" lIns="0" tIns="0" rIns="0" bIns="0" rtlCol="0" anchor="t"/>
          <a:lstStyle/>
          <a:p>
            <a:pPr algn="l" indent="0" marL="0">
              <a:lnSpc>
                <a:spcPct val="120000"/>
              </a:lnSpc>
              <a:buNone/>
            </a:pPr>
            <a:r>
              <a:rPr lang="en-US" sz="1050" dirty="0">
                <a:solidFill>
                  <a:srgbClr val="616C7A"/>
                </a:solidFill>
                <a:latin typeface="Arial" pitchFamily="34" charset="0"/>
                <a:ea typeface="Arial" pitchFamily="34" charset="-122"/>
                <a:cs typeface="Arial" pitchFamily="34" charset="-120"/>
              </a:rPr>
              <a:t>Every decision is a person's, and audited</a:t>
            </a:r>
            <a:endParaRPr lang="en-US" sz="1050" dirty="0"/>
          </a:p>
        </p:txBody>
      </p:sp>
      <p:sp>
        <p:nvSpPr>
          <p:cNvPr id="16" name="Text 14"/>
          <p:cNvSpPr txBox="1"/>
          <p:nvPr/>
        </p:nvSpPr>
        <p:spPr>
          <a:xfrm>
            <a:off x="6743700" y="2895600"/>
            <a:ext cx="2349500" cy="2476500"/>
          </a:xfrm>
          <a:prstGeom prst="rect">
            <a:avLst/>
          </a:prstGeom>
          <a:noFill/>
          <a:ln/>
        </p:spPr>
        <p:txBody>
          <a:bodyPr wrap="square" lIns="0" tIns="0" rIns="0" bIns="0" rtlCol="0" anchor="t"/>
          <a:lstStyle/>
          <a:p>
            <a:pPr algn="l" marL="228600" indent="-228600">
              <a:lnSpc>
                <a:spcPct val="120000"/>
              </a:lnSpc>
              <a:spcAft>
                <a:spcPts val="900"/>
              </a:spcAft>
              <a:buSzPct val="100000"/>
              <a:buChar char="•"/>
            </a:pPr>
            <a:r>
              <a:rPr lang="en-US" sz="1100" dirty="0">
                <a:solidFill>
                  <a:srgbClr val="465060"/>
                </a:solidFill>
                <a:latin typeface="Arial" pitchFamily="34" charset="0"/>
                <a:ea typeface="Arial" pitchFamily="34" charset="-122"/>
                <a:cs typeface="Arial" pitchFamily="34" charset="-120"/>
              </a:rPr>
              <a:t>The findings never change a status or write feedback</a:t>
            </a:r>
            <a:endParaRPr lang="en-US" sz="1100" dirty="0"/>
          </a:p>
          <a:p>
            <a:pPr algn="l" marL="228600" indent="-228600">
              <a:lnSpc>
                <a:spcPct val="120000"/>
              </a:lnSpc>
              <a:spcAft>
                <a:spcPts val="900"/>
              </a:spcAft>
              <a:buSzPct val="100000"/>
              <a:buChar char="•"/>
            </a:pPr>
            <a:r>
              <a:rPr lang="en-US" sz="1100" dirty="0">
                <a:solidFill>
                  <a:srgbClr val="465060"/>
                </a:solidFill>
                <a:latin typeface="Arial" pitchFamily="34" charset="0"/>
                <a:ea typeface="Arial" pitchFamily="34" charset="-122"/>
                <a:cs typeface="Arial" pitchFamily="34" charset="-120"/>
              </a:rPr>
              <a:t>The Approve dialog warns about unresolved findings but never blocks</a:t>
            </a:r>
            <a:endParaRPr lang="en-US" sz="1100" dirty="0"/>
          </a:p>
          <a:p>
            <a:pPr algn="l" marL="228600" indent="-228600">
              <a:lnSpc>
                <a:spcPct val="120000"/>
              </a:lnSpc>
              <a:spcAft>
                <a:spcPts val="900"/>
              </a:spcAft>
              <a:buSzPct val="100000"/>
              <a:buChar char="•"/>
            </a:pPr>
            <a:r>
              <a:rPr lang="en-US" sz="1100" dirty="0">
                <a:solidFill>
                  <a:srgbClr val="465060"/>
                </a:solidFill>
                <a:latin typeface="Arial" pitchFamily="34" charset="0"/>
                <a:ea typeface="Arial" pitchFamily="34" charset="-122"/>
                <a:cs typeface="Arial" pitchFamily="34" charset="-120"/>
              </a:rPr>
              <a:t>The state machine has no AI actor</a:t>
            </a:r>
            <a:endParaRPr lang="en-US" sz="1100" dirty="0"/>
          </a:p>
        </p:txBody>
      </p:sp>
      <p:sp>
        <p:nvSpPr>
          <p:cNvPr id="17" name="Shape 15"/>
          <p:cNvSpPr/>
          <p:nvPr/>
        </p:nvSpPr>
        <p:spPr>
          <a:xfrm>
            <a:off x="9448800" y="1752600"/>
            <a:ext cx="1981200" cy="3746500"/>
          </a:xfrm>
          <a:prstGeom prst="roundRect">
            <a:avLst>
              <a:gd name="adj" fmla="val 1923"/>
            </a:avLst>
          </a:prstGeom>
          <a:solidFill>
            <a:srgbClr val="F8F9FB"/>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8" name="Text 16"/>
          <p:cNvSpPr txBox="1"/>
          <p:nvPr/>
        </p:nvSpPr>
        <p:spPr>
          <a:xfrm>
            <a:off x="9639300" y="1917700"/>
            <a:ext cx="1600200" cy="508000"/>
          </a:xfrm>
          <a:prstGeom prst="rect">
            <a:avLst/>
          </a:prstGeom>
          <a:noFill/>
          <a:ln/>
        </p:spPr>
        <p:txBody>
          <a:bodyPr wrap="square" lIns="0" tIns="0" rIns="0" bIns="0" rtlCol="0" anchor="t"/>
          <a:lstStyle/>
          <a:p>
            <a:pPr algn="l" indent="0" marL="0">
              <a:lnSpc>
                <a:spcPct val="115000"/>
              </a:lnSpc>
              <a:buNone/>
            </a:pPr>
            <a:r>
              <a:rPr lang="en-US" sz="1400" b="1" dirty="0">
                <a:solidFill>
                  <a:srgbClr val="1B2430"/>
                </a:solidFill>
                <a:latin typeface="Arial" pitchFamily="34" charset="0"/>
                <a:ea typeface="Arial" pitchFamily="34" charset="-122"/>
                <a:cs typeface="Arial" pitchFamily="34" charset="-120"/>
              </a:rPr>
              <a:t>Deterministic by design, not AI</a:t>
            </a:r>
            <a:endParaRPr lang="en-US" sz="1400" dirty="0"/>
          </a:p>
        </p:txBody>
      </p:sp>
      <p:sp>
        <p:nvSpPr>
          <p:cNvPr id="19" name="Text 17"/>
          <p:cNvSpPr txBox="1"/>
          <p:nvPr/>
        </p:nvSpPr>
        <p:spPr>
          <a:xfrm>
            <a:off x="9639300" y="2451100"/>
            <a:ext cx="1600200" cy="355600"/>
          </a:xfrm>
          <a:prstGeom prst="rect">
            <a:avLst/>
          </a:prstGeom>
          <a:noFill/>
          <a:ln/>
        </p:spPr>
        <p:txBody>
          <a:bodyPr wrap="square" lIns="0" tIns="0" rIns="0" bIns="0" rtlCol="0" anchor="t"/>
          <a:lstStyle/>
          <a:p>
            <a:pPr algn="l" indent="0" marL="0">
              <a:lnSpc>
                <a:spcPct val="120000"/>
              </a:lnSpc>
              <a:buNone/>
            </a:pPr>
            <a:r>
              <a:rPr lang="en-US" sz="1050" dirty="0">
                <a:solidFill>
                  <a:srgbClr val="616C7A"/>
                </a:solidFill>
                <a:latin typeface="Arial" pitchFamily="34" charset="0"/>
                <a:ea typeface="Arial" pitchFamily="34" charset="-122"/>
                <a:cs typeface="Arial" pitchFamily="34" charset="-120"/>
              </a:rPr>
              <a:t>Never touched by the model</a:t>
            </a:r>
            <a:endParaRPr lang="en-US" sz="1050" dirty="0"/>
          </a:p>
        </p:txBody>
      </p:sp>
      <p:sp>
        <p:nvSpPr>
          <p:cNvPr id="20" name="Text 18"/>
          <p:cNvSpPr txBox="1"/>
          <p:nvPr/>
        </p:nvSpPr>
        <p:spPr>
          <a:xfrm>
            <a:off x="9639300" y="2895600"/>
            <a:ext cx="1600200" cy="2476500"/>
          </a:xfrm>
          <a:prstGeom prst="rect">
            <a:avLst/>
          </a:prstGeom>
          <a:noFill/>
          <a:ln/>
        </p:spPr>
        <p:txBody>
          <a:bodyPr wrap="square" lIns="0" tIns="0" rIns="0" bIns="0" rtlCol="0" anchor="t"/>
          <a:lstStyle/>
          <a:p>
            <a:pPr algn="l" marL="228600" indent="-228600">
              <a:lnSpc>
                <a:spcPct val="120000"/>
              </a:lnSpc>
              <a:spcAft>
                <a:spcPts val="900"/>
              </a:spcAft>
              <a:buSzPct val="100000"/>
              <a:buChar char="•"/>
            </a:pPr>
            <a:r>
              <a:rPr lang="en-US" sz="1100" dirty="0">
                <a:solidFill>
                  <a:srgbClr val="465060"/>
                </a:solidFill>
                <a:latin typeface="Arial" pitchFamily="34" charset="0"/>
                <a:ea typeface="Arial" pitchFamily="34" charset="-122"/>
                <a:cs typeface="Arial" pitchFamily="34" charset="-120"/>
              </a:rPr>
              <a:t>Feedback templates</a:t>
            </a:r>
            <a:endParaRPr lang="en-US" sz="1100" dirty="0"/>
          </a:p>
          <a:p>
            <a:pPr algn="l" marL="228600" indent="-228600">
              <a:lnSpc>
                <a:spcPct val="120000"/>
              </a:lnSpc>
              <a:spcAft>
                <a:spcPts val="900"/>
              </a:spcAft>
              <a:buSzPct val="100000"/>
              <a:buChar char="•"/>
            </a:pPr>
            <a:r>
              <a:rPr lang="en-US" sz="1100" dirty="0">
                <a:solidFill>
                  <a:srgbClr val="465060"/>
                </a:solidFill>
                <a:latin typeface="Arial" pitchFamily="34" charset="0"/>
                <a:ea typeface="Arial" pitchFamily="34" charset="-122"/>
                <a:cs typeface="Arial" pitchFamily="34" charset="-120"/>
              </a:rPr>
              <a:t>Revision compare</a:t>
            </a:r>
            <a:endParaRPr lang="en-US" sz="1100" dirty="0"/>
          </a:p>
          <a:p>
            <a:pPr algn="l" marL="228600" indent="-228600">
              <a:lnSpc>
                <a:spcPct val="120000"/>
              </a:lnSpc>
              <a:spcAft>
                <a:spcPts val="900"/>
              </a:spcAft>
              <a:buSzPct val="100000"/>
              <a:buChar char="•"/>
            </a:pPr>
            <a:r>
              <a:rPr lang="en-US" sz="1100" dirty="0">
                <a:solidFill>
                  <a:srgbClr val="465060"/>
                </a:solidFill>
                <a:latin typeface="Arial" pitchFamily="34" charset="0"/>
                <a:ea typeface="Arial" pitchFamily="34" charset="-122"/>
                <a:cs typeface="Arial" pitchFamily="34" charset="-120"/>
              </a:rPr>
              <a:t>Status changes</a:t>
            </a:r>
            <a:endParaRPr lang="en-US" sz="1100" dirty="0"/>
          </a:p>
          <a:p>
            <a:pPr algn="l" marL="228600" indent="-228600">
              <a:lnSpc>
                <a:spcPct val="120000"/>
              </a:lnSpc>
              <a:spcAft>
                <a:spcPts val="900"/>
              </a:spcAft>
              <a:buSzPct val="100000"/>
              <a:buChar char="•"/>
            </a:pPr>
            <a:r>
              <a:rPr lang="en-US" sz="1100" dirty="0">
                <a:solidFill>
                  <a:srgbClr val="465060"/>
                </a:solidFill>
                <a:latin typeface="Arial" pitchFamily="34" charset="0"/>
                <a:ea typeface="Arial" pitchFamily="34" charset="-122"/>
                <a:cs typeface="Arial" pitchFamily="34" charset="-120"/>
              </a:rPr>
              <a:t>The prompt-injection rule, applied before the verdict is read</a:t>
            </a:r>
            <a:endParaRPr lang="en-US" sz="1100" dirty="0"/>
          </a:p>
        </p:txBody>
      </p:sp>
      <p:sp>
        <p:nvSpPr>
          <p:cNvPr id="21" name="Shape 19"/>
          <p:cNvSpPr/>
          <p:nvPr/>
        </p:nvSpPr>
        <p:spPr>
          <a:xfrm>
            <a:off x="762000" y="5664200"/>
            <a:ext cx="802640" cy="215900"/>
          </a:xfrm>
          <a:prstGeom prst="roundRect">
            <a:avLst>
              <a:gd name="adj" fmla="val 17647"/>
            </a:avLst>
          </a:prstGeom>
          <a:solidFill>
            <a:srgbClr val="F2F4F7"/>
          </a:solidFill>
          <a:ln w="9525">
            <a:solidFill>
              <a:srgbClr val="D0D5DD"/>
            </a:solidFill>
            <a:prstDash val="solid"/>
          </a:ln>
        </p:spPr>
      </p:sp>
      <p:sp>
        <p:nvSpPr>
          <p:cNvPr id="22" name="Text 20"/>
          <p:cNvSpPr txBox="1"/>
          <p:nvPr/>
        </p:nvSpPr>
        <p:spPr>
          <a:xfrm>
            <a:off x="762000" y="5664200"/>
            <a:ext cx="802640" cy="215900"/>
          </a:xfrm>
          <a:prstGeom prst="rect">
            <a:avLst/>
          </a:prstGeom>
          <a:noFill/>
          <a:ln/>
        </p:spPr>
        <p:txBody>
          <a:bodyPr wrap="none" lIns="0" tIns="0" rIns="0" bIns="0" rtlCol="0" anchor="ctr"/>
          <a:lstStyle/>
          <a:p>
            <a:pPr algn="ctr" indent="0" marL="0">
              <a:lnSpc>
                <a:spcPct val="115000"/>
              </a:lnSpc>
              <a:buNone/>
            </a:pPr>
            <a:r>
              <a:rPr lang="en-US" sz="1000" b="1" dirty="0">
                <a:solidFill>
                  <a:srgbClr val="475467"/>
                </a:solidFill>
                <a:latin typeface="Arial" pitchFamily="34" charset="0"/>
                <a:ea typeface="Arial" pitchFamily="34" charset="-122"/>
                <a:cs typeface="Arial" pitchFamily="34" charset="-120"/>
              </a:rPr>
              <a:t>Operator</a:t>
            </a:r>
            <a:endParaRPr lang="en-US" sz="1000" dirty="0"/>
          </a:p>
        </p:txBody>
      </p:sp>
      <p:sp>
        <p:nvSpPr>
          <p:cNvPr id="23" name="Text 21"/>
          <p:cNvSpPr txBox="1"/>
          <p:nvPr/>
        </p:nvSpPr>
        <p:spPr>
          <a:xfrm>
            <a:off x="1602740" y="5664200"/>
            <a:ext cx="9525000" cy="215900"/>
          </a:xfrm>
          <a:prstGeom prst="rect">
            <a:avLst/>
          </a:prstGeom>
          <a:noFill/>
          <a:ln/>
        </p:spPr>
        <p:txBody>
          <a:bodyPr wrap="square" lIns="0" tIns="0" rIns="0" bIns="0" rtlCol="0" anchor="ctr"/>
          <a:lstStyle/>
          <a:p>
            <a:pPr algn="l" indent="0" marL="0">
              <a:lnSpc>
                <a:spcPct val="115000"/>
              </a:lnSpc>
              <a:buNone/>
            </a:pPr>
            <a:r>
              <a:rPr lang="en-US" sz="1250" dirty="0">
                <a:solidFill>
                  <a:srgbClr val="465060"/>
                </a:solidFill>
                <a:latin typeface="Arial" pitchFamily="34" charset="0"/>
                <a:ea typeface="Arial" pitchFamily="34" charset="-122"/>
                <a:cs typeface="Arial" pitchFamily="34" charset="-120"/>
              </a:rPr>
              <a:t> sees the outcome, a plain explanation and each issue in plain words. </a:t>
            </a:r>
            <a:pPr algn="l" indent="0" marL="0">
              <a:lnSpc>
                <a:spcPct val="115000"/>
              </a:lnSpc>
              <a:buNone/>
            </a:pPr>
            <a:r>
              <a:rPr lang="en-US" sz="1250" b="1" dirty="0">
                <a:solidFill>
                  <a:srgbClr val="1B2430"/>
                </a:solidFill>
                <a:latin typeface="Arial" pitchFamily="34" charset="0"/>
                <a:ea typeface="Arial" pitchFamily="34" charset="-122"/>
                <a:cs typeface="Arial" pitchFamily="34" charset="-120"/>
              </a:rPr>
              <a:t>Never the evidence quote, never the confidence.</a:t>
            </a:r>
            <a:endParaRPr lang="en-US" sz="1250" dirty="0"/>
          </a:p>
        </p:txBody>
      </p:sp>
      <p:sp>
        <p:nvSpPr>
          <p:cNvPr id="24" name="Text 22"/>
          <p:cNvSpPr txBox="1"/>
          <p:nvPr/>
        </p:nvSpPr>
        <p:spPr>
          <a:xfrm>
            <a:off x="762000" y="6299200"/>
            <a:ext cx="73025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Arial" pitchFamily="34" charset="0"/>
                <a:ea typeface="Arial" pitchFamily="34" charset="-122"/>
                <a:cs typeface="Arial" pitchFamily="34" charset="-120"/>
              </a:rPr>
              <a:t>Advisory by design: the check informs the officer and never decides.</a:t>
            </a:r>
            <a:endParaRPr lang="en-US" sz="1000" dirty="0"/>
          </a:p>
        </p:txBody>
      </p:sp>
      <p:sp>
        <p:nvSpPr>
          <p:cNvPr id="25" name="Text 23"/>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05 / 11</a:t>
            </a:r>
            <a:endParaRPr lang="en-US" sz="1000" dirty="0"/>
          </a:p>
        </p:txBody>
      </p:sp>
    </p:spTree>
  </p:cSld>
  <p:clrMapOvr>
    <a:masterClrMapping/>
  </p:clrMapOvr>
  <p:transition spd="fast">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A REAL WORKFLOW</a:t>
            </a:r>
            <a:endParaRPr lang="en-US" sz="1100" dirty="0"/>
          </a:p>
        </p:txBody>
      </p:sp>
      <p:sp>
        <p:nvSpPr>
          <p:cNvPr id="3" name="Text 1"/>
          <p:cNvSpPr txBox="1"/>
          <p:nvPr/>
        </p:nvSpPr>
        <p:spPr>
          <a:xfrm>
            <a:off x="762000" y="863600"/>
            <a:ext cx="10795000" cy="762000"/>
          </a:xfrm>
          <a:prstGeom prst="rect">
            <a:avLst/>
          </a:prstGeom>
          <a:noFill/>
          <a:ln/>
        </p:spPr>
        <p:txBody>
          <a:bodyPr wrap="square" lIns="0" tIns="0" rIns="0" bIns="0" rtlCol="0" anchor="t"/>
          <a:lstStyle/>
          <a:p>
            <a:pPr algn="l" indent="0" marL="0">
              <a:lnSpc>
                <a:spcPct val="108000"/>
              </a:lnSpc>
              <a:buNone/>
            </a:pPr>
            <a:r>
              <a:rPr lang="en-US" sz="2300" dirty="0">
                <a:solidFill>
                  <a:srgbClr val="1B2430"/>
                </a:solidFill>
                <a:latin typeface="Cambria" pitchFamily="34" charset="0"/>
                <a:ea typeface="Cambria" pitchFamily="34" charset="-122"/>
                <a:cs typeface="Cambria" pitchFamily="34" charset="-120"/>
              </a:rPr>
              <a:t>Two planted problems, one feedback round,</a:t>
            </a:r>
            <a:endParaRPr lang="en-US" sz="2300" dirty="0"/>
          </a:p>
          <a:p>
            <a:pPr algn="l" indent="0" marL="0">
              <a:lnSpc>
                <a:spcPct val="108000"/>
              </a:lnSpc>
              <a:buNone/>
            </a:pPr>
            <a:r>
              <a:rPr lang="en-US" sz="2300" dirty="0">
                <a:solidFill>
                  <a:srgbClr val="1B2430"/>
                </a:solidFill>
                <a:latin typeface="Cambria" pitchFamily="34" charset="0"/>
                <a:ea typeface="Cambria" pitchFamily="34" charset="-122"/>
                <a:cs typeface="Cambria" pitchFamily="34" charset="-120"/>
              </a:rPr>
              <a:t>and the record shows exactly what changed.</a:t>
            </a:r>
            <a:endParaRPr lang="en-US" sz="2300" dirty="0"/>
          </a:p>
        </p:txBody>
      </p:sp>
      <p:sp>
        <p:nvSpPr>
          <p:cNvPr id="4" name="Text 2"/>
          <p:cNvSpPr txBox="1"/>
          <p:nvPr/>
        </p:nvSpPr>
        <p:spPr>
          <a:xfrm>
            <a:off x="762000" y="1714500"/>
            <a:ext cx="3175000" cy="215900"/>
          </a:xfrm>
          <a:prstGeom prst="rect">
            <a:avLst/>
          </a:prstGeom>
          <a:noFill/>
          <a:ln/>
        </p:spPr>
        <p:txBody>
          <a:bodyPr wrap="none" lIns="0" tIns="0" rIns="0" bIns="0" rtlCol="0" anchor="ctr"/>
          <a:lstStyle/>
          <a:p>
            <a:pPr algn="l" indent="0" marL="0">
              <a:lnSpc>
                <a:spcPct val="115000"/>
              </a:lnSpc>
              <a:buNone/>
            </a:pPr>
            <a:r>
              <a:rPr lang="en-US" sz="1250" b="1" dirty="0">
                <a:solidFill>
                  <a:srgbClr val="1B2430"/>
                </a:solidFill>
                <a:latin typeface="Arial" pitchFamily="34" charset="0"/>
                <a:ea typeface="Arial" pitchFamily="34" charset="-122"/>
                <a:cs typeface="Arial" pitchFamily="34" charset="-120"/>
              </a:rPr>
              <a:t>Kopi &amp; Kaya Toast House Pte. Ltd.</a:t>
            </a:r>
            <a:endParaRPr lang="en-US" sz="1250" dirty="0"/>
          </a:p>
        </p:txBody>
      </p:sp>
      <p:sp>
        <p:nvSpPr>
          <p:cNvPr id="5" name="Text 3"/>
          <p:cNvSpPr txBox="1"/>
          <p:nvPr/>
        </p:nvSpPr>
        <p:spPr>
          <a:xfrm>
            <a:off x="4064000" y="1714500"/>
            <a:ext cx="3175000" cy="215900"/>
          </a:xfrm>
          <a:prstGeom prst="rect">
            <a:avLst/>
          </a:prstGeom>
          <a:noFill/>
          <a:ln/>
        </p:spPr>
        <p:txBody>
          <a:bodyPr wrap="none" lIns="0" tIns="0" rIns="0" bIns="0" rtlCol="0" anchor="ctr"/>
          <a:lstStyle/>
          <a:p>
            <a:pPr algn="l" indent="0" marL="0">
              <a:lnSpc>
                <a:spcPct val="115000"/>
              </a:lnSpc>
              <a:buNone/>
            </a:pPr>
            <a:r>
              <a:rPr lang="en-US" sz="1250" dirty="0">
                <a:solidFill>
                  <a:srgbClr val="465060"/>
                </a:solidFill>
                <a:latin typeface="Courier New" pitchFamily="34" charset="0"/>
                <a:ea typeface="Courier New" pitchFamily="34" charset="-122"/>
                <a:cs typeface="Courier New" pitchFamily="34" charset="-120"/>
              </a:rPr>
              <a:t>UEN 202355555E</a:t>
            </a:r>
            <a:endParaRPr lang="en-US" sz="1250" dirty="0"/>
          </a:p>
        </p:txBody>
      </p:sp>
      <p:sp>
        <p:nvSpPr>
          <p:cNvPr id="6" name="Text 4"/>
          <p:cNvSpPr txBox="1"/>
          <p:nvPr/>
        </p:nvSpPr>
        <p:spPr>
          <a:xfrm>
            <a:off x="6413500" y="1714500"/>
            <a:ext cx="3175000" cy="215900"/>
          </a:xfrm>
          <a:prstGeom prst="rect">
            <a:avLst/>
          </a:prstGeom>
          <a:noFill/>
          <a:ln/>
        </p:spPr>
        <p:txBody>
          <a:bodyPr wrap="none" lIns="0" tIns="0" rIns="0" bIns="0" rtlCol="0" anchor="ctr"/>
          <a:lstStyle/>
          <a:p>
            <a:pPr algn="l" indent="0" marL="0">
              <a:lnSpc>
                <a:spcPct val="115000"/>
              </a:lnSpc>
              <a:buNone/>
            </a:pPr>
            <a:r>
              <a:rPr lang="en-US" sz="1250" dirty="0">
                <a:solidFill>
                  <a:srgbClr val="465060"/>
                </a:solidFill>
                <a:latin typeface="Arial" pitchFamily="34" charset="0"/>
                <a:ea typeface="Arial" pitchFamily="34" charset="-122"/>
                <a:cs typeface="Arial" pitchFamily="34" charset="-120"/>
              </a:rPr>
              <a:t>10 Jalan Besar #01-12</a:t>
            </a:r>
            <a:endParaRPr lang="en-US" sz="1250" dirty="0"/>
          </a:p>
        </p:txBody>
      </p:sp>
      <p:sp>
        <p:nvSpPr>
          <p:cNvPr id="7" name="Text 5"/>
          <p:cNvSpPr txBox="1"/>
          <p:nvPr/>
        </p:nvSpPr>
        <p:spPr>
          <a:xfrm>
            <a:off x="8890000" y="1714500"/>
            <a:ext cx="3175000" cy="215900"/>
          </a:xfrm>
          <a:prstGeom prst="rect">
            <a:avLst/>
          </a:prstGeom>
          <a:noFill/>
          <a:ln/>
        </p:spPr>
        <p:txBody>
          <a:bodyPr wrap="none" lIns="0" tIns="0" rIns="0" bIns="0" rtlCol="0" anchor="ctr"/>
          <a:lstStyle/>
          <a:p>
            <a:pPr algn="l" indent="0" marL="0">
              <a:lnSpc>
                <a:spcPct val="115000"/>
              </a:lnSpc>
              <a:buNone/>
            </a:pPr>
            <a:r>
              <a:rPr lang="en-US" sz="1250" dirty="0">
                <a:solidFill>
                  <a:srgbClr val="465060"/>
                </a:solidFill>
                <a:latin typeface="Courier New" pitchFamily="34" charset="0"/>
                <a:ea typeface="Courier New" pitchFamily="34" charset="-122"/>
                <a:cs typeface="Courier New" pitchFamily="34" charset="-120"/>
              </a:rPr>
              <a:t>PF-2026-001009</a:t>
            </a:r>
            <a:endParaRPr lang="en-US" sz="1250" dirty="0"/>
          </a:p>
        </p:txBody>
      </p:sp>
      <p:sp>
        <p:nvSpPr>
          <p:cNvPr id="8" name="b1"/>
          <p:cNvSpPr/>
          <p:nvPr/>
        </p:nvSpPr>
        <p:spPr>
          <a:xfrm>
            <a:off x="831850" y="2095500"/>
            <a:ext cx="8534400" cy="0"/>
          </a:xfrm>
          <a:prstGeom prst="line">
            <a:avLst/>
          </a:prstGeom>
          <a:noFill/>
          <a:ln w="38100">
            <a:solidFill>
              <a:srgbClr val="AEB6C2"/>
            </a:solidFill>
            <a:prstDash val="solid"/>
          </a:ln>
        </p:spPr>
      </p:sp>
      <p:sp>
        <p:nvSpPr>
          <p:cNvPr id="9" name="b1"/>
          <p:cNvSpPr/>
          <p:nvPr/>
        </p:nvSpPr>
        <p:spPr>
          <a:xfrm>
            <a:off x="762000" y="2025650"/>
            <a:ext cx="139700" cy="139700"/>
          </a:xfrm>
          <a:prstGeom prst="ellipse">
            <a:avLst/>
          </a:prstGeom>
          <a:solidFill>
            <a:srgbClr val="1B2430"/>
          </a:solidFill>
          <a:ln w="12700">
            <a:solidFill>
              <a:srgbClr val="1B2430"/>
            </a:solidFill>
            <a:prstDash val="solid"/>
          </a:ln>
        </p:spPr>
      </p:sp>
      <p:sp>
        <p:nvSpPr>
          <p:cNvPr id="10" name="b1"/>
          <p:cNvSpPr txBox="1"/>
          <p:nvPr/>
        </p:nvSpPr>
        <p:spPr>
          <a:xfrm>
            <a:off x="762000" y="2286000"/>
            <a:ext cx="1955800" cy="444500"/>
          </a:xfrm>
          <a:prstGeom prst="rect">
            <a:avLst/>
          </a:prstGeom>
          <a:noFill/>
          <a:ln/>
        </p:spPr>
        <p:txBody>
          <a:bodyPr wrap="square" lIns="0" tIns="0" rIns="0" bIns="0" rtlCol="0" anchor="t"/>
          <a:lstStyle/>
          <a:p>
            <a:pPr algn="l" indent="0" marL="0">
              <a:lnSpc>
                <a:spcPct val="120000"/>
              </a:lnSpc>
              <a:buNone/>
            </a:pPr>
            <a:r>
              <a:rPr lang="en-US" sz="1200" b="1" dirty="0">
                <a:solidFill>
                  <a:srgbClr val="1B2430"/>
                </a:solidFill>
                <a:latin typeface="Arial" pitchFamily="34" charset="0"/>
                <a:ea typeface="Arial" pitchFamily="34" charset="-122"/>
                <a:cs typeface="Arial" pitchFamily="34" charset="-120"/>
              </a:rPr>
              <a:t>Revision 1 submitted</a:t>
            </a:r>
            <a:endParaRPr lang="en-US" sz="1200" dirty="0"/>
          </a:p>
        </p:txBody>
      </p:sp>
      <p:sp>
        <p:nvSpPr>
          <p:cNvPr id="11" name="b1"/>
          <p:cNvSpPr/>
          <p:nvPr/>
        </p:nvSpPr>
        <p:spPr>
          <a:xfrm>
            <a:off x="762000" y="2755900"/>
            <a:ext cx="770128" cy="190500"/>
          </a:xfrm>
          <a:prstGeom prst="roundRect">
            <a:avLst>
              <a:gd name="adj" fmla="val 20000"/>
            </a:avLst>
          </a:prstGeom>
          <a:solidFill>
            <a:srgbClr val="F2F4F7"/>
          </a:solidFill>
          <a:ln w="9525">
            <a:solidFill>
              <a:srgbClr val="D0D5DD"/>
            </a:solidFill>
            <a:prstDash val="solid"/>
          </a:ln>
        </p:spPr>
      </p:sp>
      <p:sp>
        <p:nvSpPr>
          <p:cNvPr id="12" name="b1"/>
          <p:cNvSpPr txBox="1"/>
          <p:nvPr/>
        </p:nvSpPr>
        <p:spPr>
          <a:xfrm>
            <a:off x="762000" y="2755900"/>
            <a:ext cx="770128" cy="190500"/>
          </a:xfrm>
          <a:prstGeom prst="rect">
            <a:avLst/>
          </a:prstGeom>
          <a:noFill/>
          <a:ln/>
        </p:spPr>
        <p:txBody>
          <a:bodyPr wrap="none" lIns="0" tIns="0" rIns="0" bIns="0" rtlCol="0" anchor="ctr"/>
          <a:lstStyle/>
          <a:p>
            <a:pPr algn="ctr" indent="0" marL="0">
              <a:lnSpc>
                <a:spcPct val="115000"/>
              </a:lnSpc>
              <a:buNone/>
            </a:pPr>
            <a:r>
              <a:rPr lang="en-US" sz="950" b="1" dirty="0">
                <a:solidFill>
                  <a:srgbClr val="475467"/>
                </a:solidFill>
                <a:latin typeface="Arial" pitchFamily="34" charset="0"/>
                <a:ea typeface="Arial" pitchFamily="34" charset="-122"/>
                <a:cs typeface="Arial" pitchFamily="34" charset="-120"/>
              </a:rPr>
              <a:t>Operator</a:t>
            </a:r>
            <a:endParaRPr lang="en-US" sz="950" dirty="0"/>
          </a:p>
        </p:txBody>
      </p:sp>
      <p:sp>
        <p:nvSpPr>
          <p:cNvPr id="13" name="b1"/>
          <p:cNvSpPr/>
          <p:nvPr/>
        </p:nvSpPr>
        <p:spPr>
          <a:xfrm>
            <a:off x="2895600" y="2025650"/>
            <a:ext cx="139700" cy="139700"/>
          </a:xfrm>
          <a:prstGeom prst="ellipse">
            <a:avLst/>
          </a:prstGeom>
          <a:solidFill>
            <a:srgbClr val="1B2430"/>
          </a:solidFill>
          <a:ln w="12700">
            <a:solidFill>
              <a:srgbClr val="1B2430"/>
            </a:solidFill>
            <a:prstDash val="solid"/>
          </a:ln>
        </p:spPr>
      </p:sp>
      <p:sp>
        <p:nvSpPr>
          <p:cNvPr id="14" name="b1"/>
          <p:cNvSpPr txBox="1"/>
          <p:nvPr/>
        </p:nvSpPr>
        <p:spPr>
          <a:xfrm>
            <a:off x="2895600" y="2286000"/>
            <a:ext cx="1955800" cy="444500"/>
          </a:xfrm>
          <a:prstGeom prst="rect">
            <a:avLst/>
          </a:prstGeom>
          <a:noFill/>
          <a:ln/>
        </p:spPr>
        <p:txBody>
          <a:bodyPr wrap="square" lIns="0" tIns="0" rIns="0" bIns="0" rtlCol="0" anchor="t"/>
          <a:lstStyle/>
          <a:p>
            <a:pPr algn="l" indent="0" marL="0">
              <a:lnSpc>
                <a:spcPct val="120000"/>
              </a:lnSpc>
              <a:buNone/>
            </a:pPr>
            <a:r>
              <a:rPr lang="en-US" sz="1200" b="1" dirty="0">
                <a:solidFill>
                  <a:srgbClr val="1B2430"/>
                </a:solidFill>
                <a:latin typeface="Arial" pitchFamily="34" charset="0"/>
                <a:ea typeface="Arial" pitchFamily="34" charset="-122"/>
                <a:cs typeface="Arial" pitchFamily="34" charset="-120"/>
              </a:rPr>
              <a:t>Checks return two findings</a:t>
            </a:r>
            <a:endParaRPr lang="en-US" sz="1200" dirty="0"/>
          </a:p>
        </p:txBody>
      </p:sp>
      <p:sp>
        <p:nvSpPr>
          <p:cNvPr id="15" name="b1"/>
          <p:cNvSpPr txBox="1"/>
          <p:nvPr/>
        </p:nvSpPr>
        <p:spPr>
          <a:xfrm>
            <a:off x="2895600" y="2755900"/>
            <a:ext cx="1955800" cy="381000"/>
          </a:xfrm>
          <a:prstGeom prst="rect">
            <a:avLst/>
          </a:prstGeom>
          <a:noFill/>
          <a:ln/>
        </p:spPr>
        <p:txBody>
          <a:bodyPr wrap="square" lIns="0" tIns="0" rIns="0" bIns="0" rtlCol="0" anchor="t"/>
          <a:lstStyle/>
          <a:p>
            <a:pPr algn="l" indent="0" marL="0">
              <a:lnSpc>
                <a:spcPct val="130000"/>
              </a:lnSpc>
              <a:buNone/>
            </a:pPr>
            <a:r>
              <a:rPr lang="en-US" sz="1050" dirty="0">
                <a:solidFill>
                  <a:srgbClr val="465060"/>
                </a:solidFill>
                <a:latin typeface="Arial" pitchFamily="34" charset="0"/>
                <a:ea typeface="Arial" pitchFamily="34" charset="-122"/>
                <a:cs typeface="Arial" pitchFamily="34" charset="-120"/>
              </a:rPr>
              <a:t>Expired certificate · tenancy for unit #01-21</a:t>
            </a:r>
            <a:endParaRPr lang="en-US" sz="1050" dirty="0"/>
          </a:p>
        </p:txBody>
      </p:sp>
      <p:sp>
        <p:nvSpPr>
          <p:cNvPr id="16" name="b2"/>
          <p:cNvSpPr/>
          <p:nvPr/>
        </p:nvSpPr>
        <p:spPr>
          <a:xfrm>
            <a:off x="5029200" y="2025650"/>
            <a:ext cx="139700" cy="139700"/>
          </a:xfrm>
          <a:prstGeom prst="ellipse">
            <a:avLst/>
          </a:prstGeom>
          <a:solidFill>
            <a:srgbClr val="1B2430"/>
          </a:solidFill>
          <a:ln w="12700">
            <a:solidFill>
              <a:srgbClr val="1B2430"/>
            </a:solidFill>
            <a:prstDash val="solid"/>
          </a:ln>
        </p:spPr>
      </p:sp>
      <p:sp>
        <p:nvSpPr>
          <p:cNvPr id="17" name="b2"/>
          <p:cNvSpPr txBox="1"/>
          <p:nvPr/>
        </p:nvSpPr>
        <p:spPr>
          <a:xfrm>
            <a:off x="5029200" y="2286000"/>
            <a:ext cx="1955800" cy="444500"/>
          </a:xfrm>
          <a:prstGeom prst="rect">
            <a:avLst/>
          </a:prstGeom>
          <a:noFill/>
          <a:ln/>
        </p:spPr>
        <p:txBody>
          <a:bodyPr wrap="square" lIns="0" tIns="0" rIns="0" bIns="0" rtlCol="0" anchor="t"/>
          <a:lstStyle/>
          <a:p>
            <a:pPr algn="l" indent="0" marL="0">
              <a:lnSpc>
                <a:spcPct val="120000"/>
              </a:lnSpc>
              <a:buNone/>
            </a:pPr>
            <a:r>
              <a:rPr lang="en-US" sz="1200" b="1" dirty="0">
                <a:solidFill>
                  <a:srgbClr val="1B2430"/>
                </a:solidFill>
                <a:latin typeface="Arial" pitchFamily="34" charset="0"/>
                <a:ea typeface="Arial" pitchFamily="34" charset="-122"/>
                <a:cs typeface="Arial" pitchFamily="34" charset="-120"/>
              </a:rPr>
              <a:t>Feedback on both documents</a:t>
            </a:r>
            <a:endParaRPr lang="en-US" sz="1200" dirty="0"/>
          </a:p>
        </p:txBody>
      </p:sp>
      <p:sp>
        <p:nvSpPr>
          <p:cNvPr id="18" name="b2"/>
          <p:cNvSpPr/>
          <p:nvPr/>
        </p:nvSpPr>
        <p:spPr>
          <a:xfrm>
            <a:off x="5029200" y="2755900"/>
            <a:ext cx="692912" cy="190500"/>
          </a:xfrm>
          <a:prstGeom prst="roundRect">
            <a:avLst>
              <a:gd name="adj" fmla="val 20000"/>
            </a:avLst>
          </a:prstGeom>
          <a:solidFill>
            <a:srgbClr val="EEF4FF"/>
          </a:solidFill>
          <a:ln w="9525">
            <a:solidFill>
              <a:srgbClr val="B2CCFA"/>
            </a:solidFill>
            <a:prstDash val="solid"/>
          </a:ln>
        </p:spPr>
      </p:sp>
      <p:sp>
        <p:nvSpPr>
          <p:cNvPr id="19" name="b2"/>
          <p:cNvSpPr txBox="1"/>
          <p:nvPr/>
        </p:nvSpPr>
        <p:spPr>
          <a:xfrm>
            <a:off x="5029200" y="2755900"/>
            <a:ext cx="692912" cy="190500"/>
          </a:xfrm>
          <a:prstGeom prst="rect">
            <a:avLst/>
          </a:prstGeom>
          <a:noFill/>
          <a:ln/>
        </p:spPr>
        <p:txBody>
          <a:bodyPr wrap="none" lIns="0" tIns="0" rIns="0" bIns="0" rtlCol="0" anchor="ctr"/>
          <a:lstStyle/>
          <a:p>
            <a:pPr algn="ctr" indent="0" marL="0">
              <a:lnSpc>
                <a:spcPct val="115000"/>
              </a:lnSpc>
              <a:buNone/>
            </a:pPr>
            <a:r>
              <a:rPr lang="en-US" sz="950" b="1" dirty="0">
                <a:solidFill>
                  <a:srgbClr val="175CD3"/>
                </a:solidFill>
                <a:latin typeface="Arial" pitchFamily="34" charset="0"/>
                <a:ea typeface="Arial" pitchFamily="34" charset="-122"/>
                <a:cs typeface="Arial" pitchFamily="34" charset="-120"/>
              </a:rPr>
              <a:t>Officer</a:t>
            </a:r>
            <a:endParaRPr lang="en-US" sz="950" dirty="0"/>
          </a:p>
        </p:txBody>
      </p:sp>
      <p:sp>
        <p:nvSpPr>
          <p:cNvPr id="20" name="b2"/>
          <p:cNvSpPr/>
          <p:nvPr/>
        </p:nvSpPr>
        <p:spPr>
          <a:xfrm>
            <a:off x="5785612" y="2755900"/>
            <a:ext cx="1104392" cy="190500"/>
          </a:xfrm>
          <a:prstGeom prst="roundRect">
            <a:avLst>
              <a:gd name="adj" fmla="val 20000"/>
            </a:avLst>
          </a:prstGeom>
          <a:solidFill>
            <a:srgbClr val="FFFFFF"/>
          </a:solidFill>
          <a:ln w="9525">
            <a:solidFill>
              <a:srgbClr val="AEB6C2"/>
            </a:solidFill>
            <a:prstDash val="solid"/>
          </a:ln>
        </p:spPr>
      </p:sp>
      <p:sp>
        <p:nvSpPr>
          <p:cNvPr id="21" name="b2"/>
          <p:cNvSpPr txBox="1"/>
          <p:nvPr/>
        </p:nvSpPr>
        <p:spPr>
          <a:xfrm>
            <a:off x="5785612" y="2755900"/>
            <a:ext cx="1104392" cy="1905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Add feedback</a:t>
            </a:r>
            <a:endParaRPr lang="en-US" sz="950" dirty="0"/>
          </a:p>
        </p:txBody>
      </p:sp>
      <p:sp>
        <p:nvSpPr>
          <p:cNvPr id="22" name="b2"/>
          <p:cNvSpPr/>
          <p:nvPr/>
        </p:nvSpPr>
        <p:spPr>
          <a:xfrm>
            <a:off x="5029200" y="2997200"/>
            <a:ext cx="1722120" cy="190500"/>
          </a:xfrm>
          <a:prstGeom prst="roundRect">
            <a:avLst>
              <a:gd name="adj" fmla="val 20000"/>
            </a:avLst>
          </a:prstGeom>
          <a:solidFill>
            <a:srgbClr val="1B2430"/>
          </a:solidFill>
          <a:ln w="9525">
            <a:solidFill>
              <a:srgbClr val="1B2430"/>
            </a:solidFill>
            <a:prstDash val="solid"/>
          </a:ln>
        </p:spPr>
      </p:sp>
      <p:sp>
        <p:nvSpPr>
          <p:cNvPr id="23" name="b2"/>
          <p:cNvSpPr txBox="1"/>
          <p:nvPr/>
        </p:nvSpPr>
        <p:spPr>
          <a:xfrm>
            <a:off x="5029200" y="2997200"/>
            <a:ext cx="1722120" cy="190500"/>
          </a:xfrm>
          <a:prstGeom prst="rect">
            <a:avLst/>
          </a:prstGeom>
          <a:noFill/>
          <a:ln/>
        </p:spPr>
        <p:txBody>
          <a:bodyPr wrap="none" lIns="0" tIns="0" rIns="0" bIns="0" rtlCol="0" anchor="ctr"/>
          <a:lstStyle/>
          <a:p>
            <a:pPr algn="ctr" indent="0" marL="0">
              <a:lnSpc>
                <a:spcPct val="115000"/>
              </a:lnSpc>
              <a:buNone/>
            </a:pPr>
            <a:r>
              <a:rPr lang="en-US" sz="950" b="1" dirty="0">
                <a:solidFill>
                  <a:srgbClr val="FFFFFF"/>
                </a:solidFill>
                <a:latin typeface="Arial" pitchFamily="34" charset="0"/>
                <a:ea typeface="Arial" pitchFamily="34" charset="-122"/>
                <a:cs typeface="Arial" pitchFamily="34" charset="-120"/>
              </a:rPr>
              <a:t>Request resubmission</a:t>
            </a:r>
            <a:endParaRPr lang="en-US" sz="950" dirty="0"/>
          </a:p>
        </p:txBody>
      </p:sp>
      <p:sp>
        <p:nvSpPr>
          <p:cNvPr id="24" name="b3"/>
          <p:cNvSpPr/>
          <p:nvPr/>
        </p:nvSpPr>
        <p:spPr>
          <a:xfrm>
            <a:off x="7162800" y="2025650"/>
            <a:ext cx="139700" cy="139700"/>
          </a:xfrm>
          <a:prstGeom prst="ellipse">
            <a:avLst/>
          </a:prstGeom>
          <a:solidFill>
            <a:srgbClr val="1B2430"/>
          </a:solidFill>
          <a:ln w="12700">
            <a:solidFill>
              <a:srgbClr val="1B2430"/>
            </a:solidFill>
            <a:prstDash val="solid"/>
          </a:ln>
        </p:spPr>
      </p:sp>
      <p:sp>
        <p:nvSpPr>
          <p:cNvPr id="25" name="b3"/>
          <p:cNvSpPr txBox="1"/>
          <p:nvPr/>
        </p:nvSpPr>
        <p:spPr>
          <a:xfrm>
            <a:off x="7162800" y="2286000"/>
            <a:ext cx="1955800" cy="444500"/>
          </a:xfrm>
          <a:prstGeom prst="rect">
            <a:avLst/>
          </a:prstGeom>
          <a:noFill/>
          <a:ln/>
        </p:spPr>
        <p:txBody>
          <a:bodyPr wrap="square" lIns="0" tIns="0" rIns="0" bIns="0" rtlCol="0" anchor="t"/>
          <a:lstStyle/>
          <a:p>
            <a:pPr algn="l" indent="0" marL="0">
              <a:lnSpc>
                <a:spcPct val="120000"/>
              </a:lnSpc>
              <a:buNone/>
            </a:pPr>
            <a:r>
              <a:rPr lang="en-US" sz="1200" b="1" dirty="0">
                <a:solidFill>
                  <a:srgbClr val="1B2430"/>
                </a:solidFill>
                <a:latin typeface="Arial" pitchFamily="34" charset="0"/>
                <a:ea typeface="Arial" pitchFamily="34" charset="-122"/>
                <a:cs typeface="Arial" pitchFamily="34" charset="-120"/>
              </a:rPr>
              <a:t>Only two slots reopen</a:t>
            </a:r>
            <a:endParaRPr lang="en-US" sz="1200" dirty="0"/>
          </a:p>
        </p:txBody>
      </p:sp>
      <p:sp>
        <p:nvSpPr>
          <p:cNvPr id="26" name="b3"/>
          <p:cNvSpPr/>
          <p:nvPr/>
        </p:nvSpPr>
        <p:spPr>
          <a:xfrm>
            <a:off x="7162800" y="2755900"/>
            <a:ext cx="770128" cy="190500"/>
          </a:xfrm>
          <a:prstGeom prst="roundRect">
            <a:avLst>
              <a:gd name="adj" fmla="val 20000"/>
            </a:avLst>
          </a:prstGeom>
          <a:solidFill>
            <a:srgbClr val="F2F4F7"/>
          </a:solidFill>
          <a:ln w="9525">
            <a:solidFill>
              <a:srgbClr val="D0D5DD"/>
            </a:solidFill>
            <a:prstDash val="solid"/>
          </a:ln>
        </p:spPr>
      </p:sp>
      <p:sp>
        <p:nvSpPr>
          <p:cNvPr id="27" name="b3"/>
          <p:cNvSpPr txBox="1"/>
          <p:nvPr/>
        </p:nvSpPr>
        <p:spPr>
          <a:xfrm>
            <a:off x="7162800" y="2755900"/>
            <a:ext cx="770128" cy="190500"/>
          </a:xfrm>
          <a:prstGeom prst="rect">
            <a:avLst/>
          </a:prstGeom>
          <a:noFill/>
          <a:ln/>
        </p:spPr>
        <p:txBody>
          <a:bodyPr wrap="none" lIns="0" tIns="0" rIns="0" bIns="0" rtlCol="0" anchor="ctr"/>
          <a:lstStyle/>
          <a:p>
            <a:pPr algn="ctr" indent="0" marL="0">
              <a:lnSpc>
                <a:spcPct val="115000"/>
              </a:lnSpc>
              <a:buNone/>
            </a:pPr>
            <a:r>
              <a:rPr lang="en-US" sz="950" b="1" dirty="0">
                <a:solidFill>
                  <a:srgbClr val="475467"/>
                </a:solidFill>
                <a:latin typeface="Arial" pitchFamily="34" charset="0"/>
                <a:ea typeface="Arial" pitchFamily="34" charset="-122"/>
                <a:cs typeface="Arial" pitchFamily="34" charset="-120"/>
              </a:rPr>
              <a:t>Operator</a:t>
            </a:r>
            <a:endParaRPr lang="en-US" sz="950" dirty="0"/>
          </a:p>
        </p:txBody>
      </p:sp>
      <p:sp>
        <p:nvSpPr>
          <p:cNvPr id="28" name="b3"/>
          <p:cNvSpPr/>
          <p:nvPr/>
        </p:nvSpPr>
        <p:spPr>
          <a:xfrm>
            <a:off x="7162800" y="2997200"/>
            <a:ext cx="1413256" cy="190500"/>
          </a:xfrm>
          <a:prstGeom prst="roundRect">
            <a:avLst>
              <a:gd name="adj" fmla="val 20000"/>
            </a:avLst>
          </a:prstGeom>
          <a:solidFill>
            <a:srgbClr val="FFFFFF"/>
          </a:solidFill>
          <a:ln w="9525">
            <a:solidFill>
              <a:srgbClr val="AEB6C2"/>
            </a:solidFill>
            <a:prstDash val="solid"/>
          </a:ln>
        </p:spPr>
      </p:sp>
      <p:sp>
        <p:nvSpPr>
          <p:cNvPr id="29" name="b3"/>
          <p:cNvSpPr txBox="1"/>
          <p:nvPr/>
        </p:nvSpPr>
        <p:spPr>
          <a:xfrm>
            <a:off x="7162800" y="2997200"/>
            <a:ext cx="1413256" cy="1905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Replace document</a:t>
            </a:r>
            <a:endParaRPr lang="en-US" sz="950" dirty="0"/>
          </a:p>
        </p:txBody>
      </p:sp>
      <p:sp>
        <p:nvSpPr>
          <p:cNvPr id="30" name="b3"/>
          <p:cNvSpPr/>
          <p:nvPr/>
        </p:nvSpPr>
        <p:spPr>
          <a:xfrm>
            <a:off x="7162800" y="3238500"/>
            <a:ext cx="795528" cy="190500"/>
          </a:xfrm>
          <a:prstGeom prst="roundRect">
            <a:avLst>
              <a:gd name="adj" fmla="val 20000"/>
            </a:avLst>
          </a:prstGeom>
          <a:solidFill>
            <a:srgbClr val="1B2430"/>
          </a:solidFill>
          <a:ln w="9525">
            <a:solidFill>
              <a:srgbClr val="1B2430"/>
            </a:solidFill>
            <a:prstDash val="solid"/>
          </a:ln>
        </p:spPr>
      </p:sp>
      <p:sp>
        <p:nvSpPr>
          <p:cNvPr id="31" name="b3"/>
          <p:cNvSpPr txBox="1"/>
          <p:nvPr/>
        </p:nvSpPr>
        <p:spPr>
          <a:xfrm>
            <a:off x="7162800" y="3238500"/>
            <a:ext cx="795528" cy="190500"/>
          </a:xfrm>
          <a:prstGeom prst="rect">
            <a:avLst/>
          </a:prstGeom>
          <a:noFill/>
          <a:ln/>
        </p:spPr>
        <p:txBody>
          <a:bodyPr wrap="none" lIns="0" tIns="0" rIns="0" bIns="0" rtlCol="0" anchor="ctr"/>
          <a:lstStyle/>
          <a:p>
            <a:pPr algn="ctr" indent="0" marL="0">
              <a:lnSpc>
                <a:spcPct val="115000"/>
              </a:lnSpc>
              <a:buNone/>
            </a:pPr>
            <a:r>
              <a:rPr lang="en-US" sz="950" b="1" dirty="0">
                <a:solidFill>
                  <a:srgbClr val="FFFFFF"/>
                </a:solidFill>
                <a:latin typeface="Arial" pitchFamily="34" charset="0"/>
                <a:ea typeface="Arial" pitchFamily="34" charset="-122"/>
                <a:cs typeface="Arial" pitchFamily="34" charset="-120"/>
              </a:rPr>
              <a:t>Resubmit</a:t>
            </a:r>
            <a:endParaRPr lang="en-US" sz="950" dirty="0"/>
          </a:p>
        </p:txBody>
      </p:sp>
      <p:sp>
        <p:nvSpPr>
          <p:cNvPr id="32" name="b5"/>
          <p:cNvSpPr/>
          <p:nvPr/>
        </p:nvSpPr>
        <p:spPr>
          <a:xfrm>
            <a:off x="9296400" y="2025650"/>
            <a:ext cx="139700" cy="139700"/>
          </a:xfrm>
          <a:prstGeom prst="ellipse">
            <a:avLst/>
          </a:prstGeom>
          <a:solidFill>
            <a:srgbClr val="1B2430"/>
          </a:solidFill>
          <a:ln w="12700">
            <a:solidFill>
              <a:srgbClr val="1B2430"/>
            </a:solidFill>
            <a:prstDash val="solid"/>
          </a:ln>
        </p:spPr>
      </p:sp>
      <p:sp>
        <p:nvSpPr>
          <p:cNvPr id="33" name="b5"/>
          <p:cNvSpPr txBox="1"/>
          <p:nvPr/>
        </p:nvSpPr>
        <p:spPr>
          <a:xfrm>
            <a:off x="9296400" y="2286000"/>
            <a:ext cx="1955800" cy="444500"/>
          </a:xfrm>
          <a:prstGeom prst="rect">
            <a:avLst/>
          </a:prstGeom>
          <a:noFill/>
          <a:ln/>
        </p:spPr>
        <p:txBody>
          <a:bodyPr wrap="square" lIns="0" tIns="0" rIns="0" bIns="0" rtlCol="0" anchor="t"/>
          <a:lstStyle/>
          <a:p>
            <a:pPr algn="l" indent="0" marL="0">
              <a:lnSpc>
                <a:spcPct val="120000"/>
              </a:lnSpc>
              <a:buNone/>
            </a:pPr>
            <a:r>
              <a:rPr lang="en-US" sz="1200" b="1" dirty="0">
                <a:solidFill>
                  <a:srgbClr val="1B2430"/>
                </a:solidFill>
                <a:latin typeface="Arial" pitchFamily="34" charset="0"/>
                <a:ea typeface="Arial" pitchFamily="34" charset="-122"/>
                <a:cs typeface="Arial" pitchFamily="34" charset="-120"/>
              </a:rPr>
              <a:t>Resolved, on to the site visit</a:t>
            </a:r>
            <a:endParaRPr lang="en-US" sz="1200" dirty="0"/>
          </a:p>
        </p:txBody>
      </p:sp>
      <p:sp>
        <p:nvSpPr>
          <p:cNvPr id="34" name="b5"/>
          <p:cNvSpPr/>
          <p:nvPr/>
        </p:nvSpPr>
        <p:spPr>
          <a:xfrm>
            <a:off x="9296400" y="2755900"/>
            <a:ext cx="692912" cy="190500"/>
          </a:xfrm>
          <a:prstGeom prst="roundRect">
            <a:avLst>
              <a:gd name="adj" fmla="val 20000"/>
            </a:avLst>
          </a:prstGeom>
          <a:solidFill>
            <a:srgbClr val="EEF4FF"/>
          </a:solidFill>
          <a:ln w="9525">
            <a:solidFill>
              <a:srgbClr val="B2CCFA"/>
            </a:solidFill>
            <a:prstDash val="solid"/>
          </a:ln>
        </p:spPr>
      </p:sp>
      <p:sp>
        <p:nvSpPr>
          <p:cNvPr id="35" name="b5"/>
          <p:cNvSpPr txBox="1"/>
          <p:nvPr/>
        </p:nvSpPr>
        <p:spPr>
          <a:xfrm>
            <a:off x="9296400" y="2755900"/>
            <a:ext cx="692912" cy="190500"/>
          </a:xfrm>
          <a:prstGeom prst="rect">
            <a:avLst/>
          </a:prstGeom>
          <a:noFill/>
          <a:ln/>
        </p:spPr>
        <p:txBody>
          <a:bodyPr wrap="none" lIns="0" tIns="0" rIns="0" bIns="0" rtlCol="0" anchor="ctr"/>
          <a:lstStyle/>
          <a:p>
            <a:pPr algn="ctr" indent="0" marL="0">
              <a:lnSpc>
                <a:spcPct val="115000"/>
              </a:lnSpc>
              <a:buNone/>
            </a:pPr>
            <a:r>
              <a:rPr lang="en-US" sz="950" b="1" dirty="0">
                <a:solidFill>
                  <a:srgbClr val="175CD3"/>
                </a:solidFill>
                <a:latin typeface="Arial" pitchFamily="34" charset="0"/>
                <a:ea typeface="Arial" pitchFamily="34" charset="-122"/>
                <a:cs typeface="Arial" pitchFamily="34" charset="-120"/>
              </a:rPr>
              <a:t>Officer</a:t>
            </a:r>
            <a:endParaRPr lang="en-US" sz="950" dirty="0"/>
          </a:p>
        </p:txBody>
      </p:sp>
      <p:sp>
        <p:nvSpPr>
          <p:cNvPr id="36" name="b5"/>
          <p:cNvSpPr/>
          <p:nvPr/>
        </p:nvSpPr>
        <p:spPr>
          <a:xfrm>
            <a:off x="10052812" y="2755900"/>
            <a:ext cx="1104392" cy="190500"/>
          </a:xfrm>
          <a:prstGeom prst="roundRect">
            <a:avLst>
              <a:gd name="adj" fmla="val 20000"/>
            </a:avLst>
          </a:prstGeom>
          <a:solidFill>
            <a:srgbClr val="FFFFFF"/>
          </a:solidFill>
          <a:ln w="9525">
            <a:solidFill>
              <a:srgbClr val="AEB6C2"/>
            </a:solidFill>
            <a:prstDash val="solid"/>
          </a:ln>
        </p:spPr>
      </p:sp>
      <p:sp>
        <p:nvSpPr>
          <p:cNvPr id="37" name="b5"/>
          <p:cNvSpPr txBox="1"/>
          <p:nvPr/>
        </p:nvSpPr>
        <p:spPr>
          <a:xfrm>
            <a:off x="10052812" y="2755900"/>
            <a:ext cx="1104392" cy="1905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Start review</a:t>
            </a:r>
            <a:endParaRPr lang="en-US" sz="950" dirty="0"/>
          </a:p>
        </p:txBody>
      </p:sp>
      <p:sp>
        <p:nvSpPr>
          <p:cNvPr id="38" name="b5"/>
          <p:cNvSpPr/>
          <p:nvPr/>
        </p:nvSpPr>
        <p:spPr>
          <a:xfrm>
            <a:off x="9296400" y="2997200"/>
            <a:ext cx="1181608" cy="190500"/>
          </a:xfrm>
          <a:prstGeom prst="roundRect">
            <a:avLst>
              <a:gd name="adj" fmla="val 20000"/>
            </a:avLst>
          </a:prstGeom>
          <a:solidFill>
            <a:srgbClr val="FFFFFF"/>
          </a:solidFill>
          <a:ln w="9525">
            <a:solidFill>
              <a:srgbClr val="AEB6C2"/>
            </a:solidFill>
            <a:prstDash val="solid"/>
          </a:ln>
        </p:spPr>
      </p:sp>
      <p:sp>
        <p:nvSpPr>
          <p:cNvPr id="39" name="b5"/>
          <p:cNvSpPr txBox="1"/>
          <p:nvPr/>
        </p:nvSpPr>
        <p:spPr>
          <a:xfrm>
            <a:off x="9296400" y="2997200"/>
            <a:ext cx="1181608" cy="1905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Mark resolved</a:t>
            </a:r>
            <a:endParaRPr lang="en-US" sz="950" dirty="0"/>
          </a:p>
        </p:txBody>
      </p:sp>
      <p:sp>
        <p:nvSpPr>
          <p:cNvPr id="40" name="b5"/>
          <p:cNvSpPr/>
          <p:nvPr/>
        </p:nvSpPr>
        <p:spPr>
          <a:xfrm>
            <a:off x="9296400" y="3238500"/>
            <a:ext cx="2108200" cy="190500"/>
          </a:xfrm>
          <a:prstGeom prst="roundRect">
            <a:avLst>
              <a:gd name="adj" fmla="val 20000"/>
            </a:avLst>
          </a:prstGeom>
          <a:solidFill>
            <a:srgbClr val="FFFFFF"/>
          </a:solidFill>
          <a:ln w="9525">
            <a:solidFill>
              <a:srgbClr val="AEB6C2"/>
            </a:solidFill>
            <a:prstDash val="solid"/>
          </a:ln>
        </p:spPr>
      </p:sp>
      <p:sp>
        <p:nvSpPr>
          <p:cNvPr id="41" name="b5"/>
          <p:cNvSpPr txBox="1"/>
          <p:nvPr/>
        </p:nvSpPr>
        <p:spPr>
          <a:xfrm>
            <a:off x="9296400" y="3238500"/>
            <a:ext cx="2108200" cy="1905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Mark site visit scheduled</a:t>
            </a:r>
            <a:endParaRPr lang="en-US" sz="950" dirty="0"/>
          </a:p>
        </p:txBody>
      </p:sp>
      <p:sp>
        <p:nvSpPr>
          <p:cNvPr id="42" name="b1"/>
          <p:cNvSpPr/>
          <p:nvPr/>
        </p:nvSpPr>
        <p:spPr>
          <a:xfrm>
            <a:off x="762000" y="3644900"/>
            <a:ext cx="5746750" cy="2565400"/>
          </a:xfrm>
          <a:prstGeom prst="roundRect">
            <a:avLst>
              <a:gd name="adj" fmla="val 1485"/>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43" name="b1"/>
          <p:cNvSpPr txBox="1"/>
          <p:nvPr/>
        </p:nvSpPr>
        <p:spPr>
          <a:xfrm>
            <a:off x="952500" y="3784600"/>
            <a:ext cx="5365750" cy="165100"/>
          </a:xfrm>
          <a:prstGeom prst="rect">
            <a:avLst/>
          </a:prstGeom>
          <a:noFill/>
          <a:ln/>
        </p:spPr>
        <p:txBody>
          <a:bodyPr wrap="square" lIns="0" tIns="0" rIns="0" bIns="0" rtlCol="0" anchor="t"/>
          <a:lstStyle/>
          <a:p>
            <a:pPr algn="l" indent="0" marL="0">
              <a:lnSpc>
                <a:spcPct val="115000"/>
              </a:lnSpc>
              <a:buNone/>
            </a:pPr>
            <a:r>
              <a:rPr lang="en-US" sz="950" b="1" spc="150" kern="0" dirty="0">
                <a:solidFill>
                  <a:srgbClr val="616C7A"/>
                </a:solidFill>
                <a:latin typeface="Arial" pitchFamily="34" charset="0"/>
                <a:ea typeface="Arial" pitchFamily="34" charset="-122"/>
                <a:cs typeface="Arial" pitchFamily="34" charset="-120"/>
              </a:rPr>
              <a:t>DOCUMENTS AND CHECK RESULTS</a:t>
            </a:r>
            <a:endParaRPr lang="en-US" sz="950" dirty="0"/>
          </a:p>
        </p:txBody>
      </p:sp>
      <p:sp>
        <p:nvSpPr>
          <p:cNvPr id="44" name="b1"/>
          <p:cNvSpPr txBox="1"/>
          <p:nvPr/>
        </p:nvSpPr>
        <p:spPr>
          <a:xfrm>
            <a:off x="952500" y="4025900"/>
            <a:ext cx="3556000" cy="190500"/>
          </a:xfrm>
          <a:prstGeom prst="rect">
            <a:avLst/>
          </a:prstGeom>
          <a:noFill/>
          <a:ln/>
        </p:spPr>
        <p:txBody>
          <a:bodyPr wrap="square" lIns="0" tIns="0" rIns="0" bIns="0" rtlCol="0" anchor="t"/>
          <a:lstStyle/>
          <a:p>
            <a:pPr algn="l" indent="0" marL="0">
              <a:lnSpc>
                <a:spcPct val="115000"/>
              </a:lnSpc>
              <a:buNone/>
            </a:pPr>
            <a:r>
              <a:rPr lang="en-US" sz="1250" dirty="0">
                <a:solidFill>
                  <a:srgbClr val="1B2430"/>
                </a:solidFill>
                <a:latin typeface="Arial" pitchFamily="34" charset="0"/>
                <a:ea typeface="Arial" pitchFamily="34" charset="-122"/>
                <a:cs typeface="Arial" pitchFamily="34" charset="-120"/>
              </a:rPr>
              <a:t>Business profile (ACRA)</a:t>
            </a:r>
            <a:endParaRPr lang="en-US" sz="1250" dirty="0"/>
          </a:p>
        </p:txBody>
      </p:sp>
      <p:sp>
        <p:nvSpPr>
          <p:cNvPr id="45" name="b1"/>
          <p:cNvSpPr txBox="1"/>
          <p:nvPr/>
        </p:nvSpPr>
        <p:spPr>
          <a:xfrm>
            <a:off x="952500" y="4229100"/>
            <a:ext cx="3810000" cy="177800"/>
          </a:xfrm>
          <a:prstGeom prst="rect">
            <a:avLst/>
          </a:prstGeom>
          <a:noFill/>
          <a:ln/>
        </p:spPr>
        <p:txBody>
          <a:bodyPr wrap="none" lIns="0" tIns="0" rIns="0" bIns="0" rtlCol="0" anchor="t"/>
          <a:lstStyle/>
          <a:p>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business_profile.pdf</a:t>
            </a:r>
            <a:endParaRPr lang="en-US" sz="1000" dirty="0"/>
          </a:p>
        </p:txBody>
      </p:sp>
      <p:sp>
        <p:nvSpPr>
          <p:cNvPr id="46" name="b1"/>
          <p:cNvSpPr/>
          <p:nvPr/>
        </p:nvSpPr>
        <p:spPr>
          <a:xfrm>
            <a:off x="5369560" y="4064000"/>
            <a:ext cx="948690" cy="228600"/>
          </a:xfrm>
          <a:prstGeom prst="roundRect">
            <a:avLst>
              <a:gd name="adj" fmla="val 16667"/>
            </a:avLst>
          </a:prstGeom>
          <a:solidFill>
            <a:srgbClr val="ECFDF3"/>
          </a:solidFill>
          <a:ln w="9525">
            <a:solidFill>
              <a:srgbClr val="A6E9C4"/>
            </a:solidFill>
            <a:prstDash val="solid"/>
          </a:ln>
        </p:spPr>
      </p:sp>
      <p:sp>
        <p:nvSpPr>
          <p:cNvPr id="47" name="b1"/>
          <p:cNvSpPr/>
          <p:nvPr/>
        </p:nvSpPr>
        <p:spPr>
          <a:xfrm>
            <a:off x="5458460" y="4149725"/>
            <a:ext cx="57150" cy="57150"/>
          </a:xfrm>
          <a:prstGeom prst="ellipse">
            <a:avLst/>
          </a:prstGeom>
          <a:solidFill>
            <a:srgbClr val="067647"/>
          </a:solidFill>
          <a:ln w="12700">
            <a:solidFill>
              <a:srgbClr val="067647"/>
            </a:solidFill>
            <a:prstDash val="solid"/>
          </a:ln>
        </p:spPr>
      </p:sp>
      <p:sp>
        <p:nvSpPr>
          <p:cNvPr id="48" name="b1"/>
          <p:cNvSpPr txBox="1"/>
          <p:nvPr/>
        </p:nvSpPr>
        <p:spPr>
          <a:xfrm>
            <a:off x="5579110" y="4064000"/>
            <a:ext cx="739140" cy="228600"/>
          </a:xfrm>
          <a:prstGeom prst="rect">
            <a:avLst/>
          </a:prstGeom>
          <a:noFill/>
          <a:ln/>
        </p:spPr>
        <p:txBody>
          <a:bodyPr wrap="none" lIns="0" tIns="0" rIns="0" bIns="0" rtlCol="0" anchor="ctr"/>
          <a:lstStyle/>
          <a:p>
            <a:pPr algn="l" indent="0" marL="0">
              <a:lnSpc>
                <a:spcPct val="115000"/>
              </a:lnSpc>
              <a:buNone/>
            </a:pPr>
            <a:r>
              <a:rPr lang="en-US" sz="1000" b="1" dirty="0">
                <a:solidFill>
                  <a:srgbClr val="067647"/>
                </a:solidFill>
                <a:latin typeface="Arial" pitchFamily="34" charset="0"/>
                <a:ea typeface="Arial" pitchFamily="34" charset="-122"/>
                <a:cs typeface="Arial" pitchFamily="34" charset="-120"/>
              </a:rPr>
              <a:t>Verified</a:t>
            </a:r>
            <a:endParaRPr lang="en-US" sz="1000" dirty="0"/>
          </a:p>
        </p:txBody>
      </p:sp>
      <p:sp>
        <p:nvSpPr>
          <p:cNvPr id="49" name="b1"/>
          <p:cNvSpPr/>
          <p:nvPr/>
        </p:nvSpPr>
        <p:spPr>
          <a:xfrm>
            <a:off x="952500" y="4533900"/>
            <a:ext cx="5365750" cy="0"/>
          </a:xfrm>
          <a:prstGeom prst="line">
            <a:avLst/>
          </a:prstGeom>
          <a:noFill/>
          <a:ln w="9525">
            <a:solidFill>
              <a:srgbClr val="DDE1E7"/>
            </a:solidFill>
            <a:prstDash val="solid"/>
          </a:ln>
        </p:spPr>
      </p:sp>
      <p:sp>
        <p:nvSpPr>
          <p:cNvPr id="50" name="b1"/>
          <p:cNvSpPr txBox="1"/>
          <p:nvPr/>
        </p:nvSpPr>
        <p:spPr>
          <a:xfrm>
            <a:off x="952500" y="4572000"/>
            <a:ext cx="3556000" cy="190500"/>
          </a:xfrm>
          <a:prstGeom prst="rect">
            <a:avLst/>
          </a:prstGeom>
          <a:noFill/>
          <a:ln/>
        </p:spPr>
        <p:txBody>
          <a:bodyPr wrap="square" lIns="0" tIns="0" rIns="0" bIns="0" rtlCol="0" anchor="t"/>
          <a:lstStyle/>
          <a:p>
            <a:pPr algn="l" indent="0" marL="0">
              <a:lnSpc>
                <a:spcPct val="115000"/>
              </a:lnSpc>
              <a:buNone/>
            </a:pPr>
            <a:r>
              <a:rPr lang="en-US" sz="1250" dirty="0">
                <a:solidFill>
                  <a:srgbClr val="1B2430"/>
                </a:solidFill>
                <a:latin typeface="Arial" pitchFamily="34" charset="0"/>
                <a:ea typeface="Arial" pitchFamily="34" charset="-122"/>
                <a:cs typeface="Arial" pitchFamily="34" charset="-120"/>
              </a:rPr>
              <a:t>Floor plan</a:t>
            </a:r>
            <a:endParaRPr lang="en-US" sz="1250" dirty="0"/>
          </a:p>
        </p:txBody>
      </p:sp>
      <p:sp>
        <p:nvSpPr>
          <p:cNvPr id="51" name="b1"/>
          <p:cNvSpPr txBox="1"/>
          <p:nvPr/>
        </p:nvSpPr>
        <p:spPr>
          <a:xfrm>
            <a:off x="952500" y="4775200"/>
            <a:ext cx="3810000" cy="177800"/>
          </a:xfrm>
          <a:prstGeom prst="rect">
            <a:avLst/>
          </a:prstGeom>
          <a:noFill/>
          <a:ln/>
        </p:spPr>
        <p:txBody>
          <a:bodyPr wrap="none" lIns="0" tIns="0" rIns="0" bIns="0" rtlCol="0" anchor="t"/>
          <a:lstStyle/>
          <a:p>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floor_plan.pdf</a:t>
            </a:r>
            <a:endParaRPr lang="en-US" sz="1000" dirty="0"/>
          </a:p>
        </p:txBody>
      </p:sp>
      <p:sp>
        <p:nvSpPr>
          <p:cNvPr id="52" name="b1"/>
          <p:cNvSpPr/>
          <p:nvPr/>
        </p:nvSpPr>
        <p:spPr>
          <a:xfrm>
            <a:off x="5369560" y="4610100"/>
            <a:ext cx="948690" cy="228600"/>
          </a:xfrm>
          <a:prstGeom prst="roundRect">
            <a:avLst>
              <a:gd name="adj" fmla="val 16667"/>
            </a:avLst>
          </a:prstGeom>
          <a:solidFill>
            <a:srgbClr val="ECFDF3"/>
          </a:solidFill>
          <a:ln w="9525">
            <a:solidFill>
              <a:srgbClr val="A6E9C4"/>
            </a:solidFill>
            <a:prstDash val="solid"/>
          </a:ln>
        </p:spPr>
      </p:sp>
      <p:sp>
        <p:nvSpPr>
          <p:cNvPr id="53" name="b1"/>
          <p:cNvSpPr/>
          <p:nvPr/>
        </p:nvSpPr>
        <p:spPr>
          <a:xfrm>
            <a:off x="5458460" y="4695825"/>
            <a:ext cx="57150" cy="57150"/>
          </a:xfrm>
          <a:prstGeom prst="ellipse">
            <a:avLst/>
          </a:prstGeom>
          <a:solidFill>
            <a:srgbClr val="067647"/>
          </a:solidFill>
          <a:ln w="12700">
            <a:solidFill>
              <a:srgbClr val="067647"/>
            </a:solidFill>
            <a:prstDash val="solid"/>
          </a:ln>
        </p:spPr>
      </p:sp>
      <p:sp>
        <p:nvSpPr>
          <p:cNvPr id="54" name="b1"/>
          <p:cNvSpPr txBox="1"/>
          <p:nvPr/>
        </p:nvSpPr>
        <p:spPr>
          <a:xfrm>
            <a:off x="5579110" y="4610100"/>
            <a:ext cx="739140" cy="228600"/>
          </a:xfrm>
          <a:prstGeom prst="rect">
            <a:avLst/>
          </a:prstGeom>
          <a:noFill/>
          <a:ln/>
        </p:spPr>
        <p:txBody>
          <a:bodyPr wrap="none" lIns="0" tIns="0" rIns="0" bIns="0" rtlCol="0" anchor="ctr"/>
          <a:lstStyle/>
          <a:p>
            <a:pPr algn="l" indent="0" marL="0">
              <a:lnSpc>
                <a:spcPct val="115000"/>
              </a:lnSpc>
              <a:buNone/>
            </a:pPr>
            <a:r>
              <a:rPr lang="en-US" sz="1000" b="1" dirty="0">
                <a:solidFill>
                  <a:srgbClr val="067647"/>
                </a:solidFill>
                <a:latin typeface="Arial" pitchFamily="34" charset="0"/>
                <a:ea typeface="Arial" pitchFamily="34" charset="-122"/>
                <a:cs typeface="Arial" pitchFamily="34" charset="-120"/>
              </a:rPr>
              <a:t>Verified</a:t>
            </a:r>
            <a:endParaRPr lang="en-US" sz="1000" dirty="0"/>
          </a:p>
        </p:txBody>
      </p:sp>
      <p:sp>
        <p:nvSpPr>
          <p:cNvPr id="55" name="b1"/>
          <p:cNvSpPr/>
          <p:nvPr/>
        </p:nvSpPr>
        <p:spPr>
          <a:xfrm>
            <a:off x="952500" y="5080000"/>
            <a:ext cx="5365750" cy="0"/>
          </a:xfrm>
          <a:prstGeom prst="line">
            <a:avLst/>
          </a:prstGeom>
          <a:noFill/>
          <a:ln w="9525">
            <a:solidFill>
              <a:srgbClr val="DDE1E7"/>
            </a:solidFill>
            <a:prstDash val="solid"/>
          </a:ln>
        </p:spPr>
      </p:sp>
      <p:sp>
        <p:nvSpPr>
          <p:cNvPr id="56" name="b1"/>
          <p:cNvSpPr txBox="1"/>
          <p:nvPr/>
        </p:nvSpPr>
        <p:spPr>
          <a:xfrm>
            <a:off x="952500" y="5118100"/>
            <a:ext cx="3556000" cy="190500"/>
          </a:xfrm>
          <a:prstGeom prst="rect">
            <a:avLst/>
          </a:prstGeom>
          <a:noFill/>
          <a:ln/>
        </p:spPr>
        <p:txBody>
          <a:bodyPr wrap="square" lIns="0" tIns="0" rIns="0" bIns="0" rtlCol="0" anchor="t"/>
          <a:lstStyle/>
          <a:p>
            <a:pPr algn="l" indent="0" marL="0">
              <a:lnSpc>
                <a:spcPct val="115000"/>
              </a:lnSpc>
              <a:buNone/>
            </a:pPr>
            <a:r>
              <a:rPr lang="en-US" sz="1250" dirty="0">
                <a:solidFill>
                  <a:srgbClr val="1B2430"/>
                </a:solidFill>
                <a:latin typeface="Arial" pitchFamily="34" charset="0"/>
                <a:ea typeface="Arial" pitchFamily="34" charset="-122"/>
                <a:cs typeface="Arial" pitchFamily="34" charset="-120"/>
              </a:rPr>
              <a:t>Tenancy agreement</a:t>
            </a:r>
            <a:endParaRPr lang="en-US" sz="1250" dirty="0"/>
          </a:p>
        </p:txBody>
      </p:sp>
      <p:sp>
        <p:nvSpPr>
          <p:cNvPr id="57" name="b1 x4"/>
          <p:cNvSpPr txBox="1"/>
          <p:nvPr/>
        </p:nvSpPr>
        <p:spPr>
          <a:xfrm>
            <a:off x="952500" y="5321300"/>
            <a:ext cx="3810000" cy="177800"/>
          </a:xfrm>
          <a:prstGeom prst="rect">
            <a:avLst/>
          </a:prstGeom>
          <a:noFill/>
          <a:ln/>
        </p:spPr>
        <p:txBody>
          <a:bodyPr wrap="none" lIns="0" tIns="0" rIns="0" bIns="0" rtlCol="0" anchor="t"/>
          <a:lstStyle/>
          <a:p>
            <a:pPr algn="l" indent="0" marL="0">
              <a:lnSpc>
                <a:spcPct val="115000"/>
              </a:lnSpc>
              <a:buNone/>
            </a:pPr>
            <a:r>
              <a:rPr lang="en-US" sz="1000" dirty="0">
                <a:solidFill>
                  <a:srgbClr val="465060"/>
                </a:solidFill>
                <a:latin typeface="Courier New" pitchFamily="34" charset="0"/>
                <a:ea typeface="Courier New" pitchFamily="34" charset="-122"/>
                <a:cs typeface="Courier New" pitchFamily="34" charset="-120"/>
              </a:rPr>
              <a:t>field_mismatch</a:t>
            </a:r>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 · "10 Jalan Besar #01-21" against the form's #01-12</a:t>
            </a:r>
            <a:endParaRPr lang="en-US" sz="1000" dirty="0"/>
          </a:p>
        </p:txBody>
      </p:sp>
      <p:sp>
        <p:nvSpPr>
          <p:cNvPr id="58" name="b4"/>
          <p:cNvSpPr txBox="1"/>
          <p:nvPr/>
        </p:nvSpPr>
        <p:spPr>
          <a:xfrm>
            <a:off x="952500" y="5321300"/>
            <a:ext cx="3810000" cy="177800"/>
          </a:xfrm>
          <a:prstGeom prst="rect">
            <a:avLst/>
          </a:prstGeom>
          <a:noFill/>
          <a:ln/>
        </p:spPr>
        <p:txBody>
          <a:bodyPr wrap="none" lIns="0" tIns="0" rIns="0" bIns="0" rtlCol="0" anchor="t"/>
          <a:lstStyle/>
          <a:p>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Replaced in Revision 2 · tenancy_agreement.pdf</a:t>
            </a:r>
            <a:endParaRPr lang="en-US" sz="1000" dirty="0"/>
          </a:p>
        </p:txBody>
      </p:sp>
      <p:sp>
        <p:nvSpPr>
          <p:cNvPr id="59" name="b1 x4"/>
          <p:cNvSpPr/>
          <p:nvPr/>
        </p:nvSpPr>
        <p:spPr>
          <a:xfrm>
            <a:off x="5044440" y="5156200"/>
            <a:ext cx="1273810" cy="228600"/>
          </a:xfrm>
          <a:prstGeom prst="roundRect">
            <a:avLst>
              <a:gd name="adj" fmla="val 16667"/>
            </a:avLst>
          </a:prstGeom>
          <a:solidFill>
            <a:srgbClr val="FFF6E5"/>
          </a:solidFill>
          <a:ln w="9525">
            <a:solidFill>
              <a:srgbClr val="F5CF86"/>
            </a:solidFill>
            <a:prstDash val="solid"/>
          </a:ln>
        </p:spPr>
      </p:sp>
      <p:sp>
        <p:nvSpPr>
          <p:cNvPr id="60" name="b1 x4"/>
          <p:cNvSpPr/>
          <p:nvPr/>
        </p:nvSpPr>
        <p:spPr>
          <a:xfrm>
            <a:off x="5133340" y="5241925"/>
            <a:ext cx="57150" cy="57150"/>
          </a:xfrm>
          <a:prstGeom prst="ellipse">
            <a:avLst/>
          </a:prstGeom>
          <a:solidFill>
            <a:srgbClr val="9A4A00"/>
          </a:solidFill>
          <a:ln w="12700">
            <a:solidFill>
              <a:srgbClr val="9A4A00"/>
            </a:solidFill>
            <a:prstDash val="solid"/>
          </a:ln>
        </p:spPr>
      </p:sp>
      <p:sp>
        <p:nvSpPr>
          <p:cNvPr id="61" name="b1 x4"/>
          <p:cNvSpPr txBox="1"/>
          <p:nvPr/>
        </p:nvSpPr>
        <p:spPr>
          <a:xfrm>
            <a:off x="5253990" y="5156200"/>
            <a:ext cx="1064260" cy="228600"/>
          </a:xfrm>
          <a:prstGeom prst="rect">
            <a:avLst/>
          </a:prstGeom>
          <a:noFill/>
          <a:ln/>
        </p:spPr>
        <p:txBody>
          <a:bodyPr wrap="none" lIns="0" tIns="0" rIns="0" bIns="0" rtlCol="0" anchor="ctr"/>
          <a:lstStyle/>
          <a:p>
            <a:pPr algn="l" indent="0" marL="0">
              <a:lnSpc>
                <a:spcPct val="115000"/>
              </a:lnSpc>
              <a:buNone/>
            </a:pPr>
            <a:r>
              <a:rPr lang="en-US" sz="1000" b="1" dirty="0">
                <a:solidFill>
                  <a:srgbClr val="9A4A00"/>
                </a:solidFill>
                <a:latin typeface="Arial" pitchFamily="34" charset="0"/>
                <a:ea typeface="Arial" pitchFamily="34" charset="-122"/>
                <a:cs typeface="Arial" pitchFamily="34" charset="-120"/>
              </a:rPr>
              <a:t>Issues found</a:t>
            </a:r>
            <a:endParaRPr lang="en-US" sz="1000" dirty="0"/>
          </a:p>
        </p:txBody>
      </p:sp>
      <p:sp>
        <p:nvSpPr>
          <p:cNvPr id="62" name="b4"/>
          <p:cNvSpPr/>
          <p:nvPr/>
        </p:nvSpPr>
        <p:spPr>
          <a:xfrm>
            <a:off x="5369560" y="5156200"/>
            <a:ext cx="948690" cy="228600"/>
          </a:xfrm>
          <a:prstGeom prst="roundRect">
            <a:avLst>
              <a:gd name="adj" fmla="val 16667"/>
            </a:avLst>
          </a:prstGeom>
          <a:solidFill>
            <a:srgbClr val="ECFDF3"/>
          </a:solidFill>
          <a:ln w="9525">
            <a:solidFill>
              <a:srgbClr val="A6E9C4"/>
            </a:solidFill>
            <a:prstDash val="solid"/>
          </a:ln>
        </p:spPr>
      </p:sp>
      <p:sp>
        <p:nvSpPr>
          <p:cNvPr id="63" name="b4"/>
          <p:cNvSpPr/>
          <p:nvPr/>
        </p:nvSpPr>
        <p:spPr>
          <a:xfrm>
            <a:off x="5458460" y="5241925"/>
            <a:ext cx="57150" cy="57150"/>
          </a:xfrm>
          <a:prstGeom prst="ellipse">
            <a:avLst/>
          </a:prstGeom>
          <a:solidFill>
            <a:srgbClr val="067647"/>
          </a:solidFill>
          <a:ln w="12700">
            <a:solidFill>
              <a:srgbClr val="067647"/>
            </a:solidFill>
            <a:prstDash val="solid"/>
          </a:ln>
        </p:spPr>
      </p:sp>
      <p:sp>
        <p:nvSpPr>
          <p:cNvPr id="64" name="b4"/>
          <p:cNvSpPr txBox="1"/>
          <p:nvPr/>
        </p:nvSpPr>
        <p:spPr>
          <a:xfrm>
            <a:off x="5579110" y="5156200"/>
            <a:ext cx="739140" cy="228600"/>
          </a:xfrm>
          <a:prstGeom prst="rect">
            <a:avLst/>
          </a:prstGeom>
          <a:noFill/>
          <a:ln/>
        </p:spPr>
        <p:txBody>
          <a:bodyPr wrap="none" lIns="0" tIns="0" rIns="0" bIns="0" rtlCol="0" anchor="ctr"/>
          <a:lstStyle/>
          <a:p>
            <a:pPr algn="l" indent="0" marL="0">
              <a:lnSpc>
                <a:spcPct val="115000"/>
              </a:lnSpc>
              <a:buNone/>
            </a:pPr>
            <a:r>
              <a:rPr lang="en-US" sz="1000" b="1" dirty="0">
                <a:solidFill>
                  <a:srgbClr val="067647"/>
                </a:solidFill>
                <a:latin typeface="Arial" pitchFamily="34" charset="0"/>
                <a:ea typeface="Arial" pitchFamily="34" charset="-122"/>
                <a:cs typeface="Arial" pitchFamily="34" charset="-120"/>
              </a:rPr>
              <a:t>Verified</a:t>
            </a:r>
            <a:endParaRPr lang="en-US" sz="1000" dirty="0"/>
          </a:p>
        </p:txBody>
      </p:sp>
      <p:sp>
        <p:nvSpPr>
          <p:cNvPr id="65" name="b1"/>
          <p:cNvSpPr/>
          <p:nvPr/>
        </p:nvSpPr>
        <p:spPr>
          <a:xfrm>
            <a:off x="952500" y="5626100"/>
            <a:ext cx="5365750" cy="0"/>
          </a:xfrm>
          <a:prstGeom prst="line">
            <a:avLst/>
          </a:prstGeom>
          <a:noFill/>
          <a:ln w="9525">
            <a:solidFill>
              <a:srgbClr val="DDE1E7"/>
            </a:solidFill>
            <a:prstDash val="solid"/>
          </a:ln>
        </p:spPr>
      </p:sp>
      <p:sp>
        <p:nvSpPr>
          <p:cNvPr id="66" name="b1"/>
          <p:cNvSpPr txBox="1"/>
          <p:nvPr/>
        </p:nvSpPr>
        <p:spPr>
          <a:xfrm>
            <a:off x="952500" y="5664200"/>
            <a:ext cx="3556000" cy="190500"/>
          </a:xfrm>
          <a:prstGeom prst="rect">
            <a:avLst/>
          </a:prstGeom>
          <a:noFill/>
          <a:ln/>
        </p:spPr>
        <p:txBody>
          <a:bodyPr wrap="square" lIns="0" tIns="0" rIns="0" bIns="0" rtlCol="0" anchor="t"/>
          <a:lstStyle/>
          <a:p>
            <a:pPr algn="l" indent="0" marL="0">
              <a:lnSpc>
                <a:spcPct val="115000"/>
              </a:lnSpc>
              <a:buNone/>
            </a:pPr>
            <a:r>
              <a:rPr lang="en-US" sz="1250" dirty="0">
                <a:solidFill>
                  <a:srgbClr val="1B2430"/>
                </a:solidFill>
                <a:latin typeface="Arial" pitchFamily="34" charset="0"/>
                <a:ea typeface="Arial" pitchFamily="34" charset="-122"/>
                <a:cs typeface="Arial" pitchFamily="34" charset="-120"/>
              </a:rPr>
              <a:t>Food hygiene certificate</a:t>
            </a:r>
            <a:endParaRPr lang="en-US" sz="1250" dirty="0"/>
          </a:p>
        </p:txBody>
      </p:sp>
      <p:sp>
        <p:nvSpPr>
          <p:cNvPr id="67" name="b1 x4"/>
          <p:cNvSpPr txBox="1"/>
          <p:nvPr/>
        </p:nvSpPr>
        <p:spPr>
          <a:xfrm>
            <a:off x="952500" y="5867400"/>
            <a:ext cx="3810000" cy="177800"/>
          </a:xfrm>
          <a:prstGeom prst="rect">
            <a:avLst/>
          </a:prstGeom>
          <a:noFill/>
          <a:ln/>
        </p:spPr>
        <p:txBody>
          <a:bodyPr wrap="none" lIns="0" tIns="0" rIns="0" bIns="0" rtlCol="0" anchor="t"/>
          <a:lstStyle/>
          <a:p>
            <a:pPr algn="l" indent="0" marL="0">
              <a:lnSpc>
                <a:spcPct val="115000"/>
              </a:lnSpc>
              <a:buNone/>
            </a:pPr>
            <a:r>
              <a:rPr lang="en-US" sz="1000" dirty="0">
                <a:solidFill>
                  <a:srgbClr val="465060"/>
                </a:solidFill>
                <a:latin typeface="Courier New" pitchFamily="34" charset="0"/>
                <a:ea typeface="Courier New" pitchFamily="34" charset="-122"/>
                <a:cs typeface="Courier New" pitchFamily="34" charset="-120"/>
              </a:rPr>
              <a:t>expired_document</a:t>
            </a:r>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 · valid until 3 January 2025</a:t>
            </a:r>
            <a:endParaRPr lang="en-US" sz="1000" dirty="0"/>
          </a:p>
        </p:txBody>
      </p:sp>
      <p:sp>
        <p:nvSpPr>
          <p:cNvPr id="68" name="b4"/>
          <p:cNvSpPr txBox="1"/>
          <p:nvPr/>
        </p:nvSpPr>
        <p:spPr>
          <a:xfrm>
            <a:off x="952500" y="5867400"/>
            <a:ext cx="3810000" cy="177800"/>
          </a:xfrm>
          <a:prstGeom prst="rect">
            <a:avLst/>
          </a:prstGeom>
          <a:noFill/>
          <a:ln/>
        </p:spPr>
        <p:txBody>
          <a:bodyPr wrap="none" lIns="0" tIns="0" rIns="0" bIns="0" rtlCol="0" anchor="t"/>
          <a:lstStyle/>
          <a:p>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Replaced in Revision 2 · food_hygiene_certificate.pdf</a:t>
            </a:r>
            <a:endParaRPr lang="en-US" sz="1000" dirty="0"/>
          </a:p>
        </p:txBody>
      </p:sp>
      <p:sp>
        <p:nvSpPr>
          <p:cNvPr id="69" name="b1 x4"/>
          <p:cNvSpPr/>
          <p:nvPr/>
        </p:nvSpPr>
        <p:spPr>
          <a:xfrm>
            <a:off x="5044440" y="5702300"/>
            <a:ext cx="1273810" cy="228600"/>
          </a:xfrm>
          <a:prstGeom prst="roundRect">
            <a:avLst>
              <a:gd name="adj" fmla="val 16667"/>
            </a:avLst>
          </a:prstGeom>
          <a:solidFill>
            <a:srgbClr val="FFF6E5"/>
          </a:solidFill>
          <a:ln w="9525">
            <a:solidFill>
              <a:srgbClr val="F5CF86"/>
            </a:solidFill>
            <a:prstDash val="solid"/>
          </a:ln>
        </p:spPr>
      </p:sp>
      <p:sp>
        <p:nvSpPr>
          <p:cNvPr id="70" name="b1 x4"/>
          <p:cNvSpPr/>
          <p:nvPr/>
        </p:nvSpPr>
        <p:spPr>
          <a:xfrm>
            <a:off x="5133340" y="5788025"/>
            <a:ext cx="57150" cy="57150"/>
          </a:xfrm>
          <a:prstGeom prst="ellipse">
            <a:avLst/>
          </a:prstGeom>
          <a:solidFill>
            <a:srgbClr val="9A4A00"/>
          </a:solidFill>
          <a:ln w="12700">
            <a:solidFill>
              <a:srgbClr val="9A4A00"/>
            </a:solidFill>
            <a:prstDash val="solid"/>
          </a:ln>
        </p:spPr>
      </p:sp>
      <p:sp>
        <p:nvSpPr>
          <p:cNvPr id="71" name="b1 x4"/>
          <p:cNvSpPr txBox="1"/>
          <p:nvPr/>
        </p:nvSpPr>
        <p:spPr>
          <a:xfrm>
            <a:off x="5253990" y="5702300"/>
            <a:ext cx="1064260" cy="228600"/>
          </a:xfrm>
          <a:prstGeom prst="rect">
            <a:avLst/>
          </a:prstGeom>
          <a:noFill/>
          <a:ln/>
        </p:spPr>
        <p:txBody>
          <a:bodyPr wrap="none" lIns="0" tIns="0" rIns="0" bIns="0" rtlCol="0" anchor="ctr"/>
          <a:lstStyle/>
          <a:p>
            <a:pPr algn="l" indent="0" marL="0">
              <a:lnSpc>
                <a:spcPct val="115000"/>
              </a:lnSpc>
              <a:buNone/>
            </a:pPr>
            <a:r>
              <a:rPr lang="en-US" sz="1000" b="1" dirty="0">
                <a:solidFill>
                  <a:srgbClr val="9A4A00"/>
                </a:solidFill>
                <a:latin typeface="Arial" pitchFamily="34" charset="0"/>
                <a:ea typeface="Arial" pitchFamily="34" charset="-122"/>
                <a:cs typeface="Arial" pitchFamily="34" charset="-120"/>
              </a:rPr>
              <a:t>Issues found</a:t>
            </a:r>
            <a:endParaRPr lang="en-US" sz="1000" dirty="0"/>
          </a:p>
        </p:txBody>
      </p:sp>
      <p:sp>
        <p:nvSpPr>
          <p:cNvPr id="72" name="b4"/>
          <p:cNvSpPr/>
          <p:nvPr/>
        </p:nvSpPr>
        <p:spPr>
          <a:xfrm>
            <a:off x="5369560" y="5702300"/>
            <a:ext cx="948690" cy="228600"/>
          </a:xfrm>
          <a:prstGeom prst="roundRect">
            <a:avLst>
              <a:gd name="adj" fmla="val 16667"/>
            </a:avLst>
          </a:prstGeom>
          <a:solidFill>
            <a:srgbClr val="ECFDF3"/>
          </a:solidFill>
          <a:ln w="9525">
            <a:solidFill>
              <a:srgbClr val="A6E9C4"/>
            </a:solidFill>
            <a:prstDash val="solid"/>
          </a:ln>
        </p:spPr>
      </p:sp>
      <p:sp>
        <p:nvSpPr>
          <p:cNvPr id="73" name="b4"/>
          <p:cNvSpPr/>
          <p:nvPr/>
        </p:nvSpPr>
        <p:spPr>
          <a:xfrm>
            <a:off x="5458460" y="5788025"/>
            <a:ext cx="57150" cy="57150"/>
          </a:xfrm>
          <a:prstGeom prst="ellipse">
            <a:avLst/>
          </a:prstGeom>
          <a:solidFill>
            <a:srgbClr val="067647"/>
          </a:solidFill>
          <a:ln w="12700">
            <a:solidFill>
              <a:srgbClr val="067647"/>
            </a:solidFill>
            <a:prstDash val="solid"/>
          </a:ln>
        </p:spPr>
      </p:sp>
      <p:sp>
        <p:nvSpPr>
          <p:cNvPr id="74" name="b4"/>
          <p:cNvSpPr txBox="1"/>
          <p:nvPr/>
        </p:nvSpPr>
        <p:spPr>
          <a:xfrm>
            <a:off x="5579110" y="5702300"/>
            <a:ext cx="739140" cy="228600"/>
          </a:xfrm>
          <a:prstGeom prst="rect">
            <a:avLst/>
          </a:prstGeom>
          <a:noFill/>
          <a:ln/>
        </p:spPr>
        <p:txBody>
          <a:bodyPr wrap="none" lIns="0" tIns="0" rIns="0" bIns="0" rtlCol="0" anchor="ctr"/>
          <a:lstStyle/>
          <a:p>
            <a:pPr algn="l" indent="0" marL="0">
              <a:lnSpc>
                <a:spcPct val="115000"/>
              </a:lnSpc>
              <a:buNone/>
            </a:pPr>
            <a:r>
              <a:rPr lang="en-US" sz="1000" b="1" dirty="0">
                <a:solidFill>
                  <a:srgbClr val="067647"/>
                </a:solidFill>
                <a:latin typeface="Arial" pitchFamily="34" charset="0"/>
                <a:ea typeface="Arial" pitchFamily="34" charset="-122"/>
                <a:cs typeface="Arial" pitchFamily="34" charset="-120"/>
              </a:rPr>
              <a:t>Verified</a:t>
            </a:r>
            <a:endParaRPr lang="en-US" sz="1000" dirty="0"/>
          </a:p>
        </p:txBody>
      </p:sp>
      <p:sp>
        <p:nvSpPr>
          <p:cNvPr id="75" name="b2"/>
          <p:cNvSpPr/>
          <p:nvPr/>
        </p:nvSpPr>
        <p:spPr>
          <a:xfrm>
            <a:off x="6686550" y="3644900"/>
            <a:ext cx="4743450" cy="2565400"/>
          </a:xfrm>
          <a:prstGeom prst="roundRect">
            <a:avLst>
              <a:gd name="adj" fmla="val 1485"/>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76" name="b2"/>
          <p:cNvSpPr txBox="1"/>
          <p:nvPr/>
        </p:nvSpPr>
        <p:spPr>
          <a:xfrm>
            <a:off x="6877050" y="3784600"/>
            <a:ext cx="4362450" cy="165100"/>
          </a:xfrm>
          <a:prstGeom prst="rect">
            <a:avLst/>
          </a:prstGeom>
          <a:noFill/>
          <a:ln/>
        </p:spPr>
        <p:txBody>
          <a:bodyPr wrap="square" lIns="0" tIns="0" rIns="0" bIns="0" rtlCol="0" anchor="t"/>
          <a:lstStyle/>
          <a:p>
            <a:pPr algn="l" indent="0" marL="0">
              <a:lnSpc>
                <a:spcPct val="115000"/>
              </a:lnSpc>
              <a:buNone/>
            </a:pPr>
            <a:r>
              <a:rPr lang="en-US" sz="950" b="1" spc="150" kern="0" dirty="0">
                <a:solidFill>
                  <a:srgbClr val="616C7A"/>
                </a:solidFill>
                <a:latin typeface="Arial" pitchFamily="34" charset="0"/>
                <a:ea typeface="Arial" pitchFamily="34" charset="-122"/>
                <a:cs typeface="Arial" pitchFamily="34" charset="-120"/>
              </a:rPr>
              <a:t>FEEDBACK RAISED AGAINST REVISION 1</a:t>
            </a:r>
            <a:endParaRPr lang="en-US" sz="950" dirty="0"/>
          </a:p>
        </p:txBody>
      </p:sp>
      <p:sp>
        <p:nvSpPr>
          <p:cNvPr id="77" name="b2"/>
          <p:cNvSpPr txBox="1"/>
          <p:nvPr/>
        </p:nvSpPr>
        <p:spPr>
          <a:xfrm>
            <a:off x="6877050" y="4025900"/>
            <a:ext cx="2794000" cy="190500"/>
          </a:xfrm>
          <a:prstGeom prst="rect">
            <a:avLst/>
          </a:prstGeom>
          <a:noFill/>
          <a:ln/>
        </p:spPr>
        <p:txBody>
          <a:bodyPr wrap="square" lIns="0" tIns="0" rIns="0" bIns="0" rtlCol="0" anchor="t"/>
          <a:lstStyle/>
          <a:p>
            <a:pPr algn="l" indent="0" marL="0">
              <a:lnSpc>
                <a:spcPct val="115000"/>
              </a:lnSpc>
              <a:buNone/>
            </a:pPr>
            <a:r>
              <a:rPr lang="en-US" sz="1250" dirty="0">
                <a:solidFill>
                  <a:srgbClr val="1B2430"/>
                </a:solidFill>
                <a:latin typeface="Arial" pitchFamily="34" charset="0"/>
                <a:ea typeface="Arial" pitchFamily="34" charset="-122"/>
                <a:cs typeface="Arial" pitchFamily="34" charset="-120"/>
              </a:rPr>
              <a:t>Food hygiene certificate</a:t>
            </a:r>
            <a:endParaRPr lang="en-US" sz="1250" dirty="0"/>
          </a:p>
        </p:txBody>
      </p:sp>
      <p:sp>
        <p:nvSpPr>
          <p:cNvPr id="78" name="b2"/>
          <p:cNvSpPr txBox="1"/>
          <p:nvPr/>
        </p:nvSpPr>
        <p:spPr>
          <a:xfrm>
            <a:off x="6877050" y="4216400"/>
            <a:ext cx="3048000" cy="304800"/>
          </a:xfrm>
          <a:prstGeom prst="rect">
            <a:avLst/>
          </a:prstGeom>
          <a:noFill/>
          <a:ln/>
        </p:spPr>
        <p:txBody>
          <a:bodyPr wrap="square" lIns="0" tIns="0" rIns="0" bIns="0" rtlCol="0" anchor="t"/>
          <a:lstStyle/>
          <a:p>
            <a:pPr algn="l" indent="0" marL="0">
              <a:lnSpc>
                <a:spcPct val="112000"/>
              </a:lnSpc>
              <a:buNone/>
            </a:pPr>
            <a:r>
              <a:rPr lang="en-US" sz="950" dirty="0">
                <a:solidFill>
                  <a:srgbClr val="465060"/>
                </a:solidFill>
                <a:latin typeface="Arial" pitchFamily="34" charset="0"/>
                <a:ea typeface="Arial" pitchFamily="34" charset="-122"/>
                <a:cs typeface="Arial" pitchFamily="34" charset="-120"/>
              </a:rPr>
              <a:t>Template: Food hygiene certificate has expired</a:t>
            </a:r>
            <a:endParaRPr lang="en-US" sz="950" dirty="0"/>
          </a:p>
        </p:txBody>
      </p:sp>
      <p:sp>
        <p:nvSpPr>
          <p:cNvPr id="79" name="b2 x4"/>
          <p:cNvSpPr/>
          <p:nvPr/>
        </p:nvSpPr>
        <p:spPr>
          <a:xfrm>
            <a:off x="10615930" y="4051300"/>
            <a:ext cx="623570" cy="228600"/>
          </a:xfrm>
          <a:prstGeom prst="roundRect">
            <a:avLst>
              <a:gd name="adj" fmla="val 16667"/>
            </a:avLst>
          </a:prstGeom>
          <a:solidFill>
            <a:srgbClr val="FFF6E5"/>
          </a:solidFill>
          <a:ln w="9525">
            <a:solidFill>
              <a:srgbClr val="F5CF86"/>
            </a:solidFill>
            <a:prstDash val="solid"/>
          </a:ln>
        </p:spPr>
      </p:sp>
      <p:sp>
        <p:nvSpPr>
          <p:cNvPr id="80" name="b2 x4"/>
          <p:cNvSpPr/>
          <p:nvPr/>
        </p:nvSpPr>
        <p:spPr>
          <a:xfrm>
            <a:off x="10704830" y="4137025"/>
            <a:ext cx="57150" cy="57150"/>
          </a:xfrm>
          <a:prstGeom prst="ellipse">
            <a:avLst/>
          </a:prstGeom>
          <a:solidFill>
            <a:srgbClr val="9A4A00"/>
          </a:solidFill>
          <a:ln w="12700">
            <a:solidFill>
              <a:srgbClr val="9A4A00"/>
            </a:solidFill>
            <a:prstDash val="solid"/>
          </a:ln>
        </p:spPr>
      </p:sp>
      <p:sp>
        <p:nvSpPr>
          <p:cNvPr id="81" name="b2 x4"/>
          <p:cNvSpPr txBox="1"/>
          <p:nvPr/>
        </p:nvSpPr>
        <p:spPr>
          <a:xfrm>
            <a:off x="10825480" y="4051300"/>
            <a:ext cx="414020" cy="228600"/>
          </a:xfrm>
          <a:prstGeom prst="rect">
            <a:avLst/>
          </a:prstGeom>
          <a:noFill/>
          <a:ln/>
        </p:spPr>
        <p:txBody>
          <a:bodyPr wrap="none" lIns="0" tIns="0" rIns="0" bIns="0" rtlCol="0" anchor="ctr"/>
          <a:lstStyle/>
          <a:p>
            <a:pPr algn="l" indent="0" marL="0">
              <a:lnSpc>
                <a:spcPct val="115000"/>
              </a:lnSpc>
              <a:buNone/>
            </a:pPr>
            <a:r>
              <a:rPr lang="en-US" sz="1000" b="1" dirty="0">
                <a:solidFill>
                  <a:srgbClr val="9A4A00"/>
                </a:solidFill>
                <a:latin typeface="Arial" pitchFamily="34" charset="0"/>
                <a:ea typeface="Arial" pitchFamily="34" charset="-122"/>
                <a:cs typeface="Arial" pitchFamily="34" charset="-120"/>
              </a:rPr>
              <a:t>Open</a:t>
            </a:r>
            <a:endParaRPr lang="en-US" sz="1000" dirty="0"/>
          </a:p>
        </p:txBody>
      </p:sp>
      <p:sp>
        <p:nvSpPr>
          <p:cNvPr id="82" name="b4 x5"/>
          <p:cNvSpPr/>
          <p:nvPr/>
        </p:nvSpPr>
        <p:spPr>
          <a:xfrm>
            <a:off x="9071610" y="4051300"/>
            <a:ext cx="2167890" cy="228600"/>
          </a:xfrm>
          <a:prstGeom prst="roundRect">
            <a:avLst>
              <a:gd name="adj" fmla="val 16667"/>
            </a:avLst>
          </a:prstGeom>
          <a:solidFill>
            <a:srgbClr val="EEF4FF"/>
          </a:solidFill>
          <a:ln w="9525">
            <a:solidFill>
              <a:srgbClr val="B2CCFA"/>
            </a:solidFill>
            <a:prstDash val="solid"/>
          </a:ln>
        </p:spPr>
      </p:sp>
      <p:sp>
        <p:nvSpPr>
          <p:cNvPr id="83" name="b4 x5"/>
          <p:cNvSpPr/>
          <p:nvPr/>
        </p:nvSpPr>
        <p:spPr>
          <a:xfrm>
            <a:off x="9160510" y="4137025"/>
            <a:ext cx="57150" cy="57150"/>
          </a:xfrm>
          <a:prstGeom prst="ellipse">
            <a:avLst/>
          </a:prstGeom>
          <a:solidFill>
            <a:srgbClr val="175CD3"/>
          </a:solidFill>
          <a:ln w="12700">
            <a:solidFill>
              <a:srgbClr val="175CD3"/>
            </a:solidFill>
            <a:prstDash val="solid"/>
          </a:ln>
        </p:spPr>
      </p:sp>
      <p:sp>
        <p:nvSpPr>
          <p:cNvPr id="84" name="b4 x5"/>
          <p:cNvSpPr txBox="1"/>
          <p:nvPr/>
        </p:nvSpPr>
        <p:spPr>
          <a:xfrm>
            <a:off x="9281160" y="4051300"/>
            <a:ext cx="1958340" cy="228600"/>
          </a:xfrm>
          <a:prstGeom prst="rect">
            <a:avLst/>
          </a:prstGeom>
          <a:noFill/>
          <a:ln/>
        </p:spPr>
        <p:txBody>
          <a:bodyPr wrap="none" lIns="0" tIns="0" rIns="0" bIns="0" rtlCol="0" anchor="ctr"/>
          <a:lstStyle/>
          <a:p>
            <a:pPr algn="l" indent="0" marL="0">
              <a:lnSpc>
                <a:spcPct val="115000"/>
              </a:lnSpc>
              <a:buNone/>
            </a:pPr>
            <a:r>
              <a:rPr lang="en-US" sz="1000" b="1" dirty="0">
                <a:solidFill>
                  <a:srgbClr val="175CD3"/>
                </a:solidFill>
                <a:latin typeface="Arial" pitchFamily="34" charset="0"/>
                <a:ea typeface="Arial" pitchFamily="34" charset="-122"/>
                <a:cs typeface="Arial" pitchFamily="34" charset="-120"/>
              </a:rPr>
              <a:t>Addressed in Revision 2</a:t>
            </a:r>
            <a:endParaRPr lang="en-US" sz="1000" dirty="0"/>
          </a:p>
        </p:txBody>
      </p:sp>
      <p:sp>
        <p:nvSpPr>
          <p:cNvPr id="85" name="b5"/>
          <p:cNvSpPr/>
          <p:nvPr/>
        </p:nvSpPr>
        <p:spPr>
          <a:xfrm>
            <a:off x="10290810" y="4051300"/>
            <a:ext cx="948690" cy="228600"/>
          </a:xfrm>
          <a:prstGeom prst="roundRect">
            <a:avLst>
              <a:gd name="adj" fmla="val 16667"/>
            </a:avLst>
          </a:prstGeom>
          <a:solidFill>
            <a:srgbClr val="ECFDF3"/>
          </a:solidFill>
          <a:ln w="9525">
            <a:solidFill>
              <a:srgbClr val="A6E9C4"/>
            </a:solidFill>
            <a:prstDash val="solid"/>
          </a:ln>
        </p:spPr>
      </p:sp>
      <p:sp>
        <p:nvSpPr>
          <p:cNvPr id="86" name="b5"/>
          <p:cNvSpPr/>
          <p:nvPr/>
        </p:nvSpPr>
        <p:spPr>
          <a:xfrm>
            <a:off x="10379710" y="4137025"/>
            <a:ext cx="57150" cy="57150"/>
          </a:xfrm>
          <a:prstGeom prst="ellipse">
            <a:avLst/>
          </a:prstGeom>
          <a:solidFill>
            <a:srgbClr val="067647"/>
          </a:solidFill>
          <a:ln w="12700">
            <a:solidFill>
              <a:srgbClr val="067647"/>
            </a:solidFill>
            <a:prstDash val="solid"/>
          </a:ln>
        </p:spPr>
      </p:sp>
      <p:sp>
        <p:nvSpPr>
          <p:cNvPr id="87" name="b5"/>
          <p:cNvSpPr txBox="1"/>
          <p:nvPr/>
        </p:nvSpPr>
        <p:spPr>
          <a:xfrm>
            <a:off x="10500360" y="4051300"/>
            <a:ext cx="739140" cy="228600"/>
          </a:xfrm>
          <a:prstGeom prst="rect">
            <a:avLst/>
          </a:prstGeom>
          <a:noFill/>
          <a:ln/>
        </p:spPr>
        <p:txBody>
          <a:bodyPr wrap="none" lIns="0" tIns="0" rIns="0" bIns="0" rtlCol="0" anchor="ctr"/>
          <a:lstStyle/>
          <a:p>
            <a:pPr algn="l" indent="0" marL="0">
              <a:lnSpc>
                <a:spcPct val="115000"/>
              </a:lnSpc>
              <a:buNone/>
            </a:pPr>
            <a:r>
              <a:rPr lang="en-US" sz="1000" b="1" dirty="0">
                <a:solidFill>
                  <a:srgbClr val="067647"/>
                </a:solidFill>
                <a:latin typeface="Arial" pitchFamily="34" charset="0"/>
                <a:ea typeface="Arial" pitchFamily="34" charset="-122"/>
                <a:cs typeface="Arial" pitchFamily="34" charset="-120"/>
              </a:rPr>
              <a:t>Resolved</a:t>
            </a:r>
            <a:endParaRPr lang="en-US" sz="1000" dirty="0"/>
          </a:p>
        </p:txBody>
      </p:sp>
      <p:sp>
        <p:nvSpPr>
          <p:cNvPr id="88" name="b2"/>
          <p:cNvSpPr/>
          <p:nvPr/>
        </p:nvSpPr>
        <p:spPr>
          <a:xfrm>
            <a:off x="6877050" y="4533900"/>
            <a:ext cx="4362450" cy="0"/>
          </a:xfrm>
          <a:prstGeom prst="line">
            <a:avLst/>
          </a:prstGeom>
          <a:noFill/>
          <a:ln w="9525">
            <a:solidFill>
              <a:srgbClr val="DDE1E7"/>
            </a:solidFill>
            <a:prstDash val="solid"/>
          </a:ln>
        </p:spPr>
      </p:sp>
      <p:sp>
        <p:nvSpPr>
          <p:cNvPr id="89" name="b2"/>
          <p:cNvSpPr txBox="1"/>
          <p:nvPr/>
        </p:nvSpPr>
        <p:spPr>
          <a:xfrm>
            <a:off x="6877050" y="4572000"/>
            <a:ext cx="2794000" cy="190500"/>
          </a:xfrm>
          <a:prstGeom prst="rect">
            <a:avLst/>
          </a:prstGeom>
          <a:noFill/>
          <a:ln/>
        </p:spPr>
        <p:txBody>
          <a:bodyPr wrap="square" lIns="0" tIns="0" rIns="0" bIns="0" rtlCol="0" anchor="t"/>
          <a:lstStyle/>
          <a:p>
            <a:pPr algn="l" indent="0" marL="0">
              <a:lnSpc>
                <a:spcPct val="115000"/>
              </a:lnSpc>
              <a:buNone/>
            </a:pPr>
            <a:r>
              <a:rPr lang="en-US" sz="1250" dirty="0">
                <a:solidFill>
                  <a:srgbClr val="1B2430"/>
                </a:solidFill>
                <a:latin typeface="Arial" pitchFamily="34" charset="0"/>
                <a:ea typeface="Arial" pitchFamily="34" charset="-122"/>
                <a:cs typeface="Arial" pitchFamily="34" charset="-120"/>
              </a:rPr>
              <a:t>Tenancy agreement</a:t>
            </a:r>
            <a:endParaRPr lang="en-US" sz="1250" dirty="0"/>
          </a:p>
        </p:txBody>
      </p:sp>
      <p:sp>
        <p:nvSpPr>
          <p:cNvPr id="90" name="b2"/>
          <p:cNvSpPr txBox="1"/>
          <p:nvPr/>
        </p:nvSpPr>
        <p:spPr>
          <a:xfrm>
            <a:off x="6877050" y="4762500"/>
            <a:ext cx="3048000" cy="304800"/>
          </a:xfrm>
          <a:prstGeom prst="rect">
            <a:avLst/>
          </a:prstGeom>
          <a:noFill/>
          <a:ln/>
        </p:spPr>
        <p:txBody>
          <a:bodyPr wrap="square" lIns="0" tIns="0" rIns="0" bIns="0" rtlCol="0" anchor="t"/>
          <a:lstStyle/>
          <a:p>
            <a:pPr algn="l" indent="0" marL="0">
              <a:lnSpc>
                <a:spcPct val="112000"/>
              </a:lnSpc>
              <a:buNone/>
            </a:pPr>
            <a:r>
              <a:rPr lang="en-US" sz="950" dirty="0">
                <a:solidFill>
                  <a:srgbClr val="465060"/>
                </a:solidFill>
                <a:latin typeface="Arial" pitchFamily="34" charset="0"/>
                <a:ea typeface="Arial" pitchFamily="34" charset="-122"/>
                <a:cs typeface="Arial" pitchFamily="34" charset="-120"/>
              </a:rPr>
              <a:t>The tenancy agreement names unit #01-21, but the application and the business profile give #01-12</a:t>
            </a:r>
            <a:endParaRPr lang="en-US" sz="950" dirty="0"/>
          </a:p>
        </p:txBody>
      </p:sp>
      <p:sp>
        <p:nvSpPr>
          <p:cNvPr id="91" name="b2 x4"/>
          <p:cNvSpPr/>
          <p:nvPr/>
        </p:nvSpPr>
        <p:spPr>
          <a:xfrm>
            <a:off x="10615930" y="4597400"/>
            <a:ext cx="623570" cy="228600"/>
          </a:xfrm>
          <a:prstGeom prst="roundRect">
            <a:avLst>
              <a:gd name="adj" fmla="val 16667"/>
            </a:avLst>
          </a:prstGeom>
          <a:solidFill>
            <a:srgbClr val="FFF6E5"/>
          </a:solidFill>
          <a:ln w="9525">
            <a:solidFill>
              <a:srgbClr val="F5CF86"/>
            </a:solidFill>
            <a:prstDash val="solid"/>
          </a:ln>
        </p:spPr>
      </p:sp>
      <p:sp>
        <p:nvSpPr>
          <p:cNvPr id="92" name="b2 x4"/>
          <p:cNvSpPr/>
          <p:nvPr/>
        </p:nvSpPr>
        <p:spPr>
          <a:xfrm>
            <a:off x="10704830" y="4683125"/>
            <a:ext cx="57150" cy="57150"/>
          </a:xfrm>
          <a:prstGeom prst="ellipse">
            <a:avLst/>
          </a:prstGeom>
          <a:solidFill>
            <a:srgbClr val="9A4A00"/>
          </a:solidFill>
          <a:ln w="12700">
            <a:solidFill>
              <a:srgbClr val="9A4A00"/>
            </a:solidFill>
            <a:prstDash val="solid"/>
          </a:ln>
        </p:spPr>
      </p:sp>
      <p:sp>
        <p:nvSpPr>
          <p:cNvPr id="93" name="b2 x4"/>
          <p:cNvSpPr txBox="1"/>
          <p:nvPr/>
        </p:nvSpPr>
        <p:spPr>
          <a:xfrm>
            <a:off x="10825480" y="4597400"/>
            <a:ext cx="414020" cy="228600"/>
          </a:xfrm>
          <a:prstGeom prst="rect">
            <a:avLst/>
          </a:prstGeom>
          <a:noFill/>
          <a:ln/>
        </p:spPr>
        <p:txBody>
          <a:bodyPr wrap="none" lIns="0" tIns="0" rIns="0" bIns="0" rtlCol="0" anchor="ctr"/>
          <a:lstStyle/>
          <a:p>
            <a:pPr algn="l" indent="0" marL="0">
              <a:lnSpc>
                <a:spcPct val="115000"/>
              </a:lnSpc>
              <a:buNone/>
            </a:pPr>
            <a:r>
              <a:rPr lang="en-US" sz="1000" b="1" dirty="0">
                <a:solidFill>
                  <a:srgbClr val="9A4A00"/>
                </a:solidFill>
                <a:latin typeface="Arial" pitchFamily="34" charset="0"/>
                <a:ea typeface="Arial" pitchFamily="34" charset="-122"/>
                <a:cs typeface="Arial" pitchFamily="34" charset="-120"/>
              </a:rPr>
              <a:t>Open</a:t>
            </a:r>
            <a:endParaRPr lang="en-US" sz="1000" dirty="0"/>
          </a:p>
        </p:txBody>
      </p:sp>
      <p:sp>
        <p:nvSpPr>
          <p:cNvPr id="94" name="b4 x5"/>
          <p:cNvSpPr/>
          <p:nvPr/>
        </p:nvSpPr>
        <p:spPr>
          <a:xfrm>
            <a:off x="9071610" y="4597400"/>
            <a:ext cx="2167890" cy="228600"/>
          </a:xfrm>
          <a:prstGeom prst="roundRect">
            <a:avLst>
              <a:gd name="adj" fmla="val 16667"/>
            </a:avLst>
          </a:prstGeom>
          <a:solidFill>
            <a:srgbClr val="EEF4FF"/>
          </a:solidFill>
          <a:ln w="9525">
            <a:solidFill>
              <a:srgbClr val="B2CCFA"/>
            </a:solidFill>
            <a:prstDash val="solid"/>
          </a:ln>
        </p:spPr>
      </p:sp>
      <p:sp>
        <p:nvSpPr>
          <p:cNvPr id="95" name="b4 x5"/>
          <p:cNvSpPr/>
          <p:nvPr/>
        </p:nvSpPr>
        <p:spPr>
          <a:xfrm>
            <a:off x="9160510" y="4683125"/>
            <a:ext cx="57150" cy="57150"/>
          </a:xfrm>
          <a:prstGeom prst="ellipse">
            <a:avLst/>
          </a:prstGeom>
          <a:solidFill>
            <a:srgbClr val="175CD3"/>
          </a:solidFill>
          <a:ln w="12700">
            <a:solidFill>
              <a:srgbClr val="175CD3"/>
            </a:solidFill>
            <a:prstDash val="solid"/>
          </a:ln>
        </p:spPr>
      </p:sp>
      <p:sp>
        <p:nvSpPr>
          <p:cNvPr id="96" name="b4 x5"/>
          <p:cNvSpPr txBox="1"/>
          <p:nvPr/>
        </p:nvSpPr>
        <p:spPr>
          <a:xfrm>
            <a:off x="9281160" y="4597400"/>
            <a:ext cx="1958340" cy="228600"/>
          </a:xfrm>
          <a:prstGeom prst="rect">
            <a:avLst/>
          </a:prstGeom>
          <a:noFill/>
          <a:ln/>
        </p:spPr>
        <p:txBody>
          <a:bodyPr wrap="none" lIns="0" tIns="0" rIns="0" bIns="0" rtlCol="0" anchor="ctr"/>
          <a:lstStyle/>
          <a:p>
            <a:pPr algn="l" indent="0" marL="0">
              <a:lnSpc>
                <a:spcPct val="115000"/>
              </a:lnSpc>
              <a:buNone/>
            </a:pPr>
            <a:r>
              <a:rPr lang="en-US" sz="1000" b="1" dirty="0">
                <a:solidFill>
                  <a:srgbClr val="175CD3"/>
                </a:solidFill>
                <a:latin typeface="Arial" pitchFamily="34" charset="0"/>
                <a:ea typeface="Arial" pitchFamily="34" charset="-122"/>
                <a:cs typeface="Arial" pitchFamily="34" charset="-120"/>
              </a:rPr>
              <a:t>Addressed in Revision 2</a:t>
            </a:r>
            <a:endParaRPr lang="en-US" sz="1000" dirty="0"/>
          </a:p>
        </p:txBody>
      </p:sp>
      <p:sp>
        <p:nvSpPr>
          <p:cNvPr id="97" name="b5"/>
          <p:cNvSpPr/>
          <p:nvPr/>
        </p:nvSpPr>
        <p:spPr>
          <a:xfrm>
            <a:off x="10290810" y="4597400"/>
            <a:ext cx="948690" cy="228600"/>
          </a:xfrm>
          <a:prstGeom prst="roundRect">
            <a:avLst>
              <a:gd name="adj" fmla="val 16667"/>
            </a:avLst>
          </a:prstGeom>
          <a:solidFill>
            <a:srgbClr val="ECFDF3"/>
          </a:solidFill>
          <a:ln w="9525">
            <a:solidFill>
              <a:srgbClr val="A6E9C4"/>
            </a:solidFill>
            <a:prstDash val="solid"/>
          </a:ln>
        </p:spPr>
      </p:sp>
      <p:sp>
        <p:nvSpPr>
          <p:cNvPr id="98" name="b5"/>
          <p:cNvSpPr/>
          <p:nvPr/>
        </p:nvSpPr>
        <p:spPr>
          <a:xfrm>
            <a:off x="10379710" y="4683125"/>
            <a:ext cx="57150" cy="57150"/>
          </a:xfrm>
          <a:prstGeom prst="ellipse">
            <a:avLst/>
          </a:prstGeom>
          <a:solidFill>
            <a:srgbClr val="067647"/>
          </a:solidFill>
          <a:ln w="12700">
            <a:solidFill>
              <a:srgbClr val="067647"/>
            </a:solidFill>
            <a:prstDash val="solid"/>
          </a:ln>
        </p:spPr>
      </p:sp>
      <p:sp>
        <p:nvSpPr>
          <p:cNvPr id="99" name="b5"/>
          <p:cNvSpPr txBox="1"/>
          <p:nvPr/>
        </p:nvSpPr>
        <p:spPr>
          <a:xfrm>
            <a:off x="10500360" y="4597400"/>
            <a:ext cx="739140" cy="228600"/>
          </a:xfrm>
          <a:prstGeom prst="rect">
            <a:avLst/>
          </a:prstGeom>
          <a:noFill/>
          <a:ln/>
        </p:spPr>
        <p:txBody>
          <a:bodyPr wrap="none" lIns="0" tIns="0" rIns="0" bIns="0" rtlCol="0" anchor="ctr"/>
          <a:lstStyle/>
          <a:p>
            <a:pPr algn="l" indent="0" marL="0">
              <a:lnSpc>
                <a:spcPct val="115000"/>
              </a:lnSpc>
              <a:buNone/>
            </a:pPr>
            <a:r>
              <a:rPr lang="en-US" sz="1000" b="1" dirty="0">
                <a:solidFill>
                  <a:srgbClr val="067647"/>
                </a:solidFill>
                <a:latin typeface="Arial" pitchFamily="34" charset="0"/>
                <a:ea typeface="Arial" pitchFamily="34" charset="-122"/>
                <a:cs typeface="Arial" pitchFamily="34" charset="-120"/>
              </a:rPr>
              <a:t>Resolved</a:t>
            </a:r>
            <a:endParaRPr lang="en-US" sz="1000" dirty="0"/>
          </a:p>
        </p:txBody>
      </p:sp>
      <p:sp>
        <p:nvSpPr>
          <p:cNvPr id="100" name="b4"/>
          <p:cNvSpPr/>
          <p:nvPr/>
        </p:nvSpPr>
        <p:spPr>
          <a:xfrm>
            <a:off x="6877050" y="5080000"/>
            <a:ext cx="4362450" cy="0"/>
          </a:xfrm>
          <a:prstGeom prst="line">
            <a:avLst/>
          </a:prstGeom>
          <a:noFill/>
          <a:ln w="9525">
            <a:solidFill>
              <a:srgbClr val="DDE1E7"/>
            </a:solidFill>
            <a:prstDash val="solid"/>
          </a:ln>
        </p:spPr>
      </p:sp>
      <p:sp>
        <p:nvSpPr>
          <p:cNvPr id="101" name="b4"/>
          <p:cNvSpPr txBox="1"/>
          <p:nvPr/>
        </p:nvSpPr>
        <p:spPr>
          <a:xfrm>
            <a:off x="6877050" y="5118100"/>
            <a:ext cx="2794000" cy="190500"/>
          </a:xfrm>
          <a:prstGeom prst="rect">
            <a:avLst/>
          </a:prstGeom>
          <a:noFill/>
          <a:ln/>
        </p:spPr>
        <p:txBody>
          <a:bodyPr wrap="square" lIns="0" tIns="0" rIns="0" bIns="0" rtlCol="0" anchor="t"/>
          <a:lstStyle/>
          <a:p>
            <a:pPr algn="l" indent="0" marL="0">
              <a:lnSpc>
                <a:spcPct val="115000"/>
              </a:lnSpc>
              <a:buNone/>
            </a:pPr>
            <a:r>
              <a:rPr lang="en-US" sz="1250" dirty="0">
                <a:solidFill>
                  <a:srgbClr val="1B2430"/>
                </a:solidFill>
                <a:latin typeface="Arial" pitchFamily="34" charset="0"/>
                <a:ea typeface="Arial" pitchFamily="34" charset="-122"/>
                <a:cs typeface="Arial" pitchFamily="34" charset="-120"/>
              </a:rPr>
              <a:t>Compare revisions</a:t>
            </a:r>
            <a:endParaRPr lang="en-US" sz="1250" dirty="0"/>
          </a:p>
        </p:txBody>
      </p:sp>
      <p:sp>
        <p:nvSpPr>
          <p:cNvPr id="102" name="b4"/>
          <p:cNvSpPr txBox="1"/>
          <p:nvPr/>
        </p:nvSpPr>
        <p:spPr>
          <a:xfrm>
            <a:off x="6877050" y="5308600"/>
            <a:ext cx="3048000" cy="304800"/>
          </a:xfrm>
          <a:prstGeom prst="rect">
            <a:avLst/>
          </a:prstGeom>
          <a:noFill/>
          <a:ln/>
        </p:spPr>
        <p:txBody>
          <a:bodyPr wrap="square" lIns="0" tIns="0" rIns="0" bIns="0" rtlCol="0" anchor="t"/>
          <a:lstStyle/>
          <a:p>
            <a:pPr algn="l" indent="0" marL="0">
              <a:lnSpc>
                <a:spcPct val="112000"/>
              </a:lnSpc>
              <a:buNone/>
            </a:pPr>
            <a:r>
              <a:rPr lang="en-US" sz="950" dirty="0">
                <a:solidFill>
                  <a:srgbClr val="465060"/>
                </a:solidFill>
                <a:latin typeface="Arial" pitchFamily="34" charset="0"/>
                <a:ea typeface="Arial" pitchFamily="34" charset="-122"/>
                <a:cs typeface="Arial" pitchFamily="34" charset="-120"/>
              </a:rPr>
              <a:t>From Revision 1 to Revision 2</a:t>
            </a:r>
            <a:endParaRPr lang="en-US" sz="950" dirty="0"/>
          </a:p>
        </p:txBody>
      </p:sp>
      <p:sp>
        <p:nvSpPr>
          <p:cNvPr id="103" name="b4"/>
          <p:cNvSpPr txBox="1"/>
          <p:nvPr/>
        </p:nvSpPr>
        <p:spPr>
          <a:xfrm>
            <a:off x="8782050" y="5118100"/>
            <a:ext cx="2457450" cy="381000"/>
          </a:xfrm>
          <a:prstGeom prst="rect">
            <a:avLst/>
          </a:prstGeom>
          <a:noFill/>
          <a:ln/>
        </p:spPr>
        <p:txBody>
          <a:bodyPr wrap="square" lIns="0" tIns="0" rIns="0" bIns="0" rtlCol="0" anchor="ctr"/>
          <a:lstStyle/>
          <a:p>
            <a:pPr algn="r" indent="0" marL="0">
              <a:lnSpc>
                <a:spcPct val="115000"/>
              </a:lnSpc>
              <a:buNone/>
            </a:pPr>
            <a:r>
              <a:rPr lang="en-US" sz="1100" dirty="0">
                <a:solidFill>
                  <a:srgbClr val="465060"/>
                </a:solidFill>
                <a:latin typeface="Arial" pitchFamily="34" charset="0"/>
                <a:ea typeface="Arial" pitchFamily="34" charset="-122"/>
                <a:cs typeface="Arial" pitchFamily="34" charset="-120"/>
              </a:rPr>
              <a:t>0 sections and 2 documents changed</a:t>
            </a:r>
            <a:endParaRPr lang="en-US" sz="1100" dirty="0"/>
          </a:p>
        </p:txBody>
      </p:sp>
      <p:sp>
        <p:nvSpPr>
          <p:cNvPr id="104" name="b2"/>
          <p:cNvSpPr/>
          <p:nvPr/>
        </p:nvSpPr>
        <p:spPr>
          <a:xfrm>
            <a:off x="6877050" y="5626100"/>
            <a:ext cx="4362450" cy="0"/>
          </a:xfrm>
          <a:prstGeom prst="line">
            <a:avLst/>
          </a:prstGeom>
          <a:noFill/>
          <a:ln w="9525">
            <a:solidFill>
              <a:srgbClr val="DDE1E7"/>
            </a:solidFill>
            <a:prstDash val="solid"/>
          </a:ln>
        </p:spPr>
      </p:sp>
      <p:sp>
        <p:nvSpPr>
          <p:cNvPr id="105" name="b2"/>
          <p:cNvSpPr txBox="1"/>
          <p:nvPr/>
        </p:nvSpPr>
        <p:spPr>
          <a:xfrm>
            <a:off x="6877050" y="5664200"/>
            <a:ext cx="2794000" cy="190500"/>
          </a:xfrm>
          <a:prstGeom prst="rect">
            <a:avLst/>
          </a:prstGeom>
          <a:noFill/>
          <a:ln/>
        </p:spPr>
        <p:txBody>
          <a:bodyPr wrap="square" lIns="0" tIns="0" rIns="0" bIns="0" rtlCol="0" anchor="t"/>
          <a:lstStyle/>
          <a:p>
            <a:pPr algn="l" indent="0" marL="0">
              <a:lnSpc>
                <a:spcPct val="115000"/>
              </a:lnSpc>
              <a:buNone/>
            </a:pPr>
            <a:r>
              <a:rPr lang="en-US" sz="1250" dirty="0">
                <a:solidFill>
                  <a:srgbClr val="1B2430"/>
                </a:solidFill>
                <a:latin typeface="Arial" pitchFamily="34" charset="0"/>
                <a:ea typeface="Arial" pitchFamily="34" charset="-122"/>
                <a:cs typeface="Arial" pitchFamily="34" charset="-120"/>
              </a:rPr>
              <a:t>Status</a:t>
            </a:r>
            <a:endParaRPr lang="en-US" sz="1250" dirty="0"/>
          </a:p>
        </p:txBody>
      </p:sp>
      <p:sp>
        <p:nvSpPr>
          <p:cNvPr id="106" name="b2 x4"/>
          <p:cNvSpPr/>
          <p:nvPr/>
        </p:nvSpPr>
        <p:spPr>
          <a:xfrm>
            <a:off x="8583930" y="5689600"/>
            <a:ext cx="2655570" cy="228600"/>
          </a:xfrm>
          <a:prstGeom prst="roundRect">
            <a:avLst>
              <a:gd name="adj" fmla="val 16667"/>
            </a:avLst>
          </a:prstGeom>
          <a:solidFill>
            <a:srgbClr val="FFF6E5"/>
          </a:solidFill>
          <a:ln w="9525">
            <a:solidFill>
              <a:srgbClr val="F5CF86"/>
            </a:solidFill>
            <a:prstDash val="solid"/>
          </a:ln>
        </p:spPr>
      </p:sp>
      <p:sp>
        <p:nvSpPr>
          <p:cNvPr id="107" name="b2 x4"/>
          <p:cNvSpPr/>
          <p:nvPr/>
        </p:nvSpPr>
        <p:spPr>
          <a:xfrm>
            <a:off x="8672830" y="5775325"/>
            <a:ext cx="57150" cy="57150"/>
          </a:xfrm>
          <a:prstGeom prst="ellipse">
            <a:avLst/>
          </a:prstGeom>
          <a:solidFill>
            <a:srgbClr val="9A4A00"/>
          </a:solidFill>
          <a:ln w="12700">
            <a:solidFill>
              <a:srgbClr val="9A4A00"/>
            </a:solidFill>
            <a:prstDash val="solid"/>
          </a:ln>
        </p:spPr>
      </p:sp>
      <p:sp>
        <p:nvSpPr>
          <p:cNvPr id="108" name="b2 x4"/>
          <p:cNvSpPr txBox="1"/>
          <p:nvPr/>
        </p:nvSpPr>
        <p:spPr>
          <a:xfrm>
            <a:off x="8793480" y="5689600"/>
            <a:ext cx="2446020" cy="228600"/>
          </a:xfrm>
          <a:prstGeom prst="rect">
            <a:avLst/>
          </a:prstGeom>
          <a:noFill/>
          <a:ln/>
        </p:spPr>
        <p:txBody>
          <a:bodyPr wrap="none" lIns="0" tIns="0" rIns="0" bIns="0" rtlCol="0" anchor="ctr"/>
          <a:lstStyle/>
          <a:p>
            <a:pPr algn="l" indent="0" marL="0">
              <a:lnSpc>
                <a:spcPct val="115000"/>
              </a:lnSpc>
              <a:buNone/>
            </a:pPr>
            <a:r>
              <a:rPr lang="en-US" sz="1000" b="1" dirty="0">
                <a:solidFill>
                  <a:srgbClr val="9A4A00"/>
                </a:solidFill>
                <a:latin typeface="Arial" pitchFamily="34" charset="0"/>
                <a:ea typeface="Arial" pitchFamily="34" charset="-122"/>
                <a:cs typeface="Arial" pitchFamily="34" charset="-120"/>
              </a:rPr>
              <a:t>Pending Pre-Site Resubmission</a:t>
            </a:r>
            <a:endParaRPr lang="en-US" sz="1000" dirty="0"/>
          </a:p>
        </p:txBody>
      </p:sp>
      <p:sp>
        <p:nvSpPr>
          <p:cNvPr id="109" name="b4 x5"/>
          <p:cNvSpPr/>
          <p:nvPr/>
        </p:nvSpPr>
        <p:spPr>
          <a:xfrm>
            <a:off x="9315450" y="5689600"/>
            <a:ext cx="1924050" cy="228600"/>
          </a:xfrm>
          <a:prstGeom prst="roundRect">
            <a:avLst>
              <a:gd name="adj" fmla="val 16667"/>
            </a:avLst>
          </a:prstGeom>
          <a:solidFill>
            <a:srgbClr val="EEF4FF"/>
          </a:solidFill>
          <a:ln w="9525">
            <a:solidFill>
              <a:srgbClr val="B2CCFA"/>
            </a:solidFill>
            <a:prstDash val="solid"/>
          </a:ln>
        </p:spPr>
      </p:sp>
      <p:sp>
        <p:nvSpPr>
          <p:cNvPr id="110" name="b4 x5"/>
          <p:cNvSpPr/>
          <p:nvPr/>
        </p:nvSpPr>
        <p:spPr>
          <a:xfrm>
            <a:off x="9404350" y="5775325"/>
            <a:ext cx="57150" cy="57150"/>
          </a:xfrm>
          <a:prstGeom prst="ellipse">
            <a:avLst/>
          </a:prstGeom>
          <a:solidFill>
            <a:srgbClr val="175CD3"/>
          </a:solidFill>
          <a:ln w="12700">
            <a:solidFill>
              <a:srgbClr val="175CD3"/>
            </a:solidFill>
            <a:prstDash val="solid"/>
          </a:ln>
        </p:spPr>
      </p:sp>
      <p:sp>
        <p:nvSpPr>
          <p:cNvPr id="111" name="b4 x5"/>
          <p:cNvSpPr txBox="1"/>
          <p:nvPr/>
        </p:nvSpPr>
        <p:spPr>
          <a:xfrm>
            <a:off x="9525000" y="5689600"/>
            <a:ext cx="1714500" cy="228600"/>
          </a:xfrm>
          <a:prstGeom prst="rect">
            <a:avLst/>
          </a:prstGeom>
          <a:noFill/>
          <a:ln/>
        </p:spPr>
        <p:txBody>
          <a:bodyPr wrap="none" lIns="0" tIns="0" rIns="0" bIns="0" rtlCol="0" anchor="ctr"/>
          <a:lstStyle/>
          <a:p>
            <a:pPr algn="l" indent="0" marL="0">
              <a:lnSpc>
                <a:spcPct val="115000"/>
              </a:lnSpc>
              <a:buNone/>
            </a:pPr>
            <a:r>
              <a:rPr lang="en-US" sz="1000" b="1" dirty="0">
                <a:solidFill>
                  <a:srgbClr val="175CD3"/>
                </a:solidFill>
                <a:latin typeface="Arial" pitchFamily="34" charset="0"/>
                <a:ea typeface="Arial" pitchFamily="34" charset="-122"/>
                <a:cs typeface="Arial" pitchFamily="34" charset="-120"/>
              </a:rPr>
              <a:t>Pre-Site Resubmitted</a:t>
            </a:r>
            <a:endParaRPr lang="en-US" sz="1000" dirty="0"/>
          </a:p>
        </p:txBody>
      </p:sp>
      <p:sp>
        <p:nvSpPr>
          <p:cNvPr id="112" name="b5"/>
          <p:cNvSpPr/>
          <p:nvPr/>
        </p:nvSpPr>
        <p:spPr>
          <a:xfrm>
            <a:off x="9315450" y="5689600"/>
            <a:ext cx="1924050" cy="228600"/>
          </a:xfrm>
          <a:prstGeom prst="roundRect">
            <a:avLst>
              <a:gd name="adj" fmla="val 16667"/>
            </a:avLst>
          </a:prstGeom>
          <a:solidFill>
            <a:srgbClr val="EEF4FF"/>
          </a:solidFill>
          <a:ln w="9525">
            <a:solidFill>
              <a:srgbClr val="B2CCFA"/>
            </a:solidFill>
            <a:prstDash val="solid"/>
          </a:ln>
        </p:spPr>
      </p:sp>
      <p:sp>
        <p:nvSpPr>
          <p:cNvPr id="113" name="b5"/>
          <p:cNvSpPr/>
          <p:nvPr/>
        </p:nvSpPr>
        <p:spPr>
          <a:xfrm>
            <a:off x="9404350" y="5775325"/>
            <a:ext cx="57150" cy="57150"/>
          </a:xfrm>
          <a:prstGeom prst="ellipse">
            <a:avLst/>
          </a:prstGeom>
          <a:solidFill>
            <a:srgbClr val="175CD3"/>
          </a:solidFill>
          <a:ln w="12700">
            <a:solidFill>
              <a:srgbClr val="175CD3"/>
            </a:solidFill>
            <a:prstDash val="solid"/>
          </a:ln>
        </p:spPr>
      </p:sp>
      <p:sp>
        <p:nvSpPr>
          <p:cNvPr id="114" name="b5"/>
          <p:cNvSpPr txBox="1"/>
          <p:nvPr/>
        </p:nvSpPr>
        <p:spPr>
          <a:xfrm>
            <a:off x="9525000" y="5689600"/>
            <a:ext cx="1714500" cy="228600"/>
          </a:xfrm>
          <a:prstGeom prst="rect">
            <a:avLst/>
          </a:prstGeom>
          <a:noFill/>
          <a:ln/>
        </p:spPr>
        <p:txBody>
          <a:bodyPr wrap="none" lIns="0" tIns="0" rIns="0" bIns="0" rtlCol="0" anchor="ctr"/>
          <a:lstStyle/>
          <a:p>
            <a:pPr algn="l" indent="0" marL="0">
              <a:lnSpc>
                <a:spcPct val="115000"/>
              </a:lnSpc>
              <a:buNone/>
            </a:pPr>
            <a:r>
              <a:rPr lang="en-US" sz="1000" b="1" dirty="0">
                <a:solidFill>
                  <a:srgbClr val="175CD3"/>
                </a:solidFill>
                <a:latin typeface="Arial" pitchFamily="34" charset="0"/>
                <a:ea typeface="Arial" pitchFamily="34" charset="-122"/>
                <a:cs typeface="Arial" pitchFamily="34" charset="-120"/>
              </a:rPr>
              <a:t>Site Visit Scheduled</a:t>
            </a:r>
            <a:endParaRPr lang="en-US" sz="1000" dirty="0"/>
          </a:p>
        </p:txBody>
      </p:sp>
      <p:sp>
        <p:nvSpPr>
          <p:cNvPr id="115" name="Text 113"/>
          <p:cNvSpPr txBox="1"/>
          <p:nvPr/>
        </p:nvSpPr>
        <p:spPr>
          <a:xfrm>
            <a:off x="762000" y="6299200"/>
            <a:ext cx="8890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Arial" pitchFamily="34" charset="0"/>
                <a:ea typeface="Arial" pitchFamily="34" charset="-122"/>
                <a:cs typeface="Arial" pitchFamily="34" charset="-120"/>
              </a:rPr>
              <a:t>Officer labels shown. Recorded on the development environment, 19 September 2026.</a:t>
            </a:r>
            <a:endParaRPr lang="en-US" sz="1000" dirty="0"/>
          </a:p>
        </p:txBody>
      </p:sp>
      <p:sp>
        <p:nvSpPr>
          <p:cNvPr id="116" name="Text 114"/>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06 / 11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102" fill="hold">
                      <p:stCondLst>
                        <p:cond delay="indefinite"/>
                      </p:stCondLst>
                      <p:childTnLst>
                        <p:par>
                          <p:cTn id="10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32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32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32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2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32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32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32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320"/>
                                        <p:tgtEl>
                                          <p:spTgt spid="1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fade">
                                      <p:cBhvr>
                                        <p:cTn id="29" dur="320"/>
                                        <p:tgtEl>
                                          <p:spTgt spid="4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320"/>
                                        <p:tgtEl>
                                          <p:spTgt spid="4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fade">
                                      <p:cBhvr>
                                        <p:cTn id="35" dur="320"/>
                                        <p:tgtEl>
                                          <p:spTgt spid="4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320"/>
                                        <p:tgtEl>
                                          <p:spTgt spid="4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fade">
                                      <p:cBhvr>
                                        <p:cTn id="41" dur="320"/>
                                        <p:tgtEl>
                                          <p:spTgt spid="4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fade">
                                      <p:cBhvr>
                                        <p:cTn id="44" dur="320"/>
                                        <p:tgtEl>
                                          <p:spTgt spid="4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fade">
                                      <p:cBhvr>
                                        <p:cTn id="47" dur="320"/>
                                        <p:tgtEl>
                                          <p:spTgt spid="4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9"/>
                                        </p:tgtEl>
                                        <p:attrNameLst>
                                          <p:attrName>style.visibility</p:attrName>
                                        </p:attrNameLst>
                                      </p:cBhvr>
                                      <p:to>
                                        <p:strVal val="visible"/>
                                      </p:to>
                                    </p:set>
                                    <p:animEffect transition="in" filter="fade">
                                      <p:cBhvr>
                                        <p:cTn id="50" dur="320"/>
                                        <p:tgtEl>
                                          <p:spTgt spid="4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fade">
                                      <p:cBhvr>
                                        <p:cTn id="53" dur="320"/>
                                        <p:tgtEl>
                                          <p:spTgt spid="5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1"/>
                                        </p:tgtEl>
                                        <p:attrNameLst>
                                          <p:attrName>style.visibility</p:attrName>
                                        </p:attrNameLst>
                                      </p:cBhvr>
                                      <p:to>
                                        <p:strVal val="visible"/>
                                      </p:to>
                                    </p:set>
                                    <p:animEffect transition="in" filter="fade">
                                      <p:cBhvr>
                                        <p:cTn id="56" dur="320"/>
                                        <p:tgtEl>
                                          <p:spTgt spid="5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fade">
                                      <p:cBhvr>
                                        <p:cTn id="59" dur="320"/>
                                        <p:tgtEl>
                                          <p:spTgt spid="5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3"/>
                                        </p:tgtEl>
                                        <p:attrNameLst>
                                          <p:attrName>style.visibility</p:attrName>
                                        </p:attrNameLst>
                                      </p:cBhvr>
                                      <p:to>
                                        <p:strVal val="visible"/>
                                      </p:to>
                                    </p:set>
                                    <p:animEffect transition="in" filter="fade">
                                      <p:cBhvr>
                                        <p:cTn id="62" dur="320"/>
                                        <p:tgtEl>
                                          <p:spTgt spid="5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54"/>
                                        </p:tgtEl>
                                        <p:attrNameLst>
                                          <p:attrName>style.visibility</p:attrName>
                                        </p:attrNameLst>
                                      </p:cBhvr>
                                      <p:to>
                                        <p:strVal val="visible"/>
                                      </p:to>
                                    </p:set>
                                    <p:animEffect transition="in" filter="fade">
                                      <p:cBhvr>
                                        <p:cTn id="65" dur="320"/>
                                        <p:tgtEl>
                                          <p:spTgt spid="5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55"/>
                                        </p:tgtEl>
                                        <p:attrNameLst>
                                          <p:attrName>style.visibility</p:attrName>
                                        </p:attrNameLst>
                                      </p:cBhvr>
                                      <p:to>
                                        <p:strVal val="visible"/>
                                      </p:to>
                                    </p:set>
                                    <p:animEffect transition="in" filter="fade">
                                      <p:cBhvr>
                                        <p:cTn id="68" dur="320"/>
                                        <p:tgtEl>
                                          <p:spTgt spid="5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56"/>
                                        </p:tgtEl>
                                        <p:attrNameLst>
                                          <p:attrName>style.visibility</p:attrName>
                                        </p:attrNameLst>
                                      </p:cBhvr>
                                      <p:to>
                                        <p:strVal val="visible"/>
                                      </p:to>
                                    </p:set>
                                    <p:animEffect transition="in" filter="fade">
                                      <p:cBhvr>
                                        <p:cTn id="71" dur="320"/>
                                        <p:tgtEl>
                                          <p:spTgt spid="5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57"/>
                                        </p:tgtEl>
                                        <p:attrNameLst>
                                          <p:attrName>style.visibility</p:attrName>
                                        </p:attrNameLst>
                                      </p:cBhvr>
                                      <p:to>
                                        <p:strVal val="visible"/>
                                      </p:to>
                                    </p:set>
                                    <p:animEffect transition="in" filter="fade">
                                      <p:cBhvr>
                                        <p:cTn id="74" dur="320"/>
                                        <p:tgtEl>
                                          <p:spTgt spid="5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59"/>
                                        </p:tgtEl>
                                        <p:attrNameLst>
                                          <p:attrName>style.visibility</p:attrName>
                                        </p:attrNameLst>
                                      </p:cBhvr>
                                      <p:to>
                                        <p:strVal val="visible"/>
                                      </p:to>
                                    </p:set>
                                    <p:animEffect transition="in" filter="fade">
                                      <p:cBhvr>
                                        <p:cTn id="77" dur="320"/>
                                        <p:tgtEl>
                                          <p:spTgt spid="5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0"/>
                                        </p:tgtEl>
                                        <p:attrNameLst>
                                          <p:attrName>style.visibility</p:attrName>
                                        </p:attrNameLst>
                                      </p:cBhvr>
                                      <p:to>
                                        <p:strVal val="visible"/>
                                      </p:to>
                                    </p:set>
                                    <p:animEffect transition="in" filter="fade">
                                      <p:cBhvr>
                                        <p:cTn id="80" dur="320"/>
                                        <p:tgtEl>
                                          <p:spTgt spid="6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61"/>
                                        </p:tgtEl>
                                        <p:attrNameLst>
                                          <p:attrName>style.visibility</p:attrName>
                                        </p:attrNameLst>
                                      </p:cBhvr>
                                      <p:to>
                                        <p:strVal val="visible"/>
                                      </p:to>
                                    </p:set>
                                    <p:animEffect transition="in" filter="fade">
                                      <p:cBhvr>
                                        <p:cTn id="83" dur="320"/>
                                        <p:tgtEl>
                                          <p:spTgt spid="6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5"/>
                                        </p:tgtEl>
                                        <p:attrNameLst>
                                          <p:attrName>style.visibility</p:attrName>
                                        </p:attrNameLst>
                                      </p:cBhvr>
                                      <p:to>
                                        <p:strVal val="visible"/>
                                      </p:to>
                                    </p:set>
                                    <p:animEffect transition="in" filter="fade">
                                      <p:cBhvr>
                                        <p:cTn id="86" dur="320"/>
                                        <p:tgtEl>
                                          <p:spTgt spid="6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6"/>
                                        </p:tgtEl>
                                        <p:attrNameLst>
                                          <p:attrName>style.visibility</p:attrName>
                                        </p:attrNameLst>
                                      </p:cBhvr>
                                      <p:to>
                                        <p:strVal val="visible"/>
                                      </p:to>
                                    </p:set>
                                    <p:animEffect transition="in" filter="fade">
                                      <p:cBhvr>
                                        <p:cTn id="89" dur="320"/>
                                        <p:tgtEl>
                                          <p:spTgt spid="6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67"/>
                                        </p:tgtEl>
                                        <p:attrNameLst>
                                          <p:attrName>style.visibility</p:attrName>
                                        </p:attrNameLst>
                                      </p:cBhvr>
                                      <p:to>
                                        <p:strVal val="visible"/>
                                      </p:to>
                                    </p:set>
                                    <p:animEffect transition="in" filter="fade">
                                      <p:cBhvr>
                                        <p:cTn id="92" dur="320"/>
                                        <p:tgtEl>
                                          <p:spTgt spid="6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69"/>
                                        </p:tgtEl>
                                        <p:attrNameLst>
                                          <p:attrName>style.visibility</p:attrName>
                                        </p:attrNameLst>
                                      </p:cBhvr>
                                      <p:to>
                                        <p:strVal val="visible"/>
                                      </p:to>
                                    </p:set>
                                    <p:animEffect transition="in" filter="fade">
                                      <p:cBhvr>
                                        <p:cTn id="95" dur="320"/>
                                        <p:tgtEl>
                                          <p:spTgt spid="6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70"/>
                                        </p:tgtEl>
                                        <p:attrNameLst>
                                          <p:attrName>style.visibility</p:attrName>
                                        </p:attrNameLst>
                                      </p:cBhvr>
                                      <p:to>
                                        <p:strVal val="visible"/>
                                      </p:to>
                                    </p:set>
                                    <p:animEffect transition="in" filter="fade">
                                      <p:cBhvr>
                                        <p:cTn id="98" dur="320"/>
                                        <p:tgtEl>
                                          <p:spTgt spid="7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71"/>
                                        </p:tgtEl>
                                        <p:attrNameLst>
                                          <p:attrName>style.visibility</p:attrName>
                                        </p:attrNameLst>
                                      </p:cBhvr>
                                      <p:to>
                                        <p:strVal val="visible"/>
                                      </p:to>
                                    </p:set>
                                    <p:animEffect transition="in" filter="fade">
                                      <p:cBhvr>
                                        <p:cTn id="101" dur="320"/>
                                        <p:tgtEl>
                                          <p:spTgt spid="71"/>
                                        </p:tgtEl>
                                      </p:cBhvr>
                                    </p:animEffect>
                                  </p:childTnLst>
                                </p:cTn>
                              </p:par>
                            </p:childTnLst>
                          </p:cTn>
                        </p:par>
                      </p:childTnLst>
                    </p:cTn>
                  </p:par>
                  <p:par>
                    <p:cTn id="182" fill="hold">
                      <p:stCondLst>
                        <p:cond delay="indefinite"/>
                      </p:stCondLst>
                      <p:childTnLst>
                        <p:par>
                          <p:cTn id="18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16"/>
                                        </p:tgtEl>
                                        <p:attrNameLst>
                                          <p:attrName>style.visibility</p:attrName>
                                        </p:attrNameLst>
                                      </p:cBhvr>
                                      <p:to>
                                        <p:strVal val="visible"/>
                                      </p:to>
                                    </p:set>
                                    <p:animEffect transition="in" filter="fade">
                                      <p:cBhvr>
                                        <p:cTn id="106" dur="320"/>
                                        <p:tgtEl>
                                          <p:spTgt spid="16"/>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7"/>
                                        </p:tgtEl>
                                        <p:attrNameLst>
                                          <p:attrName>style.visibility</p:attrName>
                                        </p:attrNameLst>
                                      </p:cBhvr>
                                      <p:to>
                                        <p:strVal val="visible"/>
                                      </p:to>
                                    </p:set>
                                    <p:animEffect transition="in" filter="fade">
                                      <p:cBhvr>
                                        <p:cTn id="109" dur="320"/>
                                        <p:tgtEl>
                                          <p:spTgt spid="17"/>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8"/>
                                        </p:tgtEl>
                                        <p:attrNameLst>
                                          <p:attrName>style.visibility</p:attrName>
                                        </p:attrNameLst>
                                      </p:cBhvr>
                                      <p:to>
                                        <p:strVal val="visible"/>
                                      </p:to>
                                    </p:set>
                                    <p:animEffect transition="in" filter="fade">
                                      <p:cBhvr>
                                        <p:cTn id="112" dur="320"/>
                                        <p:tgtEl>
                                          <p:spTgt spid="18"/>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9"/>
                                        </p:tgtEl>
                                        <p:attrNameLst>
                                          <p:attrName>style.visibility</p:attrName>
                                        </p:attrNameLst>
                                      </p:cBhvr>
                                      <p:to>
                                        <p:strVal val="visible"/>
                                      </p:to>
                                    </p:set>
                                    <p:animEffect transition="in" filter="fade">
                                      <p:cBhvr>
                                        <p:cTn id="115" dur="320"/>
                                        <p:tgtEl>
                                          <p:spTgt spid="19"/>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20"/>
                                        </p:tgtEl>
                                        <p:attrNameLst>
                                          <p:attrName>style.visibility</p:attrName>
                                        </p:attrNameLst>
                                      </p:cBhvr>
                                      <p:to>
                                        <p:strVal val="visible"/>
                                      </p:to>
                                    </p:set>
                                    <p:animEffect transition="in" filter="fade">
                                      <p:cBhvr>
                                        <p:cTn id="118" dur="320"/>
                                        <p:tgtEl>
                                          <p:spTgt spid="20"/>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21"/>
                                        </p:tgtEl>
                                        <p:attrNameLst>
                                          <p:attrName>style.visibility</p:attrName>
                                        </p:attrNameLst>
                                      </p:cBhvr>
                                      <p:to>
                                        <p:strVal val="visible"/>
                                      </p:to>
                                    </p:set>
                                    <p:animEffect transition="in" filter="fade">
                                      <p:cBhvr>
                                        <p:cTn id="121" dur="320"/>
                                        <p:tgtEl>
                                          <p:spTgt spid="21"/>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22"/>
                                        </p:tgtEl>
                                        <p:attrNameLst>
                                          <p:attrName>style.visibility</p:attrName>
                                        </p:attrNameLst>
                                      </p:cBhvr>
                                      <p:to>
                                        <p:strVal val="visible"/>
                                      </p:to>
                                    </p:set>
                                    <p:animEffect transition="in" filter="fade">
                                      <p:cBhvr>
                                        <p:cTn id="124" dur="320"/>
                                        <p:tgtEl>
                                          <p:spTgt spid="22"/>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23"/>
                                        </p:tgtEl>
                                        <p:attrNameLst>
                                          <p:attrName>style.visibility</p:attrName>
                                        </p:attrNameLst>
                                      </p:cBhvr>
                                      <p:to>
                                        <p:strVal val="visible"/>
                                      </p:to>
                                    </p:set>
                                    <p:animEffect transition="in" filter="fade">
                                      <p:cBhvr>
                                        <p:cTn id="127" dur="320"/>
                                        <p:tgtEl>
                                          <p:spTgt spid="23"/>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75"/>
                                        </p:tgtEl>
                                        <p:attrNameLst>
                                          <p:attrName>style.visibility</p:attrName>
                                        </p:attrNameLst>
                                      </p:cBhvr>
                                      <p:to>
                                        <p:strVal val="visible"/>
                                      </p:to>
                                    </p:set>
                                    <p:animEffect transition="in" filter="fade">
                                      <p:cBhvr>
                                        <p:cTn id="130" dur="320"/>
                                        <p:tgtEl>
                                          <p:spTgt spid="75"/>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76"/>
                                        </p:tgtEl>
                                        <p:attrNameLst>
                                          <p:attrName>style.visibility</p:attrName>
                                        </p:attrNameLst>
                                      </p:cBhvr>
                                      <p:to>
                                        <p:strVal val="visible"/>
                                      </p:to>
                                    </p:set>
                                    <p:animEffect transition="in" filter="fade">
                                      <p:cBhvr>
                                        <p:cTn id="133" dur="320"/>
                                        <p:tgtEl>
                                          <p:spTgt spid="76"/>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77"/>
                                        </p:tgtEl>
                                        <p:attrNameLst>
                                          <p:attrName>style.visibility</p:attrName>
                                        </p:attrNameLst>
                                      </p:cBhvr>
                                      <p:to>
                                        <p:strVal val="visible"/>
                                      </p:to>
                                    </p:set>
                                    <p:animEffect transition="in" filter="fade">
                                      <p:cBhvr>
                                        <p:cTn id="136" dur="320"/>
                                        <p:tgtEl>
                                          <p:spTgt spid="77"/>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78"/>
                                        </p:tgtEl>
                                        <p:attrNameLst>
                                          <p:attrName>style.visibility</p:attrName>
                                        </p:attrNameLst>
                                      </p:cBhvr>
                                      <p:to>
                                        <p:strVal val="visible"/>
                                      </p:to>
                                    </p:set>
                                    <p:animEffect transition="in" filter="fade">
                                      <p:cBhvr>
                                        <p:cTn id="139" dur="320"/>
                                        <p:tgtEl>
                                          <p:spTgt spid="78"/>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79"/>
                                        </p:tgtEl>
                                        <p:attrNameLst>
                                          <p:attrName>style.visibility</p:attrName>
                                        </p:attrNameLst>
                                      </p:cBhvr>
                                      <p:to>
                                        <p:strVal val="visible"/>
                                      </p:to>
                                    </p:set>
                                    <p:animEffect transition="in" filter="fade">
                                      <p:cBhvr>
                                        <p:cTn id="142" dur="320"/>
                                        <p:tgtEl>
                                          <p:spTgt spid="79"/>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80"/>
                                        </p:tgtEl>
                                        <p:attrNameLst>
                                          <p:attrName>style.visibility</p:attrName>
                                        </p:attrNameLst>
                                      </p:cBhvr>
                                      <p:to>
                                        <p:strVal val="visible"/>
                                      </p:to>
                                    </p:set>
                                    <p:animEffect transition="in" filter="fade">
                                      <p:cBhvr>
                                        <p:cTn id="145" dur="320"/>
                                        <p:tgtEl>
                                          <p:spTgt spid="80"/>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81"/>
                                        </p:tgtEl>
                                        <p:attrNameLst>
                                          <p:attrName>style.visibility</p:attrName>
                                        </p:attrNameLst>
                                      </p:cBhvr>
                                      <p:to>
                                        <p:strVal val="visible"/>
                                      </p:to>
                                    </p:set>
                                    <p:animEffect transition="in" filter="fade">
                                      <p:cBhvr>
                                        <p:cTn id="148" dur="320"/>
                                        <p:tgtEl>
                                          <p:spTgt spid="81"/>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88"/>
                                        </p:tgtEl>
                                        <p:attrNameLst>
                                          <p:attrName>style.visibility</p:attrName>
                                        </p:attrNameLst>
                                      </p:cBhvr>
                                      <p:to>
                                        <p:strVal val="visible"/>
                                      </p:to>
                                    </p:set>
                                    <p:animEffect transition="in" filter="fade">
                                      <p:cBhvr>
                                        <p:cTn id="151" dur="320"/>
                                        <p:tgtEl>
                                          <p:spTgt spid="88"/>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89"/>
                                        </p:tgtEl>
                                        <p:attrNameLst>
                                          <p:attrName>style.visibility</p:attrName>
                                        </p:attrNameLst>
                                      </p:cBhvr>
                                      <p:to>
                                        <p:strVal val="visible"/>
                                      </p:to>
                                    </p:set>
                                    <p:animEffect transition="in" filter="fade">
                                      <p:cBhvr>
                                        <p:cTn id="154" dur="320"/>
                                        <p:tgtEl>
                                          <p:spTgt spid="89"/>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90"/>
                                        </p:tgtEl>
                                        <p:attrNameLst>
                                          <p:attrName>style.visibility</p:attrName>
                                        </p:attrNameLst>
                                      </p:cBhvr>
                                      <p:to>
                                        <p:strVal val="visible"/>
                                      </p:to>
                                    </p:set>
                                    <p:animEffect transition="in" filter="fade">
                                      <p:cBhvr>
                                        <p:cTn id="157" dur="320"/>
                                        <p:tgtEl>
                                          <p:spTgt spid="90"/>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91"/>
                                        </p:tgtEl>
                                        <p:attrNameLst>
                                          <p:attrName>style.visibility</p:attrName>
                                        </p:attrNameLst>
                                      </p:cBhvr>
                                      <p:to>
                                        <p:strVal val="visible"/>
                                      </p:to>
                                    </p:set>
                                    <p:animEffect transition="in" filter="fade">
                                      <p:cBhvr>
                                        <p:cTn id="160" dur="320"/>
                                        <p:tgtEl>
                                          <p:spTgt spid="91"/>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92"/>
                                        </p:tgtEl>
                                        <p:attrNameLst>
                                          <p:attrName>style.visibility</p:attrName>
                                        </p:attrNameLst>
                                      </p:cBhvr>
                                      <p:to>
                                        <p:strVal val="visible"/>
                                      </p:to>
                                    </p:set>
                                    <p:animEffect transition="in" filter="fade">
                                      <p:cBhvr>
                                        <p:cTn id="163" dur="320"/>
                                        <p:tgtEl>
                                          <p:spTgt spid="92"/>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93"/>
                                        </p:tgtEl>
                                        <p:attrNameLst>
                                          <p:attrName>style.visibility</p:attrName>
                                        </p:attrNameLst>
                                      </p:cBhvr>
                                      <p:to>
                                        <p:strVal val="visible"/>
                                      </p:to>
                                    </p:set>
                                    <p:animEffect transition="in" filter="fade">
                                      <p:cBhvr>
                                        <p:cTn id="166" dur="320"/>
                                        <p:tgtEl>
                                          <p:spTgt spid="93"/>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104"/>
                                        </p:tgtEl>
                                        <p:attrNameLst>
                                          <p:attrName>style.visibility</p:attrName>
                                        </p:attrNameLst>
                                      </p:cBhvr>
                                      <p:to>
                                        <p:strVal val="visible"/>
                                      </p:to>
                                    </p:set>
                                    <p:animEffect transition="in" filter="fade">
                                      <p:cBhvr>
                                        <p:cTn id="169" dur="320"/>
                                        <p:tgtEl>
                                          <p:spTgt spid="104"/>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105"/>
                                        </p:tgtEl>
                                        <p:attrNameLst>
                                          <p:attrName>style.visibility</p:attrName>
                                        </p:attrNameLst>
                                      </p:cBhvr>
                                      <p:to>
                                        <p:strVal val="visible"/>
                                      </p:to>
                                    </p:set>
                                    <p:animEffect transition="in" filter="fade">
                                      <p:cBhvr>
                                        <p:cTn id="172" dur="320"/>
                                        <p:tgtEl>
                                          <p:spTgt spid="105"/>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106"/>
                                        </p:tgtEl>
                                        <p:attrNameLst>
                                          <p:attrName>style.visibility</p:attrName>
                                        </p:attrNameLst>
                                      </p:cBhvr>
                                      <p:to>
                                        <p:strVal val="visible"/>
                                      </p:to>
                                    </p:set>
                                    <p:animEffect transition="in" filter="fade">
                                      <p:cBhvr>
                                        <p:cTn id="175" dur="320"/>
                                        <p:tgtEl>
                                          <p:spTgt spid="106"/>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107"/>
                                        </p:tgtEl>
                                        <p:attrNameLst>
                                          <p:attrName>style.visibility</p:attrName>
                                        </p:attrNameLst>
                                      </p:cBhvr>
                                      <p:to>
                                        <p:strVal val="visible"/>
                                      </p:to>
                                    </p:set>
                                    <p:animEffect transition="in" filter="fade">
                                      <p:cBhvr>
                                        <p:cTn id="178" dur="320"/>
                                        <p:tgtEl>
                                          <p:spTgt spid="107"/>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108"/>
                                        </p:tgtEl>
                                        <p:attrNameLst>
                                          <p:attrName>style.visibility</p:attrName>
                                        </p:attrNameLst>
                                      </p:cBhvr>
                                      <p:to>
                                        <p:strVal val="visible"/>
                                      </p:to>
                                    </p:set>
                                    <p:animEffect transition="in" filter="fade">
                                      <p:cBhvr>
                                        <p:cTn id="181" dur="320"/>
                                        <p:tgtEl>
                                          <p:spTgt spid="108"/>
                                        </p:tgtEl>
                                      </p:cBhvr>
                                    </p:animEffect>
                                  </p:childTnLst>
                                </p:cTn>
                              </p:par>
                            </p:childTnLst>
                          </p:cTn>
                        </p:par>
                      </p:childTnLst>
                    </p:cTn>
                  </p:par>
                  <p:par>
                    <p:cTn id="208" fill="hold">
                      <p:stCondLst>
                        <p:cond delay="indefinite"/>
                      </p:stCondLst>
                      <p:childTnLst>
                        <p:par>
                          <p:cTn id="209" fill="hold">
                            <p:stCondLst>
                              <p:cond delay="0"/>
                            </p:stCondLst>
                            <p:childTnLst>
                              <p:par>
                                <p:cTn id="184" presetID="10" presetClass="entr" presetSubtype="0" fill="hold" grpId="0" nodeType="clickEffect">
                                  <p:stCondLst>
                                    <p:cond delay="0"/>
                                  </p:stCondLst>
                                  <p:childTnLst>
                                    <p:set>
                                      <p:cBhvr>
                                        <p:cTn id="185" dur="1" fill="hold">
                                          <p:stCondLst>
                                            <p:cond delay="0"/>
                                          </p:stCondLst>
                                        </p:cTn>
                                        <p:tgtEl>
                                          <p:spTgt spid="24"/>
                                        </p:tgtEl>
                                        <p:attrNameLst>
                                          <p:attrName>style.visibility</p:attrName>
                                        </p:attrNameLst>
                                      </p:cBhvr>
                                      <p:to>
                                        <p:strVal val="visible"/>
                                      </p:to>
                                    </p:set>
                                    <p:animEffect transition="in" filter="fade">
                                      <p:cBhvr>
                                        <p:cTn id="186" dur="320"/>
                                        <p:tgtEl>
                                          <p:spTgt spid="24"/>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25"/>
                                        </p:tgtEl>
                                        <p:attrNameLst>
                                          <p:attrName>style.visibility</p:attrName>
                                        </p:attrNameLst>
                                      </p:cBhvr>
                                      <p:to>
                                        <p:strVal val="visible"/>
                                      </p:to>
                                    </p:set>
                                    <p:animEffect transition="in" filter="fade">
                                      <p:cBhvr>
                                        <p:cTn id="189" dur="320"/>
                                        <p:tgtEl>
                                          <p:spTgt spid="25"/>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26"/>
                                        </p:tgtEl>
                                        <p:attrNameLst>
                                          <p:attrName>style.visibility</p:attrName>
                                        </p:attrNameLst>
                                      </p:cBhvr>
                                      <p:to>
                                        <p:strVal val="visible"/>
                                      </p:to>
                                    </p:set>
                                    <p:animEffect transition="in" filter="fade">
                                      <p:cBhvr>
                                        <p:cTn id="192" dur="320"/>
                                        <p:tgtEl>
                                          <p:spTgt spid="26"/>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27"/>
                                        </p:tgtEl>
                                        <p:attrNameLst>
                                          <p:attrName>style.visibility</p:attrName>
                                        </p:attrNameLst>
                                      </p:cBhvr>
                                      <p:to>
                                        <p:strVal val="visible"/>
                                      </p:to>
                                    </p:set>
                                    <p:animEffect transition="in" filter="fade">
                                      <p:cBhvr>
                                        <p:cTn id="195" dur="320"/>
                                        <p:tgtEl>
                                          <p:spTgt spid="27"/>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28"/>
                                        </p:tgtEl>
                                        <p:attrNameLst>
                                          <p:attrName>style.visibility</p:attrName>
                                        </p:attrNameLst>
                                      </p:cBhvr>
                                      <p:to>
                                        <p:strVal val="visible"/>
                                      </p:to>
                                    </p:set>
                                    <p:animEffect transition="in" filter="fade">
                                      <p:cBhvr>
                                        <p:cTn id="198" dur="320"/>
                                        <p:tgtEl>
                                          <p:spTgt spid="28"/>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29"/>
                                        </p:tgtEl>
                                        <p:attrNameLst>
                                          <p:attrName>style.visibility</p:attrName>
                                        </p:attrNameLst>
                                      </p:cBhvr>
                                      <p:to>
                                        <p:strVal val="visible"/>
                                      </p:to>
                                    </p:set>
                                    <p:animEffect transition="in" filter="fade">
                                      <p:cBhvr>
                                        <p:cTn id="201" dur="320"/>
                                        <p:tgtEl>
                                          <p:spTgt spid="29"/>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30"/>
                                        </p:tgtEl>
                                        <p:attrNameLst>
                                          <p:attrName>style.visibility</p:attrName>
                                        </p:attrNameLst>
                                      </p:cBhvr>
                                      <p:to>
                                        <p:strVal val="visible"/>
                                      </p:to>
                                    </p:set>
                                    <p:animEffect transition="in" filter="fade">
                                      <p:cBhvr>
                                        <p:cTn id="204" dur="320"/>
                                        <p:tgtEl>
                                          <p:spTgt spid="30"/>
                                        </p:tgtEl>
                                      </p:cBhvr>
                                    </p:animEffect>
                                  </p:childTnLst>
                                </p:cTn>
                              </p:par>
                              <p:par>
                                <p:cTn id="205" presetID="10" presetClass="entr" presetSubtype="0" fill="hold" grpId="0" nodeType="withEffect">
                                  <p:stCondLst>
                                    <p:cond delay="0"/>
                                  </p:stCondLst>
                                  <p:childTnLst>
                                    <p:set>
                                      <p:cBhvr>
                                        <p:cTn id="206" dur="1" fill="hold">
                                          <p:stCondLst>
                                            <p:cond delay="0"/>
                                          </p:stCondLst>
                                        </p:cTn>
                                        <p:tgtEl>
                                          <p:spTgt spid="31"/>
                                        </p:tgtEl>
                                        <p:attrNameLst>
                                          <p:attrName>style.visibility</p:attrName>
                                        </p:attrNameLst>
                                      </p:cBhvr>
                                      <p:to>
                                        <p:strVal val="visible"/>
                                      </p:to>
                                    </p:set>
                                    <p:animEffect transition="in" filter="fade">
                                      <p:cBhvr>
                                        <p:cTn id="207" dur="320"/>
                                        <p:tgtEl>
                                          <p:spTgt spid="31"/>
                                        </p:tgtEl>
                                      </p:cBhvr>
                                    </p:animEffect>
                                  </p:childTnLst>
                                </p:cTn>
                              </p:par>
                            </p:childTnLst>
                          </p:cTn>
                        </p:par>
                      </p:childTnLst>
                    </p:cTn>
                  </p:par>
                  <p:par>
                    <p:cTn id="324" fill="hold">
                      <p:stCondLst>
                        <p:cond delay="indefinite"/>
                      </p:stCondLst>
                      <p:childTnLst>
                        <p:par>
                          <p:cTn id="325" fill="hold">
                            <p:stCondLst>
                              <p:cond delay="0"/>
                            </p:stCondLst>
                            <p:childTnLst>
                              <p:par>
                                <p:cTn id="210" presetID="10" presetClass="exit" presetSubtype="0" fill="hold" grpId="1" nodeType="clickEffect">
                                  <p:stCondLst>
                                    <p:cond delay="0"/>
                                  </p:stCondLst>
                                  <p:childTnLst>
                                    <p:animEffect transition="out" filter="fade">
                                      <p:cBhvr>
                                        <p:cTn id="211" dur="320"/>
                                        <p:tgtEl>
                                          <p:spTgt spid="57"/>
                                        </p:tgtEl>
                                      </p:cBhvr>
                                    </p:animEffect>
                                    <p:set>
                                      <p:cBhvr>
                                        <p:cTn id="212" dur="1" fill="hold">
                                          <p:stCondLst>
                                            <p:cond delay="319"/>
                                          </p:stCondLst>
                                        </p:cTn>
                                        <p:tgtEl>
                                          <p:spTgt spid="57"/>
                                        </p:tgtEl>
                                        <p:attrNameLst>
                                          <p:attrName>style.visibility</p:attrName>
                                        </p:attrNameLst>
                                      </p:cBhvr>
                                      <p:to>
                                        <p:strVal val="hidden"/>
                                      </p:to>
                                    </p:set>
                                  </p:childTnLst>
                                </p:cTn>
                              </p:par>
                              <p:par>
                                <p:cTn id="213" presetID="10" presetClass="exit" presetSubtype="0" fill="hold" grpId="1" nodeType="withEffect">
                                  <p:stCondLst>
                                    <p:cond delay="0"/>
                                  </p:stCondLst>
                                  <p:childTnLst>
                                    <p:animEffect transition="out" filter="fade">
                                      <p:cBhvr>
                                        <p:cTn id="214" dur="320"/>
                                        <p:tgtEl>
                                          <p:spTgt spid="59"/>
                                        </p:tgtEl>
                                      </p:cBhvr>
                                    </p:animEffect>
                                    <p:set>
                                      <p:cBhvr>
                                        <p:cTn id="215" dur="1" fill="hold">
                                          <p:stCondLst>
                                            <p:cond delay="319"/>
                                          </p:stCondLst>
                                        </p:cTn>
                                        <p:tgtEl>
                                          <p:spTgt spid="59"/>
                                        </p:tgtEl>
                                        <p:attrNameLst>
                                          <p:attrName>style.visibility</p:attrName>
                                        </p:attrNameLst>
                                      </p:cBhvr>
                                      <p:to>
                                        <p:strVal val="hidden"/>
                                      </p:to>
                                    </p:set>
                                  </p:childTnLst>
                                </p:cTn>
                              </p:par>
                              <p:par>
                                <p:cTn id="216" presetID="10" presetClass="exit" presetSubtype="0" fill="hold" grpId="1" nodeType="withEffect">
                                  <p:stCondLst>
                                    <p:cond delay="0"/>
                                  </p:stCondLst>
                                  <p:childTnLst>
                                    <p:animEffect transition="out" filter="fade">
                                      <p:cBhvr>
                                        <p:cTn id="217" dur="320"/>
                                        <p:tgtEl>
                                          <p:spTgt spid="60"/>
                                        </p:tgtEl>
                                      </p:cBhvr>
                                    </p:animEffect>
                                    <p:set>
                                      <p:cBhvr>
                                        <p:cTn id="218" dur="1" fill="hold">
                                          <p:stCondLst>
                                            <p:cond delay="319"/>
                                          </p:stCondLst>
                                        </p:cTn>
                                        <p:tgtEl>
                                          <p:spTgt spid="60"/>
                                        </p:tgtEl>
                                        <p:attrNameLst>
                                          <p:attrName>style.visibility</p:attrName>
                                        </p:attrNameLst>
                                      </p:cBhvr>
                                      <p:to>
                                        <p:strVal val="hidden"/>
                                      </p:to>
                                    </p:set>
                                  </p:childTnLst>
                                </p:cTn>
                              </p:par>
                              <p:par>
                                <p:cTn id="219" presetID="10" presetClass="exit" presetSubtype="0" fill="hold" grpId="1" nodeType="withEffect">
                                  <p:stCondLst>
                                    <p:cond delay="0"/>
                                  </p:stCondLst>
                                  <p:childTnLst>
                                    <p:animEffect transition="out" filter="fade">
                                      <p:cBhvr>
                                        <p:cTn id="220" dur="320"/>
                                        <p:tgtEl>
                                          <p:spTgt spid="61"/>
                                        </p:tgtEl>
                                      </p:cBhvr>
                                    </p:animEffect>
                                    <p:set>
                                      <p:cBhvr>
                                        <p:cTn id="221" dur="1" fill="hold">
                                          <p:stCondLst>
                                            <p:cond delay="319"/>
                                          </p:stCondLst>
                                        </p:cTn>
                                        <p:tgtEl>
                                          <p:spTgt spid="61"/>
                                        </p:tgtEl>
                                        <p:attrNameLst>
                                          <p:attrName>style.visibility</p:attrName>
                                        </p:attrNameLst>
                                      </p:cBhvr>
                                      <p:to>
                                        <p:strVal val="hidden"/>
                                      </p:to>
                                    </p:set>
                                  </p:childTnLst>
                                </p:cTn>
                              </p:par>
                              <p:par>
                                <p:cTn id="222" presetID="10" presetClass="exit" presetSubtype="0" fill="hold" grpId="1" nodeType="withEffect">
                                  <p:stCondLst>
                                    <p:cond delay="0"/>
                                  </p:stCondLst>
                                  <p:childTnLst>
                                    <p:animEffect transition="out" filter="fade">
                                      <p:cBhvr>
                                        <p:cTn id="223" dur="320"/>
                                        <p:tgtEl>
                                          <p:spTgt spid="67"/>
                                        </p:tgtEl>
                                      </p:cBhvr>
                                    </p:animEffect>
                                    <p:set>
                                      <p:cBhvr>
                                        <p:cTn id="224" dur="1" fill="hold">
                                          <p:stCondLst>
                                            <p:cond delay="319"/>
                                          </p:stCondLst>
                                        </p:cTn>
                                        <p:tgtEl>
                                          <p:spTgt spid="67"/>
                                        </p:tgtEl>
                                        <p:attrNameLst>
                                          <p:attrName>style.visibility</p:attrName>
                                        </p:attrNameLst>
                                      </p:cBhvr>
                                      <p:to>
                                        <p:strVal val="hidden"/>
                                      </p:to>
                                    </p:set>
                                  </p:childTnLst>
                                </p:cTn>
                              </p:par>
                              <p:par>
                                <p:cTn id="225" presetID="10" presetClass="exit" presetSubtype="0" fill="hold" grpId="1" nodeType="withEffect">
                                  <p:stCondLst>
                                    <p:cond delay="0"/>
                                  </p:stCondLst>
                                  <p:childTnLst>
                                    <p:animEffect transition="out" filter="fade">
                                      <p:cBhvr>
                                        <p:cTn id="226" dur="320"/>
                                        <p:tgtEl>
                                          <p:spTgt spid="69"/>
                                        </p:tgtEl>
                                      </p:cBhvr>
                                    </p:animEffect>
                                    <p:set>
                                      <p:cBhvr>
                                        <p:cTn id="227" dur="1" fill="hold">
                                          <p:stCondLst>
                                            <p:cond delay="319"/>
                                          </p:stCondLst>
                                        </p:cTn>
                                        <p:tgtEl>
                                          <p:spTgt spid="69"/>
                                        </p:tgtEl>
                                        <p:attrNameLst>
                                          <p:attrName>style.visibility</p:attrName>
                                        </p:attrNameLst>
                                      </p:cBhvr>
                                      <p:to>
                                        <p:strVal val="hidden"/>
                                      </p:to>
                                    </p:set>
                                  </p:childTnLst>
                                </p:cTn>
                              </p:par>
                              <p:par>
                                <p:cTn id="228" presetID="10" presetClass="exit" presetSubtype="0" fill="hold" grpId="1" nodeType="withEffect">
                                  <p:stCondLst>
                                    <p:cond delay="0"/>
                                  </p:stCondLst>
                                  <p:childTnLst>
                                    <p:animEffect transition="out" filter="fade">
                                      <p:cBhvr>
                                        <p:cTn id="229" dur="320"/>
                                        <p:tgtEl>
                                          <p:spTgt spid="70"/>
                                        </p:tgtEl>
                                      </p:cBhvr>
                                    </p:animEffect>
                                    <p:set>
                                      <p:cBhvr>
                                        <p:cTn id="230" dur="1" fill="hold">
                                          <p:stCondLst>
                                            <p:cond delay="319"/>
                                          </p:stCondLst>
                                        </p:cTn>
                                        <p:tgtEl>
                                          <p:spTgt spid="70"/>
                                        </p:tgtEl>
                                        <p:attrNameLst>
                                          <p:attrName>style.visibility</p:attrName>
                                        </p:attrNameLst>
                                      </p:cBhvr>
                                      <p:to>
                                        <p:strVal val="hidden"/>
                                      </p:to>
                                    </p:set>
                                  </p:childTnLst>
                                </p:cTn>
                              </p:par>
                              <p:par>
                                <p:cTn id="231" presetID="10" presetClass="exit" presetSubtype="0" fill="hold" grpId="1" nodeType="withEffect">
                                  <p:stCondLst>
                                    <p:cond delay="0"/>
                                  </p:stCondLst>
                                  <p:childTnLst>
                                    <p:animEffect transition="out" filter="fade">
                                      <p:cBhvr>
                                        <p:cTn id="232" dur="320"/>
                                        <p:tgtEl>
                                          <p:spTgt spid="71"/>
                                        </p:tgtEl>
                                      </p:cBhvr>
                                    </p:animEffect>
                                    <p:set>
                                      <p:cBhvr>
                                        <p:cTn id="233" dur="1" fill="hold">
                                          <p:stCondLst>
                                            <p:cond delay="319"/>
                                          </p:stCondLst>
                                        </p:cTn>
                                        <p:tgtEl>
                                          <p:spTgt spid="71"/>
                                        </p:tgtEl>
                                        <p:attrNameLst>
                                          <p:attrName>style.visibility</p:attrName>
                                        </p:attrNameLst>
                                      </p:cBhvr>
                                      <p:to>
                                        <p:strVal val="hidden"/>
                                      </p:to>
                                    </p:set>
                                  </p:childTnLst>
                                </p:cTn>
                              </p:par>
                              <p:par>
                                <p:cTn id="234" presetID="10" presetClass="exit" presetSubtype="0" fill="hold" grpId="1" nodeType="withEffect">
                                  <p:stCondLst>
                                    <p:cond delay="0"/>
                                  </p:stCondLst>
                                  <p:childTnLst>
                                    <p:animEffect transition="out" filter="fade">
                                      <p:cBhvr>
                                        <p:cTn id="235" dur="320"/>
                                        <p:tgtEl>
                                          <p:spTgt spid="79"/>
                                        </p:tgtEl>
                                      </p:cBhvr>
                                    </p:animEffect>
                                    <p:set>
                                      <p:cBhvr>
                                        <p:cTn id="236" dur="1" fill="hold">
                                          <p:stCondLst>
                                            <p:cond delay="319"/>
                                          </p:stCondLst>
                                        </p:cTn>
                                        <p:tgtEl>
                                          <p:spTgt spid="79"/>
                                        </p:tgtEl>
                                        <p:attrNameLst>
                                          <p:attrName>style.visibility</p:attrName>
                                        </p:attrNameLst>
                                      </p:cBhvr>
                                      <p:to>
                                        <p:strVal val="hidden"/>
                                      </p:to>
                                    </p:set>
                                  </p:childTnLst>
                                </p:cTn>
                              </p:par>
                              <p:par>
                                <p:cTn id="237" presetID="10" presetClass="exit" presetSubtype="0" fill="hold" grpId="1" nodeType="withEffect">
                                  <p:stCondLst>
                                    <p:cond delay="0"/>
                                  </p:stCondLst>
                                  <p:childTnLst>
                                    <p:animEffect transition="out" filter="fade">
                                      <p:cBhvr>
                                        <p:cTn id="238" dur="320"/>
                                        <p:tgtEl>
                                          <p:spTgt spid="80"/>
                                        </p:tgtEl>
                                      </p:cBhvr>
                                    </p:animEffect>
                                    <p:set>
                                      <p:cBhvr>
                                        <p:cTn id="239" dur="1" fill="hold">
                                          <p:stCondLst>
                                            <p:cond delay="319"/>
                                          </p:stCondLst>
                                        </p:cTn>
                                        <p:tgtEl>
                                          <p:spTgt spid="80"/>
                                        </p:tgtEl>
                                        <p:attrNameLst>
                                          <p:attrName>style.visibility</p:attrName>
                                        </p:attrNameLst>
                                      </p:cBhvr>
                                      <p:to>
                                        <p:strVal val="hidden"/>
                                      </p:to>
                                    </p:set>
                                  </p:childTnLst>
                                </p:cTn>
                              </p:par>
                              <p:par>
                                <p:cTn id="240" presetID="10" presetClass="exit" presetSubtype="0" fill="hold" grpId="1" nodeType="withEffect">
                                  <p:stCondLst>
                                    <p:cond delay="0"/>
                                  </p:stCondLst>
                                  <p:childTnLst>
                                    <p:animEffect transition="out" filter="fade">
                                      <p:cBhvr>
                                        <p:cTn id="241" dur="320"/>
                                        <p:tgtEl>
                                          <p:spTgt spid="81"/>
                                        </p:tgtEl>
                                      </p:cBhvr>
                                    </p:animEffect>
                                    <p:set>
                                      <p:cBhvr>
                                        <p:cTn id="242" dur="1" fill="hold">
                                          <p:stCondLst>
                                            <p:cond delay="319"/>
                                          </p:stCondLst>
                                        </p:cTn>
                                        <p:tgtEl>
                                          <p:spTgt spid="81"/>
                                        </p:tgtEl>
                                        <p:attrNameLst>
                                          <p:attrName>style.visibility</p:attrName>
                                        </p:attrNameLst>
                                      </p:cBhvr>
                                      <p:to>
                                        <p:strVal val="hidden"/>
                                      </p:to>
                                    </p:set>
                                  </p:childTnLst>
                                </p:cTn>
                              </p:par>
                              <p:par>
                                <p:cTn id="243" presetID="10" presetClass="exit" presetSubtype="0" fill="hold" grpId="1" nodeType="withEffect">
                                  <p:stCondLst>
                                    <p:cond delay="0"/>
                                  </p:stCondLst>
                                  <p:childTnLst>
                                    <p:animEffect transition="out" filter="fade">
                                      <p:cBhvr>
                                        <p:cTn id="244" dur="320"/>
                                        <p:tgtEl>
                                          <p:spTgt spid="91"/>
                                        </p:tgtEl>
                                      </p:cBhvr>
                                    </p:animEffect>
                                    <p:set>
                                      <p:cBhvr>
                                        <p:cTn id="245" dur="1" fill="hold">
                                          <p:stCondLst>
                                            <p:cond delay="319"/>
                                          </p:stCondLst>
                                        </p:cTn>
                                        <p:tgtEl>
                                          <p:spTgt spid="91"/>
                                        </p:tgtEl>
                                        <p:attrNameLst>
                                          <p:attrName>style.visibility</p:attrName>
                                        </p:attrNameLst>
                                      </p:cBhvr>
                                      <p:to>
                                        <p:strVal val="hidden"/>
                                      </p:to>
                                    </p:set>
                                  </p:childTnLst>
                                </p:cTn>
                              </p:par>
                              <p:par>
                                <p:cTn id="246" presetID="10" presetClass="exit" presetSubtype="0" fill="hold" grpId="1" nodeType="withEffect">
                                  <p:stCondLst>
                                    <p:cond delay="0"/>
                                  </p:stCondLst>
                                  <p:childTnLst>
                                    <p:animEffect transition="out" filter="fade">
                                      <p:cBhvr>
                                        <p:cTn id="247" dur="320"/>
                                        <p:tgtEl>
                                          <p:spTgt spid="92"/>
                                        </p:tgtEl>
                                      </p:cBhvr>
                                    </p:animEffect>
                                    <p:set>
                                      <p:cBhvr>
                                        <p:cTn id="248" dur="1" fill="hold">
                                          <p:stCondLst>
                                            <p:cond delay="319"/>
                                          </p:stCondLst>
                                        </p:cTn>
                                        <p:tgtEl>
                                          <p:spTgt spid="92"/>
                                        </p:tgtEl>
                                        <p:attrNameLst>
                                          <p:attrName>style.visibility</p:attrName>
                                        </p:attrNameLst>
                                      </p:cBhvr>
                                      <p:to>
                                        <p:strVal val="hidden"/>
                                      </p:to>
                                    </p:set>
                                  </p:childTnLst>
                                </p:cTn>
                              </p:par>
                              <p:par>
                                <p:cTn id="249" presetID="10" presetClass="exit" presetSubtype="0" fill="hold" grpId="1" nodeType="withEffect">
                                  <p:stCondLst>
                                    <p:cond delay="0"/>
                                  </p:stCondLst>
                                  <p:childTnLst>
                                    <p:animEffect transition="out" filter="fade">
                                      <p:cBhvr>
                                        <p:cTn id="250" dur="320"/>
                                        <p:tgtEl>
                                          <p:spTgt spid="93"/>
                                        </p:tgtEl>
                                      </p:cBhvr>
                                    </p:animEffect>
                                    <p:set>
                                      <p:cBhvr>
                                        <p:cTn id="251" dur="1" fill="hold">
                                          <p:stCondLst>
                                            <p:cond delay="319"/>
                                          </p:stCondLst>
                                        </p:cTn>
                                        <p:tgtEl>
                                          <p:spTgt spid="93"/>
                                        </p:tgtEl>
                                        <p:attrNameLst>
                                          <p:attrName>style.visibility</p:attrName>
                                        </p:attrNameLst>
                                      </p:cBhvr>
                                      <p:to>
                                        <p:strVal val="hidden"/>
                                      </p:to>
                                    </p:set>
                                  </p:childTnLst>
                                </p:cTn>
                              </p:par>
                              <p:par>
                                <p:cTn id="252" presetID="10" presetClass="exit" presetSubtype="0" fill="hold" grpId="1" nodeType="withEffect">
                                  <p:stCondLst>
                                    <p:cond delay="0"/>
                                  </p:stCondLst>
                                  <p:childTnLst>
                                    <p:animEffect transition="out" filter="fade">
                                      <p:cBhvr>
                                        <p:cTn id="253" dur="320"/>
                                        <p:tgtEl>
                                          <p:spTgt spid="106"/>
                                        </p:tgtEl>
                                      </p:cBhvr>
                                    </p:animEffect>
                                    <p:set>
                                      <p:cBhvr>
                                        <p:cTn id="254" dur="1" fill="hold">
                                          <p:stCondLst>
                                            <p:cond delay="319"/>
                                          </p:stCondLst>
                                        </p:cTn>
                                        <p:tgtEl>
                                          <p:spTgt spid="106"/>
                                        </p:tgtEl>
                                        <p:attrNameLst>
                                          <p:attrName>style.visibility</p:attrName>
                                        </p:attrNameLst>
                                      </p:cBhvr>
                                      <p:to>
                                        <p:strVal val="hidden"/>
                                      </p:to>
                                    </p:set>
                                  </p:childTnLst>
                                </p:cTn>
                              </p:par>
                              <p:par>
                                <p:cTn id="255" presetID="10" presetClass="exit" presetSubtype="0" fill="hold" grpId="1" nodeType="withEffect">
                                  <p:stCondLst>
                                    <p:cond delay="0"/>
                                  </p:stCondLst>
                                  <p:childTnLst>
                                    <p:animEffect transition="out" filter="fade">
                                      <p:cBhvr>
                                        <p:cTn id="256" dur="320"/>
                                        <p:tgtEl>
                                          <p:spTgt spid="107"/>
                                        </p:tgtEl>
                                      </p:cBhvr>
                                    </p:animEffect>
                                    <p:set>
                                      <p:cBhvr>
                                        <p:cTn id="257" dur="1" fill="hold">
                                          <p:stCondLst>
                                            <p:cond delay="319"/>
                                          </p:stCondLst>
                                        </p:cTn>
                                        <p:tgtEl>
                                          <p:spTgt spid="107"/>
                                        </p:tgtEl>
                                        <p:attrNameLst>
                                          <p:attrName>style.visibility</p:attrName>
                                        </p:attrNameLst>
                                      </p:cBhvr>
                                      <p:to>
                                        <p:strVal val="hidden"/>
                                      </p:to>
                                    </p:set>
                                  </p:childTnLst>
                                </p:cTn>
                              </p:par>
                              <p:par>
                                <p:cTn id="258" presetID="10" presetClass="exit" presetSubtype="0" fill="hold" grpId="1" nodeType="withEffect">
                                  <p:stCondLst>
                                    <p:cond delay="0"/>
                                  </p:stCondLst>
                                  <p:childTnLst>
                                    <p:animEffect transition="out" filter="fade">
                                      <p:cBhvr>
                                        <p:cTn id="259" dur="320"/>
                                        <p:tgtEl>
                                          <p:spTgt spid="108"/>
                                        </p:tgtEl>
                                      </p:cBhvr>
                                    </p:animEffect>
                                    <p:set>
                                      <p:cBhvr>
                                        <p:cTn id="260" dur="1" fill="hold">
                                          <p:stCondLst>
                                            <p:cond delay="319"/>
                                          </p:stCondLst>
                                        </p:cTn>
                                        <p:tgtEl>
                                          <p:spTgt spid="108"/>
                                        </p:tgtEl>
                                        <p:attrNameLst>
                                          <p:attrName>style.visibility</p:attrName>
                                        </p:attrNameLst>
                                      </p:cBhvr>
                                      <p:to>
                                        <p:strVal val="hidden"/>
                                      </p:to>
                                    </p:set>
                                  </p:childTnLst>
                                </p:cTn>
                              </p:par>
                              <p:par>
                                <p:cTn id="261" presetID="10" presetClass="entr" presetSubtype="0" fill="hold" grpId="0" nodeType="withEffect">
                                  <p:stCondLst>
                                    <p:cond delay="0"/>
                                  </p:stCondLst>
                                  <p:childTnLst>
                                    <p:set>
                                      <p:cBhvr>
                                        <p:cTn id="262" dur="1" fill="hold">
                                          <p:stCondLst>
                                            <p:cond delay="0"/>
                                          </p:stCondLst>
                                        </p:cTn>
                                        <p:tgtEl>
                                          <p:spTgt spid="58"/>
                                        </p:tgtEl>
                                        <p:attrNameLst>
                                          <p:attrName>style.visibility</p:attrName>
                                        </p:attrNameLst>
                                      </p:cBhvr>
                                      <p:to>
                                        <p:strVal val="visible"/>
                                      </p:to>
                                    </p:set>
                                    <p:animEffect transition="in" filter="fade">
                                      <p:cBhvr>
                                        <p:cTn id="263" dur="320"/>
                                        <p:tgtEl>
                                          <p:spTgt spid="58"/>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62"/>
                                        </p:tgtEl>
                                        <p:attrNameLst>
                                          <p:attrName>style.visibility</p:attrName>
                                        </p:attrNameLst>
                                      </p:cBhvr>
                                      <p:to>
                                        <p:strVal val="visible"/>
                                      </p:to>
                                    </p:set>
                                    <p:animEffect transition="in" filter="fade">
                                      <p:cBhvr>
                                        <p:cTn id="266" dur="320"/>
                                        <p:tgtEl>
                                          <p:spTgt spid="62"/>
                                        </p:tgtEl>
                                      </p:cBhvr>
                                    </p:animEffect>
                                  </p:childTnLst>
                                </p:cTn>
                              </p:par>
                              <p:par>
                                <p:cTn id="267" presetID="10" presetClass="entr" presetSubtype="0" fill="hold" grpId="0" nodeType="withEffect">
                                  <p:stCondLst>
                                    <p:cond delay="0"/>
                                  </p:stCondLst>
                                  <p:childTnLst>
                                    <p:set>
                                      <p:cBhvr>
                                        <p:cTn id="268" dur="1" fill="hold">
                                          <p:stCondLst>
                                            <p:cond delay="0"/>
                                          </p:stCondLst>
                                        </p:cTn>
                                        <p:tgtEl>
                                          <p:spTgt spid="63"/>
                                        </p:tgtEl>
                                        <p:attrNameLst>
                                          <p:attrName>style.visibility</p:attrName>
                                        </p:attrNameLst>
                                      </p:cBhvr>
                                      <p:to>
                                        <p:strVal val="visible"/>
                                      </p:to>
                                    </p:set>
                                    <p:animEffect transition="in" filter="fade">
                                      <p:cBhvr>
                                        <p:cTn id="269" dur="320"/>
                                        <p:tgtEl>
                                          <p:spTgt spid="63"/>
                                        </p:tgtEl>
                                      </p:cBhvr>
                                    </p:animEffect>
                                  </p:childTnLst>
                                </p:cTn>
                              </p:par>
                              <p:par>
                                <p:cTn id="270" presetID="10" presetClass="entr" presetSubtype="0" fill="hold" grpId="0" nodeType="withEffect">
                                  <p:stCondLst>
                                    <p:cond delay="0"/>
                                  </p:stCondLst>
                                  <p:childTnLst>
                                    <p:set>
                                      <p:cBhvr>
                                        <p:cTn id="271" dur="1" fill="hold">
                                          <p:stCondLst>
                                            <p:cond delay="0"/>
                                          </p:stCondLst>
                                        </p:cTn>
                                        <p:tgtEl>
                                          <p:spTgt spid="64"/>
                                        </p:tgtEl>
                                        <p:attrNameLst>
                                          <p:attrName>style.visibility</p:attrName>
                                        </p:attrNameLst>
                                      </p:cBhvr>
                                      <p:to>
                                        <p:strVal val="visible"/>
                                      </p:to>
                                    </p:set>
                                    <p:animEffect transition="in" filter="fade">
                                      <p:cBhvr>
                                        <p:cTn id="272" dur="320"/>
                                        <p:tgtEl>
                                          <p:spTgt spid="64"/>
                                        </p:tgtEl>
                                      </p:cBhvr>
                                    </p:animEffect>
                                  </p:childTnLst>
                                </p:cTn>
                              </p:par>
                              <p:par>
                                <p:cTn id="273" presetID="10" presetClass="entr" presetSubtype="0" fill="hold" grpId="0" nodeType="withEffect">
                                  <p:stCondLst>
                                    <p:cond delay="0"/>
                                  </p:stCondLst>
                                  <p:childTnLst>
                                    <p:set>
                                      <p:cBhvr>
                                        <p:cTn id="274" dur="1" fill="hold">
                                          <p:stCondLst>
                                            <p:cond delay="0"/>
                                          </p:stCondLst>
                                        </p:cTn>
                                        <p:tgtEl>
                                          <p:spTgt spid="68"/>
                                        </p:tgtEl>
                                        <p:attrNameLst>
                                          <p:attrName>style.visibility</p:attrName>
                                        </p:attrNameLst>
                                      </p:cBhvr>
                                      <p:to>
                                        <p:strVal val="visible"/>
                                      </p:to>
                                    </p:set>
                                    <p:animEffect transition="in" filter="fade">
                                      <p:cBhvr>
                                        <p:cTn id="275" dur="320"/>
                                        <p:tgtEl>
                                          <p:spTgt spid="68"/>
                                        </p:tgtEl>
                                      </p:cBhvr>
                                    </p:animEffect>
                                  </p:childTnLst>
                                </p:cTn>
                              </p:par>
                              <p:par>
                                <p:cTn id="276" presetID="10" presetClass="entr" presetSubtype="0" fill="hold" grpId="0" nodeType="withEffect">
                                  <p:stCondLst>
                                    <p:cond delay="0"/>
                                  </p:stCondLst>
                                  <p:childTnLst>
                                    <p:set>
                                      <p:cBhvr>
                                        <p:cTn id="277" dur="1" fill="hold">
                                          <p:stCondLst>
                                            <p:cond delay="0"/>
                                          </p:stCondLst>
                                        </p:cTn>
                                        <p:tgtEl>
                                          <p:spTgt spid="72"/>
                                        </p:tgtEl>
                                        <p:attrNameLst>
                                          <p:attrName>style.visibility</p:attrName>
                                        </p:attrNameLst>
                                      </p:cBhvr>
                                      <p:to>
                                        <p:strVal val="visible"/>
                                      </p:to>
                                    </p:set>
                                    <p:animEffect transition="in" filter="fade">
                                      <p:cBhvr>
                                        <p:cTn id="278" dur="320"/>
                                        <p:tgtEl>
                                          <p:spTgt spid="72"/>
                                        </p:tgtEl>
                                      </p:cBhvr>
                                    </p:animEffect>
                                  </p:childTnLst>
                                </p:cTn>
                              </p:par>
                              <p:par>
                                <p:cTn id="279" presetID="10" presetClass="entr" presetSubtype="0" fill="hold" grpId="0" nodeType="withEffect">
                                  <p:stCondLst>
                                    <p:cond delay="0"/>
                                  </p:stCondLst>
                                  <p:childTnLst>
                                    <p:set>
                                      <p:cBhvr>
                                        <p:cTn id="280" dur="1" fill="hold">
                                          <p:stCondLst>
                                            <p:cond delay="0"/>
                                          </p:stCondLst>
                                        </p:cTn>
                                        <p:tgtEl>
                                          <p:spTgt spid="73"/>
                                        </p:tgtEl>
                                        <p:attrNameLst>
                                          <p:attrName>style.visibility</p:attrName>
                                        </p:attrNameLst>
                                      </p:cBhvr>
                                      <p:to>
                                        <p:strVal val="visible"/>
                                      </p:to>
                                    </p:set>
                                    <p:animEffect transition="in" filter="fade">
                                      <p:cBhvr>
                                        <p:cTn id="281" dur="320"/>
                                        <p:tgtEl>
                                          <p:spTgt spid="73"/>
                                        </p:tgtEl>
                                      </p:cBhvr>
                                    </p:animEffect>
                                  </p:childTnLst>
                                </p:cTn>
                              </p:par>
                              <p:par>
                                <p:cTn id="282" presetID="10" presetClass="entr" presetSubtype="0" fill="hold" grpId="0" nodeType="withEffect">
                                  <p:stCondLst>
                                    <p:cond delay="0"/>
                                  </p:stCondLst>
                                  <p:childTnLst>
                                    <p:set>
                                      <p:cBhvr>
                                        <p:cTn id="283" dur="1" fill="hold">
                                          <p:stCondLst>
                                            <p:cond delay="0"/>
                                          </p:stCondLst>
                                        </p:cTn>
                                        <p:tgtEl>
                                          <p:spTgt spid="74"/>
                                        </p:tgtEl>
                                        <p:attrNameLst>
                                          <p:attrName>style.visibility</p:attrName>
                                        </p:attrNameLst>
                                      </p:cBhvr>
                                      <p:to>
                                        <p:strVal val="visible"/>
                                      </p:to>
                                    </p:set>
                                    <p:animEffect transition="in" filter="fade">
                                      <p:cBhvr>
                                        <p:cTn id="284" dur="320"/>
                                        <p:tgtEl>
                                          <p:spTgt spid="74"/>
                                        </p:tgtEl>
                                      </p:cBhvr>
                                    </p:animEffect>
                                  </p:childTnLst>
                                </p:cTn>
                              </p:par>
                              <p:par>
                                <p:cTn id="285" presetID="10" presetClass="entr" presetSubtype="0" fill="hold" grpId="0" nodeType="withEffect">
                                  <p:stCondLst>
                                    <p:cond delay="0"/>
                                  </p:stCondLst>
                                  <p:childTnLst>
                                    <p:set>
                                      <p:cBhvr>
                                        <p:cTn id="286" dur="1" fill="hold">
                                          <p:stCondLst>
                                            <p:cond delay="0"/>
                                          </p:stCondLst>
                                        </p:cTn>
                                        <p:tgtEl>
                                          <p:spTgt spid="82"/>
                                        </p:tgtEl>
                                        <p:attrNameLst>
                                          <p:attrName>style.visibility</p:attrName>
                                        </p:attrNameLst>
                                      </p:cBhvr>
                                      <p:to>
                                        <p:strVal val="visible"/>
                                      </p:to>
                                    </p:set>
                                    <p:animEffect transition="in" filter="fade">
                                      <p:cBhvr>
                                        <p:cTn id="287" dur="320"/>
                                        <p:tgtEl>
                                          <p:spTgt spid="82"/>
                                        </p:tgtEl>
                                      </p:cBhvr>
                                    </p:animEffect>
                                  </p:childTnLst>
                                </p:cTn>
                              </p:par>
                              <p:par>
                                <p:cTn id="288" presetID="10" presetClass="entr" presetSubtype="0" fill="hold" grpId="0" nodeType="withEffect">
                                  <p:stCondLst>
                                    <p:cond delay="0"/>
                                  </p:stCondLst>
                                  <p:childTnLst>
                                    <p:set>
                                      <p:cBhvr>
                                        <p:cTn id="289" dur="1" fill="hold">
                                          <p:stCondLst>
                                            <p:cond delay="0"/>
                                          </p:stCondLst>
                                        </p:cTn>
                                        <p:tgtEl>
                                          <p:spTgt spid="83"/>
                                        </p:tgtEl>
                                        <p:attrNameLst>
                                          <p:attrName>style.visibility</p:attrName>
                                        </p:attrNameLst>
                                      </p:cBhvr>
                                      <p:to>
                                        <p:strVal val="visible"/>
                                      </p:to>
                                    </p:set>
                                    <p:animEffect transition="in" filter="fade">
                                      <p:cBhvr>
                                        <p:cTn id="290" dur="320"/>
                                        <p:tgtEl>
                                          <p:spTgt spid="83"/>
                                        </p:tgtEl>
                                      </p:cBhvr>
                                    </p:animEffect>
                                  </p:childTnLst>
                                </p:cTn>
                              </p:par>
                              <p:par>
                                <p:cTn id="291" presetID="10" presetClass="entr" presetSubtype="0" fill="hold" grpId="0" nodeType="withEffect">
                                  <p:stCondLst>
                                    <p:cond delay="0"/>
                                  </p:stCondLst>
                                  <p:childTnLst>
                                    <p:set>
                                      <p:cBhvr>
                                        <p:cTn id="292" dur="1" fill="hold">
                                          <p:stCondLst>
                                            <p:cond delay="0"/>
                                          </p:stCondLst>
                                        </p:cTn>
                                        <p:tgtEl>
                                          <p:spTgt spid="84"/>
                                        </p:tgtEl>
                                        <p:attrNameLst>
                                          <p:attrName>style.visibility</p:attrName>
                                        </p:attrNameLst>
                                      </p:cBhvr>
                                      <p:to>
                                        <p:strVal val="visible"/>
                                      </p:to>
                                    </p:set>
                                    <p:animEffect transition="in" filter="fade">
                                      <p:cBhvr>
                                        <p:cTn id="293" dur="320"/>
                                        <p:tgtEl>
                                          <p:spTgt spid="84"/>
                                        </p:tgtEl>
                                      </p:cBhvr>
                                    </p:animEffect>
                                  </p:childTnLst>
                                </p:cTn>
                              </p:par>
                              <p:par>
                                <p:cTn id="294" presetID="10" presetClass="entr" presetSubtype="0" fill="hold" grpId="0" nodeType="withEffect">
                                  <p:stCondLst>
                                    <p:cond delay="0"/>
                                  </p:stCondLst>
                                  <p:childTnLst>
                                    <p:set>
                                      <p:cBhvr>
                                        <p:cTn id="295" dur="1" fill="hold">
                                          <p:stCondLst>
                                            <p:cond delay="0"/>
                                          </p:stCondLst>
                                        </p:cTn>
                                        <p:tgtEl>
                                          <p:spTgt spid="94"/>
                                        </p:tgtEl>
                                        <p:attrNameLst>
                                          <p:attrName>style.visibility</p:attrName>
                                        </p:attrNameLst>
                                      </p:cBhvr>
                                      <p:to>
                                        <p:strVal val="visible"/>
                                      </p:to>
                                    </p:set>
                                    <p:animEffect transition="in" filter="fade">
                                      <p:cBhvr>
                                        <p:cTn id="296" dur="320"/>
                                        <p:tgtEl>
                                          <p:spTgt spid="94"/>
                                        </p:tgtEl>
                                      </p:cBhvr>
                                    </p:animEffect>
                                  </p:childTnLst>
                                </p:cTn>
                              </p:par>
                              <p:par>
                                <p:cTn id="297" presetID="10" presetClass="entr" presetSubtype="0" fill="hold" grpId="0" nodeType="withEffect">
                                  <p:stCondLst>
                                    <p:cond delay="0"/>
                                  </p:stCondLst>
                                  <p:childTnLst>
                                    <p:set>
                                      <p:cBhvr>
                                        <p:cTn id="298" dur="1" fill="hold">
                                          <p:stCondLst>
                                            <p:cond delay="0"/>
                                          </p:stCondLst>
                                        </p:cTn>
                                        <p:tgtEl>
                                          <p:spTgt spid="95"/>
                                        </p:tgtEl>
                                        <p:attrNameLst>
                                          <p:attrName>style.visibility</p:attrName>
                                        </p:attrNameLst>
                                      </p:cBhvr>
                                      <p:to>
                                        <p:strVal val="visible"/>
                                      </p:to>
                                    </p:set>
                                    <p:animEffect transition="in" filter="fade">
                                      <p:cBhvr>
                                        <p:cTn id="299" dur="320"/>
                                        <p:tgtEl>
                                          <p:spTgt spid="95"/>
                                        </p:tgtEl>
                                      </p:cBhvr>
                                    </p:animEffect>
                                  </p:childTnLst>
                                </p:cTn>
                              </p:par>
                              <p:par>
                                <p:cTn id="300" presetID="10" presetClass="entr" presetSubtype="0" fill="hold" grpId="0" nodeType="withEffect">
                                  <p:stCondLst>
                                    <p:cond delay="0"/>
                                  </p:stCondLst>
                                  <p:childTnLst>
                                    <p:set>
                                      <p:cBhvr>
                                        <p:cTn id="301" dur="1" fill="hold">
                                          <p:stCondLst>
                                            <p:cond delay="0"/>
                                          </p:stCondLst>
                                        </p:cTn>
                                        <p:tgtEl>
                                          <p:spTgt spid="96"/>
                                        </p:tgtEl>
                                        <p:attrNameLst>
                                          <p:attrName>style.visibility</p:attrName>
                                        </p:attrNameLst>
                                      </p:cBhvr>
                                      <p:to>
                                        <p:strVal val="visible"/>
                                      </p:to>
                                    </p:set>
                                    <p:animEffect transition="in" filter="fade">
                                      <p:cBhvr>
                                        <p:cTn id="302" dur="320"/>
                                        <p:tgtEl>
                                          <p:spTgt spid="96"/>
                                        </p:tgtEl>
                                      </p:cBhvr>
                                    </p:animEffect>
                                  </p:childTnLst>
                                </p:cTn>
                              </p:par>
                              <p:par>
                                <p:cTn id="303" presetID="10" presetClass="entr" presetSubtype="0" fill="hold" grpId="0" nodeType="withEffect">
                                  <p:stCondLst>
                                    <p:cond delay="0"/>
                                  </p:stCondLst>
                                  <p:childTnLst>
                                    <p:set>
                                      <p:cBhvr>
                                        <p:cTn id="304" dur="1" fill="hold">
                                          <p:stCondLst>
                                            <p:cond delay="0"/>
                                          </p:stCondLst>
                                        </p:cTn>
                                        <p:tgtEl>
                                          <p:spTgt spid="100"/>
                                        </p:tgtEl>
                                        <p:attrNameLst>
                                          <p:attrName>style.visibility</p:attrName>
                                        </p:attrNameLst>
                                      </p:cBhvr>
                                      <p:to>
                                        <p:strVal val="visible"/>
                                      </p:to>
                                    </p:set>
                                    <p:animEffect transition="in" filter="fade">
                                      <p:cBhvr>
                                        <p:cTn id="305" dur="320"/>
                                        <p:tgtEl>
                                          <p:spTgt spid="100"/>
                                        </p:tgtEl>
                                      </p:cBhvr>
                                    </p:animEffect>
                                  </p:childTnLst>
                                </p:cTn>
                              </p:par>
                              <p:par>
                                <p:cTn id="306" presetID="10" presetClass="entr" presetSubtype="0" fill="hold" grpId="0" nodeType="withEffect">
                                  <p:stCondLst>
                                    <p:cond delay="0"/>
                                  </p:stCondLst>
                                  <p:childTnLst>
                                    <p:set>
                                      <p:cBhvr>
                                        <p:cTn id="307" dur="1" fill="hold">
                                          <p:stCondLst>
                                            <p:cond delay="0"/>
                                          </p:stCondLst>
                                        </p:cTn>
                                        <p:tgtEl>
                                          <p:spTgt spid="101"/>
                                        </p:tgtEl>
                                        <p:attrNameLst>
                                          <p:attrName>style.visibility</p:attrName>
                                        </p:attrNameLst>
                                      </p:cBhvr>
                                      <p:to>
                                        <p:strVal val="visible"/>
                                      </p:to>
                                    </p:set>
                                    <p:animEffect transition="in" filter="fade">
                                      <p:cBhvr>
                                        <p:cTn id="308" dur="320"/>
                                        <p:tgtEl>
                                          <p:spTgt spid="101"/>
                                        </p:tgtEl>
                                      </p:cBhvr>
                                    </p:animEffect>
                                  </p:childTnLst>
                                </p:cTn>
                              </p:par>
                              <p:par>
                                <p:cTn id="309" presetID="10" presetClass="entr" presetSubtype="0" fill="hold" grpId="0" nodeType="withEffect">
                                  <p:stCondLst>
                                    <p:cond delay="0"/>
                                  </p:stCondLst>
                                  <p:childTnLst>
                                    <p:set>
                                      <p:cBhvr>
                                        <p:cTn id="310" dur="1" fill="hold">
                                          <p:stCondLst>
                                            <p:cond delay="0"/>
                                          </p:stCondLst>
                                        </p:cTn>
                                        <p:tgtEl>
                                          <p:spTgt spid="102"/>
                                        </p:tgtEl>
                                        <p:attrNameLst>
                                          <p:attrName>style.visibility</p:attrName>
                                        </p:attrNameLst>
                                      </p:cBhvr>
                                      <p:to>
                                        <p:strVal val="visible"/>
                                      </p:to>
                                    </p:set>
                                    <p:animEffect transition="in" filter="fade">
                                      <p:cBhvr>
                                        <p:cTn id="311" dur="320"/>
                                        <p:tgtEl>
                                          <p:spTgt spid="102"/>
                                        </p:tgtEl>
                                      </p:cBhvr>
                                    </p:animEffect>
                                  </p:childTnLst>
                                </p:cTn>
                              </p:par>
                              <p:par>
                                <p:cTn id="312" presetID="10" presetClass="entr" presetSubtype="0" fill="hold" grpId="0" nodeType="withEffect">
                                  <p:stCondLst>
                                    <p:cond delay="0"/>
                                  </p:stCondLst>
                                  <p:childTnLst>
                                    <p:set>
                                      <p:cBhvr>
                                        <p:cTn id="313" dur="1" fill="hold">
                                          <p:stCondLst>
                                            <p:cond delay="0"/>
                                          </p:stCondLst>
                                        </p:cTn>
                                        <p:tgtEl>
                                          <p:spTgt spid="103"/>
                                        </p:tgtEl>
                                        <p:attrNameLst>
                                          <p:attrName>style.visibility</p:attrName>
                                        </p:attrNameLst>
                                      </p:cBhvr>
                                      <p:to>
                                        <p:strVal val="visible"/>
                                      </p:to>
                                    </p:set>
                                    <p:animEffect transition="in" filter="fade">
                                      <p:cBhvr>
                                        <p:cTn id="314" dur="320"/>
                                        <p:tgtEl>
                                          <p:spTgt spid="103"/>
                                        </p:tgtEl>
                                      </p:cBhvr>
                                    </p:animEffect>
                                  </p:childTnLst>
                                </p:cTn>
                              </p:par>
                              <p:par>
                                <p:cTn id="315" presetID="10" presetClass="entr" presetSubtype="0" fill="hold" grpId="0" nodeType="withEffect">
                                  <p:stCondLst>
                                    <p:cond delay="0"/>
                                  </p:stCondLst>
                                  <p:childTnLst>
                                    <p:set>
                                      <p:cBhvr>
                                        <p:cTn id="316" dur="1" fill="hold">
                                          <p:stCondLst>
                                            <p:cond delay="0"/>
                                          </p:stCondLst>
                                        </p:cTn>
                                        <p:tgtEl>
                                          <p:spTgt spid="109"/>
                                        </p:tgtEl>
                                        <p:attrNameLst>
                                          <p:attrName>style.visibility</p:attrName>
                                        </p:attrNameLst>
                                      </p:cBhvr>
                                      <p:to>
                                        <p:strVal val="visible"/>
                                      </p:to>
                                    </p:set>
                                    <p:animEffect transition="in" filter="fade">
                                      <p:cBhvr>
                                        <p:cTn id="317" dur="320"/>
                                        <p:tgtEl>
                                          <p:spTgt spid="109"/>
                                        </p:tgtEl>
                                      </p:cBhvr>
                                    </p:animEffect>
                                  </p:childTnLst>
                                </p:cTn>
                              </p:par>
                              <p:par>
                                <p:cTn id="318" presetID="10" presetClass="entr" presetSubtype="0" fill="hold" grpId="0" nodeType="withEffect">
                                  <p:stCondLst>
                                    <p:cond delay="0"/>
                                  </p:stCondLst>
                                  <p:childTnLst>
                                    <p:set>
                                      <p:cBhvr>
                                        <p:cTn id="319" dur="1" fill="hold">
                                          <p:stCondLst>
                                            <p:cond delay="0"/>
                                          </p:stCondLst>
                                        </p:cTn>
                                        <p:tgtEl>
                                          <p:spTgt spid="110"/>
                                        </p:tgtEl>
                                        <p:attrNameLst>
                                          <p:attrName>style.visibility</p:attrName>
                                        </p:attrNameLst>
                                      </p:cBhvr>
                                      <p:to>
                                        <p:strVal val="visible"/>
                                      </p:to>
                                    </p:set>
                                    <p:animEffect transition="in" filter="fade">
                                      <p:cBhvr>
                                        <p:cTn id="320" dur="320"/>
                                        <p:tgtEl>
                                          <p:spTgt spid="110"/>
                                        </p:tgtEl>
                                      </p:cBhvr>
                                    </p:animEffect>
                                  </p:childTnLst>
                                </p:cTn>
                              </p:par>
                              <p:par>
                                <p:cTn id="321" presetID="10" presetClass="entr" presetSubtype="0" fill="hold" grpId="0" nodeType="withEffect">
                                  <p:stCondLst>
                                    <p:cond delay="0"/>
                                  </p:stCondLst>
                                  <p:childTnLst>
                                    <p:set>
                                      <p:cBhvr>
                                        <p:cTn id="322" dur="1" fill="hold">
                                          <p:stCondLst>
                                            <p:cond delay="0"/>
                                          </p:stCondLst>
                                        </p:cTn>
                                        <p:tgtEl>
                                          <p:spTgt spid="111"/>
                                        </p:tgtEl>
                                        <p:attrNameLst>
                                          <p:attrName>style.visibility</p:attrName>
                                        </p:attrNameLst>
                                      </p:cBhvr>
                                      <p:to>
                                        <p:strVal val="visible"/>
                                      </p:to>
                                    </p:set>
                                    <p:animEffect transition="in" filter="fade">
                                      <p:cBhvr>
                                        <p:cTn id="323" dur="320"/>
                                        <p:tgtEl>
                                          <p:spTgt spid="111"/>
                                        </p:tgtEl>
                                      </p:cBhvr>
                                    </p:animEffect>
                                  </p:childTnLst>
                                </p:cTn>
                              </p:par>
                            </p:childTnLst>
                          </p:cTn>
                        </p:par>
                      </p:childTnLst>
                    </p:cTn>
                  </p:par>
                  <p:par>
                    <p:cTn id="410" fill="hold">
                      <p:stCondLst>
                        <p:cond delay="indefinite"/>
                      </p:stCondLst>
                      <p:childTnLst>
                        <p:par>
                          <p:cTn id="411" fill="hold">
                            <p:stCondLst>
                              <p:cond delay="0"/>
                            </p:stCondLst>
                            <p:childTnLst>
                              <p:par>
                                <p:cTn id="326" presetID="10" presetClass="exit" presetSubtype="0" fill="hold" grpId="1" nodeType="clickEffect">
                                  <p:stCondLst>
                                    <p:cond delay="0"/>
                                  </p:stCondLst>
                                  <p:childTnLst>
                                    <p:animEffect transition="out" filter="fade">
                                      <p:cBhvr>
                                        <p:cTn id="327" dur="320"/>
                                        <p:tgtEl>
                                          <p:spTgt spid="82"/>
                                        </p:tgtEl>
                                      </p:cBhvr>
                                    </p:animEffect>
                                    <p:set>
                                      <p:cBhvr>
                                        <p:cTn id="328" dur="1" fill="hold">
                                          <p:stCondLst>
                                            <p:cond delay="319"/>
                                          </p:stCondLst>
                                        </p:cTn>
                                        <p:tgtEl>
                                          <p:spTgt spid="82"/>
                                        </p:tgtEl>
                                        <p:attrNameLst>
                                          <p:attrName>style.visibility</p:attrName>
                                        </p:attrNameLst>
                                      </p:cBhvr>
                                      <p:to>
                                        <p:strVal val="hidden"/>
                                      </p:to>
                                    </p:set>
                                  </p:childTnLst>
                                </p:cTn>
                              </p:par>
                              <p:par>
                                <p:cTn id="329" presetID="10" presetClass="exit" presetSubtype="0" fill="hold" grpId="1" nodeType="withEffect">
                                  <p:stCondLst>
                                    <p:cond delay="0"/>
                                  </p:stCondLst>
                                  <p:childTnLst>
                                    <p:animEffect transition="out" filter="fade">
                                      <p:cBhvr>
                                        <p:cTn id="330" dur="320"/>
                                        <p:tgtEl>
                                          <p:spTgt spid="83"/>
                                        </p:tgtEl>
                                      </p:cBhvr>
                                    </p:animEffect>
                                    <p:set>
                                      <p:cBhvr>
                                        <p:cTn id="331" dur="1" fill="hold">
                                          <p:stCondLst>
                                            <p:cond delay="319"/>
                                          </p:stCondLst>
                                        </p:cTn>
                                        <p:tgtEl>
                                          <p:spTgt spid="83"/>
                                        </p:tgtEl>
                                        <p:attrNameLst>
                                          <p:attrName>style.visibility</p:attrName>
                                        </p:attrNameLst>
                                      </p:cBhvr>
                                      <p:to>
                                        <p:strVal val="hidden"/>
                                      </p:to>
                                    </p:set>
                                  </p:childTnLst>
                                </p:cTn>
                              </p:par>
                              <p:par>
                                <p:cTn id="332" presetID="10" presetClass="exit" presetSubtype="0" fill="hold" grpId="1" nodeType="withEffect">
                                  <p:stCondLst>
                                    <p:cond delay="0"/>
                                  </p:stCondLst>
                                  <p:childTnLst>
                                    <p:animEffect transition="out" filter="fade">
                                      <p:cBhvr>
                                        <p:cTn id="333" dur="320"/>
                                        <p:tgtEl>
                                          <p:spTgt spid="84"/>
                                        </p:tgtEl>
                                      </p:cBhvr>
                                    </p:animEffect>
                                    <p:set>
                                      <p:cBhvr>
                                        <p:cTn id="334" dur="1" fill="hold">
                                          <p:stCondLst>
                                            <p:cond delay="319"/>
                                          </p:stCondLst>
                                        </p:cTn>
                                        <p:tgtEl>
                                          <p:spTgt spid="84"/>
                                        </p:tgtEl>
                                        <p:attrNameLst>
                                          <p:attrName>style.visibility</p:attrName>
                                        </p:attrNameLst>
                                      </p:cBhvr>
                                      <p:to>
                                        <p:strVal val="hidden"/>
                                      </p:to>
                                    </p:set>
                                  </p:childTnLst>
                                </p:cTn>
                              </p:par>
                              <p:par>
                                <p:cTn id="335" presetID="10" presetClass="exit" presetSubtype="0" fill="hold" grpId="1" nodeType="withEffect">
                                  <p:stCondLst>
                                    <p:cond delay="0"/>
                                  </p:stCondLst>
                                  <p:childTnLst>
                                    <p:animEffect transition="out" filter="fade">
                                      <p:cBhvr>
                                        <p:cTn id="336" dur="320"/>
                                        <p:tgtEl>
                                          <p:spTgt spid="94"/>
                                        </p:tgtEl>
                                      </p:cBhvr>
                                    </p:animEffect>
                                    <p:set>
                                      <p:cBhvr>
                                        <p:cTn id="337" dur="1" fill="hold">
                                          <p:stCondLst>
                                            <p:cond delay="319"/>
                                          </p:stCondLst>
                                        </p:cTn>
                                        <p:tgtEl>
                                          <p:spTgt spid="94"/>
                                        </p:tgtEl>
                                        <p:attrNameLst>
                                          <p:attrName>style.visibility</p:attrName>
                                        </p:attrNameLst>
                                      </p:cBhvr>
                                      <p:to>
                                        <p:strVal val="hidden"/>
                                      </p:to>
                                    </p:set>
                                  </p:childTnLst>
                                </p:cTn>
                              </p:par>
                              <p:par>
                                <p:cTn id="338" presetID="10" presetClass="exit" presetSubtype="0" fill="hold" grpId="1" nodeType="withEffect">
                                  <p:stCondLst>
                                    <p:cond delay="0"/>
                                  </p:stCondLst>
                                  <p:childTnLst>
                                    <p:animEffect transition="out" filter="fade">
                                      <p:cBhvr>
                                        <p:cTn id="339" dur="320"/>
                                        <p:tgtEl>
                                          <p:spTgt spid="95"/>
                                        </p:tgtEl>
                                      </p:cBhvr>
                                    </p:animEffect>
                                    <p:set>
                                      <p:cBhvr>
                                        <p:cTn id="340" dur="1" fill="hold">
                                          <p:stCondLst>
                                            <p:cond delay="319"/>
                                          </p:stCondLst>
                                        </p:cTn>
                                        <p:tgtEl>
                                          <p:spTgt spid="95"/>
                                        </p:tgtEl>
                                        <p:attrNameLst>
                                          <p:attrName>style.visibility</p:attrName>
                                        </p:attrNameLst>
                                      </p:cBhvr>
                                      <p:to>
                                        <p:strVal val="hidden"/>
                                      </p:to>
                                    </p:set>
                                  </p:childTnLst>
                                </p:cTn>
                              </p:par>
                              <p:par>
                                <p:cTn id="341" presetID="10" presetClass="exit" presetSubtype="0" fill="hold" grpId="1" nodeType="withEffect">
                                  <p:stCondLst>
                                    <p:cond delay="0"/>
                                  </p:stCondLst>
                                  <p:childTnLst>
                                    <p:animEffect transition="out" filter="fade">
                                      <p:cBhvr>
                                        <p:cTn id="342" dur="320"/>
                                        <p:tgtEl>
                                          <p:spTgt spid="96"/>
                                        </p:tgtEl>
                                      </p:cBhvr>
                                    </p:animEffect>
                                    <p:set>
                                      <p:cBhvr>
                                        <p:cTn id="343" dur="1" fill="hold">
                                          <p:stCondLst>
                                            <p:cond delay="319"/>
                                          </p:stCondLst>
                                        </p:cTn>
                                        <p:tgtEl>
                                          <p:spTgt spid="96"/>
                                        </p:tgtEl>
                                        <p:attrNameLst>
                                          <p:attrName>style.visibility</p:attrName>
                                        </p:attrNameLst>
                                      </p:cBhvr>
                                      <p:to>
                                        <p:strVal val="hidden"/>
                                      </p:to>
                                    </p:set>
                                  </p:childTnLst>
                                </p:cTn>
                              </p:par>
                              <p:par>
                                <p:cTn id="344" presetID="10" presetClass="exit" presetSubtype="0" fill="hold" grpId="1" nodeType="withEffect">
                                  <p:stCondLst>
                                    <p:cond delay="0"/>
                                  </p:stCondLst>
                                  <p:childTnLst>
                                    <p:animEffect transition="out" filter="fade">
                                      <p:cBhvr>
                                        <p:cTn id="345" dur="320"/>
                                        <p:tgtEl>
                                          <p:spTgt spid="109"/>
                                        </p:tgtEl>
                                      </p:cBhvr>
                                    </p:animEffect>
                                    <p:set>
                                      <p:cBhvr>
                                        <p:cTn id="346" dur="1" fill="hold">
                                          <p:stCondLst>
                                            <p:cond delay="319"/>
                                          </p:stCondLst>
                                        </p:cTn>
                                        <p:tgtEl>
                                          <p:spTgt spid="109"/>
                                        </p:tgtEl>
                                        <p:attrNameLst>
                                          <p:attrName>style.visibility</p:attrName>
                                        </p:attrNameLst>
                                      </p:cBhvr>
                                      <p:to>
                                        <p:strVal val="hidden"/>
                                      </p:to>
                                    </p:set>
                                  </p:childTnLst>
                                </p:cTn>
                              </p:par>
                              <p:par>
                                <p:cTn id="347" presetID="10" presetClass="exit" presetSubtype="0" fill="hold" grpId="1" nodeType="withEffect">
                                  <p:stCondLst>
                                    <p:cond delay="0"/>
                                  </p:stCondLst>
                                  <p:childTnLst>
                                    <p:animEffect transition="out" filter="fade">
                                      <p:cBhvr>
                                        <p:cTn id="348" dur="320"/>
                                        <p:tgtEl>
                                          <p:spTgt spid="110"/>
                                        </p:tgtEl>
                                      </p:cBhvr>
                                    </p:animEffect>
                                    <p:set>
                                      <p:cBhvr>
                                        <p:cTn id="349" dur="1" fill="hold">
                                          <p:stCondLst>
                                            <p:cond delay="319"/>
                                          </p:stCondLst>
                                        </p:cTn>
                                        <p:tgtEl>
                                          <p:spTgt spid="110"/>
                                        </p:tgtEl>
                                        <p:attrNameLst>
                                          <p:attrName>style.visibility</p:attrName>
                                        </p:attrNameLst>
                                      </p:cBhvr>
                                      <p:to>
                                        <p:strVal val="hidden"/>
                                      </p:to>
                                    </p:set>
                                  </p:childTnLst>
                                </p:cTn>
                              </p:par>
                              <p:par>
                                <p:cTn id="350" presetID="10" presetClass="exit" presetSubtype="0" fill="hold" grpId="1" nodeType="withEffect">
                                  <p:stCondLst>
                                    <p:cond delay="0"/>
                                  </p:stCondLst>
                                  <p:childTnLst>
                                    <p:animEffect transition="out" filter="fade">
                                      <p:cBhvr>
                                        <p:cTn id="351" dur="320"/>
                                        <p:tgtEl>
                                          <p:spTgt spid="111"/>
                                        </p:tgtEl>
                                      </p:cBhvr>
                                    </p:animEffect>
                                    <p:set>
                                      <p:cBhvr>
                                        <p:cTn id="352" dur="1" fill="hold">
                                          <p:stCondLst>
                                            <p:cond delay="319"/>
                                          </p:stCondLst>
                                        </p:cTn>
                                        <p:tgtEl>
                                          <p:spTgt spid="111"/>
                                        </p:tgtEl>
                                        <p:attrNameLst>
                                          <p:attrName>style.visibility</p:attrName>
                                        </p:attrNameLst>
                                      </p:cBhvr>
                                      <p:to>
                                        <p:strVal val="hidden"/>
                                      </p:to>
                                    </p:set>
                                  </p:childTnLst>
                                </p:cTn>
                              </p:par>
                              <p:par>
                                <p:cTn id="353" presetID="10" presetClass="entr" presetSubtype="0" fill="hold" grpId="0" nodeType="withEffect">
                                  <p:stCondLst>
                                    <p:cond delay="0"/>
                                  </p:stCondLst>
                                  <p:childTnLst>
                                    <p:set>
                                      <p:cBhvr>
                                        <p:cTn id="354" dur="1" fill="hold">
                                          <p:stCondLst>
                                            <p:cond delay="0"/>
                                          </p:stCondLst>
                                        </p:cTn>
                                        <p:tgtEl>
                                          <p:spTgt spid="32"/>
                                        </p:tgtEl>
                                        <p:attrNameLst>
                                          <p:attrName>style.visibility</p:attrName>
                                        </p:attrNameLst>
                                      </p:cBhvr>
                                      <p:to>
                                        <p:strVal val="visible"/>
                                      </p:to>
                                    </p:set>
                                    <p:animEffect transition="in" filter="fade">
                                      <p:cBhvr>
                                        <p:cTn id="355" dur="320"/>
                                        <p:tgtEl>
                                          <p:spTgt spid="32"/>
                                        </p:tgtEl>
                                      </p:cBhvr>
                                    </p:animEffect>
                                  </p:childTnLst>
                                </p:cTn>
                              </p:par>
                              <p:par>
                                <p:cTn id="356" presetID="10" presetClass="entr" presetSubtype="0" fill="hold" grpId="0" nodeType="withEffect">
                                  <p:stCondLst>
                                    <p:cond delay="0"/>
                                  </p:stCondLst>
                                  <p:childTnLst>
                                    <p:set>
                                      <p:cBhvr>
                                        <p:cTn id="357" dur="1" fill="hold">
                                          <p:stCondLst>
                                            <p:cond delay="0"/>
                                          </p:stCondLst>
                                        </p:cTn>
                                        <p:tgtEl>
                                          <p:spTgt spid="33"/>
                                        </p:tgtEl>
                                        <p:attrNameLst>
                                          <p:attrName>style.visibility</p:attrName>
                                        </p:attrNameLst>
                                      </p:cBhvr>
                                      <p:to>
                                        <p:strVal val="visible"/>
                                      </p:to>
                                    </p:set>
                                    <p:animEffect transition="in" filter="fade">
                                      <p:cBhvr>
                                        <p:cTn id="358" dur="320"/>
                                        <p:tgtEl>
                                          <p:spTgt spid="33"/>
                                        </p:tgtEl>
                                      </p:cBhvr>
                                    </p:animEffect>
                                  </p:childTnLst>
                                </p:cTn>
                              </p:par>
                              <p:par>
                                <p:cTn id="359" presetID="10" presetClass="entr" presetSubtype="0" fill="hold" grpId="0" nodeType="withEffect">
                                  <p:stCondLst>
                                    <p:cond delay="0"/>
                                  </p:stCondLst>
                                  <p:childTnLst>
                                    <p:set>
                                      <p:cBhvr>
                                        <p:cTn id="360" dur="1" fill="hold">
                                          <p:stCondLst>
                                            <p:cond delay="0"/>
                                          </p:stCondLst>
                                        </p:cTn>
                                        <p:tgtEl>
                                          <p:spTgt spid="34"/>
                                        </p:tgtEl>
                                        <p:attrNameLst>
                                          <p:attrName>style.visibility</p:attrName>
                                        </p:attrNameLst>
                                      </p:cBhvr>
                                      <p:to>
                                        <p:strVal val="visible"/>
                                      </p:to>
                                    </p:set>
                                    <p:animEffect transition="in" filter="fade">
                                      <p:cBhvr>
                                        <p:cTn id="361" dur="320"/>
                                        <p:tgtEl>
                                          <p:spTgt spid="34"/>
                                        </p:tgtEl>
                                      </p:cBhvr>
                                    </p:animEffect>
                                  </p:childTnLst>
                                </p:cTn>
                              </p:par>
                              <p:par>
                                <p:cTn id="362" presetID="10" presetClass="entr" presetSubtype="0" fill="hold" grpId="0" nodeType="withEffect">
                                  <p:stCondLst>
                                    <p:cond delay="0"/>
                                  </p:stCondLst>
                                  <p:childTnLst>
                                    <p:set>
                                      <p:cBhvr>
                                        <p:cTn id="363" dur="1" fill="hold">
                                          <p:stCondLst>
                                            <p:cond delay="0"/>
                                          </p:stCondLst>
                                        </p:cTn>
                                        <p:tgtEl>
                                          <p:spTgt spid="35"/>
                                        </p:tgtEl>
                                        <p:attrNameLst>
                                          <p:attrName>style.visibility</p:attrName>
                                        </p:attrNameLst>
                                      </p:cBhvr>
                                      <p:to>
                                        <p:strVal val="visible"/>
                                      </p:to>
                                    </p:set>
                                    <p:animEffect transition="in" filter="fade">
                                      <p:cBhvr>
                                        <p:cTn id="364" dur="320"/>
                                        <p:tgtEl>
                                          <p:spTgt spid="35"/>
                                        </p:tgtEl>
                                      </p:cBhvr>
                                    </p:animEffect>
                                  </p:childTnLst>
                                </p:cTn>
                              </p:par>
                              <p:par>
                                <p:cTn id="365" presetID="10" presetClass="entr" presetSubtype="0" fill="hold" grpId="0" nodeType="withEffect">
                                  <p:stCondLst>
                                    <p:cond delay="0"/>
                                  </p:stCondLst>
                                  <p:childTnLst>
                                    <p:set>
                                      <p:cBhvr>
                                        <p:cTn id="366" dur="1" fill="hold">
                                          <p:stCondLst>
                                            <p:cond delay="0"/>
                                          </p:stCondLst>
                                        </p:cTn>
                                        <p:tgtEl>
                                          <p:spTgt spid="36"/>
                                        </p:tgtEl>
                                        <p:attrNameLst>
                                          <p:attrName>style.visibility</p:attrName>
                                        </p:attrNameLst>
                                      </p:cBhvr>
                                      <p:to>
                                        <p:strVal val="visible"/>
                                      </p:to>
                                    </p:set>
                                    <p:animEffect transition="in" filter="fade">
                                      <p:cBhvr>
                                        <p:cTn id="367" dur="320"/>
                                        <p:tgtEl>
                                          <p:spTgt spid="36"/>
                                        </p:tgtEl>
                                      </p:cBhvr>
                                    </p:animEffect>
                                  </p:childTnLst>
                                </p:cTn>
                              </p:par>
                              <p:par>
                                <p:cTn id="368" presetID="10" presetClass="entr" presetSubtype="0" fill="hold" grpId="0" nodeType="withEffect">
                                  <p:stCondLst>
                                    <p:cond delay="0"/>
                                  </p:stCondLst>
                                  <p:childTnLst>
                                    <p:set>
                                      <p:cBhvr>
                                        <p:cTn id="369" dur="1" fill="hold">
                                          <p:stCondLst>
                                            <p:cond delay="0"/>
                                          </p:stCondLst>
                                        </p:cTn>
                                        <p:tgtEl>
                                          <p:spTgt spid="37"/>
                                        </p:tgtEl>
                                        <p:attrNameLst>
                                          <p:attrName>style.visibility</p:attrName>
                                        </p:attrNameLst>
                                      </p:cBhvr>
                                      <p:to>
                                        <p:strVal val="visible"/>
                                      </p:to>
                                    </p:set>
                                    <p:animEffect transition="in" filter="fade">
                                      <p:cBhvr>
                                        <p:cTn id="370" dur="320"/>
                                        <p:tgtEl>
                                          <p:spTgt spid="37"/>
                                        </p:tgtEl>
                                      </p:cBhvr>
                                    </p:animEffect>
                                  </p:childTnLst>
                                </p:cTn>
                              </p:par>
                              <p:par>
                                <p:cTn id="371" presetID="10" presetClass="entr" presetSubtype="0" fill="hold" grpId="0" nodeType="withEffect">
                                  <p:stCondLst>
                                    <p:cond delay="0"/>
                                  </p:stCondLst>
                                  <p:childTnLst>
                                    <p:set>
                                      <p:cBhvr>
                                        <p:cTn id="372" dur="1" fill="hold">
                                          <p:stCondLst>
                                            <p:cond delay="0"/>
                                          </p:stCondLst>
                                        </p:cTn>
                                        <p:tgtEl>
                                          <p:spTgt spid="38"/>
                                        </p:tgtEl>
                                        <p:attrNameLst>
                                          <p:attrName>style.visibility</p:attrName>
                                        </p:attrNameLst>
                                      </p:cBhvr>
                                      <p:to>
                                        <p:strVal val="visible"/>
                                      </p:to>
                                    </p:set>
                                    <p:animEffect transition="in" filter="fade">
                                      <p:cBhvr>
                                        <p:cTn id="373" dur="320"/>
                                        <p:tgtEl>
                                          <p:spTgt spid="38"/>
                                        </p:tgtEl>
                                      </p:cBhvr>
                                    </p:animEffect>
                                  </p:childTnLst>
                                </p:cTn>
                              </p:par>
                              <p:par>
                                <p:cTn id="374" presetID="10" presetClass="entr" presetSubtype="0" fill="hold" grpId="0" nodeType="withEffect">
                                  <p:stCondLst>
                                    <p:cond delay="0"/>
                                  </p:stCondLst>
                                  <p:childTnLst>
                                    <p:set>
                                      <p:cBhvr>
                                        <p:cTn id="375" dur="1" fill="hold">
                                          <p:stCondLst>
                                            <p:cond delay="0"/>
                                          </p:stCondLst>
                                        </p:cTn>
                                        <p:tgtEl>
                                          <p:spTgt spid="39"/>
                                        </p:tgtEl>
                                        <p:attrNameLst>
                                          <p:attrName>style.visibility</p:attrName>
                                        </p:attrNameLst>
                                      </p:cBhvr>
                                      <p:to>
                                        <p:strVal val="visible"/>
                                      </p:to>
                                    </p:set>
                                    <p:animEffect transition="in" filter="fade">
                                      <p:cBhvr>
                                        <p:cTn id="376" dur="320"/>
                                        <p:tgtEl>
                                          <p:spTgt spid="39"/>
                                        </p:tgtEl>
                                      </p:cBhvr>
                                    </p:animEffect>
                                  </p:childTnLst>
                                </p:cTn>
                              </p:par>
                              <p:par>
                                <p:cTn id="377" presetID="10" presetClass="entr" presetSubtype="0" fill="hold" grpId="0" nodeType="withEffect">
                                  <p:stCondLst>
                                    <p:cond delay="0"/>
                                  </p:stCondLst>
                                  <p:childTnLst>
                                    <p:set>
                                      <p:cBhvr>
                                        <p:cTn id="378" dur="1" fill="hold">
                                          <p:stCondLst>
                                            <p:cond delay="0"/>
                                          </p:stCondLst>
                                        </p:cTn>
                                        <p:tgtEl>
                                          <p:spTgt spid="40"/>
                                        </p:tgtEl>
                                        <p:attrNameLst>
                                          <p:attrName>style.visibility</p:attrName>
                                        </p:attrNameLst>
                                      </p:cBhvr>
                                      <p:to>
                                        <p:strVal val="visible"/>
                                      </p:to>
                                    </p:set>
                                    <p:animEffect transition="in" filter="fade">
                                      <p:cBhvr>
                                        <p:cTn id="379" dur="320"/>
                                        <p:tgtEl>
                                          <p:spTgt spid="40"/>
                                        </p:tgtEl>
                                      </p:cBhvr>
                                    </p:animEffect>
                                  </p:childTnLst>
                                </p:cTn>
                              </p:par>
                              <p:par>
                                <p:cTn id="380" presetID="10" presetClass="entr" presetSubtype="0" fill="hold" grpId="0" nodeType="withEffect">
                                  <p:stCondLst>
                                    <p:cond delay="0"/>
                                  </p:stCondLst>
                                  <p:childTnLst>
                                    <p:set>
                                      <p:cBhvr>
                                        <p:cTn id="381" dur="1" fill="hold">
                                          <p:stCondLst>
                                            <p:cond delay="0"/>
                                          </p:stCondLst>
                                        </p:cTn>
                                        <p:tgtEl>
                                          <p:spTgt spid="41"/>
                                        </p:tgtEl>
                                        <p:attrNameLst>
                                          <p:attrName>style.visibility</p:attrName>
                                        </p:attrNameLst>
                                      </p:cBhvr>
                                      <p:to>
                                        <p:strVal val="visible"/>
                                      </p:to>
                                    </p:set>
                                    <p:animEffect transition="in" filter="fade">
                                      <p:cBhvr>
                                        <p:cTn id="382" dur="320"/>
                                        <p:tgtEl>
                                          <p:spTgt spid="41"/>
                                        </p:tgtEl>
                                      </p:cBhvr>
                                    </p:animEffect>
                                  </p:childTnLst>
                                </p:cTn>
                              </p:par>
                              <p:par>
                                <p:cTn id="383" presetID="10" presetClass="entr" presetSubtype="0" fill="hold" grpId="0" nodeType="withEffect">
                                  <p:stCondLst>
                                    <p:cond delay="0"/>
                                  </p:stCondLst>
                                  <p:childTnLst>
                                    <p:set>
                                      <p:cBhvr>
                                        <p:cTn id="384" dur="1" fill="hold">
                                          <p:stCondLst>
                                            <p:cond delay="0"/>
                                          </p:stCondLst>
                                        </p:cTn>
                                        <p:tgtEl>
                                          <p:spTgt spid="85"/>
                                        </p:tgtEl>
                                        <p:attrNameLst>
                                          <p:attrName>style.visibility</p:attrName>
                                        </p:attrNameLst>
                                      </p:cBhvr>
                                      <p:to>
                                        <p:strVal val="visible"/>
                                      </p:to>
                                    </p:set>
                                    <p:animEffect transition="in" filter="fade">
                                      <p:cBhvr>
                                        <p:cTn id="385" dur="320"/>
                                        <p:tgtEl>
                                          <p:spTgt spid="85"/>
                                        </p:tgtEl>
                                      </p:cBhvr>
                                    </p:animEffect>
                                  </p:childTnLst>
                                </p:cTn>
                              </p:par>
                              <p:par>
                                <p:cTn id="386" presetID="10" presetClass="entr" presetSubtype="0" fill="hold" grpId="0" nodeType="withEffect">
                                  <p:stCondLst>
                                    <p:cond delay="0"/>
                                  </p:stCondLst>
                                  <p:childTnLst>
                                    <p:set>
                                      <p:cBhvr>
                                        <p:cTn id="387" dur="1" fill="hold">
                                          <p:stCondLst>
                                            <p:cond delay="0"/>
                                          </p:stCondLst>
                                        </p:cTn>
                                        <p:tgtEl>
                                          <p:spTgt spid="86"/>
                                        </p:tgtEl>
                                        <p:attrNameLst>
                                          <p:attrName>style.visibility</p:attrName>
                                        </p:attrNameLst>
                                      </p:cBhvr>
                                      <p:to>
                                        <p:strVal val="visible"/>
                                      </p:to>
                                    </p:set>
                                    <p:animEffect transition="in" filter="fade">
                                      <p:cBhvr>
                                        <p:cTn id="388" dur="320"/>
                                        <p:tgtEl>
                                          <p:spTgt spid="86"/>
                                        </p:tgtEl>
                                      </p:cBhvr>
                                    </p:animEffect>
                                  </p:childTnLst>
                                </p:cTn>
                              </p:par>
                              <p:par>
                                <p:cTn id="389" presetID="10" presetClass="entr" presetSubtype="0" fill="hold" grpId="0" nodeType="withEffect">
                                  <p:stCondLst>
                                    <p:cond delay="0"/>
                                  </p:stCondLst>
                                  <p:childTnLst>
                                    <p:set>
                                      <p:cBhvr>
                                        <p:cTn id="390" dur="1" fill="hold">
                                          <p:stCondLst>
                                            <p:cond delay="0"/>
                                          </p:stCondLst>
                                        </p:cTn>
                                        <p:tgtEl>
                                          <p:spTgt spid="87"/>
                                        </p:tgtEl>
                                        <p:attrNameLst>
                                          <p:attrName>style.visibility</p:attrName>
                                        </p:attrNameLst>
                                      </p:cBhvr>
                                      <p:to>
                                        <p:strVal val="visible"/>
                                      </p:to>
                                    </p:set>
                                    <p:animEffect transition="in" filter="fade">
                                      <p:cBhvr>
                                        <p:cTn id="391" dur="320"/>
                                        <p:tgtEl>
                                          <p:spTgt spid="87"/>
                                        </p:tgtEl>
                                      </p:cBhvr>
                                    </p:animEffect>
                                  </p:childTnLst>
                                </p:cTn>
                              </p:par>
                              <p:par>
                                <p:cTn id="392" presetID="10" presetClass="entr" presetSubtype="0" fill="hold" grpId="0" nodeType="withEffect">
                                  <p:stCondLst>
                                    <p:cond delay="0"/>
                                  </p:stCondLst>
                                  <p:childTnLst>
                                    <p:set>
                                      <p:cBhvr>
                                        <p:cTn id="393" dur="1" fill="hold">
                                          <p:stCondLst>
                                            <p:cond delay="0"/>
                                          </p:stCondLst>
                                        </p:cTn>
                                        <p:tgtEl>
                                          <p:spTgt spid="97"/>
                                        </p:tgtEl>
                                        <p:attrNameLst>
                                          <p:attrName>style.visibility</p:attrName>
                                        </p:attrNameLst>
                                      </p:cBhvr>
                                      <p:to>
                                        <p:strVal val="visible"/>
                                      </p:to>
                                    </p:set>
                                    <p:animEffect transition="in" filter="fade">
                                      <p:cBhvr>
                                        <p:cTn id="394" dur="320"/>
                                        <p:tgtEl>
                                          <p:spTgt spid="97"/>
                                        </p:tgtEl>
                                      </p:cBhvr>
                                    </p:animEffect>
                                  </p:childTnLst>
                                </p:cTn>
                              </p:par>
                              <p:par>
                                <p:cTn id="395" presetID="10" presetClass="entr" presetSubtype="0" fill="hold" grpId="0" nodeType="withEffect">
                                  <p:stCondLst>
                                    <p:cond delay="0"/>
                                  </p:stCondLst>
                                  <p:childTnLst>
                                    <p:set>
                                      <p:cBhvr>
                                        <p:cTn id="396" dur="1" fill="hold">
                                          <p:stCondLst>
                                            <p:cond delay="0"/>
                                          </p:stCondLst>
                                        </p:cTn>
                                        <p:tgtEl>
                                          <p:spTgt spid="98"/>
                                        </p:tgtEl>
                                        <p:attrNameLst>
                                          <p:attrName>style.visibility</p:attrName>
                                        </p:attrNameLst>
                                      </p:cBhvr>
                                      <p:to>
                                        <p:strVal val="visible"/>
                                      </p:to>
                                    </p:set>
                                    <p:animEffect transition="in" filter="fade">
                                      <p:cBhvr>
                                        <p:cTn id="397" dur="320"/>
                                        <p:tgtEl>
                                          <p:spTgt spid="98"/>
                                        </p:tgtEl>
                                      </p:cBhvr>
                                    </p:animEffect>
                                  </p:childTnLst>
                                </p:cTn>
                              </p:par>
                              <p:par>
                                <p:cTn id="398" presetID="10" presetClass="entr" presetSubtype="0" fill="hold" grpId="0" nodeType="withEffect">
                                  <p:stCondLst>
                                    <p:cond delay="0"/>
                                  </p:stCondLst>
                                  <p:childTnLst>
                                    <p:set>
                                      <p:cBhvr>
                                        <p:cTn id="399" dur="1" fill="hold">
                                          <p:stCondLst>
                                            <p:cond delay="0"/>
                                          </p:stCondLst>
                                        </p:cTn>
                                        <p:tgtEl>
                                          <p:spTgt spid="99"/>
                                        </p:tgtEl>
                                        <p:attrNameLst>
                                          <p:attrName>style.visibility</p:attrName>
                                        </p:attrNameLst>
                                      </p:cBhvr>
                                      <p:to>
                                        <p:strVal val="visible"/>
                                      </p:to>
                                    </p:set>
                                    <p:animEffect transition="in" filter="fade">
                                      <p:cBhvr>
                                        <p:cTn id="400" dur="320"/>
                                        <p:tgtEl>
                                          <p:spTgt spid="99"/>
                                        </p:tgtEl>
                                      </p:cBhvr>
                                    </p:animEffect>
                                  </p:childTnLst>
                                </p:cTn>
                              </p:par>
                              <p:par>
                                <p:cTn id="401" presetID="10" presetClass="entr" presetSubtype="0" fill="hold" grpId="0" nodeType="withEffect">
                                  <p:stCondLst>
                                    <p:cond delay="0"/>
                                  </p:stCondLst>
                                  <p:childTnLst>
                                    <p:set>
                                      <p:cBhvr>
                                        <p:cTn id="402" dur="1" fill="hold">
                                          <p:stCondLst>
                                            <p:cond delay="0"/>
                                          </p:stCondLst>
                                        </p:cTn>
                                        <p:tgtEl>
                                          <p:spTgt spid="112"/>
                                        </p:tgtEl>
                                        <p:attrNameLst>
                                          <p:attrName>style.visibility</p:attrName>
                                        </p:attrNameLst>
                                      </p:cBhvr>
                                      <p:to>
                                        <p:strVal val="visible"/>
                                      </p:to>
                                    </p:set>
                                    <p:animEffect transition="in" filter="fade">
                                      <p:cBhvr>
                                        <p:cTn id="403" dur="320"/>
                                        <p:tgtEl>
                                          <p:spTgt spid="112"/>
                                        </p:tgtEl>
                                      </p:cBhvr>
                                    </p:animEffect>
                                  </p:childTnLst>
                                </p:cTn>
                              </p:par>
                              <p:par>
                                <p:cTn id="404" presetID="10" presetClass="entr" presetSubtype="0" fill="hold" grpId="0" nodeType="withEffect">
                                  <p:stCondLst>
                                    <p:cond delay="0"/>
                                  </p:stCondLst>
                                  <p:childTnLst>
                                    <p:set>
                                      <p:cBhvr>
                                        <p:cTn id="405" dur="1" fill="hold">
                                          <p:stCondLst>
                                            <p:cond delay="0"/>
                                          </p:stCondLst>
                                        </p:cTn>
                                        <p:tgtEl>
                                          <p:spTgt spid="113"/>
                                        </p:tgtEl>
                                        <p:attrNameLst>
                                          <p:attrName>style.visibility</p:attrName>
                                        </p:attrNameLst>
                                      </p:cBhvr>
                                      <p:to>
                                        <p:strVal val="visible"/>
                                      </p:to>
                                    </p:set>
                                    <p:animEffect transition="in" filter="fade">
                                      <p:cBhvr>
                                        <p:cTn id="406" dur="320"/>
                                        <p:tgtEl>
                                          <p:spTgt spid="113"/>
                                        </p:tgtEl>
                                      </p:cBhvr>
                                    </p:animEffect>
                                  </p:childTnLst>
                                </p:cTn>
                              </p:par>
                              <p:par>
                                <p:cTn id="407" presetID="10" presetClass="entr" presetSubtype="0" fill="hold" grpId="0" nodeType="withEffect">
                                  <p:stCondLst>
                                    <p:cond delay="0"/>
                                  </p:stCondLst>
                                  <p:childTnLst>
                                    <p:set>
                                      <p:cBhvr>
                                        <p:cTn id="408" dur="1" fill="hold">
                                          <p:stCondLst>
                                            <p:cond delay="0"/>
                                          </p:stCondLst>
                                        </p:cTn>
                                        <p:tgtEl>
                                          <p:spTgt spid="114"/>
                                        </p:tgtEl>
                                        <p:attrNameLst>
                                          <p:attrName>style.visibility</p:attrName>
                                        </p:attrNameLst>
                                      </p:cBhvr>
                                      <p:to>
                                        <p:strVal val="visible"/>
                                      </p:to>
                                    </p:set>
                                    <p:animEffect transition="in" filter="fade">
                                      <p:cBhvr>
                                        <p:cTn id="409" dur="32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9" grpId="0" animBg="1"/>
      <p:bldP spid="60" grpId="0" animBg="1"/>
      <p:bldP spid="61" grpId="0" animBg="1"/>
      <p:bldP spid="65" grpId="0" animBg="1"/>
      <p:bldP spid="66" grpId="0" animBg="1"/>
      <p:bldP spid="67" grpId="0" animBg="1"/>
      <p:bldP spid="69" grpId="0" animBg="1"/>
      <p:bldP spid="70" grpId="0" animBg="1"/>
      <p:bldP spid="71" grpId="0" animBg="1"/>
      <p:bldP spid="16" grpId="0" animBg="1"/>
      <p:bldP spid="17" grpId="0" animBg="1"/>
      <p:bldP spid="18" grpId="0" animBg="1"/>
      <p:bldP spid="19" grpId="0" animBg="1"/>
      <p:bldP spid="20" grpId="0" animBg="1"/>
      <p:bldP spid="21" grpId="0" animBg="1"/>
      <p:bldP spid="22" grpId="0" animBg="1"/>
      <p:bldP spid="23" grpId="0" animBg="1"/>
      <p:bldP spid="75" grpId="0" animBg="1"/>
      <p:bldP spid="76" grpId="0" animBg="1"/>
      <p:bldP spid="77" grpId="0" animBg="1"/>
      <p:bldP spid="78" grpId="0" animBg="1"/>
      <p:bldP spid="79" grpId="0" animBg="1"/>
      <p:bldP spid="80" grpId="0" animBg="1"/>
      <p:bldP spid="81" grpId="0" animBg="1"/>
      <p:bldP spid="88" grpId="0" animBg="1"/>
      <p:bldP spid="89" grpId="0" animBg="1"/>
      <p:bldP spid="90" grpId="0" animBg="1"/>
      <p:bldP spid="91" grpId="0" animBg="1"/>
      <p:bldP spid="92" grpId="0" animBg="1"/>
      <p:bldP spid="93" grpId="0" animBg="1"/>
      <p:bldP spid="104" grpId="0" animBg="1"/>
      <p:bldP spid="105" grpId="0" animBg="1"/>
      <p:bldP spid="106" grpId="0" animBg="1"/>
      <p:bldP spid="107" grpId="0" animBg="1"/>
      <p:bldP spid="108" grpId="0" animBg="1"/>
      <p:bldP spid="24" grpId="0" animBg="1"/>
      <p:bldP spid="25" grpId="0" animBg="1"/>
      <p:bldP spid="26" grpId="0" animBg="1"/>
      <p:bldP spid="27" grpId="0" animBg="1"/>
      <p:bldP spid="28" grpId="0" animBg="1"/>
      <p:bldP spid="29" grpId="0" animBg="1"/>
      <p:bldP spid="30" grpId="0" animBg="1"/>
      <p:bldP spid="31" grpId="0" animBg="1"/>
      <p:bldP spid="57" grpId="1" animBg="1"/>
      <p:bldP spid="59" grpId="1" animBg="1"/>
      <p:bldP spid="60" grpId="1" animBg="1"/>
      <p:bldP spid="61" grpId="1" animBg="1"/>
      <p:bldP spid="67" grpId="1" animBg="1"/>
      <p:bldP spid="69" grpId="1" animBg="1"/>
      <p:bldP spid="70" grpId="1" animBg="1"/>
      <p:bldP spid="71" grpId="1" animBg="1"/>
      <p:bldP spid="79" grpId="1" animBg="1"/>
      <p:bldP spid="80" grpId="1" animBg="1"/>
      <p:bldP spid="81" grpId="1" animBg="1"/>
      <p:bldP spid="91" grpId="1" animBg="1"/>
      <p:bldP spid="92" grpId="1" animBg="1"/>
      <p:bldP spid="93" grpId="1" animBg="1"/>
      <p:bldP spid="106" grpId="1" animBg="1"/>
      <p:bldP spid="107" grpId="1" animBg="1"/>
      <p:bldP spid="108" grpId="1" animBg="1"/>
      <p:bldP spid="58" grpId="0" animBg="1"/>
      <p:bldP spid="62" grpId="0" animBg="1"/>
      <p:bldP spid="63" grpId="0" animBg="1"/>
      <p:bldP spid="64" grpId="0" animBg="1"/>
      <p:bldP spid="68" grpId="0" animBg="1"/>
      <p:bldP spid="72" grpId="0" animBg="1"/>
      <p:bldP spid="73" grpId="0" animBg="1"/>
      <p:bldP spid="74" grpId="0" animBg="1"/>
      <p:bldP spid="82" grpId="0" animBg="1"/>
      <p:bldP spid="83" grpId="0" animBg="1"/>
      <p:bldP spid="84" grpId="0" animBg="1"/>
      <p:bldP spid="94" grpId="0" animBg="1"/>
      <p:bldP spid="95" grpId="0" animBg="1"/>
      <p:bldP spid="96" grpId="0" animBg="1"/>
      <p:bldP spid="100" grpId="0" animBg="1"/>
      <p:bldP spid="101" grpId="0" animBg="1"/>
      <p:bldP spid="102" grpId="0" animBg="1"/>
      <p:bldP spid="103" grpId="0" animBg="1"/>
      <p:bldP spid="109" grpId="0" animBg="1"/>
      <p:bldP spid="110" grpId="0" animBg="1"/>
      <p:bldP spid="111" grpId="0" animBg="1"/>
      <p:bldP spid="82" grpId="1" animBg="1"/>
      <p:bldP spid="83" grpId="1" animBg="1"/>
      <p:bldP spid="84" grpId="1" animBg="1"/>
      <p:bldP spid="94" grpId="1" animBg="1"/>
      <p:bldP spid="95" grpId="1" animBg="1"/>
      <p:bldP spid="96" grpId="1" animBg="1"/>
      <p:bldP spid="109" grpId="1" animBg="1"/>
      <p:bldP spid="110" grpId="1" animBg="1"/>
      <p:bldP spid="111" grpId="1"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85" grpId="0" animBg="1"/>
      <p:bldP spid="86" grpId="0" animBg="1"/>
      <p:bldP spid="87" grpId="0" animBg="1"/>
      <p:bldP spid="97" grpId="0" animBg="1"/>
      <p:bldP spid="98" grpId="0" animBg="1"/>
      <p:bldP spid="99" grpId="0" animBg="1"/>
      <p:bldP spid="112" grpId="0" animBg="1"/>
      <p:bldP spid="113" grpId="0" animBg="1"/>
      <p:bldP spid="1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WHAT MAKES IT DIFFERENT</a:t>
            </a:r>
            <a:endParaRPr lang="en-US" sz="1100" dirty="0"/>
          </a:p>
        </p:txBody>
      </p:sp>
      <p:sp>
        <p:nvSpPr>
          <p:cNvPr id="3" name="Text 1"/>
          <p:cNvSpPr txBox="1"/>
          <p:nvPr/>
        </p:nvSpPr>
        <p:spPr>
          <a:xfrm>
            <a:off x="762000" y="863600"/>
            <a:ext cx="9906000" cy="508000"/>
          </a:xfrm>
          <a:prstGeom prst="rect">
            <a:avLst/>
          </a:prstGeom>
          <a:noFill/>
          <a:ln/>
        </p:spPr>
        <p:txBody>
          <a:bodyPr wrap="square" lIns="0" tIns="0" rIns="0" bIns="0" rtlCol="0" anchor="t"/>
          <a:lstStyle/>
          <a:p>
            <a:pPr algn="l" indent="0" marL="0">
              <a:lnSpc>
                <a:spcPct val="108000"/>
              </a:lnSpc>
              <a:buNone/>
            </a:pPr>
            <a:r>
              <a:rPr lang="en-US" sz="3000" dirty="0">
                <a:solidFill>
                  <a:srgbClr val="1B2430"/>
                </a:solidFill>
                <a:latin typeface="Cambria" pitchFamily="34" charset="0"/>
                <a:ea typeface="Cambria" pitchFamily="34" charset="-122"/>
                <a:cs typeface="Cambria" pitchFamily="34" charset="-120"/>
              </a:rPr>
              <a:t>Six principles, each enforced by code.</a:t>
            </a:r>
            <a:endParaRPr lang="en-US" sz="3000" dirty="0"/>
          </a:p>
        </p:txBody>
      </p:sp>
      <p:sp>
        <p:nvSpPr>
          <p:cNvPr id="4" name="Shape 2"/>
          <p:cNvSpPr/>
          <p:nvPr/>
        </p:nvSpPr>
        <p:spPr>
          <a:xfrm>
            <a:off x="762000" y="1828800"/>
            <a:ext cx="5156200" cy="0"/>
          </a:xfrm>
          <a:prstGeom prst="line">
            <a:avLst/>
          </a:prstGeom>
          <a:noFill/>
          <a:ln w="9525">
            <a:solidFill>
              <a:srgbClr val="DDE1E7"/>
            </a:solidFill>
            <a:prstDash val="solid"/>
          </a:ln>
        </p:spPr>
      </p:sp>
      <p:sp>
        <p:nvSpPr>
          <p:cNvPr id="5" name="Text 3"/>
          <p:cNvSpPr txBox="1"/>
          <p:nvPr/>
        </p:nvSpPr>
        <p:spPr>
          <a:xfrm>
            <a:off x="762000" y="2019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01</a:t>
            </a:r>
            <a:endParaRPr lang="en-US" sz="1100" dirty="0"/>
          </a:p>
        </p:txBody>
      </p:sp>
      <p:sp>
        <p:nvSpPr>
          <p:cNvPr id="6" name="Text 4"/>
          <p:cNvSpPr txBox="1"/>
          <p:nvPr/>
        </p:nvSpPr>
        <p:spPr>
          <a:xfrm>
            <a:off x="1206500" y="1981200"/>
            <a:ext cx="4711700" cy="1320800"/>
          </a:xfrm>
          <a:prstGeom prst="rect">
            <a:avLst/>
          </a:prstGeom>
          <a:noFill/>
          <a:ln/>
        </p:spPr>
        <p:txBody>
          <a:bodyPr wrap="square" lIns="0" tIns="0" rIns="0" bIns="0" rtlCol="0" anchor="t"/>
          <a:lstStyle/>
          <a:p>
            <a:pPr algn="l" indent="0" marL="0">
              <a:lnSpc>
                <a:spcPct val="130000"/>
              </a:lnSpc>
              <a:spcAft>
                <a:spcPts val="600"/>
              </a:spcAft>
              <a:buNone/>
            </a:pPr>
            <a:r>
              <a:rPr lang="en-US" sz="1500" b="1" dirty="0">
                <a:solidFill>
                  <a:srgbClr val="1B2430"/>
                </a:solidFill>
                <a:latin typeface="Arial" pitchFamily="34" charset="0"/>
                <a:ea typeface="Arial" pitchFamily="34" charset="-122"/>
                <a:cs typeface="Arial" pitchFamily="34" charset="-120"/>
              </a:rPr>
              <a:t>Continuous workflow</a:t>
            </a:r>
            <a:endParaRPr lang="en-US" sz="1200" dirty="0"/>
          </a:p>
          <a:p>
            <a:pPr algn="l" indent="0" marL="0">
              <a:lnSpc>
                <a:spcPct val="130000"/>
              </a:lnSpc>
              <a:spcAft>
                <a:spcPts val="800"/>
              </a:spcAft>
              <a:buNone/>
            </a:pPr>
            <a:r>
              <a:rPr lang="en-US" sz="1200" dirty="0">
                <a:solidFill>
                  <a:srgbClr val="465060"/>
                </a:solidFill>
                <a:latin typeface="Arial" pitchFamily="34" charset="0"/>
                <a:ea typeface="Arial" pitchFamily="34" charset="-122"/>
                <a:cs typeface="Arial" pitchFamily="34" charset="-120"/>
              </a:rPr>
              <a:t>One application, any number of rounds. Fourteen states with actors, guards and labels as a table; every status change goes through one function.</a:t>
            </a:r>
            <a:endParaRPr lang="en-US" sz="1200" dirty="0"/>
          </a:p>
          <a:p>
            <a:pPr algn="l" indent="0" marL="0">
              <a:lnSpc>
                <a:spcPct val="130000"/>
              </a:lnSpc>
              <a:buNone/>
            </a:pPr>
            <a:endParaRPr lang="en-US" sz="1200" dirty="0"/>
          </a:p>
        </p:txBody>
      </p:sp>
      <p:sp>
        <p:nvSpPr>
          <p:cNvPr id="7" name="Shape 5"/>
          <p:cNvSpPr/>
          <p:nvPr/>
        </p:nvSpPr>
        <p:spPr>
          <a:xfrm>
            <a:off x="762000" y="3403600"/>
            <a:ext cx="5156200" cy="0"/>
          </a:xfrm>
          <a:prstGeom prst="line">
            <a:avLst/>
          </a:prstGeom>
          <a:noFill/>
          <a:ln w="9525">
            <a:solidFill>
              <a:srgbClr val="DDE1E7"/>
            </a:solidFill>
            <a:prstDash val="solid"/>
          </a:ln>
        </p:spPr>
      </p:sp>
      <p:sp>
        <p:nvSpPr>
          <p:cNvPr id="8" name="Text 6"/>
          <p:cNvSpPr txBox="1"/>
          <p:nvPr/>
        </p:nvSpPr>
        <p:spPr>
          <a:xfrm>
            <a:off x="762000" y="35941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02</a:t>
            </a:r>
            <a:endParaRPr lang="en-US" sz="1100" dirty="0"/>
          </a:p>
        </p:txBody>
      </p:sp>
      <p:sp>
        <p:nvSpPr>
          <p:cNvPr id="9" name="Text 7"/>
          <p:cNvSpPr txBox="1"/>
          <p:nvPr/>
        </p:nvSpPr>
        <p:spPr>
          <a:xfrm>
            <a:off x="1206500" y="3556000"/>
            <a:ext cx="4711700" cy="1320800"/>
          </a:xfrm>
          <a:prstGeom prst="rect">
            <a:avLst/>
          </a:prstGeom>
          <a:noFill/>
          <a:ln/>
        </p:spPr>
        <p:txBody>
          <a:bodyPr wrap="square" lIns="0" tIns="0" rIns="0" bIns="0" rtlCol="0" anchor="t"/>
          <a:lstStyle/>
          <a:p>
            <a:pPr algn="l" indent="0" marL="0">
              <a:lnSpc>
                <a:spcPct val="130000"/>
              </a:lnSpc>
              <a:spcAft>
                <a:spcPts val="600"/>
              </a:spcAft>
              <a:buNone/>
            </a:pPr>
            <a:r>
              <a:rPr lang="en-US" sz="1500" b="1" dirty="0">
                <a:solidFill>
                  <a:srgbClr val="1B2430"/>
                </a:solidFill>
                <a:latin typeface="Arial" pitchFamily="34" charset="0"/>
                <a:ea typeface="Arial" pitchFamily="34" charset="-122"/>
                <a:cs typeface="Arial" pitchFamily="34" charset="-120"/>
              </a:rPr>
              <a:t>Immutable revisions</a:t>
            </a:r>
            <a:endParaRPr lang="en-US" sz="1200" dirty="0"/>
          </a:p>
          <a:p>
            <a:pPr algn="l" indent="0" marL="0">
              <a:lnSpc>
                <a:spcPct val="130000"/>
              </a:lnSpc>
              <a:spcAft>
                <a:spcPts val="800"/>
              </a:spcAft>
              <a:buNone/>
            </a:pPr>
            <a:r>
              <a:rPr lang="en-US" sz="1200" dirty="0">
                <a:solidFill>
                  <a:srgbClr val="465060"/>
                </a:solidFill>
                <a:latin typeface="Arial" pitchFamily="34" charset="0"/>
                <a:ea typeface="Arial" pitchFamily="34" charset="-122"/>
                <a:cs typeface="Arial" pitchFamily="34" charset="-120"/>
              </a:rPr>
              <a:t>Every submission is a snapshot. The compare view is a read-time diff, computed and never stored, so nothing is lost between rounds by construction.</a:t>
            </a:r>
            <a:endParaRPr lang="en-US" sz="1200" dirty="0"/>
          </a:p>
          <a:p>
            <a:pPr algn="l" indent="0" marL="0">
              <a:lnSpc>
                <a:spcPct val="130000"/>
              </a:lnSpc>
              <a:buNone/>
            </a:pPr>
            <a:endParaRPr lang="en-US" sz="1200" dirty="0"/>
          </a:p>
        </p:txBody>
      </p:sp>
      <p:sp>
        <p:nvSpPr>
          <p:cNvPr id="10" name="Shape 8"/>
          <p:cNvSpPr/>
          <p:nvPr/>
        </p:nvSpPr>
        <p:spPr>
          <a:xfrm>
            <a:off x="762000" y="4978400"/>
            <a:ext cx="5156200" cy="0"/>
          </a:xfrm>
          <a:prstGeom prst="line">
            <a:avLst/>
          </a:prstGeom>
          <a:noFill/>
          <a:ln w="9525">
            <a:solidFill>
              <a:srgbClr val="DDE1E7"/>
            </a:solidFill>
            <a:prstDash val="solid"/>
          </a:ln>
        </p:spPr>
      </p:sp>
      <p:sp>
        <p:nvSpPr>
          <p:cNvPr id="11" name="Text 9"/>
          <p:cNvSpPr txBox="1"/>
          <p:nvPr/>
        </p:nvSpPr>
        <p:spPr>
          <a:xfrm>
            <a:off x="762000" y="51689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03</a:t>
            </a:r>
            <a:endParaRPr lang="en-US" sz="1100" dirty="0"/>
          </a:p>
        </p:txBody>
      </p:sp>
      <p:sp>
        <p:nvSpPr>
          <p:cNvPr id="12" name="Text 10"/>
          <p:cNvSpPr txBox="1"/>
          <p:nvPr/>
        </p:nvSpPr>
        <p:spPr>
          <a:xfrm>
            <a:off x="1206500" y="5130800"/>
            <a:ext cx="4711700" cy="1320800"/>
          </a:xfrm>
          <a:prstGeom prst="rect">
            <a:avLst/>
          </a:prstGeom>
          <a:noFill/>
          <a:ln/>
        </p:spPr>
        <p:txBody>
          <a:bodyPr wrap="square" lIns="0" tIns="0" rIns="0" bIns="0" rtlCol="0" anchor="t"/>
          <a:lstStyle/>
          <a:p>
            <a:pPr algn="l" indent="0" marL="0">
              <a:lnSpc>
                <a:spcPct val="130000"/>
              </a:lnSpc>
              <a:spcAft>
                <a:spcPts val="600"/>
              </a:spcAft>
              <a:buNone/>
            </a:pPr>
            <a:r>
              <a:rPr lang="en-US" sz="1500" b="1" dirty="0">
                <a:solidFill>
                  <a:srgbClr val="1B2430"/>
                </a:solidFill>
                <a:latin typeface="Arial" pitchFamily="34" charset="0"/>
                <a:ea typeface="Arial" pitchFamily="34" charset="-122"/>
                <a:cs typeface="Arial" pitchFamily="34" charset="-120"/>
              </a:rPr>
              <a:t>Contextual feedback</a:t>
            </a:r>
            <a:endParaRPr lang="en-US" sz="1200" dirty="0"/>
          </a:p>
          <a:p>
            <a:pPr algn="l" indent="0" marL="0">
              <a:lnSpc>
                <a:spcPct val="130000"/>
              </a:lnSpc>
              <a:spcAft>
                <a:spcPts val="800"/>
              </a:spcAft>
              <a:buNone/>
            </a:pPr>
            <a:r>
              <a:rPr lang="en-US" sz="1200" dirty="0">
                <a:solidFill>
                  <a:srgbClr val="465060"/>
                </a:solidFill>
                <a:latin typeface="Arial" pitchFamily="34" charset="0"/>
                <a:ea typeface="Arial" pitchFamily="34" charset="-122"/>
                <a:cs typeface="Arial" pitchFamily="34" charset="-120"/>
              </a:rPr>
              <a:t>Every item is tied to a section or a document. "Only the flagged parts" is an authorization rule: the server answers 403, the UI walks the operator through exactly those targets.</a:t>
            </a:r>
            <a:endParaRPr lang="en-US" sz="1200" dirty="0"/>
          </a:p>
          <a:p>
            <a:pPr algn="l" indent="0" marL="0">
              <a:lnSpc>
                <a:spcPct val="130000"/>
              </a:lnSpc>
              <a:buNone/>
            </a:pPr>
            <a:endParaRPr lang="en-US" sz="1200" dirty="0"/>
          </a:p>
        </p:txBody>
      </p:sp>
      <p:sp>
        <p:nvSpPr>
          <p:cNvPr id="13" name="b1"/>
          <p:cNvSpPr/>
          <p:nvPr/>
        </p:nvSpPr>
        <p:spPr>
          <a:xfrm>
            <a:off x="6273800" y="1828800"/>
            <a:ext cx="5156200" cy="0"/>
          </a:xfrm>
          <a:prstGeom prst="line">
            <a:avLst/>
          </a:prstGeom>
          <a:noFill/>
          <a:ln w="9525">
            <a:solidFill>
              <a:srgbClr val="DDE1E7"/>
            </a:solidFill>
            <a:prstDash val="solid"/>
          </a:ln>
        </p:spPr>
      </p:sp>
      <p:sp>
        <p:nvSpPr>
          <p:cNvPr id="14" name="b1"/>
          <p:cNvSpPr txBox="1"/>
          <p:nvPr/>
        </p:nvSpPr>
        <p:spPr>
          <a:xfrm>
            <a:off x="6273800" y="2019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04</a:t>
            </a:r>
            <a:endParaRPr lang="en-US" sz="1100" dirty="0"/>
          </a:p>
        </p:txBody>
      </p:sp>
      <p:sp>
        <p:nvSpPr>
          <p:cNvPr id="15" name="b1"/>
          <p:cNvSpPr txBox="1"/>
          <p:nvPr/>
        </p:nvSpPr>
        <p:spPr>
          <a:xfrm>
            <a:off x="6718300" y="1981200"/>
            <a:ext cx="4711700" cy="1320800"/>
          </a:xfrm>
          <a:prstGeom prst="rect">
            <a:avLst/>
          </a:prstGeom>
          <a:noFill/>
          <a:ln/>
        </p:spPr>
        <p:txBody>
          <a:bodyPr wrap="square" lIns="0" tIns="0" rIns="0" bIns="0" rtlCol="0" anchor="t"/>
          <a:lstStyle/>
          <a:p>
            <a:pPr algn="l" indent="0" marL="0">
              <a:lnSpc>
                <a:spcPct val="130000"/>
              </a:lnSpc>
              <a:spcAft>
                <a:spcPts val="600"/>
              </a:spcAft>
              <a:buNone/>
            </a:pPr>
            <a:r>
              <a:rPr lang="en-US" sz="1500" b="1" dirty="0">
                <a:solidFill>
                  <a:srgbClr val="1B2430"/>
                </a:solidFill>
                <a:latin typeface="Arial" pitchFamily="34" charset="0"/>
                <a:ea typeface="Arial" pitchFamily="34" charset="-122"/>
                <a:cs typeface="Arial" pitchFamily="34" charset="-120"/>
              </a:rPr>
              <a:t>AI-assisted, never AI-decided</a:t>
            </a:r>
            <a:endParaRPr lang="en-US" sz="1200" dirty="0"/>
          </a:p>
          <a:p>
            <a:pPr algn="l" indent="0" marL="0">
              <a:lnSpc>
                <a:spcPct val="130000"/>
              </a:lnSpc>
              <a:spcAft>
                <a:spcPts val="800"/>
              </a:spcAft>
              <a:buNone/>
            </a:pPr>
            <a:r>
              <a:rPr lang="en-US" sz="1200" dirty="0">
                <a:solidFill>
                  <a:srgbClr val="465060"/>
                </a:solidFill>
                <a:latin typeface="Arial" pitchFamily="34" charset="0"/>
                <a:ea typeface="Arial" pitchFamily="34" charset="-122"/>
                <a:cs typeface="Arial" pitchFamily="34" charset="-120"/>
              </a:rPr>
              <a:t>The verifier writes only to verification_runs. The state machine has no AI actor. Injection is handled by a deterministic rule before the verdict is read.</a:t>
            </a:r>
            <a:endParaRPr lang="en-US" sz="1200" dirty="0"/>
          </a:p>
          <a:p>
            <a:pPr algn="l" indent="0" marL="0">
              <a:lnSpc>
                <a:spcPct val="130000"/>
              </a:lnSpc>
              <a:buNone/>
            </a:pPr>
            <a:endParaRPr lang="en-US" sz="1200" dirty="0"/>
          </a:p>
        </p:txBody>
      </p:sp>
      <p:sp>
        <p:nvSpPr>
          <p:cNvPr id="16" name="b1"/>
          <p:cNvSpPr/>
          <p:nvPr/>
        </p:nvSpPr>
        <p:spPr>
          <a:xfrm>
            <a:off x="6273800" y="3403600"/>
            <a:ext cx="5156200" cy="0"/>
          </a:xfrm>
          <a:prstGeom prst="line">
            <a:avLst/>
          </a:prstGeom>
          <a:noFill/>
          <a:ln w="9525">
            <a:solidFill>
              <a:srgbClr val="DDE1E7"/>
            </a:solidFill>
            <a:prstDash val="solid"/>
          </a:ln>
        </p:spPr>
      </p:sp>
      <p:sp>
        <p:nvSpPr>
          <p:cNvPr id="17" name="b1"/>
          <p:cNvSpPr txBox="1"/>
          <p:nvPr/>
        </p:nvSpPr>
        <p:spPr>
          <a:xfrm>
            <a:off x="6273800" y="35941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05</a:t>
            </a:r>
            <a:endParaRPr lang="en-US" sz="1100" dirty="0"/>
          </a:p>
        </p:txBody>
      </p:sp>
      <p:sp>
        <p:nvSpPr>
          <p:cNvPr id="18" name="b1"/>
          <p:cNvSpPr txBox="1"/>
          <p:nvPr/>
        </p:nvSpPr>
        <p:spPr>
          <a:xfrm>
            <a:off x="6718300" y="3556000"/>
            <a:ext cx="4711700" cy="1320800"/>
          </a:xfrm>
          <a:prstGeom prst="rect">
            <a:avLst/>
          </a:prstGeom>
          <a:noFill/>
          <a:ln/>
        </p:spPr>
        <p:txBody>
          <a:bodyPr wrap="square" lIns="0" tIns="0" rIns="0" bIns="0" rtlCol="0" anchor="t"/>
          <a:lstStyle/>
          <a:p>
            <a:pPr algn="l" indent="0" marL="0">
              <a:lnSpc>
                <a:spcPct val="130000"/>
              </a:lnSpc>
              <a:spcAft>
                <a:spcPts val="600"/>
              </a:spcAft>
              <a:buNone/>
            </a:pPr>
            <a:r>
              <a:rPr lang="en-US" sz="1500" b="1" dirty="0">
                <a:solidFill>
                  <a:srgbClr val="1B2430"/>
                </a:solidFill>
                <a:latin typeface="Arial" pitchFamily="34" charset="0"/>
                <a:ea typeface="Arial" pitchFamily="34" charset="-122"/>
                <a:cs typeface="Arial" pitchFamily="34" charset="-120"/>
              </a:rPr>
              <a:t>Same-transaction audit</a:t>
            </a:r>
            <a:endParaRPr lang="en-US" sz="1200" dirty="0"/>
          </a:p>
          <a:p>
            <a:pPr algn="l" indent="0" marL="0">
              <a:lnSpc>
                <a:spcPct val="130000"/>
              </a:lnSpc>
              <a:spcAft>
                <a:spcPts val="800"/>
              </a:spcAft>
              <a:buNone/>
            </a:pPr>
            <a:r>
              <a:rPr lang="en-US" sz="1200" dirty="0">
                <a:solidFill>
                  <a:srgbClr val="465060"/>
                </a:solidFill>
                <a:latin typeface="Arial" pitchFamily="34" charset="0"/>
                <a:ea typeface="Arial" pitchFamily="34" charset="-122"/>
                <a:cs typeface="Arial" pitchFamily="34" charset="-120"/>
              </a:rPr>
              <a:t>A status change, its audit row, the operator's notification and, on approval, the licence certificate either all happen or none do.</a:t>
            </a:r>
            <a:endParaRPr lang="en-US" sz="1200" dirty="0"/>
          </a:p>
          <a:p>
            <a:pPr algn="l" indent="0" marL="0">
              <a:lnSpc>
                <a:spcPct val="130000"/>
              </a:lnSpc>
              <a:buNone/>
            </a:pPr>
            <a:endParaRPr lang="en-US" sz="1200" dirty="0"/>
          </a:p>
        </p:txBody>
      </p:sp>
      <p:sp>
        <p:nvSpPr>
          <p:cNvPr id="19" name="b1"/>
          <p:cNvSpPr/>
          <p:nvPr/>
        </p:nvSpPr>
        <p:spPr>
          <a:xfrm>
            <a:off x="6273800" y="4978400"/>
            <a:ext cx="5156200" cy="0"/>
          </a:xfrm>
          <a:prstGeom prst="line">
            <a:avLst/>
          </a:prstGeom>
          <a:noFill/>
          <a:ln w="9525">
            <a:solidFill>
              <a:srgbClr val="DDE1E7"/>
            </a:solidFill>
            <a:prstDash val="solid"/>
          </a:ln>
        </p:spPr>
      </p:sp>
      <p:sp>
        <p:nvSpPr>
          <p:cNvPr id="20" name="b1"/>
          <p:cNvSpPr txBox="1"/>
          <p:nvPr/>
        </p:nvSpPr>
        <p:spPr>
          <a:xfrm>
            <a:off x="6273800" y="51689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06</a:t>
            </a:r>
            <a:endParaRPr lang="en-US" sz="1100" dirty="0"/>
          </a:p>
        </p:txBody>
      </p:sp>
      <p:sp>
        <p:nvSpPr>
          <p:cNvPr id="21" name="b1"/>
          <p:cNvSpPr txBox="1"/>
          <p:nvPr/>
        </p:nvSpPr>
        <p:spPr>
          <a:xfrm>
            <a:off x="6718300" y="5130800"/>
            <a:ext cx="4711700" cy="1320800"/>
          </a:xfrm>
          <a:prstGeom prst="rect">
            <a:avLst/>
          </a:prstGeom>
          <a:noFill/>
          <a:ln/>
        </p:spPr>
        <p:txBody>
          <a:bodyPr wrap="square" lIns="0" tIns="0" rIns="0" bIns="0" rtlCol="0" anchor="t"/>
          <a:lstStyle/>
          <a:p>
            <a:pPr algn="l" indent="0" marL="0">
              <a:lnSpc>
                <a:spcPct val="130000"/>
              </a:lnSpc>
              <a:spcAft>
                <a:spcPts val="600"/>
              </a:spcAft>
              <a:buNone/>
            </a:pPr>
            <a:r>
              <a:rPr lang="en-US" sz="1500" b="1" dirty="0">
                <a:solidFill>
                  <a:srgbClr val="1B2430"/>
                </a:solidFill>
                <a:latin typeface="Arial" pitchFamily="34" charset="0"/>
                <a:ea typeface="Arial" pitchFamily="34" charset="-122"/>
                <a:cs typeface="Arial" pitchFamily="34" charset="-120"/>
              </a:rPr>
              <a:t>Role-aware by construction</a:t>
            </a:r>
            <a:endParaRPr lang="en-US" sz="1200" dirty="0"/>
          </a:p>
          <a:p>
            <a:pPr algn="l" indent="0" marL="0">
              <a:lnSpc>
                <a:spcPct val="130000"/>
              </a:lnSpc>
              <a:spcAft>
                <a:spcPts val="800"/>
              </a:spcAft>
              <a:buNone/>
            </a:pPr>
            <a:r>
              <a:rPr lang="en-US" sz="1200" dirty="0">
                <a:solidFill>
                  <a:srgbClr val="465060"/>
                </a:solidFill>
                <a:latin typeface="Arial" pitchFamily="34" charset="0"/>
                <a:ea typeface="Arial" pitchFamily="34" charset="-122"/>
                <a:cs typeface="Arial" pitchFamily="34" charset="-120"/>
              </a:rPr>
              <a:t>Authorization is server-side on every route with an authorization test per endpoint. Operators receive their own labels and never an internal status code.</a:t>
            </a:r>
            <a:endParaRPr lang="en-US" sz="1200" dirty="0"/>
          </a:p>
          <a:p>
            <a:pPr algn="l" indent="0" marL="0">
              <a:lnSpc>
                <a:spcPct val="130000"/>
              </a:lnSpc>
              <a:buNone/>
            </a:pPr>
            <a:endParaRPr lang="en-US" sz="1200" dirty="0"/>
          </a:p>
        </p:txBody>
      </p:sp>
      <p:sp>
        <p:nvSpPr>
          <p:cNvPr id="22" name="Text 20"/>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07 / 11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320"/>
                                        <p:tgtEl>
                                          <p:spTgt spid="13"/>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320"/>
                                        <p:tgtEl>
                                          <p:spTgt spid="14"/>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320"/>
                                        <p:tgtEl>
                                          <p:spTgt spid="15"/>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320"/>
                                        <p:tgtEl>
                                          <p:spTgt spid="16"/>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320"/>
                                        <p:tgtEl>
                                          <p:spTgt spid="17"/>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320"/>
                                        <p:tgtEl>
                                          <p:spTgt spid="18"/>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320"/>
                                        <p:tgtEl>
                                          <p:spTgt spid="19"/>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320"/>
                                        <p:tgtEl>
                                          <p:spTgt spid="20"/>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32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BUILT TO BE TAKEN TO PRODUCTION</a:t>
            </a:r>
            <a:endParaRPr lang="en-US" sz="1100" dirty="0"/>
          </a:p>
        </p:txBody>
      </p:sp>
      <p:sp>
        <p:nvSpPr>
          <p:cNvPr id="3" name="Text 1"/>
          <p:cNvSpPr txBox="1"/>
          <p:nvPr/>
        </p:nvSpPr>
        <p:spPr>
          <a:xfrm>
            <a:off x="762000" y="863600"/>
            <a:ext cx="9906000" cy="825500"/>
          </a:xfrm>
          <a:prstGeom prst="rect">
            <a:avLst/>
          </a:prstGeom>
          <a:noFill/>
          <a:ln/>
        </p:spPr>
        <p:txBody>
          <a:bodyPr wrap="square" lIns="0" tIns="0" rIns="0" bIns="0" rtlCol="0" anchor="t"/>
          <a:lstStyle/>
          <a:p>
            <a:pPr algn="l" indent="0" marL="0">
              <a:lnSpc>
                <a:spcPct val="108000"/>
              </a:lnSpc>
              <a:buNone/>
            </a:pPr>
            <a:r>
              <a:rPr lang="en-US" sz="2700" dirty="0">
                <a:solidFill>
                  <a:srgbClr val="1B2430"/>
                </a:solidFill>
                <a:latin typeface="Cambria" pitchFamily="34" charset="0"/>
                <a:ea typeface="Cambria" pitchFamily="34" charset="-122"/>
                <a:cs typeface="Cambria" pitchFamily="34" charset="-120"/>
              </a:rPr>
              <a:t>A modular monolith with an explicit state machine, an advisory AI module and an audit trail written in the same transaction.</a:t>
            </a:r>
            <a:endParaRPr lang="en-US" sz="2700" dirty="0"/>
          </a:p>
        </p:txBody>
      </p:sp>
      <p:sp>
        <p:nvSpPr>
          <p:cNvPr id="4" name="Text 2"/>
          <p:cNvSpPr txBox="1"/>
          <p:nvPr/>
        </p:nvSpPr>
        <p:spPr>
          <a:xfrm>
            <a:off x="736600" y="2146300"/>
            <a:ext cx="711200" cy="177800"/>
          </a:xfrm>
          <a:prstGeom prst="rect">
            <a:avLst/>
          </a:prstGeom>
          <a:noFill/>
          <a:ln/>
        </p:spPr>
        <p:txBody>
          <a:bodyPr wrap="square" lIns="0" tIns="0" rIns="0" bIns="0" rtlCol="0" anchor="t"/>
          <a:lstStyle/>
          <a:p>
            <a:pPr algn="l" indent="0" marL="0">
              <a:lnSpc>
                <a:spcPct val="115000"/>
              </a:lnSpc>
              <a:buNone/>
            </a:pPr>
            <a:r>
              <a:rPr lang="en-US" sz="950" b="1" spc="20" kern="0" dirty="0">
                <a:solidFill>
                  <a:srgbClr val="616C7A"/>
                </a:solidFill>
                <a:latin typeface="Arial" pitchFamily="34" charset="0"/>
                <a:ea typeface="Arial" pitchFamily="34" charset="-122"/>
                <a:cs typeface="Arial" pitchFamily="34" charset="-120"/>
              </a:rPr>
              <a:t>BROWSER</a:t>
            </a:r>
            <a:endParaRPr lang="en-US" sz="950" dirty="0"/>
          </a:p>
        </p:txBody>
      </p:sp>
      <p:sp>
        <p:nvSpPr>
          <p:cNvPr id="5" name="Text 3"/>
          <p:cNvSpPr txBox="1"/>
          <p:nvPr/>
        </p:nvSpPr>
        <p:spPr>
          <a:xfrm>
            <a:off x="736600" y="3035300"/>
            <a:ext cx="711200" cy="177800"/>
          </a:xfrm>
          <a:prstGeom prst="rect">
            <a:avLst/>
          </a:prstGeom>
          <a:noFill/>
          <a:ln/>
        </p:spPr>
        <p:txBody>
          <a:bodyPr wrap="square" lIns="0" tIns="0" rIns="0" bIns="0" rtlCol="0" anchor="t"/>
          <a:lstStyle/>
          <a:p>
            <a:pPr algn="l" indent="0" marL="0">
              <a:lnSpc>
                <a:spcPct val="115000"/>
              </a:lnSpc>
              <a:buNone/>
            </a:pPr>
            <a:r>
              <a:rPr lang="en-US" sz="950" b="1" spc="20" kern="0" dirty="0">
                <a:solidFill>
                  <a:srgbClr val="616C7A"/>
                </a:solidFill>
                <a:latin typeface="Arial" pitchFamily="34" charset="0"/>
                <a:ea typeface="Arial" pitchFamily="34" charset="-122"/>
                <a:cs typeface="Arial" pitchFamily="34" charset="-120"/>
              </a:rPr>
              <a:t>API</a:t>
            </a:r>
            <a:endParaRPr lang="en-US" sz="950" dirty="0"/>
          </a:p>
        </p:txBody>
      </p:sp>
      <p:sp>
        <p:nvSpPr>
          <p:cNvPr id="6" name="Text 4"/>
          <p:cNvSpPr txBox="1"/>
          <p:nvPr/>
        </p:nvSpPr>
        <p:spPr>
          <a:xfrm>
            <a:off x="736600" y="3924300"/>
            <a:ext cx="711200" cy="177800"/>
          </a:xfrm>
          <a:prstGeom prst="rect">
            <a:avLst/>
          </a:prstGeom>
          <a:noFill/>
          <a:ln/>
        </p:spPr>
        <p:txBody>
          <a:bodyPr wrap="square" lIns="0" tIns="0" rIns="0" bIns="0" rtlCol="0" anchor="t"/>
          <a:lstStyle/>
          <a:p>
            <a:pPr algn="l" indent="0" marL="0">
              <a:lnSpc>
                <a:spcPct val="115000"/>
              </a:lnSpc>
              <a:buNone/>
            </a:pPr>
            <a:r>
              <a:rPr lang="en-US" sz="950" b="1" spc="20" kern="0" dirty="0">
                <a:solidFill>
                  <a:srgbClr val="616C7A"/>
                </a:solidFill>
                <a:latin typeface="Arial" pitchFamily="34" charset="0"/>
                <a:ea typeface="Arial" pitchFamily="34" charset="-122"/>
                <a:cs typeface="Arial" pitchFamily="34" charset="-120"/>
              </a:rPr>
              <a:t>DOMAIN</a:t>
            </a:r>
            <a:endParaRPr lang="en-US" sz="950" dirty="0"/>
          </a:p>
        </p:txBody>
      </p:sp>
      <p:sp>
        <p:nvSpPr>
          <p:cNvPr id="7" name="Text 5"/>
          <p:cNvSpPr txBox="1"/>
          <p:nvPr/>
        </p:nvSpPr>
        <p:spPr>
          <a:xfrm>
            <a:off x="736600" y="4813300"/>
            <a:ext cx="711200" cy="177800"/>
          </a:xfrm>
          <a:prstGeom prst="rect">
            <a:avLst/>
          </a:prstGeom>
          <a:noFill/>
          <a:ln/>
        </p:spPr>
        <p:txBody>
          <a:bodyPr wrap="square" lIns="0" tIns="0" rIns="0" bIns="0" rtlCol="0" anchor="t"/>
          <a:lstStyle/>
          <a:p>
            <a:pPr algn="l" indent="0" marL="0">
              <a:lnSpc>
                <a:spcPct val="115000"/>
              </a:lnSpc>
              <a:buNone/>
            </a:pPr>
            <a:r>
              <a:rPr lang="en-US" sz="950" b="1" spc="20" kern="0" dirty="0">
                <a:solidFill>
                  <a:srgbClr val="616C7A"/>
                </a:solidFill>
                <a:latin typeface="Arial" pitchFamily="34" charset="0"/>
                <a:ea typeface="Arial" pitchFamily="34" charset="-122"/>
                <a:cs typeface="Arial" pitchFamily="34" charset="-120"/>
              </a:rPr>
              <a:t>DATA</a:t>
            </a:r>
            <a:endParaRPr lang="en-US" sz="950" dirty="0"/>
          </a:p>
        </p:txBody>
      </p:sp>
      <p:sp>
        <p:nvSpPr>
          <p:cNvPr id="8" name="Text 6"/>
          <p:cNvSpPr txBox="1"/>
          <p:nvPr/>
        </p:nvSpPr>
        <p:spPr>
          <a:xfrm>
            <a:off x="736600" y="5702300"/>
            <a:ext cx="711200" cy="177800"/>
          </a:xfrm>
          <a:prstGeom prst="rect">
            <a:avLst/>
          </a:prstGeom>
          <a:noFill/>
          <a:ln/>
        </p:spPr>
        <p:txBody>
          <a:bodyPr wrap="square" lIns="0" tIns="0" rIns="0" bIns="0" rtlCol="0" anchor="t"/>
          <a:lstStyle/>
          <a:p>
            <a:pPr algn="l" indent="0" marL="0">
              <a:lnSpc>
                <a:spcPct val="115000"/>
              </a:lnSpc>
              <a:buNone/>
            </a:pPr>
            <a:r>
              <a:rPr lang="en-US" sz="950" b="1" spc="20" kern="0" dirty="0">
                <a:solidFill>
                  <a:srgbClr val="616C7A"/>
                </a:solidFill>
                <a:latin typeface="Arial" pitchFamily="34" charset="0"/>
                <a:ea typeface="Arial" pitchFamily="34" charset="-122"/>
                <a:cs typeface="Arial" pitchFamily="34" charset="-120"/>
              </a:rPr>
              <a:t>RUNS ON</a:t>
            </a:r>
            <a:endParaRPr lang="en-US" sz="950" dirty="0"/>
          </a:p>
        </p:txBody>
      </p:sp>
      <p:sp>
        <p:nvSpPr>
          <p:cNvPr id="9" name="Shape 7"/>
          <p:cNvSpPr/>
          <p:nvPr/>
        </p:nvSpPr>
        <p:spPr>
          <a:xfrm>
            <a:off x="3937000" y="2540000"/>
            <a:ext cx="0" cy="254000"/>
          </a:xfrm>
          <a:prstGeom prst="line">
            <a:avLst/>
          </a:prstGeom>
          <a:noFill/>
          <a:ln w="31750">
            <a:solidFill>
              <a:srgbClr val="AEB6C2"/>
            </a:solidFill>
            <a:prstDash val="solid"/>
          </a:ln>
        </p:spPr>
      </p:sp>
      <p:sp>
        <p:nvSpPr>
          <p:cNvPr id="10" name="Shape 8"/>
          <p:cNvSpPr/>
          <p:nvPr/>
        </p:nvSpPr>
        <p:spPr>
          <a:xfrm>
            <a:off x="3937000" y="3429000"/>
            <a:ext cx="0" cy="254000"/>
          </a:xfrm>
          <a:prstGeom prst="line">
            <a:avLst/>
          </a:prstGeom>
          <a:noFill/>
          <a:ln w="31750">
            <a:solidFill>
              <a:srgbClr val="AEB6C2"/>
            </a:solidFill>
            <a:prstDash val="solid"/>
          </a:ln>
        </p:spPr>
      </p:sp>
      <p:sp>
        <p:nvSpPr>
          <p:cNvPr id="11" name="Shape 9"/>
          <p:cNvSpPr/>
          <p:nvPr/>
        </p:nvSpPr>
        <p:spPr>
          <a:xfrm>
            <a:off x="3937000" y="4318000"/>
            <a:ext cx="0" cy="254000"/>
          </a:xfrm>
          <a:prstGeom prst="line">
            <a:avLst/>
          </a:prstGeom>
          <a:noFill/>
          <a:ln w="31750">
            <a:solidFill>
              <a:srgbClr val="AEB6C2"/>
            </a:solidFill>
            <a:prstDash val="solid"/>
          </a:ln>
        </p:spPr>
      </p:sp>
      <p:sp>
        <p:nvSpPr>
          <p:cNvPr id="12" name="Shape 10"/>
          <p:cNvSpPr/>
          <p:nvPr/>
        </p:nvSpPr>
        <p:spPr>
          <a:xfrm>
            <a:off x="3937000" y="5207000"/>
            <a:ext cx="0" cy="254000"/>
          </a:xfrm>
          <a:prstGeom prst="line">
            <a:avLst/>
          </a:prstGeom>
          <a:noFill/>
          <a:ln w="31750">
            <a:solidFill>
              <a:srgbClr val="AEB6C2"/>
            </a:solidFill>
            <a:prstDash val="solid"/>
          </a:ln>
        </p:spPr>
      </p:sp>
      <p:sp>
        <p:nvSpPr>
          <p:cNvPr id="13" name="Shape 11"/>
          <p:cNvSpPr/>
          <p:nvPr/>
        </p:nvSpPr>
        <p:spPr>
          <a:xfrm>
            <a:off x="6413500" y="3111500"/>
            <a:ext cx="635000" cy="0"/>
          </a:xfrm>
          <a:prstGeom prst="line">
            <a:avLst/>
          </a:prstGeom>
          <a:noFill/>
          <a:ln w="31750">
            <a:solidFill>
              <a:srgbClr val="AEB6C2"/>
            </a:solidFill>
            <a:prstDash val="solid"/>
          </a:ln>
        </p:spPr>
      </p:sp>
      <p:sp>
        <p:nvSpPr>
          <p:cNvPr id="14" name="Shape 12"/>
          <p:cNvSpPr/>
          <p:nvPr/>
        </p:nvSpPr>
        <p:spPr>
          <a:xfrm>
            <a:off x="8826500" y="3429000"/>
            <a:ext cx="0" cy="254000"/>
          </a:xfrm>
          <a:prstGeom prst="line">
            <a:avLst/>
          </a:prstGeom>
          <a:noFill/>
          <a:ln w="31750">
            <a:solidFill>
              <a:srgbClr val="AEB6C2"/>
            </a:solidFill>
            <a:prstDash val="solid"/>
          </a:ln>
        </p:spPr>
      </p:sp>
      <p:sp>
        <p:nvSpPr>
          <p:cNvPr id="15" name="Shape 13"/>
          <p:cNvSpPr/>
          <p:nvPr/>
        </p:nvSpPr>
        <p:spPr>
          <a:xfrm>
            <a:off x="8826500" y="4318000"/>
            <a:ext cx="0" cy="254000"/>
          </a:xfrm>
          <a:prstGeom prst="line">
            <a:avLst/>
          </a:prstGeom>
          <a:noFill/>
          <a:ln w="31750">
            <a:solidFill>
              <a:srgbClr val="AEB6C2"/>
            </a:solidFill>
            <a:prstDash val="solid"/>
          </a:ln>
        </p:spPr>
      </p:sp>
      <p:sp>
        <p:nvSpPr>
          <p:cNvPr id="16" name="Shape 14"/>
          <p:cNvSpPr/>
          <p:nvPr/>
        </p:nvSpPr>
        <p:spPr>
          <a:xfrm>
            <a:off x="5588000" y="4318000"/>
            <a:ext cx="0" cy="254000"/>
          </a:xfrm>
          <a:prstGeom prst="line">
            <a:avLst/>
          </a:prstGeom>
          <a:noFill/>
          <a:ln w="31750">
            <a:solidFill>
              <a:srgbClr val="AEB6C2"/>
            </a:solidFill>
            <a:prstDash val="solid"/>
          </a:ln>
        </p:spPr>
      </p:sp>
      <p:sp>
        <p:nvSpPr>
          <p:cNvPr id="17" name="Shape 15"/>
          <p:cNvSpPr/>
          <p:nvPr/>
        </p:nvSpPr>
        <p:spPr>
          <a:xfrm>
            <a:off x="1460500" y="1905000"/>
            <a:ext cx="4953000" cy="635000"/>
          </a:xfrm>
          <a:prstGeom prst="roundRect">
            <a:avLst>
              <a:gd name="adj" fmla="val 6000"/>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8" name="Text 16"/>
          <p:cNvSpPr txBox="1"/>
          <p:nvPr/>
        </p:nvSpPr>
        <p:spPr>
          <a:xfrm>
            <a:off x="1600200" y="1993900"/>
            <a:ext cx="4673600" cy="190500"/>
          </a:xfrm>
          <a:prstGeom prst="rect">
            <a:avLst/>
          </a:prstGeom>
          <a:noFill/>
          <a:ln/>
        </p:spPr>
        <p:txBody>
          <a:bodyPr wrap="non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React 19 UI · TypeScript strict · Vite · TanStack Query</a:t>
            </a:r>
            <a:endParaRPr lang="en-US" sz="1150" dirty="0"/>
          </a:p>
        </p:txBody>
      </p:sp>
      <p:sp>
        <p:nvSpPr>
          <p:cNvPr id="19" name="Text 17"/>
          <p:cNvSpPr txBox="1"/>
          <p:nvPr/>
        </p:nvSpPr>
        <p:spPr>
          <a:xfrm>
            <a:off x="1600200" y="2171700"/>
            <a:ext cx="4673600" cy="342900"/>
          </a:xfrm>
          <a:prstGeom prst="rect">
            <a:avLst/>
          </a:prstGeom>
          <a:noFill/>
          <a:ln/>
        </p:spPr>
        <p:txBody>
          <a:bodyPr wrap="square" lIns="0" tIns="0" rIns="0" bIns="0" rtlCol="0" anchor="t"/>
          <a:lstStyle/>
          <a:p>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Operator and officer workspaces, role-specific labels; a check's status is polled while it runs</a:t>
            </a:r>
            <a:endParaRPr lang="en-US" sz="1000" dirty="0"/>
          </a:p>
        </p:txBody>
      </p:sp>
      <p:sp>
        <p:nvSpPr>
          <p:cNvPr id="20" name="Shape 18"/>
          <p:cNvSpPr/>
          <p:nvPr/>
        </p:nvSpPr>
        <p:spPr>
          <a:xfrm>
            <a:off x="7048500" y="1905000"/>
            <a:ext cx="3556000" cy="635000"/>
          </a:xfrm>
          <a:prstGeom prst="roundRect">
            <a:avLst>
              <a:gd name="adj" fmla="val 6000"/>
            </a:avLst>
          </a:prstGeom>
          <a:solidFill>
            <a:srgbClr val="F8F9FB"/>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21" name="Text 19"/>
          <p:cNvSpPr txBox="1"/>
          <p:nvPr/>
        </p:nvSpPr>
        <p:spPr>
          <a:xfrm>
            <a:off x="7188200" y="1993900"/>
            <a:ext cx="3276600" cy="190500"/>
          </a:xfrm>
          <a:prstGeom prst="rect">
            <a:avLst/>
          </a:prstGeom>
          <a:noFill/>
          <a:ln/>
        </p:spPr>
        <p:txBody>
          <a:bodyPr wrap="non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Operator · Officer · Admin (reserved)</a:t>
            </a:r>
            <a:endParaRPr lang="en-US" sz="1150" dirty="0"/>
          </a:p>
        </p:txBody>
      </p:sp>
      <p:sp>
        <p:nvSpPr>
          <p:cNvPr id="22" name="Text 20"/>
          <p:cNvSpPr txBox="1"/>
          <p:nvPr/>
        </p:nvSpPr>
        <p:spPr>
          <a:xfrm>
            <a:off x="7188200" y="2171700"/>
            <a:ext cx="3276600" cy="342900"/>
          </a:xfrm>
          <a:prstGeom prst="rect">
            <a:avLst/>
          </a:prstGeom>
          <a:noFill/>
          <a:ln/>
        </p:spPr>
        <p:txBody>
          <a:bodyPr wrap="square" lIns="0" tIns="0" rIns="0" bIns="0" rtlCol="0" anchor="t"/>
          <a:lstStyle/>
          <a:p>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Three roles; every authorization decision is made on the server</a:t>
            </a:r>
            <a:endParaRPr lang="en-US" sz="1000" dirty="0"/>
          </a:p>
        </p:txBody>
      </p:sp>
      <p:sp>
        <p:nvSpPr>
          <p:cNvPr id="23" name="Shape 21"/>
          <p:cNvSpPr/>
          <p:nvPr/>
        </p:nvSpPr>
        <p:spPr>
          <a:xfrm>
            <a:off x="1460500" y="2794000"/>
            <a:ext cx="4953000" cy="635000"/>
          </a:xfrm>
          <a:prstGeom prst="roundRect">
            <a:avLst>
              <a:gd name="adj" fmla="val 6000"/>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24" name="Text 22"/>
          <p:cNvSpPr txBox="1"/>
          <p:nvPr/>
        </p:nvSpPr>
        <p:spPr>
          <a:xfrm>
            <a:off x="1600200" y="2882900"/>
            <a:ext cx="4673600" cy="190500"/>
          </a:xfrm>
          <a:prstGeom prst="rect">
            <a:avLst/>
          </a:prstGeom>
          <a:noFill/>
          <a:ln/>
        </p:spPr>
        <p:txBody>
          <a:bodyPr wrap="non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FastAPI · JWT with a role claim · rate limits</a:t>
            </a:r>
            <a:endParaRPr lang="en-US" sz="1150" dirty="0"/>
          </a:p>
        </p:txBody>
      </p:sp>
      <p:sp>
        <p:nvSpPr>
          <p:cNvPr id="25" name="Text 23"/>
          <p:cNvSpPr txBox="1"/>
          <p:nvPr/>
        </p:nvSpPr>
        <p:spPr>
          <a:xfrm>
            <a:off x="1600200" y="3060700"/>
            <a:ext cx="4673600" cy="342900"/>
          </a:xfrm>
          <a:prstGeom prst="rect">
            <a:avLst/>
          </a:prstGeom>
          <a:noFill/>
          <a:ln/>
        </p:spPr>
        <p:txBody>
          <a:bodyPr wrap="square" lIns="0" tIns="0" rIns="0" bIns="0" rtlCol="0" anchor="t"/>
          <a:lstStyle/>
          <a:p>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Role guard per router, ownership as 404, one error envelope with a request id</a:t>
            </a:r>
            <a:endParaRPr lang="en-US" sz="1000" dirty="0"/>
          </a:p>
        </p:txBody>
      </p:sp>
      <p:sp>
        <p:nvSpPr>
          <p:cNvPr id="26" name="Shape 24"/>
          <p:cNvSpPr/>
          <p:nvPr/>
        </p:nvSpPr>
        <p:spPr>
          <a:xfrm>
            <a:off x="7048500" y="2794000"/>
            <a:ext cx="3556000" cy="635000"/>
          </a:xfrm>
          <a:prstGeom prst="roundRect">
            <a:avLst>
              <a:gd name="adj" fmla="val 6000"/>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27" name="Text 25"/>
          <p:cNvSpPr txBox="1"/>
          <p:nvPr/>
        </p:nvSpPr>
        <p:spPr>
          <a:xfrm>
            <a:off x="7188200" y="2882900"/>
            <a:ext cx="3276600" cy="190500"/>
          </a:xfrm>
          <a:prstGeom prst="rect">
            <a:avLst/>
          </a:prstGeom>
          <a:noFill/>
          <a:ln/>
        </p:spPr>
        <p:txBody>
          <a:bodyPr wrap="non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AI verification</a:t>
            </a:r>
            <a:endParaRPr lang="en-US" sz="1150" dirty="0"/>
          </a:p>
        </p:txBody>
      </p:sp>
      <p:sp>
        <p:nvSpPr>
          <p:cNvPr id="28" name="Text 26"/>
          <p:cNvSpPr txBox="1"/>
          <p:nvPr/>
        </p:nvSpPr>
        <p:spPr>
          <a:xfrm>
            <a:off x="7188200" y="3060700"/>
            <a:ext cx="3276600" cy="342900"/>
          </a:xfrm>
          <a:prstGeom prst="rect">
            <a:avLst/>
          </a:prstGeom>
          <a:noFill/>
          <a:ln/>
        </p:spPr>
        <p:txBody>
          <a:bodyPr wrap="square" lIns="0" tIns="0" rIns="0" bIns="0" rtlCol="0" anchor="t"/>
          <a:lstStyle/>
          <a:p>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In-process background task per upload; Re-run check recovers after a restart</a:t>
            </a:r>
            <a:endParaRPr lang="en-US" sz="1000" dirty="0"/>
          </a:p>
        </p:txBody>
      </p:sp>
      <p:sp>
        <p:nvSpPr>
          <p:cNvPr id="29" name="Shape 27"/>
          <p:cNvSpPr/>
          <p:nvPr/>
        </p:nvSpPr>
        <p:spPr>
          <a:xfrm>
            <a:off x="1460500" y="3683000"/>
            <a:ext cx="4953000" cy="635000"/>
          </a:xfrm>
          <a:prstGeom prst="roundRect">
            <a:avLst>
              <a:gd name="adj" fmla="val 6000"/>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30" name="Text 28"/>
          <p:cNvSpPr txBox="1"/>
          <p:nvPr/>
        </p:nvSpPr>
        <p:spPr>
          <a:xfrm>
            <a:off x="1600200" y="3771900"/>
            <a:ext cx="4673600" cy="190500"/>
          </a:xfrm>
          <a:prstGeom prst="rect">
            <a:avLst/>
          </a:prstGeom>
          <a:noFill/>
          <a:ln/>
        </p:spPr>
        <p:txBody>
          <a:bodyPr wrap="non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Application services · pure Python domain</a:t>
            </a:r>
            <a:endParaRPr lang="en-US" sz="1150" dirty="0"/>
          </a:p>
        </p:txBody>
      </p:sp>
      <p:sp>
        <p:nvSpPr>
          <p:cNvPr id="31" name="Text 29"/>
          <p:cNvSpPr txBox="1"/>
          <p:nvPr/>
        </p:nvSpPr>
        <p:spPr>
          <a:xfrm>
            <a:off x="1600200" y="3949700"/>
            <a:ext cx="4673600" cy="342900"/>
          </a:xfrm>
          <a:prstGeom prst="rect">
            <a:avLst/>
          </a:prstGeom>
          <a:noFill/>
          <a:ln/>
        </p:spPr>
        <p:txBody>
          <a:bodyPr wrap="square" lIns="0" tIns="0" rIns="0" bIns="0" rtlCol="0" anchor="t"/>
          <a:lstStyle/>
          <a:p>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Workflow table, verification rules, diff, upload rules; no FastAPI or SQLAlchemy import</a:t>
            </a:r>
            <a:endParaRPr lang="en-US" sz="1000" dirty="0"/>
          </a:p>
        </p:txBody>
      </p:sp>
      <p:sp>
        <p:nvSpPr>
          <p:cNvPr id="32" name="Shape 30"/>
          <p:cNvSpPr/>
          <p:nvPr/>
        </p:nvSpPr>
        <p:spPr>
          <a:xfrm>
            <a:off x="7048500" y="3683000"/>
            <a:ext cx="3556000" cy="635000"/>
          </a:xfrm>
          <a:prstGeom prst="roundRect">
            <a:avLst>
              <a:gd name="adj" fmla="val 6000"/>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33" name="Text 31"/>
          <p:cNvSpPr txBox="1"/>
          <p:nvPr/>
        </p:nvSpPr>
        <p:spPr>
          <a:xfrm>
            <a:off x="7188200" y="3771900"/>
            <a:ext cx="3276600" cy="190500"/>
          </a:xfrm>
          <a:prstGeom prst="rect">
            <a:avLst/>
          </a:prstGeom>
          <a:noFill/>
          <a:ln/>
        </p:spPr>
        <p:txBody>
          <a:bodyPr wrap="non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VerificationProvider</a:t>
            </a:r>
            <a:endParaRPr lang="en-US" sz="1150" dirty="0"/>
          </a:p>
        </p:txBody>
      </p:sp>
      <p:sp>
        <p:nvSpPr>
          <p:cNvPr id="34" name="Text 32"/>
          <p:cNvSpPr txBox="1"/>
          <p:nvPr/>
        </p:nvSpPr>
        <p:spPr>
          <a:xfrm>
            <a:off x="7188200" y="3949700"/>
            <a:ext cx="3276600" cy="342900"/>
          </a:xfrm>
          <a:prstGeom prst="rect">
            <a:avLst/>
          </a:prstGeom>
          <a:noFill/>
          <a:ln/>
        </p:spPr>
        <p:txBody>
          <a:bodyPr wrap="square" lIns="0" tIns="0" rIns="0" bIns="0" rtlCol="0" anchor="t"/>
          <a:lstStyle/>
          <a:p>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Structured output through two strict schemas, then deterministic post-rules</a:t>
            </a:r>
            <a:endParaRPr lang="en-US" sz="1000" dirty="0"/>
          </a:p>
        </p:txBody>
      </p:sp>
      <p:sp>
        <p:nvSpPr>
          <p:cNvPr id="35" name="Shape 33"/>
          <p:cNvSpPr/>
          <p:nvPr/>
        </p:nvSpPr>
        <p:spPr>
          <a:xfrm>
            <a:off x="1460500" y="4572000"/>
            <a:ext cx="3048000" cy="635000"/>
          </a:xfrm>
          <a:prstGeom prst="roundRect">
            <a:avLst>
              <a:gd name="adj" fmla="val 6000"/>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36" name="Text 34"/>
          <p:cNvSpPr txBox="1"/>
          <p:nvPr/>
        </p:nvSpPr>
        <p:spPr>
          <a:xfrm>
            <a:off x="1600200" y="4660900"/>
            <a:ext cx="2768600" cy="190500"/>
          </a:xfrm>
          <a:prstGeom prst="rect">
            <a:avLst/>
          </a:prstGeom>
          <a:noFill/>
          <a:ln/>
        </p:spPr>
        <p:txBody>
          <a:bodyPr wrap="non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Repositories · audit trail</a:t>
            </a:r>
            <a:endParaRPr lang="en-US" sz="1150" dirty="0"/>
          </a:p>
        </p:txBody>
      </p:sp>
      <p:sp>
        <p:nvSpPr>
          <p:cNvPr id="37" name="Text 35"/>
          <p:cNvSpPr txBox="1"/>
          <p:nvPr/>
        </p:nvSpPr>
        <p:spPr>
          <a:xfrm>
            <a:off x="1600200" y="4838700"/>
            <a:ext cx="2768600" cy="342900"/>
          </a:xfrm>
          <a:prstGeom prst="rect">
            <a:avLst/>
          </a:prstGeom>
          <a:noFill/>
          <a:ln/>
        </p:spPr>
        <p:txBody>
          <a:bodyPr wrap="square" lIns="0" tIns="0" rIns="0" bIns="0" rtlCol="0" anchor="t"/>
          <a:lstStyle/>
          <a:p>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Append-only audit rows in the same transaction</a:t>
            </a:r>
            <a:endParaRPr lang="en-US" sz="1000" dirty="0"/>
          </a:p>
        </p:txBody>
      </p:sp>
      <p:sp>
        <p:nvSpPr>
          <p:cNvPr id="38" name="Shape 36"/>
          <p:cNvSpPr/>
          <p:nvPr/>
        </p:nvSpPr>
        <p:spPr>
          <a:xfrm>
            <a:off x="4762500" y="4572000"/>
            <a:ext cx="1651000" cy="635000"/>
          </a:xfrm>
          <a:prstGeom prst="roundRect">
            <a:avLst>
              <a:gd name="adj" fmla="val 6000"/>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39" name="Text 37"/>
          <p:cNvSpPr txBox="1"/>
          <p:nvPr/>
        </p:nvSpPr>
        <p:spPr>
          <a:xfrm>
            <a:off x="4902200" y="4660900"/>
            <a:ext cx="1371600" cy="190500"/>
          </a:xfrm>
          <a:prstGeom prst="rect">
            <a:avLst/>
          </a:prstGeom>
          <a:noFill/>
          <a:ln/>
        </p:spPr>
        <p:txBody>
          <a:bodyPr wrap="non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FileStorage</a:t>
            </a:r>
            <a:endParaRPr lang="en-US" sz="1150" dirty="0"/>
          </a:p>
        </p:txBody>
      </p:sp>
      <p:sp>
        <p:nvSpPr>
          <p:cNvPr id="40" name="Text 38"/>
          <p:cNvSpPr txBox="1"/>
          <p:nvPr/>
        </p:nvSpPr>
        <p:spPr>
          <a:xfrm>
            <a:off x="4902200" y="4838700"/>
            <a:ext cx="1371600" cy="342900"/>
          </a:xfrm>
          <a:prstGeom prst="rect">
            <a:avLst/>
          </a:prstGeom>
          <a:noFill/>
          <a:ln/>
        </p:spPr>
        <p:txBody>
          <a:bodyPr wrap="square" lIns="0" tIns="0" rIns="0" bIns="0" rtlCol="0" anchor="t"/>
          <a:lstStyle/>
          <a:p>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Allowlist, 10 MB, magic bytes</a:t>
            </a:r>
            <a:endParaRPr lang="en-US" sz="1000" dirty="0"/>
          </a:p>
        </p:txBody>
      </p:sp>
      <p:sp>
        <p:nvSpPr>
          <p:cNvPr id="41" name="Shape 39"/>
          <p:cNvSpPr/>
          <p:nvPr/>
        </p:nvSpPr>
        <p:spPr>
          <a:xfrm>
            <a:off x="7048500" y="4572000"/>
            <a:ext cx="3556000" cy="635000"/>
          </a:xfrm>
          <a:prstGeom prst="roundRect">
            <a:avLst>
              <a:gd name="adj" fmla="val 6000"/>
            </a:avLst>
          </a:prstGeom>
          <a:solidFill>
            <a:srgbClr val="F8F9FB"/>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42" name="Text 40"/>
          <p:cNvSpPr txBox="1"/>
          <p:nvPr/>
        </p:nvSpPr>
        <p:spPr>
          <a:xfrm>
            <a:off x="7188200" y="4660900"/>
            <a:ext cx="3276600" cy="190500"/>
          </a:xfrm>
          <a:prstGeom prst="rect">
            <a:avLst/>
          </a:prstGeom>
          <a:noFill/>
          <a:ln/>
        </p:spPr>
        <p:txBody>
          <a:bodyPr wrap="non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OpenAI (gpt-4.1-mini) or Mock</a:t>
            </a:r>
            <a:endParaRPr lang="en-US" sz="1150" dirty="0"/>
          </a:p>
        </p:txBody>
      </p:sp>
      <p:sp>
        <p:nvSpPr>
          <p:cNvPr id="43" name="Text 41"/>
          <p:cNvSpPr txBox="1"/>
          <p:nvPr/>
        </p:nvSpPr>
        <p:spPr>
          <a:xfrm>
            <a:off x="7188200" y="4838700"/>
            <a:ext cx="3276600" cy="342900"/>
          </a:xfrm>
          <a:prstGeom prst="rect">
            <a:avLst/>
          </a:prstGeom>
          <a:noFill/>
          <a:ln/>
        </p:spPr>
        <p:txBody>
          <a:bodyPr wrap="square" lIns="0" tIns="0" rIns="0" bIns="0" rtlCol="0" anchor="t"/>
          <a:lstStyle/>
          <a:p>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Mock by default, in tests and CI; with no key a check is stored unavailable, no model call</a:t>
            </a:r>
            <a:endParaRPr lang="en-US" sz="1000" dirty="0"/>
          </a:p>
        </p:txBody>
      </p:sp>
      <p:sp>
        <p:nvSpPr>
          <p:cNvPr id="44" name="Shape 42"/>
          <p:cNvSpPr/>
          <p:nvPr/>
        </p:nvSpPr>
        <p:spPr>
          <a:xfrm>
            <a:off x="1460500" y="5461000"/>
            <a:ext cx="3048000" cy="635000"/>
          </a:xfrm>
          <a:prstGeom prst="roundRect">
            <a:avLst>
              <a:gd name="adj" fmla="val 6000"/>
            </a:avLst>
          </a:prstGeom>
          <a:solidFill>
            <a:srgbClr val="1B2430"/>
          </a:solidFill>
          <a:ln w="9525">
            <a:solidFill>
              <a:srgbClr val="1B2430"/>
            </a:solidFill>
            <a:prstDash val="solid"/>
          </a:ln>
        </p:spPr>
      </p:sp>
      <p:sp>
        <p:nvSpPr>
          <p:cNvPr id="45" name="Text 43"/>
          <p:cNvSpPr txBox="1"/>
          <p:nvPr/>
        </p:nvSpPr>
        <p:spPr>
          <a:xfrm>
            <a:off x="1600200" y="5549900"/>
            <a:ext cx="2768600" cy="190500"/>
          </a:xfrm>
          <a:prstGeom prst="rect">
            <a:avLst/>
          </a:prstGeom>
          <a:noFill/>
          <a:ln/>
        </p:spPr>
        <p:txBody>
          <a:bodyPr wrap="none" lIns="0" tIns="0" rIns="0" bIns="0" rtlCol="0" anchor="t"/>
          <a:lstStyle/>
          <a:p>
            <a:pPr algn="l" indent="0" marL="0">
              <a:lnSpc>
                <a:spcPct val="115000"/>
              </a:lnSpc>
              <a:buNone/>
            </a:pPr>
            <a:r>
              <a:rPr lang="en-US" sz="1150" b="1" dirty="0">
                <a:solidFill>
                  <a:srgbClr val="FFFFFF"/>
                </a:solidFill>
                <a:latin typeface="Arial" pitchFamily="34" charset="0"/>
                <a:ea typeface="Arial" pitchFamily="34" charset="-122"/>
                <a:cs typeface="Arial" pitchFamily="34" charset="-120"/>
              </a:rPr>
              <a:t>PostgreSQL 16</a:t>
            </a:r>
            <a:endParaRPr lang="en-US" sz="1150" dirty="0"/>
          </a:p>
        </p:txBody>
      </p:sp>
      <p:sp>
        <p:nvSpPr>
          <p:cNvPr id="46" name="Text 44"/>
          <p:cNvSpPr txBox="1"/>
          <p:nvPr/>
        </p:nvSpPr>
        <p:spPr>
          <a:xfrm>
            <a:off x="1600200" y="5727700"/>
            <a:ext cx="2768600" cy="342900"/>
          </a:xfrm>
          <a:prstGeom prst="rect">
            <a:avLst/>
          </a:prstGeom>
          <a:noFill/>
          <a:ln/>
        </p:spPr>
        <p:txBody>
          <a:bodyPr wrap="square" lIns="0" tIns="0" rIns="0" bIns="0" rtlCol="0" anchor="t"/>
          <a:lstStyle/>
          <a:p>
            <a:pPr algn="l" indent="0" marL="0">
              <a:lnSpc>
                <a:spcPct val="115000"/>
              </a:lnSpc>
              <a:buNone/>
            </a:pPr>
            <a:r>
              <a:rPr lang="en-US" sz="1000" dirty="0">
                <a:solidFill>
                  <a:srgbClr val="9AA3B0"/>
                </a:solidFill>
                <a:latin typeface="Arial" pitchFamily="34" charset="0"/>
                <a:ea typeface="Arial" pitchFamily="34" charset="-122"/>
                <a:cs typeface="Arial" pitchFamily="34" charset="-120"/>
              </a:rPr>
              <a:t>Row locks, UUIDs, revisions as JSONB snapshots</a:t>
            </a:r>
            <a:endParaRPr lang="en-US" sz="1000" dirty="0"/>
          </a:p>
        </p:txBody>
      </p:sp>
      <p:sp>
        <p:nvSpPr>
          <p:cNvPr id="47" name="Shape 45"/>
          <p:cNvSpPr/>
          <p:nvPr/>
        </p:nvSpPr>
        <p:spPr>
          <a:xfrm>
            <a:off x="4762500" y="5461000"/>
            <a:ext cx="4064000" cy="635000"/>
          </a:xfrm>
          <a:prstGeom prst="roundRect">
            <a:avLst>
              <a:gd name="adj" fmla="val 6000"/>
            </a:avLst>
          </a:prstGeom>
          <a:solidFill>
            <a:srgbClr val="1B2430"/>
          </a:solidFill>
          <a:ln w="9525">
            <a:solidFill>
              <a:srgbClr val="1B2430"/>
            </a:solidFill>
            <a:prstDash val="solid"/>
          </a:ln>
        </p:spPr>
      </p:sp>
      <p:sp>
        <p:nvSpPr>
          <p:cNvPr id="48" name="Text 46"/>
          <p:cNvSpPr txBox="1"/>
          <p:nvPr/>
        </p:nvSpPr>
        <p:spPr>
          <a:xfrm>
            <a:off x="4902200" y="5549900"/>
            <a:ext cx="3784600" cy="190500"/>
          </a:xfrm>
          <a:prstGeom prst="rect">
            <a:avLst/>
          </a:prstGeom>
          <a:noFill/>
          <a:ln/>
        </p:spPr>
        <p:txBody>
          <a:bodyPr wrap="none" lIns="0" tIns="0" rIns="0" bIns="0" rtlCol="0" anchor="t"/>
          <a:lstStyle/>
          <a:p>
            <a:pPr algn="l" indent="0" marL="0">
              <a:lnSpc>
                <a:spcPct val="115000"/>
              </a:lnSpc>
              <a:buNone/>
            </a:pPr>
            <a:r>
              <a:rPr lang="en-US" sz="1150" b="1" dirty="0">
                <a:solidFill>
                  <a:srgbClr val="FFFFFF"/>
                </a:solidFill>
                <a:latin typeface="Arial" pitchFamily="34" charset="0"/>
                <a:ea typeface="Arial" pitchFamily="34" charset="-122"/>
                <a:cs typeface="Arial" pitchFamily="34" charset="-120"/>
              </a:rPr>
              <a:t>Railway · two environments</a:t>
            </a:r>
            <a:endParaRPr lang="en-US" sz="1150" dirty="0"/>
          </a:p>
        </p:txBody>
      </p:sp>
      <p:sp>
        <p:nvSpPr>
          <p:cNvPr id="49" name="Text 47"/>
          <p:cNvSpPr txBox="1"/>
          <p:nvPr/>
        </p:nvSpPr>
        <p:spPr>
          <a:xfrm>
            <a:off x="4902200" y="5727700"/>
            <a:ext cx="3784600" cy="342900"/>
          </a:xfrm>
          <a:prstGeom prst="rect">
            <a:avLst/>
          </a:prstGeom>
          <a:noFill/>
          <a:ln/>
        </p:spPr>
        <p:txBody>
          <a:bodyPr wrap="square" lIns="0" tIns="0" rIns="0" bIns="0" rtlCol="0" anchor="t"/>
          <a:lstStyle/>
          <a:p>
            <a:pPr algn="l" indent="0" marL="0">
              <a:lnSpc>
                <a:spcPct val="115000"/>
              </a:lnSpc>
              <a:buNone/>
            </a:pPr>
            <a:r>
              <a:rPr lang="en-US" sz="1000" dirty="0">
                <a:solidFill>
                  <a:srgbClr val="9AA3B0"/>
                </a:solidFill>
                <a:latin typeface="Arial" pitchFamily="34" charset="0"/>
                <a:ea typeface="Arial" pitchFamily="34" charset="-122"/>
                <a:cs typeface="Arial" pitchFamily="34" charset="-120"/>
              </a:rPr>
              <a:t>Images built once in CI; dev on push, production run by hand from main and paused for an approval; health gate</a:t>
            </a:r>
            <a:endParaRPr lang="en-US" sz="1000" dirty="0"/>
          </a:p>
        </p:txBody>
      </p:sp>
      <p:sp>
        <p:nvSpPr>
          <p:cNvPr id="50" name="Shape 48"/>
          <p:cNvSpPr/>
          <p:nvPr/>
        </p:nvSpPr>
        <p:spPr>
          <a:xfrm>
            <a:off x="9080500" y="5461000"/>
            <a:ext cx="1524000" cy="635000"/>
          </a:xfrm>
          <a:prstGeom prst="roundRect">
            <a:avLst>
              <a:gd name="adj" fmla="val 6000"/>
            </a:avLst>
          </a:prstGeom>
          <a:solidFill>
            <a:srgbClr val="1B2430"/>
          </a:solidFill>
          <a:ln w="9525">
            <a:solidFill>
              <a:srgbClr val="1B2430"/>
            </a:solidFill>
            <a:prstDash val="solid"/>
          </a:ln>
        </p:spPr>
      </p:sp>
      <p:sp>
        <p:nvSpPr>
          <p:cNvPr id="51" name="Text 49"/>
          <p:cNvSpPr txBox="1"/>
          <p:nvPr/>
        </p:nvSpPr>
        <p:spPr>
          <a:xfrm>
            <a:off x="9220200" y="5549900"/>
            <a:ext cx="1244600" cy="190500"/>
          </a:xfrm>
          <a:prstGeom prst="rect">
            <a:avLst/>
          </a:prstGeom>
          <a:noFill/>
          <a:ln/>
        </p:spPr>
        <p:txBody>
          <a:bodyPr wrap="none" lIns="0" tIns="0" rIns="0" bIns="0" rtlCol="0" anchor="t"/>
          <a:lstStyle/>
          <a:p>
            <a:pPr algn="l" indent="0" marL="0">
              <a:lnSpc>
                <a:spcPct val="115000"/>
              </a:lnSpc>
              <a:buNone/>
            </a:pPr>
            <a:r>
              <a:rPr lang="en-US" sz="1150" b="1" dirty="0">
                <a:solidFill>
                  <a:srgbClr val="FFFFFF"/>
                </a:solidFill>
                <a:latin typeface="Arial" pitchFamily="34" charset="0"/>
                <a:ea typeface="Arial" pitchFamily="34" charset="-122"/>
                <a:cs typeface="Arial" pitchFamily="34" charset="-120"/>
              </a:rPr>
              <a:t>LangSmith</a:t>
            </a:r>
            <a:endParaRPr lang="en-US" sz="1150" dirty="0"/>
          </a:p>
        </p:txBody>
      </p:sp>
      <p:sp>
        <p:nvSpPr>
          <p:cNvPr id="52" name="Text 50"/>
          <p:cNvSpPr txBox="1"/>
          <p:nvPr/>
        </p:nvSpPr>
        <p:spPr>
          <a:xfrm>
            <a:off x="9220200" y="5727700"/>
            <a:ext cx="1244600" cy="342900"/>
          </a:xfrm>
          <a:prstGeom prst="rect">
            <a:avLst/>
          </a:prstGeom>
          <a:noFill/>
          <a:ln/>
        </p:spPr>
        <p:txBody>
          <a:bodyPr wrap="square" lIns="0" tIns="0" rIns="0" bIns="0" rtlCol="0" anchor="t"/>
          <a:lstStyle/>
          <a:p>
            <a:pPr algn="l" indent="0" marL="0">
              <a:lnSpc>
                <a:spcPct val="115000"/>
              </a:lnSpc>
              <a:buNone/>
            </a:pPr>
            <a:r>
              <a:rPr lang="en-US" sz="1000" dirty="0">
                <a:solidFill>
                  <a:srgbClr val="9AA3B0"/>
                </a:solidFill>
                <a:latin typeface="Arial" pitchFamily="34" charset="0"/>
                <a:ea typeface="Arial" pitchFamily="34" charset="-122"/>
                <a:cs typeface="Arial" pitchFamily="34" charset="-120"/>
              </a:rPr>
              <a:t>AI traces with inputs hidden</a:t>
            </a:r>
            <a:endParaRPr lang="en-US" sz="1000" dirty="0"/>
          </a:p>
        </p:txBody>
      </p:sp>
      <p:sp>
        <p:nvSpPr>
          <p:cNvPr id="53" name="Text 51"/>
          <p:cNvSpPr txBox="1"/>
          <p:nvPr/>
        </p:nvSpPr>
        <p:spPr>
          <a:xfrm>
            <a:off x="762000" y="6299200"/>
            <a:ext cx="7620000" cy="381000"/>
          </a:xfrm>
          <a:prstGeom prst="rect">
            <a:avLst/>
          </a:prstGeom>
          <a:noFill/>
          <a:ln/>
        </p:spPr>
        <p:txBody>
          <a:bodyPr wrap="square" lIns="0" tIns="0" rIns="0" bIns="0" rtlCol="0" anchor="t"/>
          <a:lstStyle/>
          <a:p>
            <a:pPr algn="l" indent="0" marL="0">
              <a:lnSpc>
                <a:spcPct val="130000"/>
              </a:lnSpc>
              <a:buNone/>
            </a:pPr>
            <a:endParaRPr lang="en-US" sz="1000" dirty="0"/>
          </a:p>
        </p:txBody>
      </p:sp>
      <p:sp>
        <p:nvSpPr>
          <p:cNvPr id="54" name="Text 52"/>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08 / 11</a:t>
            </a:r>
            <a:endParaRPr lang="en-US" sz="1000" dirty="0"/>
          </a:p>
        </p:txBody>
      </p:sp>
    </p:spTree>
  </p:cSld>
  <p:clrMapOvr>
    <a:masterClrMapping/>
  </p:clrMapOvr>
  <p:transition spd="fast">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ENGINEERING QUALITY</a:t>
            </a:r>
            <a:endParaRPr lang="en-US" sz="1100" dirty="0"/>
          </a:p>
        </p:txBody>
      </p:sp>
      <p:sp>
        <p:nvSpPr>
          <p:cNvPr id="3" name="Text 1"/>
          <p:cNvSpPr txBox="1"/>
          <p:nvPr/>
        </p:nvSpPr>
        <p:spPr>
          <a:xfrm>
            <a:off x="762000" y="863600"/>
            <a:ext cx="9906000" cy="762000"/>
          </a:xfrm>
          <a:prstGeom prst="rect">
            <a:avLst/>
          </a:prstGeom>
          <a:noFill/>
          <a:ln/>
        </p:spPr>
        <p:txBody>
          <a:bodyPr wrap="square" lIns="0" tIns="0" rIns="0" bIns="0" rtlCol="0" anchor="t"/>
          <a:lstStyle/>
          <a:p>
            <a:pPr algn="l" indent="0" marL="0">
              <a:lnSpc>
                <a:spcPct val="108000"/>
              </a:lnSpc>
              <a:buNone/>
            </a:pPr>
            <a:r>
              <a:rPr lang="en-US" sz="2300" dirty="0">
                <a:solidFill>
                  <a:srgbClr val="1B2430"/>
                </a:solidFill>
                <a:latin typeface="Cambria" pitchFamily="34" charset="0"/>
                <a:ea typeface="Cambria" pitchFamily="34" charset="-122"/>
                <a:cs typeface="Cambria" pitchFamily="34" charset="-120"/>
              </a:rPr>
              <a:t>Checked by tests, gates and a written record.</a:t>
            </a:r>
            <a:endParaRPr lang="en-US" sz="2300" dirty="0"/>
          </a:p>
        </p:txBody>
      </p:sp>
      <p:sp>
        <p:nvSpPr>
          <p:cNvPr id="4" name="Text 2"/>
          <p:cNvSpPr txBox="1"/>
          <p:nvPr/>
        </p:nvSpPr>
        <p:spPr>
          <a:xfrm>
            <a:off x="762000" y="1701800"/>
            <a:ext cx="10668000" cy="228600"/>
          </a:xfrm>
          <a:prstGeom prst="rect">
            <a:avLst/>
          </a:prstGeom>
          <a:noFill/>
          <a:ln/>
        </p:spPr>
        <p:txBody>
          <a:bodyPr wrap="square" lIns="0" tIns="0" rIns="0" bIns="0" rtlCol="0" anchor="ctr"/>
          <a:lstStyle/>
          <a:p>
            <a:pPr algn="l" indent="0" marL="0">
              <a:lnSpc>
                <a:spcPct val="115000"/>
              </a:lnSpc>
              <a:buNone/>
            </a:pPr>
            <a:r>
              <a:rPr lang="en-US" sz="1200" b="1" dirty="0">
                <a:solidFill>
                  <a:srgbClr val="1B2430"/>
                </a:solidFill>
                <a:latin typeface="Arial" pitchFamily="34" charset="0"/>
                <a:ea typeface="Arial" pitchFamily="34" charset="-122"/>
                <a:cs typeface="Arial" pitchFamily="34" charset="-120"/>
              </a:rPr>
              <a:t>748</a:t>
            </a:r>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 backend tests   </a:t>
            </a:r>
            <a:pPr algn="l" indent="0" marL="0">
              <a:lnSpc>
                <a:spcPct val="115000"/>
              </a:lnSpc>
              <a:buNone/>
            </a:pPr>
            <a:r>
              <a:rPr lang="en-US" sz="1200" b="1" dirty="0">
                <a:solidFill>
                  <a:srgbClr val="1B2430"/>
                </a:solidFill>
                <a:latin typeface="Arial" pitchFamily="34" charset="0"/>
                <a:ea typeface="Arial" pitchFamily="34" charset="-122"/>
                <a:cs typeface="Arial" pitchFamily="34" charset="-120"/>
              </a:rPr>
              <a:t>152</a:t>
            </a:r>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 frontend tests   </a:t>
            </a:r>
            <a:pPr algn="l" indent="0" marL="0">
              <a:lnSpc>
                <a:spcPct val="115000"/>
              </a:lnSpc>
              <a:buNone/>
            </a:pPr>
            <a:r>
              <a:rPr lang="en-US" sz="1200" b="1" dirty="0">
                <a:solidFill>
                  <a:srgbClr val="1B2430"/>
                </a:solidFill>
                <a:latin typeface="Arial" pitchFamily="34" charset="0"/>
                <a:ea typeface="Arial" pitchFamily="34" charset="-122"/>
                <a:cs typeface="Arial" pitchFamily="34" charset="-120"/>
              </a:rPr>
              <a:t>8</a:t>
            </a:r>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 Playwright specs   </a:t>
            </a:r>
            <a:pPr algn="l" indent="0" marL="0">
              <a:lnSpc>
                <a:spcPct val="115000"/>
              </a:lnSpc>
              <a:buNone/>
            </a:pPr>
            <a:r>
              <a:rPr lang="en-US" sz="1200" b="1" dirty="0">
                <a:solidFill>
                  <a:srgbClr val="1B2430"/>
                </a:solidFill>
                <a:latin typeface="Arial" pitchFamily="34" charset="0"/>
                <a:ea typeface="Arial" pitchFamily="34" charset="-122"/>
                <a:cs typeface="Arial" pitchFamily="34" charset="-120"/>
              </a:rPr>
              <a:t>96 % and 80.6 %</a:t>
            </a:r>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 coverage   </a:t>
            </a:r>
            <a:pPr algn="l" indent="0" marL="0">
              <a:lnSpc>
                <a:spcPct val="115000"/>
              </a:lnSpc>
              <a:buNone/>
            </a:pPr>
            <a:r>
              <a:rPr lang="en-US" sz="1200" b="1" dirty="0">
                <a:solidFill>
                  <a:srgbClr val="1B2430"/>
                </a:solidFill>
                <a:latin typeface="Arial" pitchFamily="34" charset="0"/>
                <a:ea typeface="Arial" pitchFamily="34" charset="-122"/>
                <a:cs typeface="Arial" pitchFamily="34" charset="-120"/>
              </a:rPr>
              <a:t>588</a:t>
            </a:r>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 state-machine combinations   </a:t>
            </a:r>
            <a:pPr algn="l" indent="0" marL="0">
              <a:lnSpc>
                <a:spcPct val="115000"/>
              </a:lnSpc>
              <a:buNone/>
            </a:pPr>
            <a:r>
              <a:rPr lang="en-US" sz="1200" b="1" dirty="0">
                <a:solidFill>
                  <a:srgbClr val="1B2430"/>
                </a:solidFill>
                <a:latin typeface="Arial" pitchFamily="34" charset="0"/>
                <a:ea typeface="Arial" pitchFamily="34" charset="-122"/>
                <a:cs typeface="Arial" pitchFamily="34" charset="-120"/>
              </a:rPr>
              <a:t>22</a:t>
            </a:r>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 threats   </a:t>
            </a:r>
            <a:pPr algn="l" indent="0" marL="0">
              <a:lnSpc>
                <a:spcPct val="115000"/>
              </a:lnSpc>
              <a:buNone/>
            </a:pPr>
            <a:r>
              <a:rPr lang="en-US" sz="1200" b="1" dirty="0">
                <a:solidFill>
                  <a:srgbClr val="1B2430"/>
                </a:solidFill>
                <a:latin typeface="Arial" pitchFamily="34" charset="0"/>
                <a:ea typeface="Arial" pitchFamily="34" charset="-122"/>
                <a:cs typeface="Arial" pitchFamily="34" charset="-120"/>
              </a:rPr>
              <a:t>70</a:t>
            </a:r>
            <a:pPr algn="l" indent="0" marL="0">
              <a:lnSpc>
                <a:spcPct val="115000"/>
              </a:lnSpc>
              <a:buNone/>
            </a:pPr>
            <a:r>
              <a:rPr lang="en-US" sz="1000" dirty="0">
                <a:solidFill>
                  <a:srgbClr val="465060"/>
                </a:solidFill>
                <a:latin typeface="Arial" pitchFamily="34" charset="0"/>
                <a:ea typeface="Arial" pitchFamily="34" charset="-122"/>
                <a:cs typeface="Arial" pitchFamily="34" charset="-120"/>
              </a:rPr>
              <a:t> stories, 4 deferred</a:t>
            </a:r>
            <a:endParaRPr lang="en-US" sz="1000" dirty="0"/>
          </a:p>
        </p:txBody>
      </p:sp>
      <p:sp>
        <p:nvSpPr>
          <p:cNvPr id="5" name="b1"/>
          <p:cNvSpPr/>
          <p:nvPr/>
        </p:nvSpPr>
        <p:spPr>
          <a:xfrm>
            <a:off x="812800" y="2165350"/>
            <a:ext cx="50800" cy="50800"/>
          </a:xfrm>
          <a:prstGeom prst="line">
            <a:avLst/>
          </a:prstGeom>
          <a:noFill/>
          <a:ln w="25400">
            <a:solidFill>
              <a:srgbClr val="067647"/>
            </a:solidFill>
            <a:prstDash val="solid"/>
          </a:ln>
        </p:spPr>
      </p:sp>
      <p:sp>
        <p:nvSpPr>
          <p:cNvPr id="6" name="b1"/>
          <p:cNvSpPr/>
          <p:nvPr/>
        </p:nvSpPr>
        <p:spPr>
          <a:xfrm flipV="1">
            <a:off x="863600" y="2120900"/>
            <a:ext cx="82550" cy="95250"/>
          </a:xfrm>
          <a:prstGeom prst="line">
            <a:avLst/>
          </a:prstGeom>
          <a:noFill/>
          <a:ln w="25400">
            <a:solidFill>
              <a:srgbClr val="067647"/>
            </a:solidFill>
            <a:prstDash val="solid"/>
          </a:ln>
        </p:spPr>
      </p:sp>
      <p:sp>
        <p:nvSpPr>
          <p:cNvPr id="7" name="b1"/>
          <p:cNvSpPr txBox="1"/>
          <p:nvPr/>
        </p:nvSpPr>
        <p:spPr>
          <a:xfrm>
            <a:off x="1079500" y="2070100"/>
            <a:ext cx="6159500" cy="469900"/>
          </a:xfrm>
          <a:prstGeom prst="rect">
            <a:avLst/>
          </a:prstGeom>
          <a:noFill/>
          <a:ln/>
        </p:spPr>
        <p:txBody>
          <a:bodyPr wrap="square" lIns="0" tIns="0" rIns="0" bIns="0" rtlCol="0" anchor="t"/>
          <a:lstStyle/>
          <a:p>
            <a:pPr algn="l" indent="0" marL="0">
              <a:lnSpc>
                <a:spcPct val="130000"/>
              </a:lnSpc>
              <a:buNone/>
            </a:pPr>
            <a:r>
              <a:rPr lang="en-US" sz="1100" b="1" dirty="0">
                <a:solidFill>
                  <a:srgbClr val="1B2430"/>
                </a:solidFill>
                <a:latin typeface="Arial" pitchFamily="34" charset="0"/>
                <a:ea typeface="Arial" pitchFamily="34" charset="-122"/>
                <a:cs typeface="Arial" pitchFamily="34" charset="-120"/>
              </a:rPr>
              <a:t>Tests. </a:t>
            </a:r>
            <a:pPr algn="l" indent="0" marL="0">
              <a:lnSpc>
                <a:spcPct val="130000"/>
              </a:lnSpc>
              <a:buNone/>
            </a:pPr>
            <a:r>
              <a:rPr lang="en-US" sz="1100" dirty="0">
                <a:solidFill>
                  <a:srgbClr val="465060"/>
                </a:solidFill>
                <a:latin typeface="Arial" pitchFamily="34" charset="0"/>
                <a:ea typeface="Arial" pitchFamily="34" charset="-122"/>
                <a:cs typeface="Arial" pitchFamily="34" charset="-120"/>
              </a:rPr>
              <a:t>Backend on a real PostgreSQL; Playwright journey and scenarios in CI against the full stack.</a:t>
            </a:r>
            <a:endParaRPr lang="en-US" sz="1100" dirty="0"/>
          </a:p>
        </p:txBody>
      </p:sp>
      <p:sp>
        <p:nvSpPr>
          <p:cNvPr id="8" name="b1"/>
          <p:cNvSpPr/>
          <p:nvPr/>
        </p:nvSpPr>
        <p:spPr>
          <a:xfrm>
            <a:off x="762000" y="2540000"/>
            <a:ext cx="6477000" cy="0"/>
          </a:xfrm>
          <a:prstGeom prst="line">
            <a:avLst/>
          </a:prstGeom>
          <a:noFill/>
          <a:ln w="9525">
            <a:solidFill>
              <a:srgbClr val="DDE1E7"/>
            </a:solidFill>
            <a:prstDash val="solid"/>
          </a:ln>
        </p:spPr>
      </p:sp>
      <p:sp>
        <p:nvSpPr>
          <p:cNvPr id="9" name="b1"/>
          <p:cNvSpPr/>
          <p:nvPr/>
        </p:nvSpPr>
        <p:spPr>
          <a:xfrm>
            <a:off x="812800" y="2673350"/>
            <a:ext cx="50800" cy="50800"/>
          </a:xfrm>
          <a:prstGeom prst="line">
            <a:avLst/>
          </a:prstGeom>
          <a:noFill/>
          <a:ln w="25400">
            <a:solidFill>
              <a:srgbClr val="067647"/>
            </a:solidFill>
            <a:prstDash val="solid"/>
          </a:ln>
        </p:spPr>
      </p:sp>
      <p:sp>
        <p:nvSpPr>
          <p:cNvPr id="10" name="b1"/>
          <p:cNvSpPr/>
          <p:nvPr/>
        </p:nvSpPr>
        <p:spPr>
          <a:xfrm flipV="1">
            <a:off x="863600" y="2628900"/>
            <a:ext cx="82550" cy="95250"/>
          </a:xfrm>
          <a:prstGeom prst="line">
            <a:avLst/>
          </a:prstGeom>
          <a:noFill/>
          <a:ln w="25400">
            <a:solidFill>
              <a:srgbClr val="067647"/>
            </a:solidFill>
            <a:prstDash val="solid"/>
          </a:ln>
        </p:spPr>
      </p:sp>
      <p:sp>
        <p:nvSpPr>
          <p:cNvPr id="11" name="b1"/>
          <p:cNvSpPr txBox="1"/>
          <p:nvPr/>
        </p:nvSpPr>
        <p:spPr>
          <a:xfrm>
            <a:off x="1079500" y="2578100"/>
            <a:ext cx="6159500" cy="469900"/>
          </a:xfrm>
          <a:prstGeom prst="rect">
            <a:avLst/>
          </a:prstGeom>
          <a:noFill/>
          <a:ln/>
        </p:spPr>
        <p:txBody>
          <a:bodyPr wrap="square" lIns="0" tIns="0" rIns="0" bIns="0" rtlCol="0" anchor="t"/>
          <a:lstStyle/>
          <a:p>
            <a:pPr algn="l" indent="0" marL="0">
              <a:lnSpc>
                <a:spcPct val="130000"/>
              </a:lnSpc>
              <a:buNone/>
            </a:pPr>
            <a:r>
              <a:rPr lang="en-US" sz="1100" b="1" dirty="0">
                <a:solidFill>
                  <a:srgbClr val="1B2430"/>
                </a:solidFill>
                <a:latin typeface="Arial" pitchFamily="34" charset="0"/>
                <a:ea typeface="Arial" pitchFamily="34" charset="-122"/>
                <a:cs typeface="Arial" pitchFamily="34" charset="-120"/>
              </a:rPr>
              <a:t>State machine. </a:t>
            </a:r>
            <a:pPr algn="l" indent="0" marL="0">
              <a:lnSpc>
                <a:spcPct val="130000"/>
              </a:lnSpc>
              <a:buNone/>
            </a:pPr>
            <a:r>
              <a:rPr lang="en-US" sz="1100" dirty="0">
                <a:solidFill>
                  <a:srgbClr val="465060"/>
                </a:solidFill>
                <a:latin typeface="Arial" pitchFamily="34" charset="0"/>
                <a:ea typeface="Arial" pitchFamily="34" charset="-122"/>
                <a:cs typeface="Arial" pitchFamily="34" charset="-120"/>
              </a:rPr>
              <a:t>588 transition combinations over 14 states and 3 actors; every invalid one rejected.</a:t>
            </a:r>
            <a:endParaRPr lang="en-US" sz="1100" dirty="0"/>
          </a:p>
        </p:txBody>
      </p:sp>
      <p:sp>
        <p:nvSpPr>
          <p:cNvPr id="12" name="b1"/>
          <p:cNvSpPr/>
          <p:nvPr/>
        </p:nvSpPr>
        <p:spPr>
          <a:xfrm>
            <a:off x="762000" y="3048000"/>
            <a:ext cx="6477000" cy="0"/>
          </a:xfrm>
          <a:prstGeom prst="line">
            <a:avLst/>
          </a:prstGeom>
          <a:noFill/>
          <a:ln w="9525">
            <a:solidFill>
              <a:srgbClr val="DDE1E7"/>
            </a:solidFill>
            <a:prstDash val="solid"/>
          </a:ln>
        </p:spPr>
      </p:sp>
      <p:sp>
        <p:nvSpPr>
          <p:cNvPr id="13" name="b1"/>
          <p:cNvSpPr/>
          <p:nvPr/>
        </p:nvSpPr>
        <p:spPr>
          <a:xfrm>
            <a:off x="812800" y="3181350"/>
            <a:ext cx="50800" cy="50800"/>
          </a:xfrm>
          <a:prstGeom prst="line">
            <a:avLst/>
          </a:prstGeom>
          <a:noFill/>
          <a:ln w="25400">
            <a:solidFill>
              <a:srgbClr val="067647"/>
            </a:solidFill>
            <a:prstDash val="solid"/>
          </a:ln>
        </p:spPr>
      </p:sp>
      <p:sp>
        <p:nvSpPr>
          <p:cNvPr id="14" name="b1"/>
          <p:cNvSpPr/>
          <p:nvPr/>
        </p:nvSpPr>
        <p:spPr>
          <a:xfrm flipV="1">
            <a:off x="863600" y="3136900"/>
            <a:ext cx="82550" cy="95250"/>
          </a:xfrm>
          <a:prstGeom prst="line">
            <a:avLst/>
          </a:prstGeom>
          <a:noFill/>
          <a:ln w="25400">
            <a:solidFill>
              <a:srgbClr val="067647"/>
            </a:solidFill>
            <a:prstDash val="solid"/>
          </a:ln>
        </p:spPr>
      </p:sp>
      <p:sp>
        <p:nvSpPr>
          <p:cNvPr id="15" name="b1"/>
          <p:cNvSpPr txBox="1"/>
          <p:nvPr/>
        </p:nvSpPr>
        <p:spPr>
          <a:xfrm>
            <a:off x="1079500" y="3086100"/>
            <a:ext cx="6159500" cy="469900"/>
          </a:xfrm>
          <a:prstGeom prst="rect">
            <a:avLst/>
          </a:prstGeom>
          <a:noFill/>
          <a:ln/>
        </p:spPr>
        <p:txBody>
          <a:bodyPr wrap="square" lIns="0" tIns="0" rIns="0" bIns="0" rtlCol="0" anchor="t"/>
          <a:lstStyle/>
          <a:p>
            <a:pPr algn="l" indent="0" marL="0">
              <a:lnSpc>
                <a:spcPct val="130000"/>
              </a:lnSpc>
              <a:buNone/>
            </a:pPr>
            <a:r>
              <a:rPr lang="en-US" sz="1100" b="1" dirty="0">
                <a:solidFill>
                  <a:srgbClr val="1B2430"/>
                </a:solidFill>
                <a:latin typeface="Arial" pitchFamily="34" charset="0"/>
                <a:ea typeface="Arial" pitchFamily="34" charset="-122"/>
                <a:cs typeface="Arial" pitchFamily="34" charset="-120"/>
              </a:rPr>
              <a:t>Authorization. </a:t>
            </a:r>
            <a:pPr algn="l" indent="0" marL="0">
              <a:lnSpc>
                <a:spcPct val="130000"/>
              </a:lnSpc>
              <a:buNone/>
            </a:pPr>
            <a:r>
              <a:rPr lang="en-US" sz="1100" dirty="0">
                <a:solidFill>
                  <a:srgbClr val="465060"/>
                </a:solidFill>
                <a:latin typeface="Arial" pitchFamily="34" charset="0"/>
                <a:ea typeface="Arial" pitchFamily="34" charset="-122"/>
                <a:cs typeface="Arial" pitchFamily="34" charset="-120"/>
              </a:rPr>
              <a:t>Server-side on every route; one test per endpoint; ownership answered as 404.</a:t>
            </a:r>
            <a:endParaRPr lang="en-US" sz="1100" dirty="0"/>
          </a:p>
        </p:txBody>
      </p:sp>
      <p:sp>
        <p:nvSpPr>
          <p:cNvPr id="16" name="b1"/>
          <p:cNvSpPr/>
          <p:nvPr/>
        </p:nvSpPr>
        <p:spPr>
          <a:xfrm>
            <a:off x="762000" y="3556000"/>
            <a:ext cx="6477000" cy="0"/>
          </a:xfrm>
          <a:prstGeom prst="line">
            <a:avLst/>
          </a:prstGeom>
          <a:noFill/>
          <a:ln w="9525">
            <a:solidFill>
              <a:srgbClr val="DDE1E7"/>
            </a:solidFill>
            <a:prstDash val="solid"/>
          </a:ln>
        </p:spPr>
      </p:sp>
      <p:sp>
        <p:nvSpPr>
          <p:cNvPr id="17" name="b1"/>
          <p:cNvSpPr/>
          <p:nvPr/>
        </p:nvSpPr>
        <p:spPr>
          <a:xfrm>
            <a:off x="812800" y="3689350"/>
            <a:ext cx="50800" cy="50800"/>
          </a:xfrm>
          <a:prstGeom prst="line">
            <a:avLst/>
          </a:prstGeom>
          <a:noFill/>
          <a:ln w="25400">
            <a:solidFill>
              <a:srgbClr val="067647"/>
            </a:solidFill>
            <a:prstDash val="solid"/>
          </a:ln>
        </p:spPr>
      </p:sp>
      <p:sp>
        <p:nvSpPr>
          <p:cNvPr id="18" name="b1"/>
          <p:cNvSpPr/>
          <p:nvPr/>
        </p:nvSpPr>
        <p:spPr>
          <a:xfrm flipV="1">
            <a:off x="863600" y="3644900"/>
            <a:ext cx="82550" cy="95250"/>
          </a:xfrm>
          <a:prstGeom prst="line">
            <a:avLst/>
          </a:prstGeom>
          <a:noFill/>
          <a:ln w="25400">
            <a:solidFill>
              <a:srgbClr val="067647"/>
            </a:solidFill>
            <a:prstDash val="solid"/>
          </a:ln>
        </p:spPr>
      </p:sp>
      <p:sp>
        <p:nvSpPr>
          <p:cNvPr id="19" name="b1"/>
          <p:cNvSpPr txBox="1"/>
          <p:nvPr/>
        </p:nvSpPr>
        <p:spPr>
          <a:xfrm>
            <a:off x="1079500" y="3594100"/>
            <a:ext cx="6159500" cy="469900"/>
          </a:xfrm>
          <a:prstGeom prst="rect">
            <a:avLst/>
          </a:prstGeom>
          <a:noFill/>
          <a:ln/>
        </p:spPr>
        <p:txBody>
          <a:bodyPr wrap="square" lIns="0" tIns="0" rIns="0" bIns="0" rtlCol="0" anchor="t"/>
          <a:lstStyle/>
          <a:p>
            <a:pPr algn="l" indent="0" marL="0">
              <a:lnSpc>
                <a:spcPct val="130000"/>
              </a:lnSpc>
              <a:buNone/>
            </a:pPr>
            <a:r>
              <a:rPr lang="en-US" sz="1100" b="1" dirty="0">
                <a:solidFill>
                  <a:srgbClr val="1B2430"/>
                </a:solidFill>
                <a:latin typeface="Arial" pitchFamily="34" charset="0"/>
                <a:ea typeface="Arial" pitchFamily="34" charset="-122"/>
                <a:cs typeface="Arial" pitchFamily="34" charset="-120"/>
              </a:rPr>
              <a:t>Validation. </a:t>
            </a:r>
            <a:pPr algn="l" indent="0" marL="0">
              <a:lnSpc>
                <a:spcPct val="130000"/>
              </a:lnSpc>
              <a:buNone/>
            </a:pPr>
            <a:r>
              <a:rPr lang="en-US" sz="1100" dirty="0">
                <a:solidFill>
                  <a:srgbClr val="465060"/>
                </a:solidFill>
                <a:latin typeface="Arial" pitchFamily="34" charset="0"/>
                <a:ea typeface="Arial" pitchFamily="34" charset="-122"/>
                <a:cs typeface="Arial" pitchFamily="34" charset="-120"/>
              </a:rPr>
              <a:t>Strict schemas at the HTTP boundary and on the model's output; one error envelope with a request id.</a:t>
            </a:r>
            <a:endParaRPr lang="en-US" sz="1100" dirty="0"/>
          </a:p>
        </p:txBody>
      </p:sp>
      <p:sp>
        <p:nvSpPr>
          <p:cNvPr id="20" name="b1"/>
          <p:cNvSpPr/>
          <p:nvPr/>
        </p:nvSpPr>
        <p:spPr>
          <a:xfrm>
            <a:off x="762000" y="4064000"/>
            <a:ext cx="6477000" cy="0"/>
          </a:xfrm>
          <a:prstGeom prst="line">
            <a:avLst/>
          </a:prstGeom>
          <a:noFill/>
          <a:ln w="9525">
            <a:solidFill>
              <a:srgbClr val="DDE1E7"/>
            </a:solidFill>
            <a:prstDash val="solid"/>
          </a:ln>
        </p:spPr>
      </p:sp>
      <p:sp>
        <p:nvSpPr>
          <p:cNvPr id="21" name="b1"/>
          <p:cNvSpPr/>
          <p:nvPr/>
        </p:nvSpPr>
        <p:spPr>
          <a:xfrm>
            <a:off x="812800" y="4197350"/>
            <a:ext cx="50800" cy="50800"/>
          </a:xfrm>
          <a:prstGeom prst="line">
            <a:avLst/>
          </a:prstGeom>
          <a:noFill/>
          <a:ln w="25400">
            <a:solidFill>
              <a:srgbClr val="067647"/>
            </a:solidFill>
            <a:prstDash val="solid"/>
          </a:ln>
        </p:spPr>
      </p:sp>
      <p:sp>
        <p:nvSpPr>
          <p:cNvPr id="22" name="b1"/>
          <p:cNvSpPr/>
          <p:nvPr/>
        </p:nvSpPr>
        <p:spPr>
          <a:xfrm flipV="1">
            <a:off x="863600" y="4152900"/>
            <a:ext cx="82550" cy="95250"/>
          </a:xfrm>
          <a:prstGeom prst="line">
            <a:avLst/>
          </a:prstGeom>
          <a:noFill/>
          <a:ln w="25400">
            <a:solidFill>
              <a:srgbClr val="067647"/>
            </a:solidFill>
            <a:prstDash val="solid"/>
          </a:ln>
        </p:spPr>
      </p:sp>
      <p:sp>
        <p:nvSpPr>
          <p:cNvPr id="23" name="b1"/>
          <p:cNvSpPr txBox="1"/>
          <p:nvPr/>
        </p:nvSpPr>
        <p:spPr>
          <a:xfrm>
            <a:off x="1079500" y="4102100"/>
            <a:ext cx="6159500" cy="469900"/>
          </a:xfrm>
          <a:prstGeom prst="rect">
            <a:avLst/>
          </a:prstGeom>
          <a:noFill/>
          <a:ln/>
        </p:spPr>
        <p:txBody>
          <a:bodyPr wrap="square" lIns="0" tIns="0" rIns="0" bIns="0" rtlCol="0" anchor="t"/>
          <a:lstStyle/>
          <a:p>
            <a:pPr algn="l" indent="0" marL="0">
              <a:lnSpc>
                <a:spcPct val="130000"/>
              </a:lnSpc>
              <a:buNone/>
            </a:pPr>
            <a:r>
              <a:rPr lang="en-US" sz="1100" b="1" dirty="0">
                <a:solidFill>
                  <a:srgbClr val="1B2430"/>
                </a:solidFill>
                <a:latin typeface="Arial" pitchFamily="34" charset="0"/>
                <a:ea typeface="Arial" pitchFamily="34" charset="-122"/>
                <a:cs typeface="Arial" pitchFamily="34" charset="-120"/>
              </a:rPr>
              <a:t>Audit. </a:t>
            </a:r>
            <a:pPr algn="l" indent="0" marL="0">
              <a:lnSpc>
                <a:spcPct val="130000"/>
              </a:lnSpc>
              <a:buNone/>
            </a:pPr>
            <a:r>
              <a:rPr lang="en-US" sz="1100" dirty="0">
                <a:solidFill>
                  <a:srgbClr val="465060"/>
                </a:solidFill>
                <a:latin typeface="Arial" pitchFamily="34" charset="0"/>
                <a:ea typeface="Arial" pitchFamily="34" charset="-122"/>
                <a:cs typeface="Arial" pitchFamily="34" charset="-120"/>
              </a:rPr>
              <a:t>Append-only rows in the same transaction as the change; actor and time on every event.</a:t>
            </a:r>
            <a:endParaRPr lang="en-US" sz="1100" dirty="0"/>
          </a:p>
        </p:txBody>
      </p:sp>
      <p:sp>
        <p:nvSpPr>
          <p:cNvPr id="24" name="b1"/>
          <p:cNvSpPr/>
          <p:nvPr/>
        </p:nvSpPr>
        <p:spPr>
          <a:xfrm>
            <a:off x="762000" y="4572000"/>
            <a:ext cx="6477000" cy="0"/>
          </a:xfrm>
          <a:prstGeom prst="line">
            <a:avLst/>
          </a:prstGeom>
          <a:noFill/>
          <a:ln w="9525">
            <a:solidFill>
              <a:srgbClr val="DDE1E7"/>
            </a:solidFill>
            <a:prstDash val="solid"/>
          </a:ln>
        </p:spPr>
      </p:sp>
      <p:sp>
        <p:nvSpPr>
          <p:cNvPr id="25" name="b1"/>
          <p:cNvSpPr/>
          <p:nvPr/>
        </p:nvSpPr>
        <p:spPr>
          <a:xfrm>
            <a:off x="812800" y="4705350"/>
            <a:ext cx="50800" cy="50800"/>
          </a:xfrm>
          <a:prstGeom prst="line">
            <a:avLst/>
          </a:prstGeom>
          <a:noFill/>
          <a:ln w="25400">
            <a:solidFill>
              <a:srgbClr val="067647"/>
            </a:solidFill>
            <a:prstDash val="solid"/>
          </a:ln>
        </p:spPr>
      </p:sp>
      <p:sp>
        <p:nvSpPr>
          <p:cNvPr id="26" name="b1"/>
          <p:cNvSpPr/>
          <p:nvPr/>
        </p:nvSpPr>
        <p:spPr>
          <a:xfrm flipV="1">
            <a:off x="863600" y="4660900"/>
            <a:ext cx="82550" cy="95250"/>
          </a:xfrm>
          <a:prstGeom prst="line">
            <a:avLst/>
          </a:prstGeom>
          <a:noFill/>
          <a:ln w="25400">
            <a:solidFill>
              <a:srgbClr val="067647"/>
            </a:solidFill>
            <a:prstDash val="solid"/>
          </a:ln>
        </p:spPr>
      </p:sp>
      <p:sp>
        <p:nvSpPr>
          <p:cNvPr id="27" name="b1"/>
          <p:cNvSpPr txBox="1"/>
          <p:nvPr/>
        </p:nvSpPr>
        <p:spPr>
          <a:xfrm>
            <a:off x="1079500" y="4610100"/>
            <a:ext cx="6159500" cy="469900"/>
          </a:xfrm>
          <a:prstGeom prst="rect">
            <a:avLst/>
          </a:prstGeom>
          <a:noFill/>
          <a:ln/>
        </p:spPr>
        <p:txBody>
          <a:bodyPr wrap="square" lIns="0" tIns="0" rIns="0" bIns="0" rtlCol="0" anchor="t"/>
          <a:lstStyle/>
          <a:p>
            <a:pPr algn="l" indent="0" marL="0">
              <a:lnSpc>
                <a:spcPct val="130000"/>
              </a:lnSpc>
              <a:buNone/>
            </a:pPr>
            <a:r>
              <a:rPr lang="en-US" sz="1100" b="1" dirty="0">
                <a:solidFill>
                  <a:srgbClr val="1B2430"/>
                </a:solidFill>
                <a:latin typeface="Arial" pitchFamily="34" charset="0"/>
                <a:ea typeface="Arial" pitchFamily="34" charset="-122"/>
                <a:cs typeface="Arial" pitchFamily="34" charset="-120"/>
              </a:rPr>
              <a:t>CI gates. </a:t>
            </a:r>
            <a:pPr algn="l" indent="0" marL="0">
              <a:lnSpc>
                <a:spcPct val="130000"/>
              </a:lnSpc>
              <a:buNone/>
            </a:pPr>
            <a:r>
              <a:rPr lang="en-US" sz="1100" dirty="0">
                <a:solidFill>
                  <a:srgbClr val="465060"/>
                </a:solidFill>
                <a:latin typeface="Arial" pitchFamily="34" charset="0"/>
                <a:ea typeface="Arial" pitchFamily="34" charset="-122"/>
                <a:cs typeface="Arial" pitchFamily="34" charset="-120"/>
              </a:rPr>
              <a:t>Lint, types, coverage thresholds, the six-stage AI gate, accessibility, secret and dependency scans.</a:t>
            </a:r>
            <a:endParaRPr lang="en-US" sz="1100" dirty="0"/>
          </a:p>
        </p:txBody>
      </p:sp>
      <p:sp>
        <p:nvSpPr>
          <p:cNvPr id="28" name="b1"/>
          <p:cNvSpPr/>
          <p:nvPr/>
        </p:nvSpPr>
        <p:spPr>
          <a:xfrm>
            <a:off x="762000" y="5080000"/>
            <a:ext cx="6477000" cy="0"/>
          </a:xfrm>
          <a:prstGeom prst="line">
            <a:avLst/>
          </a:prstGeom>
          <a:noFill/>
          <a:ln w="9525">
            <a:solidFill>
              <a:srgbClr val="DDE1E7"/>
            </a:solidFill>
            <a:prstDash val="solid"/>
          </a:ln>
        </p:spPr>
      </p:sp>
      <p:sp>
        <p:nvSpPr>
          <p:cNvPr id="29" name="b1"/>
          <p:cNvSpPr/>
          <p:nvPr/>
        </p:nvSpPr>
        <p:spPr>
          <a:xfrm>
            <a:off x="812800" y="5213350"/>
            <a:ext cx="50800" cy="50800"/>
          </a:xfrm>
          <a:prstGeom prst="line">
            <a:avLst/>
          </a:prstGeom>
          <a:noFill/>
          <a:ln w="25400">
            <a:solidFill>
              <a:srgbClr val="067647"/>
            </a:solidFill>
            <a:prstDash val="solid"/>
          </a:ln>
        </p:spPr>
      </p:sp>
      <p:sp>
        <p:nvSpPr>
          <p:cNvPr id="30" name="b1"/>
          <p:cNvSpPr/>
          <p:nvPr/>
        </p:nvSpPr>
        <p:spPr>
          <a:xfrm flipV="1">
            <a:off x="863600" y="5168900"/>
            <a:ext cx="82550" cy="95250"/>
          </a:xfrm>
          <a:prstGeom prst="line">
            <a:avLst/>
          </a:prstGeom>
          <a:noFill/>
          <a:ln w="25400">
            <a:solidFill>
              <a:srgbClr val="067647"/>
            </a:solidFill>
            <a:prstDash val="solid"/>
          </a:ln>
        </p:spPr>
      </p:sp>
      <p:sp>
        <p:nvSpPr>
          <p:cNvPr id="31" name="b1"/>
          <p:cNvSpPr txBox="1"/>
          <p:nvPr/>
        </p:nvSpPr>
        <p:spPr>
          <a:xfrm>
            <a:off x="1079500" y="5118100"/>
            <a:ext cx="6159500" cy="469900"/>
          </a:xfrm>
          <a:prstGeom prst="rect">
            <a:avLst/>
          </a:prstGeom>
          <a:noFill/>
          <a:ln/>
        </p:spPr>
        <p:txBody>
          <a:bodyPr wrap="square" lIns="0" tIns="0" rIns="0" bIns="0" rtlCol="0" anchor="t"/>
          <a:lstStyle/>
          <a:p>
            <a:pPr algn="l" indent="0" marL="0">
              <a:lnSpc>
                <a:spcPct val="130000"/>
              </a:lnSpc>
              <a:buNone/>
            </a:pPr>
            <a:r>
              <a:rPr lang="en-US" sz="1100" b="1" dirty="0">
                <a:solidFill>
                  <a:srgbClr val="1B2430"/>
                </a:solidFill>
                <a:latin typeface="Arial" pitchFamily="34" charset="0"/>
                <a:ea typeface="Arial" pitchFamily="34" charset="-122"/>
                <a:cs typeface="Arial" pitchFamily="34" charset="-120"/>
              </a:rPr>
              <a:t>AI evaluation. </a:t>
            </a:r>
            <a:pPr algn="l" indent="0" marL="0">
              <a:lnSpc>
                <a:spcPct val="130000"/>
              </a:lnSpc>
              <a:buNone/>
            </a:pPr>
            <a:r>
              <a:rPr lang="en-US" sz="1100" dirty="0">
                <a:solidFill>
                  <a:srgbClr val="465060"/>
                </a:solidFill>
                <a:latin typeface="Arial" pitchFamily="34" charset="0"/>
                <a:ea typeface="Arial" pitchFamily="34" charset="-122"/>
                <a:cs typeface="Arial" pitchFamily="34" charset="-120"/>
              </a:rPr>
              <a:t>14 golden cases and a 21-run fairness check on the live model; nightly and on change.</a:t>
            </a:r>
            <a:endParaRPr lang="en-US" sz="1100" dirty="0"/>
          </a:p>
        </p:txBody>
      </p:sp>
      <p:sp>
        <p:nvSpPr>
          <p:cNvPr id="32" name="b1"/>
          <p:cNvSpPr/>
          <p:nvPr/>
        </p:nvSpPr>
        <p:spPr>
          <a:xfrm>
            <a:off x="762000" y="5588000"/>
            <a:ext cx="6477000" cy="0"/>
          </a:xfrm>
          <a:prstGeom prst="line">
            <a:avLst/>
          </a:prstGeom>
          <a:noFill/>
          <a:ln w="9525">
            <a:solidFill>
              <a:srgbClr val="DDE1E7"/>
            </a:solidFill>
            <a:prstDash val="solid"/>
          </a:ln>
        </p:spPr>
      </p:sp>
      <p:sp>
        <p:nvSpPr>
          <p:cNvPr id="33" name="b1"/>
          <p:cNvSpPr/>
          <p:nvPr/>
        </p:nvSpPr>
        <p:spPr>
          <a:xfrm>
            <a:off x="812800" y="5721350"/>
            <a:ext cx="50800" cy="50800"/>
          </a:xfrm>
          <a:prstGeom prst="line">
            <a:avLst/>
          </a:prstGeom>
          <a:noFill/>
          <a:ln w="25400">
            <a:solidFill>
              <a:srgbClr val="067647"/>
            </a:solidFill>
            <a:prstDash val="solid"/>
          </a:ln>
        </p:spPr>
      </p:sp>
      <p:sp>
        <p:nvSpPr>
          <p:cNvPr id="34" name="b1"/>
          <p:cNvSpPr/>
          <p:nvPr/>
        </p:nvSpPr>
        <p:spPr>
          <a:xfrm flipV="1">
            <a:off x="863600" y="5676900"/>
            <a:ext cx="82550" cy="95250"/>
          </a:xfrm>
          <a:prstGeom prst="line">
            <a:avLst/>
          </a:prstGeom>
          <a:noFill/>
          <a:ln w="25400">
            <a:solidFill>
              <a:srgbClr val="067647"/>
            </a:solidFill>
            <a:prstDash val="solid"/>
          </a:ln>
        </p:spPr>
      </p:sp>
      <p:sp>
        <p:nvSpPr>
          <p:cNvPr id="35" name="b1"/>
          <p:cNvSpPr txBox="1"/>
          <p:nvPr/>
        </p:nvSpPr>
        <p:spPr>
          <a:xfrm>
            <a:off x="1079500" y="5626100"/>
            <a:ext cx="6159500" cy="469900"/>
          </a:xfrm>
          <a:prstGeom prst="rect">
            <a:avLst/>
          </a:prstGeom>
          <a:noFill/>
          <a:ln/>
        </p:spPr>
        <p:txBody>
          <a:bodyPr wrap="square" lIns="0" tIns="0" rIns="0" bIns="0" rtlCol="0" anchor="t"/>
          <a:lstStyle/>
          <a:p>
            <a:pPr algn="l" indent="0" marL="0">
              <a:lnSpc>
                <a:spcPct val="130000"/>
              </a:lnSpc>
              <a:buNone/>
            </a:pPr>
            <a:r>
              <a:rPr lang="en-US" sz="1100" b="1" dirty="0">
                <a:solidFill>
                  <a:srgbClr val="1B2430"/>
                </a:solidFill>
                <a:latin typeface="Arial" pitchFamily="34" charset="0"/>
                <a:ea typeface="Arial" pitchFamily="34" charset="-122"/>
                <a:cs typeface="Arial" pitchFamily="34" charset="-120"/>
              </a:rPr>
              <a:t>Delivery. </a:t>
            </a:r>
            <a:pPr algn="l" indent="0" marL="0">
              <a:lnSpc>
                <a:spcPct val="130000"/>
              </a:lnSpc>
              <a:buNone/>
            </a:pPr>
            <a:r>
              <a:rPr lang="en-US" sz="1100" dirty="0">
                <a:solidFill>
                  <a:srgbClr val="465060"/>
                </a:solidFill>
                <a:latin typeface="Arial" pitchFamily="34" charset="0"/>
                <a:ea typeface="Arial" pitchFamily="34" charset="-122"/>
                <a:cs typeface="Arial" pitchFamily="34" charset="-120"/>
              </a:rPr>
              <a:t>Images built once; production behind an approval; health gates after every deploy; request ids everywhere.</a:t>
            </a:r>
            <a:endParaRPr lang="en-US" sz="1100" dirty="0"/>
          </a:p>
        </p:txBody>
      </p:sp>
      <p:sp>
        <p:nvSpPr>
          <p:cNvPr id="36" name="Text 34"/>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09 / 11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96" fill="hold">
                      <p:stCondLst>
                        <p:cond delay="indefinite"/>
                      </p:stCondLst>
                      <p:childTnLst>
                        <p:par>
                          <p:cTn id="9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320"/>
                                        <p:tgtEl>
                                          <p:spTgt spid="5"/>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320"/>
                                        <p:tgtEl>
                                          <p:spTgt spid="6"/>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320"/>
                                        <p:tgtEl>
                                          <p:spTgt spid="7"/>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20"/>
                                        <p:tgtEl>
                                          <p:spTgt spid="8"/>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20"/>
                                        <p:tgtEl>
                                          <p:spTgt spid="9"/>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320"/>
                                        <p:tgtEl>
                                          <p:spTgt spid="10"/>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20"/>
                                        <p:tgtEl>
                                          <p:spTgt spid="11"/>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320"/>
                                        <p:tgtEl>
                                          <p:spTgt spid="12"/>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320"/>
                                        <p:tgtEl>
                                          <p:spTgt spid="13"/>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320"/>
                                        <p:tgtEl>
                                          <p:spTgt spid="14"/>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20"/>
                                        <p:tgtEl>
                                          <p:spTgt spid="15"/>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320"/>
                                        <p:tgtEl>
                                          <p:spTgt spid="16"/>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320"/>
                                        <p:tgtEl>
                                          <p:spTgt spid="17"/>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20"/>
                                        <p:tgtEl>
                                          <p:spTgt spid="18"/>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320"/>
                                        <p:tgtEl>
                                          <p:spTgt spid="19"/>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20"/>
                                        <p:tgtEl>
                                          <p:spTgt spid="20"/>
                                        </p:tgtEl>
                                      </p:cBhvr>
                                    </p:animEffect>
                                  </p:childTnLst>
                                </p:cTn>
                              </p:par>
                              <p:par>
                                <p:cTn id="51" presetID="10" presetClass="entr" presetSubtype="0" fill="hold" grpId="0" nodeType="withEffect">
                                  <p:stCondLst>
                                    <p:cond delay="160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320"/>
                                        <p:tgtEl>
                                          <p:spTgt spid="21"/>
                                        </p:tgtEl>
                                      </p:cBhvr>
                                    </p:animEffect>
                                  </p:childTnLst>
                                </p:cTn>
                              </p:par>
                              <p:par>
                                <p:cTn id="54" presetID="10" presetClass="entr" presetSubtype="0" fill="hold" grpId="0" nodeType="withEffect">
                                  <p:stCondLst>
                                    <p:cond delay="170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320"/>
                                        <p:tgtEl>
                                          <p:spTgt spid="22"/>
                                        </p:tgtEl>
                                      </p:cBhvr>
                                    </p:animEffect>
                                  </p:childTnLst>
                                </p:cTn>
                              </p:par>
                              <p:par>
                                <p:cTn id="57" presetID="10" presetClass="entr" presetSubtype="0" fill="hold" grpId="0" nodeType="withEffect">
                                  <p:stCondLst>
                                    <p:cond delay="180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320"/>
                                        <p:tgtEl>
                                          <p:spTgt spid="23"/>
                                        </p:tgtEl>
                                      </p:cBhvr>
                                    </p:animEffect>
                                  </p:childTnLst>
                                </p:cTn>
                              </p:par>
                              <p:par>
                                <p:cTn id="60" presetID="10" presetClass="entr" presetSubtype="0" fill="hold" grpId="0" nodeType="withEffect">
                                  <p:stCondLst>
                                    <p:cond delay="190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320"/>
                                        <p:tgtEl>
                                          <p:spTgt spid="24"/>
                                        </p:tgtEl>
                                      </p:cBhvr>
                                    </p:animEffect>
                                  </p:childTnLst>
                                </p:cTn>
                              </p:par>
                              <p:par>
                                <p:cTn id="63" presetID="10" presetClass="entr" presetSubtype="0" fill="hold" grpId="0" nodeType="withEffect">
                                  <p:stCondLst>
                                    <p:cond delay="200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320"/>
                                        <p:tgtEl>
                                          <p:spTgt spid="25"/>
                                        </p:tgtEl>
                                      </p:cBhvr>
                                    </p:animEffect>
                                  </p:childTnLst>
                                </p:cTn>
                              </p:par>
                              <p:par>
                                <p:cTn id="66" presetID="10" presetClass="entr" presetSubtype="0" fill="hold" grpId="0" nodeType="withEffect">
                                  <p:stCondLst>
                                    <p:cond delay="210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320"/>
                                        <p:tgtEl>
                                          <p:spTgt spid="26"/>
                                        </p:tgtEl>
                                      </p:cBhvr>
                                    </p:animEffect>
                                  </p:childTnLst>
                                </p:cTn>
                              </p:par>
                              <p:par>
                                <p:cTn id="69" presetID="10" presetClass="entr" presetSubtype="0" fill="hold" grpId="0" nodeType="withEffect">
                                  <p:stCondLst>
                                    <p:cond delay="220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320"/>
                                        <p:tgtEl>
                                          <p:spTgt spid="27"/>
                                        </p:tgtEl>
                                      </p:cBhvr>
                                    </p:animEffect>
                                  </p:childTnLst>
                                </p:cTn>
                              </p:par>
                              <p:par>
                                <p:cTn id="72" presetID="10" presetClass="entr" presetSubtype="0" fill="hold" grpId="0" nodeType="withEffect">
                                  <p:stCondLst>
                                    <p:cond delay="230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320"/>
                                        <p:tgtEl>
                                          <p:spTgt spid="28"/>
                                        </p:tgtEl>
                                      </p:cBhvr>
                                    </p:animEffect>
                                  </p:childTnLst>
                                </p:cTn>
                              </p:par>
                              <p:par>
                                <p:cTn id="75" presetID="10" presetClass="entr" presetSubtype="0" fill="hold" grpId="0" nodeType="withEffect">
                                  <p:stCondLst>
                                    <p:cond delay="240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320"/>
                                        <p:tgtEl>
                                          <p:spTgt spid="29"/>
                                        </p:tgtEl>
                                      </p:cBhvr>
                                    </p:animEffect>
                                  </p:childTnLst>
                                </p:cTn>
                              </p:par>
                              <p:par>
                                <p:cTn id="78" presetID="10" presetClass="entr" presetSubtype="0" fill="hold" grpId="0" nodeType="withEffect">
                                  <p:stCondLst>
                                    <p:cond delay="250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320"/>
                                        <p:tgtEl>
                                          <p:spTgt spid="30"/>
                                        </p:tgtEl>
                                      </p:cBhvr>
                                    </p:animEffect>
                                  </p:childTnLst>
                                </p:cTn>
                              </p:par>
                              <p:par>
                                <p:cTn id="81" presetID="10" presetClass="entr" presetSubtype="0" fill="hold" grpId="0" nodeType="withEffect">
                                  <p:stCondLst>
                                    <p:cond delay="260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320"/>
                                        <p:tgtEl>
                                          <p:spTgt spid="31"/>
                                        </p:tgtEl>
                                      </p:cBhvr>
                                    </p:animEffect>
                                  </p:childTnLst>
                                </p:cTn>
                              </p:par>
                              <p:par>
                                <p:cTn id="84" presetID="10" presetClass="entr" presetSubtype="0" fill="hold" grpId="0" nodeType="withEffect">
                                  <p:stCondLst>
                                    <p:cond delay="270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320"/>
                                        <p:tgtEl>
                                          <p:spTgt spid="32"/>
                                        </p:tgtEl>
                                      </p:cBhvr>
                                    </p:animEffect>
                                  </p:childTnLst>
                                </p:cTn>
                              </p:par>
                              <p:par>
                                <p:cTn id="87" presetID="10" presetClass="entr" presetSubtype="0" fill="hold" grpId="0" nodeType="withEffect">
                                  <p:stCondLst>
                                    <p:cond delay="280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320"/>
                                        <p:tgtEl>
                                          <p:spTgt spid="33"/>
                                        </p:tgtEl>
                                      </p:cBhvr>
                                    </p:animEffect>
                                  </p:childTnLst>
                                </p:cTn>
                              </p:par>
                              <p:par>
                                <p:cTn id="90" presetID="10" presetClass="entr" presetSubtype="0" fill="hold" grpId="0" nodeType="withEffect">
                                  <p:stCondLst>
                                    <p:cond delay="290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320"/>
                                        <p:tgtEl>
                                          <p:spTgt spid="34"/>
                                        </p:tgtEl>
                                      </p:cBhvr>
                                    </p:animEffect>
                                  </p:childTnLst>
                                </p:cTn>
                              </p:par>
                              <p:par>
                                <p:cTn id="93" presetID="10" presetClass="entr" presetSubtype="0" fill="hold" grpId="0" nodeType="withEffect">
                                  <p:stCondLst>
                                    <p:cond delay="300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32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WHAT I WOULD DO NEXT</a:t>
            </a:r>
            <a:endParaRPr lang="en-US" sz="1100" dirty="0"/>
          </a:p>
        </p:txBody>
      </p:sp>
      <p:sp>
        <p:nvSpPr>
          <p:cNvPr id="3" name="Text 1"/>
          <p:cNvSpPr txBox="1"/>
          <p:nvPr/>
        </p:nvSpPr>
        <p:spPr>
          <a:xfrm>
            <a:off x="762000" y="863600"/>
            <a:ext cx="9906000" cy="952500"/>
          </a:xfrm>
          <a:prstGeom prst="rect">
            <a:avLst/>
          </a:prstGeom>
          <a:noFill/>
          <a:ln/>
        </p:spPr>
        <p:txBody>
          <a:bodyPr wrap="square" lIns="0" tIns="0" rIns="0" bIns="0" rtlCol="0" anchor="t"/>
          <a:lstStyle/>
          <a:p>
            <a:pPr algn="l" indent="0" marL="0">
              <a:lnSpc>
                <a:spcPct val="108000"/>
              </a:lnSpc>
              <a:buNone/>
            </a:pPr>
            <a:r>
              <a:rPr lang="en-US" sz="2700" dirty="0">
                <a:solidFill>
                  <a:srgbClr val="1B2430"/>
                </a:solidFill>
                <a:latin typeface="Cambria" pitchFamily="34" charset="0"/>
                <a:ea typeface="Cambria" pitchFamily="34" charset="-122"/>
                <a:cs typeface="Cambria" pitchFamily="34" charset="-120"/>
              </a:rPr>
              <a:t>Known gaps first, then what production would need.</a:t>
            </a:r>
            <a:endParaRPr lang="en-US" sz="2700" dirty="0"/>
          </a:p>
        </p:txBody>
      </p:sp>
      <p:sp>
        <p:nvSpPr>
          <p:cNvPr id="4" name="Shape 2"/>
          <p:cNvSpPr/>
          <p:nvPr/>
        </p:nvSpPr>
        <p:spPr>
          <a:xfrm>
            <a:off x="762000" y="1905000"/>
            <a:ext cx="5181600" cy="0"/>
          </a:xfrm>
          <a:prstGeom prst="line">
            <a:avLst/>
          </a:prstGeom>
          <a:noFill/>
          <a:ln w="9525">
            <a:solidFill>
              <a:srgbClr val="DDE1E7"/>
            </a:solidFill>
            <a:prstDash val="solid"/>
          </a:ln>
        </p:spPr>
      </p:sp>
      <p:sp>
        <p:nvSpPr>
          <p:cNvPr id="5" name="Text 3"/>
          <p:cNvSpPr txBox="1"/>
          <p:nvPr/>
        </p:nvSpPr>
        <p:spPr>
          <a:xfrm>
            <a:off x="762000" y="2019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01</a:t>
            </a:r>
            <a:endParaRPr lang="en-US" sz="1100" dirty="0"/>
          </a:p>
        </p:txBody>
      </p:sp>
      <p:sp>
        <p:nvSpPr>
          <p:cNvPr id="6" name="Text 4"/>
          <p:cNvSpPr txBox="1"/>
          <p:nvPr/>
        </p:nvSpPr>
        <p:spPr>
          <a:xfrm>
            <a:off x="1155700" y="1993900"/>
            <a:ext cx="4787900" cy="203200"/>
          </a:xfrm>
          <a:prstGeom prst="rect">
            <a:avLst/>
          </a:prstGeom>
          <a:noFill/>
          <a:ln/>
        </p:spPr>
        <p:txBody>
          <a:bodyPr wrap="square" lIns="0" tIns="0" rIns="0" bIns="0" rtlCol="0" anchor="t"/>
          <a:lstStyle/>
          <a:p>
            <a:pPr algn="l" indent="0" marL="0">
              <a:lnSpc>
                <a:spcPct val="115000"/>
              </a:lnSpc>
              <a:buNone/>
            </a:pPr>
            <a:r>
              <a:rPr lang="en-US" sz="1200" b="1" dirty="0">
                <a:solidFill>
                  <a:srgbClr val="1B2430"/>
                </a:solidFill>
                <a:latin typeface="Arial" pitchFamily="34" charset="0"/>
                <a:ea typeface="Arial" pitchFamily="34" charset="-122"/>
                <a:cs typeface="Arial" pitchFamily="34" charset="-120"/>
              </a:rPr>
              <a:t>Use case 3: the site-visit checklist</a:t>
            </a:r>
            <a:endParaRPr lang="en-US" sz="1200" dirty="0"/>
          </a:p>
        </p:txBody>
      </p:sp>
      <p:sp>
        <p:nvSpPr>
          <p:cNvPr id="7" name="Text 5"/>
          <p:cNvSpPr txBox="1"/>
          <p:nvPr/>
        </p:nvSpPr>
        <p:spPr>
          <a:xfrm>
            <a:off x="1155700" y="2197100"/>
            <a:ext cx="4787900" cy="558800"/>
          </a:xfrm>
          <a:prstGeom prst="rect">
            <a:avLst/>
          </a:prstGeom>
          <a:noFill/>
          <a:ln/>
        </p:spPr>
        <p:txBody>
          <a:bodyPr wrap="square" lIns="0" tIns="0" rIns="0" bIns="0" rtlCol="0" anchor="t"/>
          <a:lstStyle/>
          <a:p>
            <a:pPr algn="l" indent="0" marL="0">
              <a:lnSpc>
                <a:spcPct val="120000"/>
              </a:lnSpc>
              <a:buNone/>
            </a:pPr>
            <a:r>
              <a:rPr lang="en-US" sz="1000" dirty="0">
                <a:solidFill>
                  <a:srgbClr val="465060"/>
                </a:solidFill>
                <a:latin typeface="Arial" pitchFamily="34" charset="0"/>
                <a:ea typeface="Arial" pitchFamily="34" charset="-122"/>
                <a:cs typeface="Arial" pitchFamily="34" charset="-120"/>
              </a:rPr>
              <a:t>Statuses and transitions exist and are tested; the checklist, capture screen and clarification round are not built.</a:t>
            </a:r>
            <a:endParaRPr lang="en-US" sz="1000" dirty="0"/>
          </a:p>
        </p:txBody>
      </p:sp>
      <p:sp>
        <p:nvSpPr>
          <p:cNvPr id="8" name="Shape 6"/>
          <p:cNvSpPr/>
          <p:nvPr/>
        </p:nvSpPr>
        <p:spPr>
          <a:xfrm>
            <a:off x="6248400" y="1905000"/>
            <a:ext cx="5181600" cy="0"/>
          </a:xfrm>
          <a:prstGeom prst="line">
            <a:avLst/>
          </a:prstGeom>
          <a:noFill/>
          <a:ln w="9525">
            <a:solidFill>
              <a:srgbClr val="DDE1E7"/>
            </a:solidFill>
            <a:prstDash val="solid"/>
          </a:ln>
        </p:spPr>
      </p:sp>
      <p:sp>
        <p:nvSpPr>
          <p:cNvPr id="9" name="Text 7"/>
          <p:cNvSpPr txBox="1"/>
          <p:nvPr/>
        </p:nvSpPr>
        <p:spPr>
          <a:xfrm>
            <a:off x="6248400" y="2019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02</a:t>
            </a:r>
            <a:endParaRPr lang="en-US" sz="1100" dirty="0"/>
          </a:p>
        </p:txBody>
      </p:sp>
      <p:sp>
        <p:nvSpPr>
          <p:cNvPr id="10" name="Text 8"/>
          <p:cNvSpPr txBox="1"/>
          <p:nvPr/>
        </p:nvSpPr>
        <p:spPr>
          <a:xfrm>
            <a:off x="6642100" y="1993900"/>
            <a:ext cx="4787900" cy="203200"/>
          </a:xfrm>
          <a:prstGeom prst="rect">
            <a:avLst/>
          </a:prstGeom>
          <a:noFill/>
          <a:ln/>
        </p:spPr>
        <p:txBody>
          <a:bodyPr wrap="square" lIns="0" tIns="0" rIns="0" bIns="0" rtlCol="0" anchor="t"/>
          <a:lstStyle/>
          <a:p>
            <a:pPr algn="l" indent="0" marL="0">
              <a:lnSpc>
                <a:spcPct val="115000"/>
              </a:lnSpc>
              <a:buNone/>
            </a:pPr>
            <a:r>
              <a:rPr lang="en-US" sz="1200" b="1" dirty="0">
                <a:solidFill>
                  <a:srgbClr val="1B2430"/>
                </a:solidFill>
                <a:latin typeface="Arial" pitchFamily="34" charset="0"/>
                <a:ea typeface="Arial" pitchFamily="34" charset="-122"/>
                <a:cs typeface="Arial" pitchFamily="34" charset="-120"/>
              </a:rPr>
              <a:t>A queue and a worker for the AI checks</a:t>
            </a:r>
            <a:endParaRPr lang="en-US" sz="1200" dirty="0"/>
          </a:p>
        </p:txBody>
      </p:sp>
      <p:sp>
        <p:nvSpPr>
          <p:cNvPr id="11" name="Text 9"/>
          <p:cNvSpPr txBox="1"/>
          <p:nvPr/>
        </p:nvSpPr>
        <p:spPr>
          <a:xfrm>
            <a:off x="6642100" y="2197100"/>
            <a:ext cx="4787900" cy="558800"/>
          </a:xfrm>
          <a:prstGeom prst="rect">
            <a:avLst/>
          </a:prstGeom>
          <a:noFill/>
          <a:ln/>
        </p:spPr>
        <p:txBody>
          <a:bodyPr wrap="square" lIns="0" tIns="0" rIns="0" bIns="0" rtlCol="0" anchor="t"/>
          <a:lstStyle/>
          <a:p>
            <a:pPr algn="l" indent="0" marL="0">
              <a:lnSpc>
                <a:spcPct val="120000"/>
              </a:lnSpc>
              <a:buNone/>
            </a:pPr>
            <a:r>
              <a:rPr lang="en-US" sz="1000" dirty="0">
                <a:solidFill>
                  <a:srgbClr val="465060"/>
                </a:solidFill>
                <a:latin typeface="Arial" pitchFamily="34" charset="0"/>
                <a:ea typeface="Arial" pitchFamily="34" charset="-122"/>
                <a:cs typeface="Arial" pitchFamily="34" charset="-120"/>
              </a:rPr>
              <a:t>So checks survive deploys and scale on their own; today they run in-process.</a:t>
            </a:r>
            <a:endParaRPr lang="en-US" sz="1000" dirty="0"/>
          </a:p>
        </p:txBody>
      </p:sp>
      <p:sp>
        <p:nvSpPr>
          <p:cNvPr id="12" name="Shape 10"/>
          <p:cNvSpPr/>
          <p:nvPr/>
        </p:nvSpPr>
        <p:spPr>
          <a:xfrm>
            <a:off x="762000" y="2781300"/>
            <a:ext cx="5181600" cy="0"/>
          </a:xfrm>
          <a:prstGeom prst="line">
            <a:avLst/>
          </a:prstGeom>
          <a:noFill/>
          <a:ln w="9525">
            <a:solidFill>
              <a:srgbClr val="DDE1E7"/>
            </a:solidFill>
            <a:prstDash val="solid"/>
          </a:ln>
        </p:spPr>
      </p:sp>
      <p:sp>
        <p:nvSpPr>
          <p:cNvPr id="13" name="Text 11"/>
          <p:cNvSpPr txBox="1"/>
          <p:nvPr/>
        </p:nvSpPr>
        <p:spPr>
          <a:xfrm>
            <a:off x="762000" y="28956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03</a:t>
            </a:r>
            <a:endParaRPr lang="en-US" sz="1100" dirty="0"/>
          </a:p>
        </p:txBody>
      </p:sp>
      <p:sp>
        <p:nvSpPr>
          <p:cNvPr id="14" name="Text 12"/>
          <p:cNvSpPr txBox="1"/>
          <p:nvPr/>
        </p:nvSpPr>
        <p:spPr>
          <a:xfrm>
            <a:off x="1155700" y="2870200"/>
            <a:ext cx="4787900" cy="203200"/>
          </a:xfrm>
          <a:prstGeom prst="rect">
            <a:avLst/>
          </a:prstGeom>
          <a:noFill/>
          <a:ln/>
        </p:spPr>
        <p:txBody>
          <a:bodyPr wrap="square" lIns="0" tIns="0" rIns="0" bIns="0" rtlCol="0" anchor="t"/>
          <a:lstStyle/>
          <a:p>
            <a:pPr algn="l" indent="0" marL="0">
              <a:lnSpc>
                <a:spcPct val="115000"/>
              </a:lnSpc>
              <a:buNone/>
            </a:pPr>
            <a:r>
              <a:rPr lang="en-US" sz="1200" b="1" dirty="0">
                <a:solidFill>
                  <a:srgbClr val="1B2430"/>
                </a:solidFill>
                <a:latin typeface="Arial" pitchFamily="34" charset="0"/>
                <a:ea typeface="Arial" pitchFamily="34" charset="-122"/>
                <a:cs typeface="Arial" pitchFamily="34" charset="-120"/>
              </a:rPr>
              <a:t>Object storage with a virus scan</a:t>
            </a:r>
            <a:endParaRPr lang="en-US" sz="1200" dirty="0"/>
          </a:p>
        </p:txBody>
      </p:sp>
      <p:sp>
        <p:nvSpPr>
          <p:cNvPr id="15" name="Text 13"/>
          <p:cNvSpPr txBox="1"/>
          <p:nvPr/>
        </p:nvSpPr>
        <p:spPr>
          <a:xfrm>
            <a:off x="1155700" y="3073400"/>
            <a:ext cx="4787900" cy="558800"/>
          </a:xfrm>
          <a:prstGeom prst="rect">
            <a:avLst/>
          </a:prstGeom>
          <a:noFill/>
          <a:ln/>
        </p:spPr>
        <p:txBody>
          <a:bodyPr wrap="square" lIns="0" tIns="0" rIns="0" bIns="0" rtlCol="0" anchor="t"/>
          <a:lstStyle/>
          <a:p>
            <a:pPr algn="l" indent="0" marL="0">
              <a:lnSpc>
                <a:spcPct val="120000"/>
              </a:lnSpc>
              <a:buNone/>
            </a:pPr>
            <a:r>
              <a:rPr lang="en-US" sz="1000" dirty="0">
                <a:solidFill>
                  <a:srgbClr val="465060"/>
                </a:solidFill>
                <a:latin typeface="Arial" pitchFamily="34" charset="0"/>
                <a:ea typeface="Arial" pitchFamily="34" charset="-122"/>
                <a:cs typeface="Arial" pitchFamily="34" charset="-120"/>
              </a:rPr>
              <a:t>S3-compatible storage with signed URLs behind the existing storage interface.</a:t>
            </a:r>
            <a:endParaRPr lang="en-US" sz="1000" dirty="0"/>
          </a:p>
        </p:txBody>
      </p:sp>
      <p:sp>
        <p:nvSpPr>
          <p:cNvPr id="16" name="Shape 14"/>
          <p:cNvSpPr/>
          <p:nvPr/>
        </p:nvSpPr>
        <p:spPr>
          <a:xfrm>
            <a:off x="6248400" y="2781300"/>
            <a:ext cx="5181600" cy="0"/>
          </a:xfrm>
          <a:prstGeom prst="line">
            <a:avLst/>
          </a:prstGeom>
          <a:noFill/>
          <a:ln w="9525">
            <a:solidFill>
              <a:srgbClr val="DDE1E7"/>
            </a:solidFill>
            <a:prstDash val="solid"/>
          </a:ln>
        </p:spPr>
      </p:sp>
      <p:sp>
        <p:nvSpPr>
          <p:cNvPr id="17" name="Text 15"/>
          <p:cNvSpPr txBox="1"/>
          <p:nvPr/>
        </p:nvSpPr>
        <p:spPr>
          <a:xfrm>
            <a:off x="6248400" y="28956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04</a:t>
            </a:r>
            <a:endParaRPr lang="en-US" sz="1100" dirty="0"/>
          </a:p>
        </p:txBody>
      </p:sp>
      <p:sp>
        <p:nvSpPr>
          <p:cNvPr id="18" name="Text 16"/>
          <p:cNvSpPr txBox="1"/>
          <p:nvPr/>
        </p:nvSpPr>
        <p:spPr>
          <a:xfrm>
            <a:off x="6642100" y="2870200"/>
            <a:ext cx="4787900" cy="203200"/>
          </a:xfrm>
          <a:prstGeom prst="rect">
            <a:avLst/>
          </a:prstGeom>
          <a:noFill/>
          <a:ln/>
        </p:spPr>
        <p:txBody>
          <a:bodyPr wrap="square" lIns="0" tIns="0" rIns="0" bIns="0" rtlCol="0" anchor="t"/>
          <a:lstStyle/>
          <a:p>
            <a:pPr algn="l" indent="0" marL="0">
              <a:lnSpc>
                <a:spcPct val="115000"/>
              </a:lnSpc>
              <a:buNone/>
            </a:pPr>
            <a:r>
              <a:rPr lang="en-US" sz="1200" b="1" dirty="0">
                <a:solidFill>
                  <a:srgbClr val="1B2430"/>
                </a:solidFill>
                <a:latin typeface="Arial" pitchFamily="34" charset="0"/>
                <a:ea typeface="Arial" pitchFamily="34" charset="-122"/>
                <a:cs typeface="Arial" pitchFamily="34" charset="-120"/>
              </a:rPr>
              <a:t>Frontend and edge hardening</a:t>
            </a:r>
            <a:endParaRPr lang="en-US" sz="1200" dirty="0"/>
          </a:p>
        </p:txBody>
      </p:sp>
      <p:sp>
        <p:nvSpPr>
          <p:cNvPr id="19" name="Text 17"/>
          <p:cNvSpPr txBox="1"/>
          <p:nvPr/>
        </p:nvSpPr>
        <p:spPr>
          <a:xfrm>
            <a:off x="6642100" y="3073400"/>
            <a:ext cx="4787900" cy="558800"/>
          </a:xfrm>
          <a:prstGeom prst="rect">
            <a:avLst/>
          </a:prstGeom>
          <a:noFill/>
          <a:ln/>
        </p:spPr>
        <p:txBody>
          <a:bodyPr wrap="square" lIns="0" tIns="0" rIns="0" bIns="0" rtlCol="0" anchor="t"/>
          <a:lstStyle/>
          <a:p>
            <a:pPr algn="l" indent="0" marL="0">
              <a:lnSpc>
                <a:spcPct val="120000"/>
              </a:lnSpc>
              <a:buNone/>
            </a:pPr>
            <a:r>
              <a:rPr lang="en-US" sz="1000" dirty="0">
                <a:solidFill>
                  <a:srgbClr val="465060"/>
                </a:solidFill>
                <a:latin typeface="Arial" pitchFamily="34" charset="0"/>
                <a:ea typeface="Arial" pitchFamily="34" charset="-122"/>
                <a:cs typeface="Arial" pitchFamily="34" charset="-120"/>
              </a:rPr>
              <a:t>httpOnly cookie sessions, CSP nonces, rate-limit windows shared across instances.</a:t>
            </a:r>
            <a:endParaRPr lang="en-US" sz="1000" dirty="0"/>
          </a:p>
        </p:txBody>
      </p:sp>
      <p:sp>
        <p:nvSpPr>
          <p:cNvPr id="20" name="Shape 18"/>
          <p:cNvSpPr/>
          <p:nvPr/>
        </p:nvSpPr>
        <p:spPr>
          <a:xfrm>
            <a:off x="762000" y="3657600"/>
            <a:ext cx="5181600" cy="0"/>
          </a:xfrm>
          <a:prstGeom prst="line">
            <a:avLst/>
          </a:prstGeom>
          <a:noFill/>
          <a:ln w="9525">
            <a:solidFill>
              <a:srgbClr val="DDE1E7"/>
            </a:solidFill>
            <a:prstDash val="solid"/>
          </a:ln>
        </p:spPr>
      </p:sp>
      <p:sp>
        <p:nvSpPr>
          <p:cNvPr id="21" name="Text 19"/>
          <p:cNvSpPr txBox="1"/>
          <p:nvPr/>
        </p:nvSpPr>
        <p:spPr>
          <a:xfrm>
            <a:off x="762000" y="37719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05</a:t>
            </a:r>
            <a:endParaRPr lang="en-US" sz="1100" dirty="0"/>
          </a:p>
        </p:txBody>
      </p:sp>
      <p:sp>
        <p:nvSpPr>
          <p:cNvPr id="22" name="Text 20"/>
          <p:cNvSpPr txBox="1"/>
          <p:nvPr/>
        </p:nvSpPr>
        <p:spPr>
          <a:xfrm>
            <a:off x="1155700" y="3746500"/>
            <a:ext cx="4787900" cy="203200"/>
          </a:xfrm>
          <a:prstGeom prst="rect">
            <a:avLst/>
          </a:prstGeom>
          <a:noFill/>
          <a:ln/>
        </p:spPr>
        <p:txBody>
          <a:bodyPr wrap="square" lIns="0" tIns="0" rIns="0" bIns="0" rtlCol="0" anchor="t"/>
          <a:lstStyle/>
          <a:p>
            <a:pPr algn="l" indent="0" marL="0">
              <a:lnSpc>
                <a:spcPct val="115000"/>
              </a:lnSpc>
              <a:buNone/>
            </a:pPr>
            <a:r>
              <a:rPr lang="en-US" sz="1200" b="1" dirty="0">
                <a:solidFill>
                  <a:srgbClr val="1B2430"/>
                </a:solidFill>
                <a:latin typeface="Arial" pitchFamily="34" charset="0"/>
                <a:ea typeface="Arial" pitchFamily="34" charset="-122"/>
                <a:cs typeface="Arial" pitchFamily="34" charset="-120"/>
              </a:rPr>
              <a:t>Identity</a:t>
            </a:r>
            <a:endParaRPr lang="en-US" sz="1200" dirty="0"/>
          </a:p>
        </p:txBody>
      </p:sp>
      <p:sp>
        <p:nvSpPr>
          <p:cNvPr id="23" name="Text 21"/>
          <p:cNvSpPr txBox="1"/>
          <p:nvPr/>
        </p:nvSpPr>
        <p:spPr>
          <a:xfrm>
            <a:off x="1155700" y="3949700"/>
            <a:ext cx="4787900" cy="558800"/>
          </a:xfrm>
          <a:prstGeom prst="rect">
            <a:avLst/>
          </a:prstGeom>
          <a:noFill/>
          <a:ln/>
        </p:spPr>
        <p:txBody>
          <a:bodyPr wrap="square" lIns="0" tIns="0" rIns="0" bIns="0" rtlCol="0" anchor="t"/>
          <a:lstStyle/>
          <a:p>
            <a:pPr algn="l" indent="0" marL="0">
              <a:lnSpc>
                <a:spcPct val="120000"/>
              </a:lnSpc>
              <a:buNone/>
            </a:pPr>
            <a:r>
              <a:rPr lang="en-US" sz="1000" dirty="0">
                <a:solidFill>
                  <a:srgbClr val="465060"/>
                </a:solidFill>
                <a:latin typeface="Arial" pitchFamily="34" charset="0"/>
                <a:ea typeface="Arial" pitchFamily="34" charset="-122"/>
                <a:cs typeface="Arial" pitchFamily="34" charset="-120"/>
              </a:rPr>
              <a:t>Registration, password reset, MFA and SSO; seeded accounts today.</a:t>
            </a:r>
            <a:endParaRPr lang="en-US" sz="1000" dirty="0"/>
          </a:p>
        </p:txBody>
      </p:sp>
      <p:sp>
        <p:nvSpPr>
          <p:cNvPr id="24" name="Shape 22"/>
          <p:cNvSpPr/>
          <p:nvPr/>
        </p:nvSpPr>
        <p:spPr>
          <a:xfrm>
            <a:off x="6248400" y="3657600"/>
            <a:ext cx="5181600" cy="0"/>
          </a:xfrm>
          <a:prstGeom prst="line">
            <a:avLst/>
          </a:prstGeom>
          <a:noFill/>
          <a:ln w="9525">
            <a:solidFill>
              <a:srgbClr val="DDE1E7"/>
            </a:solidFill>
            <a:prstDash val="solid"/>
          </a:ln>
        </p:spPr>
      </p:sp>
      <p:sp>
        <p:nvSpPr>
          <p:cNvPr id="25" name="Text 23"/>
          <p:cNvSpPr txBox="1"/>
          <p:nvPr/>
        </p:nvSpPr>
        <p:spPr>
          <a:xfrm>
            <a:off x="6248400" y="37719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06</a:t>
            </a:r>
            <a:endParaRPr lang="en-US" sz="1100" dirty="0"/>
          </a:p>
        </p:txBody>
      </p:sp>
      <p:sp>
        <p:nvSpPr>
          <p:cNvPr id="26" name="Text 24"/>
          <p:cNvSpPr txBox="1"/>
          <p:nvPr/>
        </p:nvSpPr>
        <p:spPr>
          <a:xfrm>
            <a:off x="6642100" y="3746500"/>
            <a:ext cx="4787900" cy="203200"/>
          </a:xfrm>
          <a:prstGeom prst="rect">
            <a:avLst/>
          </a:prstGeom>
          <a:noFill/>
          <a:ln/>
        </p:spPr>
        <p:txBody>
          <a:bodyPr wrap="square" lIns="0" tIns="0" rIns="0" bIns="0" rtlCol="0" anchor="t"/>
          <a:lstStyle/>
          <a:p>
            <a:pPr algn="l" indent="0" marL="0">
              <a:lnSpc>
                <a:spcPct val="115000"/>
              </a:lnSpc>
              <a:buNone/>
            </a:pPr>
            <a:r>
              <a:rPr lang="en-US" sz="1200" b="1" dirty="0">
                <a:solidFill>
                  <a:srgbClr val="1B2430"/>
                </a:solidFill>
                <a:latin typeface="Arial" pitchFamily="34" charset="0"/>
                <a:ea typeface="Arial" pitchFamily="34" charset="-122"/>
                <a:cs typeface="Arial" pitchFamily="34" charset="-120"/>
              </a:rPr>
              <a:t>Data protection</a:t>
            </a:r>
            <a:endParaRPr lang="en-US" sz="1200" dirty="0"/>
          </a:p>
        </p:txBody>
      </p:sp>
      <p:sp>
        <p:nvSpPr>
          <p:cNvPr id="27" name="Text 25"/>
          <p:cNvSpPr txBox="1"/>
          <p:nvPr/>
        </p:nvSpPr>
        <p:spPr>
          <a:xfrm>
            <a:off x="6642100" y="3949700"/>
            <a:ext cx="4787900" cy="558800"/>
          </a:xfrm>
          <a:prstGeom prst="rect">
            <a:avLst/>
          </a:prstGeom>
          <a:noFill/>
          <a:ln/>
        </p:spPr>
        <p:txBody>
          <a:bodyPr wrap="square" lIns="0" tIns="0" rIns="0" bIns="0" rtlCol="0" anchor="t"/>
          <a:lstStyle/>
          <a:p>
            <a:pPr algn="l" indent="0" marL="0">
              <a:lnSpc>
                <a:spcPct val="120000"/>
              </a:lnSpc>
              <a:buNone/>
            </a:pPr>
            <a:r>
              <a:rPr lang="en-US" sz="1000" dirty="0">
                <a:solidFill>
                  <a:srgbClr val="465060"/>
                </a:solidFill>
                <a:latin typeface="Arial" pitchFamily="34" charset="0"/>
                <a:ea typeface="Arial" pitchFamily="34" charset="-122"/>
                <a:cs typeface="Arial" pitchFamily="34" charset="-120"/>
              </a:rPr>
              <a:t>Retention and redaction for document text sent to the model; an in-region provider.</a:t>
            </a:r>
            <a:endParaRPr lang="en-US" sz="1000" dirty="0"/>
          </a:p>
        </p:txBody>
      </p:sp>
      <p:sp>
        <p:nvSpPr>
          <p:cNvPr id="28" name="Shape 26"/>
          <p:cNvSpPr/>
          <p:nvPr/>
        </p:nvSpPr>
        <p:spPr>
          <a:xfrm>
            <a:off x="762000" y="4533900"/>
            <a:ext cx="5181600" cy="0"/>
          </a:xfrm>
          <a:prstGeom prst="line">
            <a:avLst/>
          </a:prstGeom>
          <a:noFill/>
          <a:ln w="9525">
            <a:solidFill>
              <a:srgbClr val="DDE1E7"/>
            </a:solidFill>
            <a:prstDash val="solid"/>
          </a:ln>
        </p:spPr>
      </p:sp>
      <p:sp>
        <p:nvSpPr>
          <p:cNvPr id="29" name="Text 27"/>
          <p:cNvSpPr txBox="1"/>
          <p:nvPr/>
        </p:nvSpPr>
        <p:spPr>
          <a:xfrm>
            <a:off x="762000" y="46482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07</a:t>
            </a:r>
            <a:endParaRPr lang="en-US" sz="1100" dirty="0"/>
          </a:p>
        </p:txBody>
      </p:sp>
      <p:sp>
        <p:nvSpPr>
          <p:cNvPr id="30" name="Text 28"/>
          <p:cNvSpPr txBox="1"/>
          <p:nvPr/>
        </p:nvSpPr>
        <p:spPr>
          <a:xfrm>
            <a:off x="1155700" y="4622800"/>
            <a:ext cx="4787900" cy="203200"/>
          </a:xfrm>
          <a:prstGeom prst="rect">
            <a:avLst/>
          </a:prstGeom>
          <a:noFill/>
          <a:ln/>
        </p:spPr>
        <p:txBody>
          <a:bodyPr wrap="square" lIns="0" tIns="0" rIns="0" bIns="0" rtlCol="0" anchor="t"/>
          <a:lstStyle/>
          <a:p>
            <a:pPr algn="l" indent="0" marL="0">
              <a:lnSpc>
                <a:spcPct val="115000"/>
              </a:lnSpc>
              <a:buNone/>
            </a:pPr>
            <a:r>
              <a:rPr lang="en-US" sz="1200" b="1" dirty="0">
                <a:solidFill>
                  <a:srgbClr val="1B2430"/>
                </a:solidFill>
                <a:latin typeface="Arial" pitchFamily="34" charset="0"/>
                <a:ea typeface="Arial" pitchFamily="34" charset="-122"/>
                <a:cs typeface="Arial" pitchFamily="34" charset="-120"/>
              </a:rPr>
              <a:t>AI evaluation and assurance</a:t>
            </a:r>
            <a:endParaRPr lang="en-US" sz="1200" dirty="0"/>
          </a:p>
        </p:txBody>
      </p:sp>
      <p:sp>
        <p:nvSpPr>
          <p:cNvPr id="31" name="Text 29"/>
          <p:cNvSpPr txBox="1"/>
          <p:nvPr/>
        </p:nvSpPr>
        <p:spPr>
          <a:xfrm>
            <a:off x="1155700" y="4826000"/>
            <a:ext cx="4787900" cy="558800"/>
          </a:xfrm>
          <a:prstGeom prst="rect">
            <a:avLst/>
          </a:prstGeom>
          <a:noFill/>
          <a:ln/>
        </p:spPr>
        <p:txBody>
          <a:bodyPr wrap="square" lIns="0" tIns="0" rIns="0" bIns="0" rtlCol="0" anchor="t"/>
          <a:lstStyle/>
          <a:p>
            <a:pPr algn="l" indent="0" marL="0">
              <a:lnSpc>
                <a:spcPct val="120000"/>
              </a:lnSpc>
              <a:buNone/>
            </a:pPr>
            <a:r>
              <a:rPr lang="en-US" sz="1000" dirty="0">
                <a:solidFill>
                  <a:srgbClr val="465060"/>
                </a:solidFill>
                <a:latin typeface="Arial" pitchFamily="34" charset="0"/>
                <a:ea typeface="Arial" pitchFamily="34" charset="-122"/>
                <a:cs typeface="Arial" pitchFamily="34" charset="-120"/>
              </a:rPr>
              <a:t>A labelled set from officer overrides, broader red-teaming, calibration, multilingual injection defence.</a:t>
            </a:r>
            <a:endParaRPr lang="en-US" sz="1000" dirty="0"/>
          </a:p>
        </p:txBody>
      </p:sp>
      <p:sp>
        <p:nvSpPr>
          <p:cNvPr id="32" name="Shape 30"/>
          <p:cNvSpPr/>
          <p:nvPr/>
        </p:nvSpPr>
        <p:spPr>
          <a:xfrm>
            <a:off x="6248400" y="4533900"/>
            <a:ext cx="5181600" cy="0"/>
          </a:xfrm>
          <a:prstGeom prst="line">
            <a:avLst/>
          </a:prstGeom>
          <a:noFill/>
          <a:ln w="9525">
            <a:solidFill>
              <a:srgbClr val="DDE1E7"/>
            </a:solidFill>
            <a:prstDash val="solid"/>
          </a:ln>
        </p:spPr>
      </p:sp>
      <p:sp>
        <p:nvSpPr>
          <p:cNvPr id="33" name="Text 31"/>
          <p:cNvSpPr txBox="1"/>
          <p:nvPr/>
        </p:nvSpPr>
        <p:spPr>
          <a:xfrm>
            <a:off x="6248400" y="46482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08</a:t>
            </a:r>
            <a:endParaRPr lang="en-US" sz="1100" dirty="0"/>
          </a:p>
        </p:txBody>
      </p:sp>
      <p:sp>
        <p:nvSpPr>
          <p:cNvPr id="34" name="Text 32"/>
          <p:cNvSpPr txBox="1"/>
          <p:nvPr/>
        </p:nvSpPr>
        <p:spPr>
          <a:xfrm>
            <a:off x="6642100" y="4622800"/>
            <a:ext cx="4787900" cy="203200"/>
          </a:xfrm>
          <a:prstGeom prst="rect">
            <a:avLst/>
          </a:prstGeom>
          <a:noFill/>
          <a:ln/>
        </p:spPr>
        <p:txBody>
          <a:bodyPr wrap="square" lIns="0" tIns="0" rIns="0" bIns="0" rtlCol="0" anchor="t"/>
          <a:lstStyle/>
          <a:p>
            <a:pPr algn="l" indent="0" marL="0">
              <a:lnSpc>
                <a:spcPct val="115000"/>
              </a:lnSpc>
              <a:buNone/>
            </a:pPr>
            <a:r>
              <a:rPr lang="en-US" sz="1200" b="1" dirty="0">
                <a:solidFill>
                  <a:srgbClr val="1B2430"/>
                </a:solidFill>
                <a:latin typeface="Arial" pitchFamily="34" charset="0"/>
                <a:ea typeface="Arial" pitchFamily="34" charset="-122"/>
                <a:cs typeface="Arial" pitchFamily="34" charset="-120"/>
              </a:rPr>
              <a:t>The admin epic</a:t>
            </a:r>
            <a:endParaRPr lang="en-US" sz="1200" dirty="0"/>
          </a:p>
        </p:txBody>
      </p:sp>
      <p:sp>
        <p:nvSpPr>
          <p:cNvPr id="35" name="Text 33"/>
          <p:cNvSpPr txBox="1"/>
          <p:nvPr/>
        </p:nvSpPr>
        <p:spPr>
          <a:xfrm>
            <a:off x="6642100" y="4826000"/>
            <a:ext cx="4787900" cy="558800"/>
          </a:xfrm>
          <a:prstGeom prst="rect">
            <a:avLst/>
          </a:prstGeom>
          <a:noFill/>
          <a:ln/>
        </p:spPr>
        <p:txBody>
          <a:bodyPr wrap="square" lIns="0" tIns="0" rIns="0" bIns="0" rtlCol="0" anchor="t"/>
          <a:lstStyle/>
          <a:p>
            <a:pPr algn="l" indent="0" marL="0">
              <a:lnSpc>
                <a:spcPct val="120000"/>
              </a:lnSpc>
              <a:buNone/>
            </a:pPr>
            <a:r>
              <a:rPr lang="en-US" sz="1000" dirty="0">
                <a:solidFill>
                  <a:srgbClr val="465060"/>
                </a:solidFill>
                <a:latin typeface="Arial" pitchFamily="34" charset="0"/>
                <a:ea typeface="Arial" pitchFamily="34" charset="-122"/>
                <a:cs typeface="Arial" pitchFamily="34" charset="-120"/>
              </a:rPr>
              <a:t>Oversight dashboard, AI health, audit feed, user management; role and routes reserved.</a:t>
            </a:r>
            <a:endParaRPr lang="en-US" sz="1000" dirty="0"/>
          </a:p>
        </p:txBody>
      </p:sp>
      <p:sp>
        <p:nvSpPr>
          <p:cNvPr id="36" name="Shape 34"/>
          <p:cNvSpPr/>
          <p:nvPr/>
        </p:nvSpPr>
        <p:spPr>
          <a:xfrm>
            <a:off x="762000" y="5410200"/>
            <a:ext cx="5181600" cy="0"/>
          </a:xfrm>
          <a:prstGeom prst="line">
            <a:avLst/>
          </a:prstGeom>
          <a:noFill/>
          <a:ln w="9525">
            <a:solidFill>
              <a:srgbClr val="DDE1E7"/>
            </a:solidFill>
            <a:prstDash val="solid"/>
          </a:ln>
        </p:spPr>
      </p:sp>
      <p:sp>
        <p:nvSpPr>
          <p:cNvPr id="37" name="Text 35"/>
          <p:cNvSpPr txBox="1"/>
          <p:nvPr/>
        </p:nvSpPr>
        <p:spPr>
          <a:xfrm>
            <a:off x="762000" y="55245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09</a:t>
            </a:r>
            <a:endParaRPr lang="en-US" sz="1100" dirty="0"/>
          </a:p>
        </p:txBody>
      </p:sp>
      <p:sp>
        <p:nvSpPr>
          <p:cNvPr id="38" name="Text 36"/>
          <p:cNvSpPr txBox="1"/>
          <p:nvPr/>
        </p:nvSpPr>
        <p:spPr>
          <a:xfrm>
            <a:off x="1155700" y="5499100"/>
            <a:ext cx="4787900" cy="203200"/>
          </a:xfrm>
          <a:prstGeom prst="rect">
            <a:avLst/>
          </a:prstGeom>
          <a:noFill/>
          <a:ln/>
        </p:spPr>
        <p:txBody>
          <a:bodyPr wrap="square" lIns="0" tIns="0" rIns="0" bIns="0" rtlCol="0" anchor="t"/>
          <a:lstStyle/>
          <a:p>
            <a:pPr algn="l" indent="0" marL="0">
              <a:lnSpc>
                <a:spcPct val="115000"/>
              </a:lnSpc>
              <a:buNone/>
            </a:pPr>
            <a:r>
              <a:rPr lang="en-US" sz="1200" b="1" dirty="0">
                <a:solidFill>
                  <a:srgbClr val="1B2430"/>
                </a:solidFill>
                <a:latin typeface="Arial" pitchFamily="34" charset="0"/>
                <a:ea typeface="Arial" pitchFamily="34" charset="-122"/>
                <a:cs typeface="Arial" pitchFamily="34" charset="-120"/>
              </a:rPr>
              <a:t>Delivery and backups</a:t>
            </a:r>
            <a:endParaRPr lang="en-US" sz="1200" dirty="0"/>
          </a:p>
        </p:txBody>
      </p:sp>
      <p:sp>
        <p:nvSpPr>
          <p:cNvPr id="39" name="Text 37"/>
          <p:cNvSpPr txBox="1"/>
          <p:nvPr/>
        </p:nvSpPr>
        <p:spPr>
          <a:xfrm>
            <a:off x="1155700" y="5702300"/>
            <a:ext cx="4787900" cy="558800"/>
          </a:xfrm>
          <a:prstGeom prst="rect">
            <a:avLst/>
          </a:prstGeom>
          <a:noFill/>
          <a:ln/>
        </p:spPr>
        <p:txBody>
          <a:bodyPr wrap="square" lIns="0" tIns="0" rIns="0" bIns="0" rtlCol="0" anchor="t"/>
          <a:lstStyle/>
          <a:p>
            <a:pPr algn="l" indent="0" marL="0">
              <a:lnSpc>
                <a:spcPct val="120000"/>
              </a:lnSpc>
              <a:buNone/>
            </a:pPr>
            <a:r>
              <a:rPr lang="en-US" sz="1000" dirty="0">
                <a:solidFill>
                  <a:srgbClr val="465060"/>
                </a:solidFill>
                <a:latin typeface="Arial" pitchFamily="34" charset="0"/>
                <a:ea typeface="Arial" pitchFamily="34" charset="-122"/>
                <a:cs typeface="Arial" pitchFamily="34" charset="-120"/>
              </a:rPr>
              <a:t>Scheduled backups with a tested restore; a staging rehearsal for migrations; image scanning.</a:t>
            </a:r>
            <a:endParaRPr lang="en-US" sz="1000" dirty="0"/>
          </a:p>
        </p:txBody>
      </p:sp>
      <p:sp>
        <p:nvSpPr>
          <p:cNvPr id="40" name="Text 38"/>
          <p:cNvSpPr txBox="1"/>
          <p:nvPr/>
        </p:nvSpPr>
        <p:spPr>
          <a:xfrm>
            <a:off x="762000" y="6299200"/>
            <a:ext cx="6985000" cy="381000"/>
          </a:xfrm>
          <a:prstGeom prst="rect">
            <a:avLst/>
          </a:prstGeom>
          <a:noFill/>
          <a:ln/>
        </p:spPr>
        <p:txBody>
          <a:bodyPr wrap="square" lIns="0" tIns="0" rIns="0" bIns="0" rtlCol="0" anchor="t"/>
          <a:lstStyle/>
          <a:p>
            <a:pPr algn="l" indent="0" marL="0">
              <a:lnSpc>
                <a:spcPct val="130000"/>
              </a:lnSpc>
              <a:buNone/>
            </a:pPr>
            <a:endParaRPr lang="en-US" sz="1000" dirty="0"/>
          </a:p>
        </p:txBody>
      </p:sp>
      <p:sp>
        <p:nvSpPr>
          <p:cNvPr id="41" name="Text 39"/>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10 / 11</a:t>
            </a:r>
            <a:endParaRPr lang="en-US" sz="1000" dirty="0"/>
          </a:p>
        </p:txBody>
      </p:sp>
    </p:spTree>
  </p:cSld>
  <p:clrMapOvr>
    <a:masterClrMapping/>
  </p:clrMapOvr>
  <p:transition spd="fast">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430"/>
        </a:solidFill>
      </p:bgPr>
    </p:bg>
    <p:spTree>
      <p:nvGrpSpPr>
        <p:cNvPr id="1" name=""/>
        <p:cNvGrpSpPr/>
        <p:nvPr/>
      </p:nvGrpSpPr>
      <p:grpSpPr>
        <a:xfrm>
          <a:off x="0" y="0"/>
          <a:ext cx="0" cy="0"/>
          <a:chOff x="0" y="0"/>
          <a:chExt cx="0" cy="0"/>
        </a:xfrm>
      </p:grpSpPr>
      <p:pic>
        <p:nvPicPr>
          <p:cNvPr id="2" name="Image 0" descr="/Users/suhaasnv/Documents/Desktop ALT/portfolioprojects/permitflow/notes/pitch/deck/pptx/build/mark.png">    </p:cNvPr>
          <p:cNvPicPr>
            <a:picLocks noChangeAspect="1"/>
          </p:cNvPicPr>
          <p:nvPr/>
        </p:nvPicPr>
        <p:blipFill>
          <a:blip r:embed="rId1"/>
          <a:stretch>
            <a:fillRect/>
          </a:stretch>
        </p:blipFill>
        <p:spPr>
          <a:xfrm>
            <a:off x="762000" y="1397000"/>
            <a:ext cx="609600" cy="609600"/>
          </a:xfrm>
          <a:prstGeom prst="rect">
            <a:avLst/>
          </a:prstGeom>
        </p:spPr>
      </p:pic>
      <p:sp>
        <p:nvSpPr>
          <p:cNvPr id="3" name="Text 0"/>
          <p:cNvSpPr txBox="1"/>
          <p:nvPr/>
        </p:nvSpPr>
        <p:spPr>
          <a:xfrm>
            <a:off x="1549400" y="1397000"/>
            <a:ext cx="3810000" cy="609600"/>
          </a:xfrm>
          <a:prstGeom prst="rect">
            <a:avLst/>
          </a:prstGeom>
          <a:noFill/>
          <a:ln/>
        </p:spPr>
        <p:txBody>
          <a:bodyPr wrap="square" lIns="0" tIns="0" rIns="0" bIns="0" rtlCol="0" anchor="ctr"/>
          <a:lstStyle/>
          <a:p>
            <a:pPr algn="l" indent="0" marL="0">
              <a:lnSpc>
                <a:spcPct val="115000"/>
              </a:lnSpc>
              <a:buNone/>
            </a:pPr>
            <a:r>
              <a:rPr lang="en-US" sz="2976" b="1" spc="-100" kern="0" dirty="0">
                <a:solidFill>
                  <a:srgbClr val="FFFFFF"/>
                </a:solidFill>
                <a:latin typeface="Arial" pitchFamily="34" charset="0"/>
                <a:ea typeface="Arial" pitchFamily="34" charset="-122"/>
                <a:cs typeface="Arial" pitchFamily="34" charset="-120"/>
              </a:rPr>
              <a:t>PermitFlow</a:t>
            </a:r>
            <a:endParaRPr lang="en-US" sz="2976" dirty="0"/>
          </a:p>
        </p:txBody>
      </p:sp>
      <p:sp>
        <p:nvSpPr>
          <p:cNvPr id="4" name="Text 1"/>
          <p:cNvSpPr txBox="1"/>
          <p:nvPr/>
        </p:nvSpPr>
        <p:spPr>
          <a:xfrm>
            <a:off x="762000" y="2311400"/>
            <a:ext cx="9525000" cy="1397000"/>
          </a:xfrm>
          <a:prstGeom prst="rect">
            <a:avLst/>
          </a:prstGeom>
          <a:noFill/>
          <a:ln/>
        </p:spPr>
        <p:txBody>
          <a:bodyPr wrap="square" lIns="0" tIns="0" rIns="0" bIns="0" rtlCol="0" anchor="t"/>
          <a:lstStyle/>
          <a:p>
            <a:pPr algn="l" indent="0" marL="0">
              <a:lnSpc>
                <a:spcPct val="108000"/>
              </a:lnSpc>
              <a:buNone/>
            </a:pPr>
            <a:r>
              <a:rPr lang="en-US" sz="4200" dirty="0">
                <a:solidFill>
                  <a:srgbClr val="FFFFFF"/>
                </a:solidFill>
                <a:latin typeface="Cambria" pitchFamily="34" charset="0"/>
                <a:ea typeface="Cambria" pitchFamily="34" charset="-122"/>
                <a:cs typeface="Cambria" pitchFamily="34" charset="-120"/>
              </a:rPr>
              <a:t>From submission to resolution: one traceable licensing workflow.</a:t>
            </a:r>
            <a:endParaRPr lang="en-US" sz="4200" dirty="0"/>
          </a:p>
        </p:txBody>
      </p:sp>
      <p:sp>
        <p:nvSpPr>
          <p:cNvPr id="5" name="Shape 2"/>
          <p:cNvSpPr/>
          <p:nvPr/>
        </p:nvSpPr>
        <p:spPr>
          <a:xfrm>
            <a:off x="762000" y="4445000"/>
            <a:ext cx="940816" cy="431800"/>
          </a:xfrm>
          <a:prstGeom prst="roundRect">
            <a:avLst>
              <a:gd name="adj" fmla="val 8824"/>
            </a:avLst>
          </a:prstGeom>
          <a:solidFill>
            <a:srgbClr val="1B2430"/>
          </a:solidFill>
          <a:ln w="9525">
            <a:solidFill>
              <a:srgbClr val="5A6373"/>
            </a:solidFill>
            <a:prstDash val="solid"/>
          </a:ln>
        </p:spPr>
      </p:sp>
      <p:sp>
        <p:nvSpPr>
          <p:cNvPr id="6" name="Text 3"/>
          <p:cNvSpPr txBox="1"/>
          <p:nvPr/>
        </p:nvSpPr>
        <p:spPr>
          <a:xfrm>
            <a:off x="762000" y="4445000"/>
            <a:ext cx="940816"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Arial" pitchFamily="34" charset="0"/>
                <a:ea typeface="Arial" pitchFamily="34" charset="-122"/>
                <a:cs typeface="Arial" pitchFamily="34" charset="-120"/>
              </a:rPr>
              <a:t>Submit</a:t>
            </a:r>
            <a:endParaRPr lang="en-US" sz="1200" dirty="0"/>
          </a:p>
        </p:txBody>
      </p:sp>
      <p:sp>
        <p:nvSpPr>
          <p:cNvPr id="7" name="Text 4"/>
          <p:cNvSpPr txBox="1"/>
          <p:nvPr/>
        </p:nvSpPr>
        <p:spPr>
          <a:xfrm>
            <a:off x="1791716"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Arial" pitchFamily="34" charset="0"/>
                <a:ea typeface="Arial" pitchFamily="34" charset="-122"/>
                <a:cs typeface="Arial" pitchFamily="34" charset="-120"/>
              </a:rPr>
              <a:t>→</a:t>
            </a:r>
            <a:endParaRPr lang="en-US" sz="1100" dirty="0"/>
          </a:p>
        </p:txBody>
      </p:sp>
      <p:sp>
        <p:nvSpPr>
          <p:cNvPr id="8" name="Shape 5"/>
          <p:cNvSpPr/>
          <p:nvPr/>
        </p:nvSpPr>
        <p:spPr>
          <a:xfrm>
            <a:off x="2071116" y="4445000"/>
            <a:ext cx="843280" cy="431800"/>
          </a:xfrm>
          <a:prstGeom prst="roundRect">
            <a:avLst>
              <a:gd name="adj" fmla="val 8824"/>
            </a:avLst>
          </a:prstGeom>
          <a:solidFill>
            <a:srgbClr val="1B2430"/>
          </a:solidFill>
          <a:ln w="9525">
            <a:solidFill>
              <a:srgbClr val="5A6373"/>
            </a:solidFill>
            <a:prstDash val="solid"/>
          </a:ln>
        </p:spPr>
      </p:sp>
      <p:sp>
        <p:nvSpPr>
          <p:cNvPr id="9" name="Text 6"/>
          <p:cNvSpPr txBox="1"/>
          <p:nvPr/>
        </p:nvSpPr>
        <p:spPr>
          <a:xfrm>
            <a:off x="2071116" y="4445000"/>
            <a:ext cx="843280"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Arial" pitchFamily="34" charset="0"/>
                <a:ea typeface="Arial" pitchFamily="34" charset="-122"/>
                <a:cs typeface="Arial" pitchFamily="34" charset="-120"/>
              </a:rPr>
              <a:t>Check</a:t>
            </a:r>
            <a:endParaRPr lang="en-US" sz="1200" dirty="0"/>
          </a:p>
        </p:txBody>
      </p:sp>
      <p:sp>
        <p:nvSpPr>
          <p:cNvPr id="10" name="Text 7"/>
          <p:cNvSpPr txBox="1"/>
          <p:nvPr/>
        </p:nvSpPr>
        <p:spPr>
          <a:xfrm>
            <a:off x="3003296"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Arial" pitchFamily="34" charset="0"/>
                <a:ea typeface="Arial" pitchFamily="34" charset="-122"/>
                <a:cs typeface="Arial" pitchFamily="34" charset="-120"/>
              </a:rPr>
              <a:t>→</a:t>
            </a:r>
            <a:endParaRPr lang="en-US" sz="1100" dirty="0"/>
          </a:p>
        </p:txBody>
      </p:sp>
      <p:sp>
        <p:nvSpPr>
          <p:cNvPr id="11" name="Shape 8"/>
          <p:cNvSpPr/>
          <p:nvPr/>
        </p:nvSpPr>
        <p:spPr>
          <a:xfrm>
            <a:off x="3282696" y="4445000"/>
            <a:ext cx="940816" cy="431800"/>
          </a:xfrm>
          <a:prstGeom prst="roundRect">
            <a:avLst>
              <a:gd name="adj" fmla="val 8824"/>
            </a:avLst>
          </a:prstGeom>
          <a:solidFill>
            <a:srgbClr val="1B2430"/>
          </a:solidFill>
          <a:ln w="9525">
            <a:solidFill>
              <a:srgbClr val="5A6373"/>
            </a:solidFill>
            <a:prstDash val="solid"/>
          </a:ln>
        </p:spPr>
      </p:sp>
      <p:sp>
        <p:nvSpPr>
          <p:cNvPr id="12" name="Text 9"/>
          <p:cNvSpPr txBox="1"/>
          <p:nvPr/>
        </p:nvSpPr>
        <p:spPr>
          <a:xfrm>
            <a:off x="3282696" y="4445000"/>
            <a:ext cx="940816"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Arial" pitchFamily="34" charset="0"/>
                <a:ea typeface="Arial" pitchFamily="34" charset="-122"/>
                <a:cs typeface="Arial" pitchFamily="34" charset="-120"/>
              </a:rPr>
              <a:t>Review</a:t>
            </a:r>
            <a:endParaRPr lang="en-US" sz="1200" dirty="0"/>
          </a:p>
        </p:txBody>
      </p:sp>
      <p:sp>
        <p:nvSpPr>
          <p:cNvPr id="13" name="Text 10"/>
          <p:cNvSpPr txBox="1"/>
          <p:nvPr/>
        </p:nvSpPr>
        <p:spPr>
          <a:xfrm>
            <a:off x="4312412"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Arial" pitchFamily="34" charset="0"/>
                <a:ea typeface="Arial" pitchFamily="34" charset="-122"/>
                <a:cs typeface="Arial" pitchFamily="34" charset="-120"/>
              </a:rPr>
              <a:t>→</a:t>
            </a:r>
            <a:endParaRPr lang="en-US" sz="1100" dirty="0"/>
          </a:p>
        </p:txBody>
      </p:sp>
      <p:sp>
        <p:nvSpPr>
          <p:cNvPr id="14" name="Shape 11"/>
          <p:cNvSpPr/>
          <p:nvPr/>
        </p:nvSpPr>
        <p:spPr>
          <a:xfrm>
            <a:off x="4591812" y="4445000"/>
            <a:ext cx="1135888" cy="431800"/>
          </a:xfrm>
          <a:prstGeom prst="roundRect">
            <a:avLst>
              <a:gd name="adj" fmla="val 8824"/>
            </a:avLst>
          </a:prstGeom>
          <a:solidFill>
            <a:srgbClr val="1B2430"/>
          </a:solidFill>
          <a:ln w="9525">
            <a:solidFill>
              <a:srgbClr val="5A6373"/>
            </a:solidFill>
            <a:prstDash val="solid"/>
          </a:ln>
        </p:spPr>
      </p:sp>
      <p:sp>
        <p:nvSpPr>
          <p:cNvPr id="15" name="Text 12"/>
          <p:cNvSpPr txBox="1"/>
          <p:nvPr/>
        </p:nvSpPr>
        <p:spPr>
          <a:xfrm>
            <a:off x="4591812" y="4445000"/>
            <a:ext cx="1135888"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Arial" pitchFamily="34" charset="0"/>
                <a:ea typeface="Arial" pitchFamily="34" charset="-122"/>
                <a:cs typeface="Arial" pitchFamily="34" charset="-120"/>
              </a:rPr>
              <a:t>Feedback</a:t>
            </a:r>
            <a:endParaRPr lang="en-US" sz="1200" dirty="0"/>
          </a:p>
        </p:txBody>
      </p:sp>
      <p:sp>
        <p:nvSpPr>
          <p:cNvPr id="16" name="Text 13"/>
          <p:cNvSpPr txBox="1"/>
          <p:nvPr/>
        </p:nvSpPr>
        <p:spPr>
          <a:xfrm>
            <a:off x="5816600"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Arial" pitchFamily="34" charset="0"/>
                <a:ea typeface="Arial" pitchFamily="34" charset="-122"/>
                <a:cs typeface="Arial" pitchFamily="34" charset="-120"/>
              </a:rPr>
              <a:t>→</a:t>
            </a:r>
            <a:endParaRPr lang="en-US" sz="1100" dirty="0"/>
          </a:p>
        </p:txBody>
      </p:sp>
      <p:sp>
        <p:nvSpPr>
          <p:cNvPr id="17" name="Shape 14"/>
          <p:cNvSpPr/>
          <p:nvPr/>
        </p:nvSpPr>
        <p:spPr>
          <a:xfrm>
            <a:off x="6096000" y="4445000"/>
            <a:ext cx="1135888" cy="431800"/>
          </a:xfrm>
          <a:prstGeom prst="roundRect">
            <a:avLst>
              <a:gd name="adj" fmla="val 8824"/>
            </a:avLst>
          </a:prstGeom>
          <a:solidFill>
            <a:srgbClr val="1B2430"/>
          </a:solidFill>
          <a:ln w="9525">
            <a:solidFill>
              <a:srgbClr val="5A6373"/>
            </a:solidFill>
            <a:prstDash val="solid"/>
          </a:ln>
        </p:spPr>
      </p:sp>
      <p:sp>
        <p:nvSpPr>
          <p:cNvPr id="18" name="Text 15"/>
          <p:cNvSpPr txBox="1"/>
          <p:nvPr/>
        </p:nvSpPr>
        <p:spPr>
          <a:xfrm>
            <a:off x="6096000" y="4445000"/>
            <a:ext cx="1135888"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Arial" pitchFamily="34" charset="0"/>
                <a:ea typeface="Arial" pitchFamily="34" charset="-122"/>
                <a:cs typeface="Arial" pitchFamily="34" charset="-120"/>
              </a:rPr>
              <a:t>Resubmit</a:t>
            </a:r>
            <a:endParaRPr lang="en-US" sz="1200" dirty="0"/>
          </a:p>
        </p:txBody>
      </p:sp>
      <p:sp>
        <p:nvSpPr>
          <p:cNvPr id="19" name="Text 16"/>
          <p:cNvSpPr txBox="1"/>
          <p:nvPr/>
        </p:nvSpPr>
        <p:spPr>
          <a:xfrm>
            <a:off x="7320788"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Arial" pitchFamily="34" charset="0"/>
                <a:ea typeface="Arial" pitchFamily="34" charset="-122"/>
                <a:cs typeface="Arial" pitchFamily="34" charset="-120"/>
              </a:rPr>
              <a:t>→</a:t>
            </a:r>
            <a:endParaRPr lang="en-US" sz="1100" dirty="0"/>
          </a:p>
        </p:txBody>
      </p:sp>
      <p:sp>
        <p:nvSpPr>
          <p:cNvPr id="20" name="Shape 17"/>
          <p:cNvSpPr/>
          <p:nvPr/>
        </p:nvSpPr>
        <p:spPr>
          <a:xfrm>
            <a:off x="7600188" y="4445000"/>
            <a:ext cx="1038352" cy="431800"/>
          </a:xfrm>
          <a:prstGeom prst="roundRect">
            <a:avLst>
              <a:gd name="adj" fmla="val 8824"/>
            </a:avLst>
          </a:prstGeom>
          <a:solidFill>
            <a:srgbClr val="1B2430"/>
          </a:solidFill>
          <a:ln w="9525">
            <a:solidFill>
              <a:srgbClr val="5A6373"/>
            </a:solidFill>
            <a:prstDash val="solid"/>
          </a:ln>
        </p:spPr>
      </p:sp>
      <p:sp>
        <p:nvSpPr>
          <p:cNvPr id="21" name="Text 18"/>
          <p:cNvSpPr txBox="1"/>
          <p:nvPr/>
        </p:nvSpPr>
        <p:spPr>
          <a:xfrm>
            <a:off x="7600188" y="4445000"/>
            <a:ext cx="1038352"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Arial" pitchFamily="34" charset="0"/>
                <a:ea typeface="Arial" pitchFamily="34" charset="-122"/>
                <a:cs typeface="Arial" pitchFamily="34" charset="-120"/>
              </a:rPr>
              <a:t>Compare</a:t>
            </a:r>
            <a:endParaRPr lang="en-US" sz="1200" dirty="0"/>
          </a:p>
        </p:txBody>
      </p:sp>
      <p:sp>
        <p:nvSpPr>
          <p:cNvPr id="22" name="Text 19"/>
          <p:cNvSpPr txBox="1"/>
          <p:nvPr/>
        </p:nvSpPr>
        <p:spPr>
          <a:xfrm>
            <a:off x="8727440"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Arial" pitchFamily="34" charset="0"/>
                <a:ea typeface="Arial" pitchFamily="34" charset="-122"/>
                <a:cs typeface="Arial" pitchFamily="34" charset="-120"/>
              </a:rPr>
              <a:t>→</a:t>
            </a:r>
            <a:endParaRPr lang="en-US" sz="1100" dirty="0"/>
          </a:p>
        </p:txBody>
      </p:sp>
      <p:sp>
        <p:nvSpPr>
          <p:cNvPr id="23" name="Shape 20"/>
          <p:cNvSpPr/>
          <p:nvPr/>
        </p:nvSpPr>
        <p:spPr>
          <a:xfrm>
            <a:off x="9006840" y="4445000"/>
            <a:ext cx="1038352" cy="431800"/>
          </a:xfrm>
          <a:prstGeom prst="roundRect">
            <a:avLst>
              <a:gd name="adj" fmla="val 8824"/>
            </a:avLst>
          </a:prstGeom>
          <a:solidFill>
            <a:srgbClr val="1B2430"/>
          </a:solidFill>
          <a:ln w="9525">
            <a:solidFill>
              <a:srgbClr val="5A6373"/>
            </a:solidFill>
            <a:prstDash val="solid"/>
          </a:ln>
        </p:spPr>
      </p:sp>
      <p:sp>
        <p:nvSpPr>
          <p:cNvPr id="24" name="Text 21"/>
          <p:cNvSpPr txBox="1"/>
          <p:nvPr/>
        </p:nvSpPr>
        <p:spPr>
          <a:xfrm>
            <a:off x="9006840" y="4445000"/>
            <a:ext cx="1038352"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Arial" pitchFamily="34" charset="0"/>
                <a:ea typeface="Arial" pitchFamily="34" charset="-122"/>
                <a:cs typeface="Arial" pitchFamily="34" charset="-120"/>
              </a:rPr>
              <a:t>Resolve</a:t>
            </a:r>
            <a:endParaRPr lang="en-US" sz="1200" dirty="0"/>
          </a:p>
        </p:txBody>
      </p:sp>
      <p:sp>
        <p:nvSpPr>
          <p:cNvPr id="25" name="Text 22"/>
          <p:cNvSpPr txBox="1"/>
          <p:nvPr/>
        </p:nvSpPr>
        <p:spPr>
          <a:xfrm>
            <a:off x="10134092"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Arial" pitchFamily="34" charset="0"/>
                <a:ea typeface="Arial" pitchFamily="34" charset="-122"/>
                <a:cs typeface="Arial" pitchFamily="34" charset="-120"/>
              </a:rPr>
              <a:t>→</a:t>
            </a:r>
            <a:endParaRPr lang="en-US" sz="1100" dirty="0"/>
          </a:p>
        </p:txBody>
      </p:sp>
      <p:sp>
        <p:nvSpPr>
          <p:cNvPr id="26" name="Shape 23"/>
          <p:cNvSpPr/>
          <p:nvPr/>
        </p:nvSpPr>
        <p:spPr>
          <a:xfrm>
            <a:off x="10413492" y="4445000"/>
            <a:ext cx="940816" cy="431800"/>
          </a:xfrm>
          <a:prstGeom prst="roundRect">
            <a:avLst>
              <a:gd name="adj" fmla="val 8824"/>
            </a:avLst>
          </a:prstGeom>
          <a:solidFill>
            <a:srgbClr val="1B2430"/>
          </a:solidFill>
          <a:ln w="9525">
            <a:solidFill>
              <a:srgbClr val="5A6373"/>
            </a:solidFill>
            <a:prstDash val="solid"/>
          </a:ln>
        </p:spPr>
      </p:sp>
      <p:sp>
        <p:nvSpPr>
          <p:cNvPr id="27" name="Text 24"/>
          <p:cNvSpPr txBox="1"/>
          <p:nvPr/>
        </p:nvSpPr>
        <p:spPr>
          <a:xfrm>
            <a:off x="10413492" y="4445000"/>
            <a:ext cx="940816"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Arial" pitchFamily="34" charset="0"/>
                <a:ea typeface="Arial" pitchFamily="34" charset="-122"/>
                <a:cs typeface="Arial" pitchFamily="34" charset="-120"/>
              </a:rPr>
              <a:t>Decide</a:t>
            </a:r>
            <a:endParaRPr lang="en-US" sz="1200" dirty="0"/>
          </a:p>
        </p:txBody>
      </p:sp>
      <p:sp>
        <p:nvSpPr>
          <p:cNvPr id="28" name="Text 25"/>
          <p:cNvSpPr txBox="1"/>
          <p:nvPr/>
        </p:nvSpPr>
        <p:spPr>
          <a:xfrm>
            <a:off x="762000" y="5816600"/>
            <a:ext cx="6350000" cy="254000"/>
          </a:xfrm>
          <a:prstGeom prst="rect">
            <a:avLst/>
          </a:prstGeom>
          <a:noFill/>
          <a:ln/>
        </p:spPr>
        <p:txBody>
          <a:bodyPr wrap="square" lIns="0" tIns="0" rIns="0" bIns="0" rtlCol="0" anchor="b"/>
          <a:lstStyle/>
          <a:p>
            <a:pPr algn="l" indent="0" marL="0">
              <a:lnSpc>
                <a:spcPct val="115000"/>
              </a:lnSpc>
              <a:buNone/>
            </a:pPr>
            <a:r>
              <a:rPr lang="en-US" sz="1300" dirty="0">
                <a:solidFill>
                  <a:srgbClr val="C5CBD4"/>
                </a:solidFill>
                <a:latin typeface="Arial" pitchFamily="34" charset="0"/>
                <a:ea typeface="Arial" pitchFamily="34" charset="-122"/>
                <a:cs typeface="Arial" pitchFamily="34" charset="-120"/>
              </a:rPr>
              <a:t>A working MVP built with production practices, in a three-day engineering constraint.</a:t>
            </a:r>
            <a:endParaRPr lang="en-US" sz="1300" dirty="0"/>
          </a:p>
        </p:txBody>
      </p:sp>
      <p:sp>
        <p:nvSpPr>
          <p:cNvPr id="29" name="Text 26"/>
          <p:cNvSpPr txBox="1"/>
          <p:nvPr/>
        </p:nvSpPr>
        <p:spPr>
          <a:xfrm>
            <a:off x="7620000" y="5562600"/>
            <a:ext cx="3810000" cy="508000"/>
          </a:xfrm>
          <a:prstGeom prst="rect">
            <a:avLst/>
          </a:prstGeom>
          <a:noFill/>
          <a:ln/>
        </p:spPr>
        <p:txBody>
          <a:bodyPr wrap="square" lIns="0" tIns="0" rIns="0" bIns="0" rtlCol="0" anchor="b"/>
          <a:lstStyle/>
          <a:p>
            <a:pPr algn="r" indent="0" marL="0">
              <a:lnSpc>
                <a:spcPct val="140000"/>
              </a:lnSpc>
              <a:buNone/>
            </a:pPr>
            <a:r>
              <a:rPr lang="en-US" sz="1500" dirty="0">
                <a:solidFill>
                  <a:srgbClr val="FFFFFF"/>
                </a:solidFill>
                <a:latin typeface="Arial" pitchFamily="34" charset="0"/>
                <a:ea typeface="Arial" pitchFamily="34" charset="-122"/>
                <a:cs typeface="Arial" pitchFamily="34" charset="-120"/>
              </a:rPr>
              <a:t>permitflow.space</a:t>
            </a:r>
            <a:endParaRPr lang="en-US" sz="1500" dirty="0"/>
          </a:p>
          <a:p>
            <a:pPr algn="r" indent="0" marL="0">
              <a:lnSpc>
                <a:spcPct val="140000"/>
              </a:lnSpc>
              <a:buNone/>
            </a:pPr>
            <a:r>
              <a:rPr lang="en-US" sz="1500" dirty="0">
                <a:solidFill>
                  <a:srgbClr val="FFFFFF"/>
                </a:solidFill>
                <a:latin typeface="Arial" pitchFamily="34" charset="0"/>
                <a:ea typeface="Arial" pitchFamily="34" charset="-122"/>
                <a:cs typeface="Arial" pitchFamily="34" charset="-120"/>
              </a:rPr>
              <a:t>github.com/SuhaasNv/permitflow</a:t>
            </a:r>
            <a:endParaRPr lang="en-US" sz="1500" dirty="0"/>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PermitFlow pitch deck</dc:title>
  <dc:subject>PptxGenJS Presentation</dc:subject>
  <dc:creator>Suhaas Nv</dc:creator>
  <cp:lastModifiedBy>Suhaas Nv</cp:lastModifiedBy>
  <cp:revision>1</cp:revision>
  <dcterms:created xsi:type="dcterms:W3CDTF">2026-09-19T13:19:04Z</dcterms:created>
  <dcterms:modified xsi:type="dcterms:W3CDTF">2026-09-19T13:19:04Z</dcterms:modified>
</cp:coreProperties>
</file>