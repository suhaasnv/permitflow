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half of the debrief. The pitch deck showed the product; this deck shows how it is built and why. I will go in the order the brief evaluates: scope judgement, then the architecture and four decisions, then production readiness through the pipeline and the test evidence, then how I used AI, then what I would do next. Every slide names the file a reviewer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gives three use cases and says two is fine. It also gives a status table with different labels per role, and it lists five evaluation areas. I built use cases one and two in full because they are one loop: submit, review, feedback, resubmit, compare. Use case three is deferred, but the state machine already holds its statuses, so adding it is additive, not a rewrite. The status table is data in the code, not prose. The deck follows the five evaluation areas in order, and the traceability document maps every checkable line of the brief to where it is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SCOPE.md was written before code and re-read at each sprint close. Twenty MUST items, all built. Seven SHOULD items, six done; the admin persona was cut on the last day per the cut order in SPRINTS.md and moved to v0.4.0. Eight COULD items, five done, including the withdraw status, the licence certificate and the domain. [Click] The deferred table has thirteen rows, and each row has three things: what is deferred or mocked, why, and what production would need. The last row is the honest one: the session token in sessionStorage, providers in the US region, one replica. Each accepted for a demonstration and each disclosed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seventeen assumptions, the ones that changed behaviour. The brief's table starts at Application Received, so a draft state is an assumption. The brief does not say who moves a case to Under Review, so I made it an officer action, which puts an actor in the audit trail. Requesting resubmission with no feedback would strand the operator, so it is guarded. Addressed versus resolved separates what the system can know from what the officer decides. Only flagged sections is enforced at the API, not suggested. And the approval stage: the brief's constraints say operators never see it, while the brief's own table gives operators a Pending Approval label; I followed the table and the spirit, no internal code and no officer-only label ever reaches an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work was run. Three one-day sprints, because a one-day sprint is the shortest cycle that still has a goal, a review and a close. The Notion board and the stories file in the repository are one to one: same ids, same titles, same acceptance criteria, and the branch names carry the story id, so a commit maps to a story maps to a requirement. Each story has a definition of done that is mostly about safety: validation, authorization tested with the wrong role, the error body, same-transaction audit, no path from the AI to state. [Click] Each sprint closed with the same ritual, three times: tests green, the board final, a CHANGELOG entry with what shipped, what slipped and a retro line, and SCOPE.md re-read. The admin epic was cut at the third close, per the cut order written on day one, and moved to v0.4.0.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One FastAPI backend in five layers with a test that enforces the direction of imports; the domain layer is pure Python and is the code a reviewer should read first: the state machine, the labels, the diff, the editability rules. One React app that calls the API directly. One PostgreSQL with relational tables plus a JSON snapshot per revision. Files on a volume behind a storage interface. The AI verifier is a module with one caller, services.verification, and one interface, so it can move to a worker or another provider without touching the rest. Twelve ADRs in three groups; the next four slides are the rules that make the brief's guarantees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one. The brief's status table has to hold exactly, with a different label per role. So the workflow is data: a tuple of transition rows, each with the source, the target, the actor, an optional guard and the label the button shows. One function consults it, and it is the only way status changes. The test iterates every combination of source, target and actor, 588 cases, and asserts that only the listed rows pass. The labels file is the brief's table typed in, and a test compares it. Reject from every post-submission state is deliberate: the brief says no application is lost, and a case that cannot move is a lost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two is the brief's hardest constraint: operators must never see the internal approval stage. The usual answer is to hide it in the UI. Here the operator response model does not have the field. Role is checked per router, ownership is checked in the one function that loads an application, and another owner's application is a 404 so the id space leaks nothing. Every endpoint has an authorization test: wrong role, wrong owner, an id from another application. Admin is read-only by construction: it has no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The model sees the extracted text and the form section and returns a structured answer through a pinned wire schema. That answer is validated into a strict domain model: unknown fields are rejected, confidence is bounded, and the status must agree with the issue list whatever the model said. Then deterministic rules run: low confidence or an instruction-like phrase in the document forces needs review. The result goes on the verification run and into the officer's view with its evidence. It never changes status. If the provider fails, times out, or the daily quota is spent, the run is stored unavailable and the application proceeds; the check is advisory, so refusing a model call is always safe. Every prompt change is gated by fourteen golden cases and twenty-one name-swap fairness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four covers two ADRs because they are one promise. Every submission is a frozen snapshot of the form and the document ids; the diff the officer sees is computed from two snapshots when asked, so it can never disagree with what was submitted. The resubmission path locks the row, checks that only flagged targets changed, requires at least one of them to have changed, writes the new revision, marks feedback addressed, writes the audit rows and the notifications, and commits once. Audit rows have no update or delete path in the code. The audit endpoint shows actor, role, a plain-language summary and the payload,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Branching. Two long-lived branches: main is production and only receives releases, dev is integration and deploys the development environment on every merge. Every story gets its own branch named after its id, merged with no fast-forward so each story is one visible merge commit; the merged branches are kept on the remote so the history reads branch by branch. [Click] A release is a merge of dev into main with the version bumped and tagged; CI tags the images with the same string, so the git tag, the package version and the image tag agree. A hotfix path exists from main; it was not needed in three days. Ninety-one story merges and a hundred and seventy-three work branches for seventy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CI builds the two Docker images once and pushes them to the GitHub registry with three tags: the commit, the branch, and the version on main. Railway pulls by tag and never builds, so what was tested is what runs. Two environments that share nothing. Production waits for a person, me, to approve the job in GitHub, and both environments gate on health and on the frontend naming the right API. One limit found at the release: the automatic production job is rejected by GitHub's branch policy because workflow_run executes on the default branch, so production is dispatched by hand with the same approval and gates. It is written down rather than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Seven jobs, all blocking, and the image job waits for every one of them. The AI gate is a reusable workflow called by CI: model approval, contract tests on a real database, the golden set, the adversarial cases, the fairness check, and a verdict; on the mock provider so it is deterministic. The live evaluation is a separate workflow because it costs money and needs a key: nightly and whenever the AI module or the set changes, blocking at fourteen of fourteen, each run a LangSmith experiment. One lesson from the last day: the contracts job passed falsely once because a pipe masked the exit code; every workflow now runs with pipefail and the job greps for the word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as evidence rather than adjectives. Seven hundred and forty-eight backend tests on a real PostgreSQL, a hundred and fifty-two frontend tests with coverage thresholds that fail the build, eight Playwright specs including an accessibility gate over twenty-three screen states. Validation at every boundary, one error shape everywhere, row locks and a version column, abuse limits with quotas counted where the truth lives. [Click] And the written record: a threat model with a control per threat, a readiness review with severity per row, a security review that walks four attack scenarios, and a UAT plan executed twice. Where something is accepted for a demonstration, the document says so and says what production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AI was used, honestly. Claude Code wrote most of the code and the documents, inside two instruction files that are in the repository, so the rules it followed are reviewable. I read every diff in Cursor before a commit and pushed only on an explicit yes. Output was checked by the suites, by browser checks at three widths, by subagent reviews with separate briefs, and by a strict assessor pass on the last day. The list of where it was wrong is in the README. The debrief material came from a second session with Claude Code skills for video: brag for the launch video, the HyperFrames set for composition and rendering, demo-video for the footage, and claude-video-generator for the narrated walkthrough. The diagrams in this deck were generated by ChatGPT from prompts I wrote against the code, and each was rated before use; two were rejected because they invented a CDN and an Azure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gaps first. Use case three is the largest functional gap and the first thing to schedule; the state machine already holds it. Then the worker for the AI checks, object storage with backups, and the session and edge hardening that a demonstration accepted. AI assurance has a specific list: a labelled set grown from officer overrides, a red-team suite, Project Moonshot for the Singapore evidence, calibrated confidence, in-region tracing. The admin epic is scoped on the board as v0.4.0. Delivery wants staging, replicas and image scanning. Each item has a row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technical account. Scope written before code and re-read at each close; four decisions that turn the brief's guarantees into properties of the code; a pipeline that deploys only what it tested; evidence in tests and in documents that say what is accepted and why. I am happy to open any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pitch-deck/pptx/build/cover-queue-1440.png">    </p:cNvPr>
          <p:cNvPicPr>
            <a:picLocks noChangeAspect="1"/>
          </p:cNvPicPr>
          <p:nvPr/>
        </p:nvPicPr>
        <p:blipFill>
          <a:blip r:embed="rId1">
            <a:alphaModFix amt="22000"/>
          </a:blip>
          <a:stretch>
            <a:fillRect/>
          </a:stretch>
        </p:blipFill>
        <p:spPr>
          <a:xfrm>
            <a:off x="0" y="0"/>
            <a:ext cx="12192000" cy="6667500"/>
          </a:xfrm>
          <a:prstGeom prst="rect">
            <a:avLst/>
          </a:prstGeom>
        </p:spPr>
      </p:pic>
      <p:sp>
        <p:nvSpPr>
          <p:cNvPr id="3" name="Shape 0"/>
          <p:cNvSpPr/>
          <p:nvPr/>
        </p:nvSpPr>
        <p:spPr>
          <a:xfrm>
            <a:off x="203200" y="152400"/>
            <a:ext cx="721360" cy="215900"/>
          </a:xfrm>
          <a:prstGeom prst="roundRect">
            <a:avLst>
              <a:gd name="adj" fmla="val 17647"/>
            </a:avLst>
          </a:prstGeom>
          <a:solidFill>
            <a:srgbClr val="EEF4FF"/>
          </a:solidFill>
          <a:ln w="9525">
            <a:solidFill>
              <a:srgbClr val="B2CCFA"/>
            </a:solidFill>
            <a:prstDash val="solid"/>
          </a:ln>
        </p:spPr>
      </p:sp>
      <p:sp>
        <p:nvSpPr>
          <p:cNvPr id="4" name="Text 1"/>
          <p:cNvSpPr txBox="1"/>
          <p:nvPr/>
        </p:nvSpPr>
        <p:spPr>
          <a:xfrm>
            <a:off x="203200" y="1524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Public Sans" pitchFamily="34" charset="0"/>
                <a:ea typeface="Public Sans" pitchFamily="34" charset="-122"/>
                <a:cs typeface="Public Sans" pitchFamily="34" charset="-120"/>
              </a:rPr>
              <a:t>Officer</a:t>
            </a:r>
            <a:endParaRPr lang="en-US" sz="1000" dirty="0"/>
          </a:p>
        </p:txBody>
      </p:sp>
      <p:pic>
        <p:nvPicPr>
          <p:cNvPr id="5" name="Image 1" descr="/Users/suhaasnv/Documents/Desktop ALT/portfolioprojects/permitflow/notes/pitch/pitch-deck/pptx/build/mark.png">    </p:cNvPr>
          <p:cNvPicPr>
            <a:picLocks noChangeAspect="1"/>
          </p:cNvPicPr>
          <p:nvPr/>
        </p:nvPicPr>
        <p:blipFill>
          <a:blip r:embed="rId2"/>
          <a:stretch>
            <a:fillRect/>
          </a:stretch>
        </p:blipFill>
        <p:spPr>
          <a:xfrm>
            <a:off x="762000" y="1905000"/>
            <a:ext cx="609600" cy="609600"/>
          </a:xfrm>
          <a:prstGeom prst="rect">
            <a:avLst/>
          </a:prstGeom>
        </p:spPr>
      </p:pic>
      <p:sp>
        <p:nvSpPr>
          <p:cNvPr id="6" name="Text 2"/>
          <p:cNvSpPr txBox="1"/>
          <p:nvPr/>
        </p:nvSpPr>
        <p:spPr>
          <a:xfrm>
            <a:off x="1549400" y="1905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7" name="Text 3"/>
          <p:cNvSpPr txBox="1"/>
          <p:nvPr/>
        </p:nvSpPr>
        <p:spPr>
          <a:xfrm>
            <a:off x="762000" y="2870200"/>
            <a:ext cx="8890000" cy="889000"/>
          </a:xfrm>
          <a:prstGeom prst="rect">
            <a:avLst/>
          </a:prstGeom>
          <a:noFill/>
          <a:ln/>
        </p:spPr>
        <p:txBody>
          <a:bodyPr wrap="square" lIns="0" tIns="0" rIns="0" bIns="0" rtlCol="0" anchor="t"/>
          <a:lstStyle/>
          <a:p>
            <a:pPr algn="l" indent="0" marL="0">
              <a:lnSpc>
                <a:spcPct val="108000"/>
              </a:lnSpc>
              <a:buNone/>
            </a:pPr>
            <a:r>
              <a:rPr lang="en-US" sz="4200" dirty="0">
                <a:solidFill>
                  <a:srgbClr val="FFFFFF"/>
                </a:solidFill>
                <a:latin typeface="Instrument Serif" pitchFamily="34" charset="0"/>
                <a:ea typeface="Instrument Serif" pitchFamily="34" charset="-122"/>
                <a:cs typeface="Instrument Serif" pitchFamily="34" charset="-120"/>
              </a:rPr>
              <a:t>PermitFlow: how it is built</a:t>
            </a:r>
            <a:endParaRPr lang="en-US" sz="4200" dirty="0"/>
          </a:p>
        </p:txBody>
      </p:sp>
      <p:sp>
        <p:nvSpPr>
          <p:cNvPr id="8" name="Text 4"/>
          <p:cNvSpPr txBox="1"/>
          <p:nvPr/>
        </p:nvSpPr>
        <p:spPr>
          <a:xfrm>
            <a:off x="762000" y="3937000"/>
            <a:ext cx="8255000" cy="952500"/>
          </a:xfrm>
          <a:prstGeom prst="rect">
            <a:avLst/>
          </a:prstGeom>
          <a:noFill/>
          <a:ln/>
        </p:spPr>
        <p:txBody>
          <a:bodyPr wrap="square" lIns="0" tIns="0" rIns="0" bIns="0" rtlCol="0" anchor="t"/>
          <a:lstStyle/>
          <a:p>
            <a:pPr algn="l" indent="0" marL="0">
              <a:lnSpc>
                <a:spcPct val="130000"/>
              </a:lnSpc>
              <a:buNone/>
            </a:pPr>
            <a:r>
              <a:rPr lang="en-US" sz="1500" dirty="0">
                <a:solidFill>
                  <a:srgbClr val="C5CBD4"/>
                </a:solidFill>
                <a:latin typeface="Public Sans" pitchFamily="34" charset="0"/>
                <a:ea typeface="Public Sans" pitchFamily="34" charset="-122"/>
                <a:cs typeface="Public Sans" pitchFamily="34" charset="-120"/>
              </a:rPr>
              <a:t>Scope, architecture, the decisions that make the brief's guarantees true, the pipeline, the evidence, and the gaps. Every claim names its file.</a:t>
            </a:r>
            <a:endParaRPr lang="en-US" sz="1500" dirty="0"/>
          </a:p>
        </p:txBody>
      </p:sp>
      <p:sp>
        <p:nvSpPr>
          <p:cNvPr id="9" name="Text 5"/>
          <p:cNvSpPr txBox="1"/>
          <p:nvPr/>
        </p:nvSpPr>
        <p:spPr>
          <a:xfrm>
            <a:off x="762000" y="6096000"/>
            <a:ext cx="7620000" cy="25400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Public Sans" pitchFamily="34" charset="0"/>
                <a:ea typeface="Public Sans" pitchFamily="34" charset="-122"/>
                <a:cs typeface="Public Sans" pitchFamily="34" charset="-120"/>
              </a:rPr>
              <a:t>Technical debrief</a:t>
            </a:r>
            <a:pPr algn="l"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 · Full Stack Developer Assessment · Xtremax, Singapore · September 2026</a:t>
            </a:r>
            <a:endParaRPr lang="en-US" sz="1100" dirty="0"/>
          </a:p>
        </p:txBody>
      </p:sp>
      <p:sp>
        <p:nvSpPr>
          <p:cNvPr id="10" name="Text 6"/>
          <p:cNvSpPr txBox="1"/>
          <p:nvPr/>
        </p:nvSpPr>
        <p:spPr>
          <a:xfrm>
            <a:off x="6985000" y="6096000"/>
            <a:ext cx="4445000" cy="254000"/>
          </a:xfrm>
          <a:prstGeom prst="rect">
            <a:avLst/>
          </a:prstGeom>
          <a:noFill/>
          <a:ln/>
        </p:spPr>
        <p:txBody>
          <a:bodyPr wrap="square" lIns="0" tIns="0" rIns="0" bIns="0" rtlCol="0" anchor="t"/>
          <a:lstStyle/>
          <a:p>
            <a:pPr algn="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v0.3.0 · permitflow.space · github.com/SuhaasNv/permitflow</a:t>
            </a:r>
            <a:endParaRPr lang="en-US" sz="110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THE BRIEF, DECODED</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Three use cases, one status table, five things being evaluated.</a:t>
            </a:r>
            <a:endParaRPr lang="en-US" sz="2400" dirty="0"/>
          </a:p>
        </p:txBody>
      </p:sp>
      <p:sp>
        <p:nvSpPr>
          <p:cNvPr id="4" name="Shape 2"/>
          <p:cNvSpPr/>
          <p:nvPr/>
        </p:nvSpPr>
        <p:spPr>
          <a:xfrm>
            <a:off x="762000" y="1905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UC1</a:t>
            </a:r>
            <a:endParaRPr lang="en-US" sz="1100" dirty="0"/>
          </a:p>
        </p:txBody>
      </p:sp>
      <p:sp>
        <p:nvSpPr>
          <p:cNvPr id="6" name="Text 4"/>
          <p:cNvSpPr txBox="1"/>
          <p:nvPr/>
        </p:nvSpPr>
        <p:spPr>
          <a:xfrm>
            <a:off x="1473200" y="2032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Operator submission and resubmission</a:t>
            </a:r>
            <a:endParaRPr lang="en-US" sz="1250" dirty="0"/>
          </a:p>
        </p:txBody>
      </p:sp>
      <p:sp>
        <p:nvSpPr>
          <p:cNvPr id="7" name="Shape 5"/>
          <p:cNvSpPr/>
          <p:nvPr/>
        </p:nvSpPr>
        <p:spPr>
          <a:xfrm>
            <a:off x="6324600" y="2032000"/>
            <a:ext cx="664210" cy="203200"/>
          </a:xfrm>
          <a:prstGeom prst="roundRect">
            <a:avLst>
              <a:gd name="adj" fmla="val 18750"/>
            </a:avLst>
          </a:prstGeom>
          <a:solidFill>
            <a:srgbClr val="ECFDF3"/>
          </a:solidFill>
          <a:ln w="9525">
            <a:solidFill>
              <a:srgbClr val="A6E9C4"/>
            </a:solidFill>
            <a:prstDash val="solid"/>
          </a:ln>
        </p:spPr>
      </p:sp>
      <p:sp>
        <p:nvSpPr>
          <p:cNvPr id="8" name="Shape 6"/>
          <p:cNvSpPr/>
          <p:nvPr/>
        </p:nvSpPr>
        <p:spPr>
          <a:xfrm>
            <a:off x="6413500" y="2105025"/>
            <a:ext cx="57150" cy="57150"/>
          </a:xfrm>
          <a:prstGeom prst="ellipse">
            <a:avLst/>
          </a:prstGeom>
          <a:solidFill>
            <a:srgbClr val="067647"/>
          </a:solidFill>
          <a:ln w="12700">
            <a:solidFill>
              <a:srgbClr val="067647"/>
            </a:solidFill>
            <a:prstDash val="solid"/>
          </a:ln>
        </p:spPr>
      </p:sp>
      <p:sp>
        <p:nvSpPr>
          <p:cNvPr id="9" name="Text 7"/>
          <p:cNvSpPr txBox="1"/>
          <p:nvPr/>
        </p:nvSpPr>
        <p:spPr>
          <a:xfrm>
            <a:off x="6534150" y="20320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0" name="Text 8"/>
          <p:cNvSpPr txBox="1"/>
          <p:nvPr/>
        </p:nvSpPr>
        <p:spPr>
          <a:xfrm>
            <a:off x="939800" y="2324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Form with sections, drag-and-drop uploads, live AI status per document, progress, feedback on top, edit only flagged parts, unlimited rounds, history.</a:t>
            </a:r>
            <a:endParaRPr lang="en-US" sz="950" dirty="0"/>
          </a:p>
        </p:txBody>
      </p:sp>
      <p:sp>
        <p:nvSpPr>
          <p:cNvPr id="11" name="Shape 9"/>
          <p:cNvSpPr/>
          <p:nvPr/>
        </p:nvSpPr>
        <p:spPr>
          <a:xfrm>
            <a:off x="762000" y="31115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2" name="Text 10"/>
          <p:cNvSpPr txBox="1"/>
          <p:nvPr/>
        </p:nvSpPr>
        <p:spPr>
          <a:xfrm>
            <a:off x="939800" y="32512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UC2</a:t>
            </a:r>
            <a:endParaRPr lang="en-US" sz="1100" dirty="0"/>
          </a:p>
        </p:txBody>
      </p:sp>
      <p:sp>
        <p:nvSpPr>
          <p:cNvPr id="13" name="Text 11"/>
          <p:cNvSpPr txBox="1"/>
          <p:nvPr/>
        </p:nvSpPr>
        <p:spPr>
          <a:xfrm>
            <a:off x="1473200" y="32385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Officer review and feedback</a:t>
            </a:r>
            <a:endParaRPr lang="en-US" sz="1250" dirty="0"/>
          </a:p>
        </p:txBody>
      </p:sp>
      <p:sp>
        <p:nvSpPr>
          <p:cNvPr id="14" name="Shape 12"/>
          <p:cNvSpPr/>
          <p:nvPr/>
        </p:nvSpPr>
        <p:spPr>
          <a:xfrm>
            <a:off x="6324600" y="3238500"/>
            <a:ext cx="664210" cy="203200"/>
          </a:xfrm>
          <a:prstGeom prst="roundRect">
            <a:avLst>
              <a:gd name="adj" fmla="val 18750"/>
            </a:avLst>
          </a:prstGeom>
          <a:solidFill>
            <a:srgbClr val="ECFDF3"/>
          </a:solidFill>
          <a:ln w="9525">
            <a:solidFill>
              <a:srgbClr val="A6E9C4"/>
            </a:solidFill>
            <a:prstDash val="solid"/>
          </a:ln>
        </p:spPr>
      </p:sp>
      <p:sp>
        <p:nvSpPr>
          <p:cNvPr id="15" name="Shape 13"/>
          <p:cNvSpPr/>
          <p:nvPr/>
        </p:nvSpPr>
        <p:spPr>
          <a:xfrm>
            <a:off x="6413500" y="3311525"/>
            <a:ext cx="57150" cy="57150"/>
          </a:xfrm>
          <a:prstGeom prst="ellipse">
            <a:avLst/>
          </a:prstGeom>
          <a:solidFill>
            <a:srgbClr val="067647"/>
          </a:solidFill>
          <a:ln w="12700">
            <a:solidFill>
              <a:srgbClr val="067647"/>
            </a:solidFill>
            <a:prstDash val="solid"/>
          </a:ln>
        </p:spPr>
      </p:sp>
      <p:sp>
        <p:nvSpPr>
          <p:cNvPr id="16" name="Text 14"/>
          <p:cNvSpPr txBox="1"/>
          <p:nvPr/>
        </p:nvSpPr>
        <p:spPr>
          <a:xfrm>
            <a:off x="6534150" y="32385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7" name="Text 15"/>
          <p:cNvSpPr txBox="1"/>
          <p:nvPr/>
        </p:nvSpPr>
        <p:spPr>
          <a:xfrm>
            <a:off x="939800" y="35306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Full submission, AI results, contextual feedback with templates, status change notifies, changed sections highlighted, compare revisions, resolution tracked, audit trail.</a:t>
            </a:r>
            <a:endParaRPr lang="en-US" sz="950" dirty="0"/>
          </a:p>
        </p:txBody>
      </p:sp>
      <p:sp>
        <p:nvSpPr>
          <p:cNvPr id="18" name="Shape 16"/>
          <p:cNvSpPr/>
          <p:nvPr/>
        </p:nvSpPr>
        <p:spPr>
          <a:xfrm>
            <a:off x="762000" y="4318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9" name="Text 17"/>
          <p:cNvSpPr txBox="1"/>
          <p:nvPr/>
        </p:nvSpPr>
        <p:spPr>
          <a:xfrm>
            <a:off x="939800" y="4457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UC3</a:t>
            </a:r>
            <a:endParaRPr lang="en-US" sz="1100" dirty="0"/>
          </a:p>
        </p:txBody>
      </p:sp>
      <p:sp>
        <p:nvSpPr>
          <p:cNvPr id="20" name="Text 18"/>
          <p:cNvSpPr txBox="1"/>
          <p:nvPr/>
        </p:nvSpPr>
        <p:spPr>
          <a:xfrm>
            <a:off x="1473200" y="4445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On-site assessment and post-site clarification</a:t>
            </a:r>
            <a:endParaRPr lang="en-US" sz="1250" dirty="0"/>
          </a:p>
        </p:txBody>
      </p:sp>
      <p:sp>
        <p:nvSpPr>
          <p:cNvPr id="21" name="Shape 19"/>
          <p:cNvSpPr/>
          <p:nvPr/>
        </p:nvSpPr>
        <p:spPr>
          <a:xfrm>
            <a:off x="6184900" y="4445000"/>
            <a:ext cx="883666" cy="203200"/>
          </a:xfrm>
          <a:prstGeom prst="roundRect">
            <a:avLst>
              <a:gd name="adj" fmla="val 18750"/>
            </a:avLst>
          </a:prstGeom>
          <a:solidFill>
            <a:srgbClr val="FFF6E5"/>
          </a:solidFill>
          <a:ln w="9525">
            <a:solidFill>
              <a:srgbClr val="F5CF86"/>
            </a:solidFill>
            <a:prstDash val="solid"/>
          </a:ln>
        </p:spPr>
      </p:sp>
      <p:sp>
        <p:nvSpPr>
          <p:cNvPr id="22" name="Shape 20"/>
          <p:cNvSpPr/>
          <p:nvPr/>
        </p:nvSpPr>
        <p:spPr>
          <a:xfrm>
            <a:off x="6273800" y="4518025"/>
            <a:ext cx="57150" cy="57150"/>
          </a:xfrm>
          <a:prstGeom prst="ellipse">
            <a:avLst/>
          </a:prstGeom>
          <a:solidFill>
            <a:srgbClr val="9A4A00"/>
          </a:solidFill>
          <a:ln w="12700">
            <a:solidFill>
              <a:srgbClr val="9A4A00"/>
            </a:solidFill>
            <a:prstDash val="solid"/>
          </a:ln>
        </p:spPr>
      </p:sp>
      <p:sp>
        <p:nvSpPr>
          <p:cNvPr id="23" name="Text 21"/>
          <p:cNvSpPr txBox="1"/>
          <p:nvPr/>
        </p:nvSpPr>
        <p:spPr>
          <a:xfrm>
            <a:off x="6394450" y="4445000"/>
            <a:ext cx="674116" cy="203200"/>
          </a:xfrm>
          <a:prstGeom prst="rect">
            <a:avLst/>
          </a:prstGeom>
          <a:noFill/>
          <a:ln/>
        </p:spPr>
        <p:txBody>
          <a:bodyPr wrap="none" lIns="0" tIns="0" rIns="0" bIns="0" rtlCol="0" anchor="ctr"/>
          <a:lstStyle/>
          <a:p>
            <a:pPr algn="l" indent="0" marL="0">
              <a:lnSpc>
                <a:spcPct val="115000"/>
              </a:lnSpc>
              <a:buNone/>
            </a:pPr>
            <a:r>
              <a:rPr lang="en-US" sz="900" b="1" dirty="0">
                <a:solidFill>
                  <a:srgbClr val="9A4A00"/>
                </a:solidFill>
                <a:latin typeface="Public Sans" pitchFamily="34" charset="0"/>
                <a:ea typeface="Public Sans" pitchFamily="34" charset="-122"/>
                <a:cs typeface="Public Sans" pitchFamily="34" charset="-120"/>
              </a:rPr>
              <a:t>Deferred</a:t>
            </a:r>
            <a:endParaRPr lang="en-US" sz="900" dirty="0"/>
          </a:p>
        </p:txBody>
      </p:sp>
      <p:sp>
        <p:nvSpPr>
          <p:cNvPr id="24" name="Text 22"/>
          <p:cNvSpPr txBox="1"/>
          <p:nvPr/>
        </p:nvSpPr>
        <p:spPr>
          <a:xfrm>
            <a:off x="939800" y="4737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three post-site statuses and their transitions exist and are tested; the checklist model and screens are not built. Recorded in SCOPE.md with what production needs.</a:t>
            </a:r>
            <a:endParaRPr lang="en-US" sz="950" dirty="0"/>
          </a:p>
        </p:txBody>
      </p:sp>
      <p:sp>
        <p:nvSpPr>
          <p:cNvPr id="25" name="Shape 23"/>
          <p:cNvSpPr/>
          <p:nvPr/>
        </p:nvSpPr>
        <p:spPr>
          <a:xfrm>
            <a:off x="7493000" y="1905000"/>
            <a:ext cx="3937000" cy="952500"/>
          </a:xfrm>
          <a:prstGeom prst="roundRect">
            <a:avLst>
              <a:gd name="adj" fmla="val 4000"/>
            </a:avLst>
          </a:prstGeom>
          <a:solidFill>
            <a:srgbClr val="1B2430"/>
          </a:solidFill>
          <a:ln w="12700">
            <a:solidFill>
              <a:srgbClr val="1B2430"/>
            </a:solidFill>
            <a:prstDash val="solid"/>
          </a:ln>
        </p:spPr>
      </p:sp>
      <p:sp>
        <p:nvSpPr>
          <p:cNvPr id="26" name="Text 24"/>
          <p:cNvSpPr txBox="1"/>
          <p:nvPr/>
        </p:nvSpPr>
        <p:spPr>
          <a:xfrm>
            <a:off x="7658100" y="20320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STATUS TABLE</a:t>
            </a:r>
            <a:endParaRPr lang="en-US" sz="900" dirty="0"/>
          </a:p>
        </p:txBody>
      </p:sp>
      <p:sp>
        <p:nvSpPr>
          <p:cNvPr id="27" name="Text 25"/>
          <p:cNvSpPr txBox="1"/>
          <p:nvPr/>
        </p:nvSpPr>
        <p:spPr>
          <a:xfrm>
            <a:off x="7658100" y="2222500"/>
            <a:ext cx="3606800" cy="609600"/>
          </a:xfrm>
          <a:prstGeom prst="rect">
            <a:avLst/>
          </a:prstGeom>
          <a:noFill/>
          <a:ln/>
        </p:spPr>
        <p:txBody>
          <a:bodyPr wrap="square" lIns="0" tIns="0" rIns="0" bIns="0" rtlCol="0" anchor="t"/>
          <a:lstStyle/>
          <a:p>
            <a:pPr algn="l" indent="0" marL="0">
              <a:lnSpc>
                <a:spcPct val="125000"/>
              </a:lnSpc>
              <a:buNone/>
            </a:pPr>
            <a:r>
              <a:rPr lang="en-US" sz="900" dirty="0">
                <a:solidFill>
                  <a:srgbClr val="C5CBD4"/>
                </a:solidFill>
                <a:latin typeface="Public Sans" pitchFamily="34" charset="0"/>
                <a:ea typeface="Public Sans" pitchFamily="34" charset="-122"/>
                <a:cs typeface="Public Sans" pitchFamily="34" charset="-120"/>
              </a:rPr>
              <a:t>Status table: 12 internal statuses with a different label per role. Implemented as data in domain/labels.py, verbatim from the brief, plus draft and withdrawn as written assumptions.</a:t>
            </a:r>
            <a:endParaRPr lang="en-US" sz="900" dirty="0"/>
          </a:p>
        </p:txBody>
      </p:sp>
      <p:sp>
        <p:nvSpPr>
          <p:cNvPr id="28" name="b1"/>
          <p:cNvSpPr txBox="1"/>
          <p:nvPr/>
        </p:nvSpPr>
        <p:spPr>
          <a:xfrm>
            <a:off x="7493000" y="3022600"/>
            <a:ext cx="3937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WHAT IS EVALUATED, AND WHERE IT IS IN THIS DECK</a:t>
            </a:r>
            <a:endParaRPr lang="en-US" sz="900" dirty="0"/>
          </a:p>
        </p:txBody>
      </p:sp>
      <p:sp>
        <p:nvSpPr>
          <p:cNvPr id="29" name="b1"/>
          <p:cNvSpPr/>
          <p:nvPr/>
        </p:nvSpPr>
        <p:spPr>
          <a:xfrm>
            <a:off x="7493000" y="3238500"/>
            <a:ext cx="3937000" cy="0"/>
          </a:xfrm>
          <a:prstGeom prst="line">
            <a:avLst/>
          </a:prstGeom>
          <a:noFill/>
          <a:ln w="9525">
            <a:solidFill>
              <a:srgbClr val="DDE1E7"/>
            </a:solidFill>
            <a:prstDash val="solid"/>
          </a:ln>
        </p:spPr>
      </p:sp>
      <p:sp>
        <p:nvSpPr>
          <p:cNvPr id="30" name="b1"/>
          <p:cNvSpPr txBox="1"/>
          <p:nvPr/>
        </p:nvSpPr>
        <p:spPr>
          <a:xfrm>
            <a:off x="7493000" y="33020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Scope judgement</a:t>
            </a:r>
            <a:endParaRPr lang="en-US" sz="1050" dirty="0"/>
          </a:p>
        </p:txBody>
      </p:sp>
      <p:sp>
        <p:nvSpPr>
          <p:cNvPr id="31" name="b1"/>
          <p:cNvSpPr txBox="1"/>
          <p:nvPr/>
        </p:nvSpPr>
        <p:spPr>
          <a:xfrm>
            <a:off x="9080500" y="33020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3 to 5</a:t>
            </a:r>
            <a:endParaRPr lang="en-US" sz="900" dirty="0"/>
          </a:p>
        </p:txBody>
      </p:sp>
      <p:sp>
        <p:nvSpPr>
          <p:cNvPr id="32" name="b1"/>
          <p:cNvSpPr/>
          <p:nvPr/>
        </p:nvSpPr>
        <p:spPr>
          <a:xfrm>
            <a:off x="7493000" y="3708400"/>
            <a:ext cx="3937000" cy="0"/>
          </a:xfrm>
          <a:prstGeom prst="line">
            <a:avLst/>
          </a:prstGeom>
          <a:noFill/>
          <a:ln w="9525">
            <a:solidFill>
              <a:srgbClr val="DDE1E7"/>
            </a:solidFill>
            <a:prstDash val="solid"/>
          </a:ln>
        </p:spPr>
      </p:sp>
      <p:sp>
        <p:nvSpPr>
          <p:cNvPr id="33" name="b1"/>
          <p:cNvSpPr txBox="1"/>
          <p:nvPr/>
        </p:nvSpPr>
        <p:spPr>
          <a:xfrm>
            <a:off x="7493000" y="37719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Production readiness</a:t>
            </a:r>
            <a:endParaRPr lang="en-US" sz="1050" dirty="0"/>
          </a:p>
        </p:txBody>
      </p:sp>
      <p:sp>
        <p:nvSpPr>
          <p:cNvPr id="34" name="b1"/>
          <p:cNvSpPr txBox="1"/>
          <p:nvPr/>
        </p:nvSpPr>
        <p:spPr>
          <a:xfrm>
            <a:off x="9080500" y="37719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11 to 14</a:t>
            </a:r>
            <a:endParaRPr lang="en-US" sz="900" dirty="0"/>
          </a:p>
        </p:txBody>
      </p:sp>
      <p:sp>
        <p:nvSpPr>
          <p:cNvPr id="35" name="b1"/>
          <p:cNvSpPr/>
          <p:nvPr/>
        </p:nvSpPr>
        <p:spPr>
          <a:xfrm>
            <a:off x="7493000" y="4178300"/>
            <a:ext cx="3937000" cy="0"/>
          </a:xfrm>
          <a:prstGeom prst="line">
            <a:avLst/>
          </a:prstGeom>
          <a:noFill/>
          <a:ln w="9525">
            <a:solidFill>
              <a:srgbClr val="DDE1E7"/>
            </a:solidFill>
            <a:prstDash val="solid"/>
          </a:ln>
        </p:spPr>
      </p:sp>
      <p:sp>
        <p:nvSpPr>
          <p:cNvPr id="36" name="b1"/>
          <p:cNvSpPr txBox="1"/>
          <p:nvPr/>
        </p:nvSpPr>
        <p:spPr>
          <a:xfrm>
            <a:off x="7493000" y="42418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AI tool usage</a:t>
            </a:r>
            <a:endParaRPr lang="en-US" sz="1050" dirty="0"/>
          </a:p>
        </p:txBody>
      </p:sp>
      <p:sp>
        <p:nvSpPr>
          <p:cNvPr id="37" name="b1"/>
          <p:cNvSpPr txBox="1"/>
          <p:nvPr/>
        </p:nvSpPr>
        <p:spPr>
          <a:xfrm>
            <a:off x="9080500" y="42418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 15</a:t>
            </a:r>
            <a:endParaRPr lang="en-US" sz="900" dirty="0"/>
          </a:p>
        </p:txBody>
      </p:sp>
      <p:sp>
        <p:nvSpPr>
          <p:cNvPr id="38" name="b1"/>
          <p:cNvSpPr/>
          <p:nvPr/>
        </p:nvSpPr>
        <p:spPr>
          <a:xfrm>
            <a:off x="7493000" y="4648200"/>
            <a:ext cx="3937000" cy="0"/>
          </a:xfrm>
          <a:prstGeom prst="line">
            <a:avLst/>
          </a:prstGeom>
          <a:noFill/>
          <a:ln w="9525">
            <a:solidFill>
              <a:srgbClr val="DDE1E7"/>
            </a:solidFill>
            <a:prstDash val="solid"/>
          </a:ln>
        </p:spPr>
      </p:sp>
      <p:sp>
        <p:nvSpPr>
          <p:cNvPr id="39" name="b1"/>
          <p:cNvSpPr txBox="1"/>
          <p:nvPr/>
        </p:nvSpPr>
        <p:spPr>
          <a:xfrm>
            <a:off x="7493000" y="47117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Code quality</a:t>
            </a:r>
            <a:endParaRPr lang="en-US" sz="1050" dirty="0"/>
          </a:p>
        </p:txBody>
      </p:sp>
      <p:sp>
        <p:nvSpPr>
          <p:cNvPr id="40" name="b1"/>
          <p:cNvSpPr txBox="1"/>
          <p:nvPr/>
        </p:nvSpPr>
        <p:spPr>
          <a:xfrm>
            <a:off x="9080500" y="47117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6 to 10</a:t>
            </a:r>
            <a:endParaRPr lang="en-US" sz="900" dirty="0"/>
          </a:p>
        </p:txBody>
      </p:sp>
      <p:sp>
        <p:nvSpPr>
          <p:cNvPr id="41" name="b1"/>
          <p:cNvSpPr/>
          <p:nvPr/>
        </p:nvSpPr>
        <p:spPr>
          <a:xfrm>
            <a:off x="7493000" y="5118100"/>
            <a:ext cx="3937000" cy="0"/>
          </a:xfrm>
          <a:prstGeom prst="line">
            <a:avLst/>
          </a:prstGeom>
          <a:noFill/>
          <a:ln w="9525">
            <a:solidFill>
              <a:srgbClr val="DDE1E7"/>
            </a:solidFill>
            <a:prstDash val="solid"/>
          </a:ln>
        </p:spPr>
      </p:sp>
      <p:sp>
        <p:nvSpPr>
          <p:cNvPr id="42" name="b1"/>
          <p:cNvSpPr txBox="1"/>
          <p:nvPr/>
        </p:nvSpPr>
        <p:spPr>
          <a:xfrm>
            <a:off x="7493000" y="51816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Documentation</a:t>
            </a:r>
            <a:endParaRPr lang="en-US" sz="1050" dirty="0"/>
          </a:p>
        </p:txBody>
      </p:sp>
      <p:sp>
        <p:nvSpPr>
          <p:cNvPr id="43" name="b1"/>
          <p:cNvSpPr txBox="1"/>
          <p:nvPr/>
        </p:nvSpPr>
        <p:spPr>
          <a:xfrm>
            <a:off x="9080500" y="5181600"/>
            <a:ext cx="2349500" cy="8636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docs/README.md is the index; docs/reviews/ASSESSMENT_TRACEABILITY.md maps every brief line to code, test and evidence</a:t>
            </a:r>
            <a:endParaRPr lang="en-US" sz="900" dirty="0"/>
          </a:p>
        </p:txBody>
      </p:sp>
      <p:sp>
        <p:nvSpPr>
          <p:cNvPr id="44" name="Text 4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02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320"/>
                                        <p:tgtEl>
                                          <p:spTgt spid="40"/>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320"/>
                                        <p:tgtEl>
                                          <p:spTgt spid="41"/>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320"/>
                                        <p:tgtEl>
                                          <p:spTgt spid="42"/>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3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SCOPE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One polished, tested, deployed vertical slice. Everything else written down with what production would need.</a:t>
            </a:r>
            <a:endParaRPr lang="en-US" sz="2200" dirty="0"/>
          </a:p>
        </p:txBody>
      </p:sp>
      <p:sp>
        <p:nvSpPr>
          <p:cNvPr id="4" name="Shape 2"/>
          <p:cNvSpPr/>
          <p:nvPr/>
        </p:nvSpPr>
        <p:spPr>
          <a:xfrm>
            <a:off x="7620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Shape 3"/>
          <p:cNvSpPr/>
          <p:nvPr/>
        </p:nvSpPr>
        <p:spPr>
          <a:xfrm>
            <a:off x="920750" y="2082800"/>
            <a:ext cx="63500" cy="63500"/>
          </a:xfrm>
          <a:prstGeom prst="ellipse">
            <a:avLst/>
          </a:prstGeom>
          <a:solidFill>
            <a:srgbClr val="067647"/>
          </a:solidFill>
          <a:ln w="12700">
            <a:solidFill>
              <a:srgbClr val="067647"/>
            </a:solidFill>
            <a:prstDash val="solid"/>
          </a:ln>
        </p:spPr>
      </p:sp>
      <p:sp>
        <p:nvSpPr>
          <p:cNvPr id="6" name="Text 4"/>
          <p:cNvSpPr txBox="1"/>
          <p:nvPr/>
        </p:nvSpPr>
        <p:spPr>
          <a:xfrm>
            <a:off x="10541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MUST</a:t>
            </a:r>
            <a:endParaRPr lang="en-US" sz="1100" dirty="0"/>
          </a:p>
        </p:txBody>
      </p:sp>
      <p:sp>
        <p:nvSpPr>
          <p:cNvPr id="7" name="Text 5"/>
          <p:cNvSpPr txBox="1"/>
          <p:nvPr/>
        </p:nvSpPr>
        <p:spPr>
          <a:xfrm>
            <a:off x="9271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067647"/>
                </a:solidFill>
                <a:latin typeface="Public Sans" pitchFamily="34" charset="0"/>
                <a:ea typeface="Public Sans" pitchFamily="34" charset="-122"/>
                <a:cs typeface="Public Sans" pitchFamily="34" charset="-120"/>
              </a:rPr>
              <a:t>20 of 20 built</a:t>
            </a:r>
            <a:endParaRPr lang="en-US" sz="950" dirty="0"/>
          </a:p>
        </p:txBody>
      </p:sp>
      <p:sp>
        <p:nvSpPr>
          <p:cNvPr id="8" name="Shape 6"/>
          <p:cNvSpPr/>
          <p:nvPr/>
        </p:nvSpPr>
        <p:spPr>
          <a:xfrm>
            <a:off x="927100" y="2514600"/>
            <a:ext cx="2222500" cy="0"/>
          </a:xfrm>
          <a:prstGeom prst="line">
            <a:avLst/>
          </a:prstGeom>
          <a:noFill/>
          <a:ln w="9525">
            <a:solidFill>
              <a:srgbClr val="DDE1E7"/>
            </a:solidFill>
            <a:prstDash val="solid"/>
          </a:ln>
        </p:spPr>
      </p:sp>
      <p:sp>
        <p:nvSpPr>
          <p:cNvPr id="9" name="Text 7"/>
          <p:cNvSpPr txBox="1"/>
          <p:nvPr/>
        </p:nvSpPr>
        <p:spPr>
          <a:xfrm>
            <a:off x="9271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Form, uploads with allowlist, magic bytes and 10 MB</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AI check per document with live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Explicit state machine, 14 statuses, role labels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Feedback tied to a section or document, templates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Targeted resubmission, immutable revisions, compare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Audit trail, in-app notifications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Server-side authorization, error envelope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Tests per layer, CI, Railway, README, SCOPE.md</a:t>
            </a:r>
            <a:endParaRPr lang="en-US" sz="900" dirty="0"/>
          </a:p>
        </p:txBody>
      </p:sp>
      <p:sp>
        <p:nvSpPr>
          <p:cNvPr id="10" name="Shape 8"/>
          <p:cNvSpPr/>
          <p:nvPr/>
        </p:nvSpPr>
        <p:spPr>
          <a:xfrm>
            <a:off x="34671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1" name="Shape 9"/>
          <p:cNvSpPr/>
          <p:nvPr/>
        </p:nvSpPr>
        <p:spPr>
          <a:xfrm>
            <a:off x="3625850" y="2082800"/>
            <a:ext cx="63500" cy="63500"/>
          </a:xfrm>
          <a:prstGeom prst="ellipse">
            <a:avLst/>
          </a:prstGeom>
          <a:solidFill>
            <a:srgbClr val="175CD3"/>
          </a:solidFill>
          <a:ln w="12700">
            <a:solidFill>
              <a:srgbClr val="175CD3"/>
            </a:solidFill>
            <a:prstDash val="solid"/>
          </a:ln>
        </p:spPr>
      </p:sp>
      <p:sp>
        <p:nvSpPr>
          <p:cNvPr id="12" name="Text 10"/>
          <p:cNvSpPr txBox="1"/>
          <p:nvPr/>
        </p:nvSpPr>
        <p:spPr>
          <a:xfrm>
            <a:off x="37592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SHOULD</a:t>
            </a:r>
            <a:endParaRPr lang="en-US" sz="1100" dirty="0"/>
          </a:p>
        </p:txBody>
      </p:sp>
      <p:sp>
        <p:nvSpPr>
          <p:cNvPr id="13" name="Text 11"/>
          <p:cNvSpPr txBox="1"/>
          <p:nvPr/>
        </p:nvSpPr>
        <p:spPr>
          <a:xfrm>
            <a:off x="36322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175CD3"/>
                </a:solidFill>
                <a:latin typeface="Public Sans" pitchFamily="34" charset="0"/>
                <a:ea typeface="Public Sans" pitchFamily="34" charset="-122"/>
                <a:cs typeface="Public Sans" pitchFamily="34" charset="-120"/>
              </a:rPr>
              <a:t>6 of 7 done</a:t>
            </a:r>
            <a:endParaRPr lang="en-US" sz="950" dirty="0"/>
          </a:p>
        </p:txBody>
      </p:sp>
      <p:sp>
        <p:nvSpPr>
          <p:cNvPr id="14" name="Shape 12"/>
          <p:cNvSpPr/>
          <p:nvPr/>
        </p:nvSpPr>
        <p:spPr>
          <a:xfrm>
            <a:off x="3632200" y="2514600"/>
            <a:ext cx="2222500" cy="0"/>
          </a:xfrm>
          <a:prstGeom prst="line">
            <a:avLst/>
          </a:prstGeom>
          <a:noFill/>
          <a:ln w="9525">
            <a:solidFill>
              <a:srgbClr val="DDE1E7"/>
            </a:solidFill>
            <a:prstDash val="solid"/>
          </a:ln>
        </p:spPr>
      </p:sp>
      <p:sp>
        <p:nvSpPr>
          <p:cNvPr id="15" name="Text 13"/>
          <p:cNvSpPr txBox="1"/>
          <p:nvPr/>
        </p:nvSpPr>
        <p:spPr>
          <a:xfrm>
            <a:off x="36322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Queue groups and search</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Re-run a check (operator and officer)</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Delete a document while in draft</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Compare any two revisions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Evaluation set: 14 cases, mock gate, live nightly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Request logging with request id</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S7 admin persona: deferred to v0.4.0</a:t>
            </a:r>
            <a:endParaRPr lang="en-US" sz="900" dirty="0"/>
          </a:p>
        </p:txBody>
      </p:sp>
      <p:sp>
        <p:nvSpPr>
          <p:cNvPr id="16" name="Shape 14"/>
          <p:cNvSpPr/>
          <p:nvPr/>
        </p:nvSpPr>
        <p:spPr>
          <a:xfrm>
            <a:off x="61722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7" name="Shape 15"/>
          <p:cNvSpPr/>
          <p:nvPr/>
        </p:nvSpPr>
        <p:spPr>
          <a:xfrm>
            <a:off x="6330950" y="2082800"/>
            <a:ext cx="63500" cy="63500"/>
          </a:xfrm>
          <a:prstGeom prst="ellipse">
            <a:avLst/>
          </a:prstGeom>
          <a:solidFill>
            <a:srgbClr val="9A4A00"/>
          </a:solidFill>
          <a:ln w="12700">
            <a:solidFill>
              <a:srgbClr val="9A4A00"/>
            </a:solidFill>
            <a:prstDash val="solid"/>
          </a:ln>
        </p:spPr>
      </p:sp>
      <p:sp>
        <p:nvSpPr>
          <p:cNvPr id="18" name="Text 16"/>
          <p:cNvSpPr txBox="1"/>
          <p:nvPr/>
        </p:nvSpPr>
        <p:spPr>
          <a:xfrm>
            <a:off x="64643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COULD</a:t>
            </a:r>
            <a:endParaRPr lang="en-US" sz="1100" dirty="0"/>
          </a:p>
        </p:txBody>
      </p:sp>
      <p:sp>
        <p:nvSpPr>
          <p:cNvPr id="19" name="Text 17"/>
          <p:cNvSpPr txBox="1"/>
          <p:nvPr/>
        </p:nvSpPr>
        <p:spPr>
          <a:xfrm>
            <a:off x="63373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9A4A00"/>
                </a:solidFill>
                <a:latin typeface="Public Sans" pitchFamily="34" charset="0"/>
                <a:ea typeface="Public Sans" pitchFamily="34" charset="-122"/>
                <a:cs typeface="Public Sans" pitchFamily="34" charset="-120"/>
              </a:rPr>
              <a:t>5 of 8 done</a:t>
            </a:r>
            <a:endParaRPr lang="en-US" sz="950" dirty="0"/>
          </a:p>
        </p:txBody>
      </p:sp>
      <p:sp>
        <p:nvSpPr>
          <p:cNvPr id="20" name="Shape 18"/>
          <p:cNvSpPr/>
          <p:nvPr/>
        </p:nvSpPr>
        <p:spPr>
          <a:xfrm>
            <a:off x="6337300" y="2514600"/>
            <a:ext cx="2222500" cy="0"/>
          </a:xfrm>
          <a:prstGeom prst="line">
            <a:avLst/>
          </a:prstGeom>
          <a:noFill/>
          <a:ln w="9525">
            <a:solidFill>
              <a:srgbClr val="DDE1E7"/>
            </a:solidFill>
            <a:prstDash val="solid"/>
          </a:ln>
        </p:spPr>
      </p:sp>
      <p:sp>
        <p:nvSpPr>
          <p:cNvPr id="21" name="Text 19"/>
          <p:cNvSpPr txBox="1"/>
          <p:nvPr/>
        </p:nvSpPr>
        <p:spPr>
          <a:xfrm>
            <a:off x="63373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Dashboard summary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Withdraw with a reason (new terminal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Licence certificate on approval, preview, PDF</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Owner's domain, two environments, TLS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Legal, privacy and accessibility review</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Open: officer assignment, image OCR, bundle download</a:t>
            </a:r>
            <a:endParaRPr lang="en-US" sz="900" dirty="0"/>
          </a:p>
        </p:txBody>
      </p:sp>
      <p:sp>
        <p:nvSpPr>
          <p:cNvPr id="22" name="b1"/>
          <p:cNvSpPr/>
          <p:nvPr/>
        </p:nvSpPr>
        <p:spPr>
          <a:xfrm>
            <a:off x="8877300" y="1905000"/>
            <a:ext cx="2552700" cy="4216400"/>
          </a:xfrm>
          <a:prstGeom prst="roundRect">
            <a:avLst>
              <a:gd name="adj" fmla="val 1493"/>
            </a:avLst>
          </a:prstGeom>
          <a:solidFill>
            <a:srgbClr val="1B2430"/>
          </a:solidFill>
          <a:ln w="9525">
            <a:solidFill>
              <a:srgbClr val="1B2430"/>
            </a:solidFill>
            <a:prstDash val="solid"/>
          </a:ln>
        </p:spPr>
      </p:sp>
      <p:sp>
        <p:nvSpPr>
          <p:cNvPr id="23" name="b1"/>
          <p:cNvSpPr/>
          <p:nvPr/>
        </p:nvSpPr>
        <p:spPr>
          <a:xfrm>
            <a:off x="9036050" y="2082800"/>
            <a:ext cx="63500" cy="63500"/>
          </a:xfrm>
          <a:prstGeom prst="ellipse">
            <a:avLst/>
          </a:prstGeom>
          <a:solidFill>
            <a:srgbClr val="9AA3B0"/>
          </a:solidFill>
          <a:ln w="12700">
            <a:solidFill>
              <a:srgbClr val="9AA3B0"/>
            </a:solidFill>
            <a:prstDash val="solid"/>
          </a:ln>
        </p:spPr>
      </p:sp>
      <p:sp>
        <p:nvSpPr>
          <p:cNvPr id="24" name="b1"/>
          <p:cNvSpPr txBox="1"/>
          <p:nvPr/>
        </p:nvSpPr>
        <p:spPr>
          <a:xfrm>
            <a:off x="91694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FFFFFF"/>
                </a:solidFill>
                <a:latin typeface="Public Sans" pitchFamily="34" charset="0"/>
                <a:ea typeface="Public Sans" pitchFamily="34" charset="-122"/>
                <a:cs typeface="Public Sans" pitchFamily="34" charset="-120"/>
              </a:rPr>
              <a:t>DEFERRED</a:t>
            </a:r>
            <a:endParaRPr lang="en-US" sz="1100" dirty="0"/>
          </a:p>
        </p:txBody>
      </p:sp>
      <p:sp>
        <p:nvSpPr>
          <p:cNvPr id="25" name="b1"/>
          <p:cNvSpPr txBox="1"/>
          <p:nvPr/>
        </p:nvSpPr>
        <p:spPr>
          <a:xfrm>
            <a:off x="90424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C5CBD4"/>
                </a:solidFill>
                <a:latin typeface="Public Sans" pitchFamily="34" charset="0"/>
                <a:ea typeface="Public Sans" pitchFamily="34" charset="-122"/>
                <a:cs typeface="Public Sans" pitchFamily="34" charset="-120"/>
              </a:rPr>
              <a:t>13 items, each with a reason</a:t>
            </a:r>
            <a:endParaRPr lang="en-US" sz="950" dirty="0"/>
          </a:p>
        </p:txBody>
      </p:sp>
      <p:sp>
        <p:nvSpPr>
          <p:cNvPr id="26" name="b1"/>
          <p:cNvSpPr/>
          <p:nvPr/>
        </p:nvSpPr>
        <p:spPr>
          <a:xfrm>
            <a:off x="9042400" y="2514600"/>
            <a:ext cx="2222500" cy="0"/>
          </a:xfrm>
          <a:prstGeom prst="line">
            <a:avLst/>
          </a:prstGeom>
          <a:noFill/>
          <a:ln w="9525">
            <a:solidFill>
              <a:srgbClr val="3A4456"/>
            </a:solidFill>
            <a:prstDash val="solid"/>
          </a:ln>
        </p:spPr>
      </p:sp>
      <p:sp>
        <p:nvSpPr>
          <p:cNvPr id="27" name="b1"/>
          <p:cNvSpPr txBox="1"/>
          <p:nvPr/>
        </p:nvSpPr>
        <p:spPr>
          <a:xfrm>
            <a:off x="90424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UC3 checklist (1.5 days estimated)</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Email delivery (mocked, in-app only)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Worker queue for AI checks (in-process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Object storage (volume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Registration, reset, MFA, SSO</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Configurable forms, OCR, push, WAF, virus scan</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Session in sessionStorage, US-region providers, one replica: disclosed with severity</a:t>
            </a:r>
            <a:endParaRPr lang="en-US" sz="900" dirty="0"/>
          </a:p>
        </p:txBody>
      </p:sp>
      <p:sp>
        <p:nvSpPr>
          <p:cNvPr id="28" name="Text 26"/>
          <p:cNvSpPr txBox="1"/>
          <p:nvPr/>
        </p:nvSpPr>
        <p:spPr>
          <a:xfrm>
            <a:off x="762000" y="6299200"/>
            <a:ext cx="1016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SCOPE.md: decision in one line, MUST / SHOULD / COULD / DEFERRED tables, 17 assumptions, a stack paragraph, and a check at each sprint close.</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03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320"/>
                                        <p:tgtEl>
                                          <p:spTgt spid="2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320"/>
                                        <p:tgtEl>
                                          <p:spTgt spid="2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20"/>
                                        <p:tgtEl>
                                          <p:spTgt spid="2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320"/>
                                        <p:tgtEl>
                                          <p:spTgt spid="2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320"/>
                                        <p:tgtEl>
                                          <p:spTgt spid="2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3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ASSUMPTIONS</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Where the brief was ambiguous, the assumption is written down and enforced by code.</a:t>
            </a:r>
            <a:endParaRPr lang="en-US" sz="2200" dirty="0"/>
          </a:p>
        </p:txBody>
      </p:sp>
      <p:sp>
        <p:nvSpPr>
          <p:cNvPr id="4" name="Shape 2"/>
          <p:cNvSpPr/>
          <p:nvPr/>
        </p:nvSpPr>
        <p:spPr>
          <a:xfrm>
            <a:off x="762000" y="1905000"/>
            <a:ext cx="51816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draft state exists before Application Received</a:t>
            </a:r>
            <a:endParaRPr lang="en-US" sz="1150" dirty="0"/>
          </a:p>
        </p:txBody>
      </p:sp>
      <p:sp>
        <p:nvSpPr>
          <p:cNvPr id="7" name="Text 5"/>
          <p:cNvSpPr txBox="1"/>
          <p:nvPr/>
        </p:nvSpPr>
        <p:spPr>
          <a:xfrm>
            <a:off x="11557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Needed for save and return; never shown to officers; deletable outright until submitted (US-045). SCOPE.md assumption 2 and 14.</a:t>
            </a:r>
            <a:endParaRPr lang="en-US" sz="950" dirty="0"/>
          </a:p>
        </p:txBody>
      </p:sp>
      <p:sp>
        <p:nvSpPr>
          <p:cNvPr id="8" name="Shape 6"/>
          <p:cNvSpPr/>
          <p:nvPr/>
        </p:nvSpPr>
        <p:spPr>
          <a:xfrm>
            <a:off x="6248400" y="1905000"/>
            <a:ext cx="5181600" cy="0"/>
          </a:xfrm>
          <a:prstGeom prst="line">
            <a:avLst/>
          </a:prstGeom>
          <a:noFill/>
          <a:ln w="9525">
            <a:solidFill>
              <a:srgbClr val="DDE1E7"/>
            </a:solidFill>
            <a:prstDash val="solid"/>
          </a:ln>
        </p:spPr>
      </p:sp>
      <p:sp>
        <p:nvSpPr>
          <p:cNvPr id="9" name="Text 7"/>
          <p:cNvSpPr txBox="1"/>
          <p:nvPr/>
        </p:nvSpPr>
        <p:spPr>
          <a:xfrm>
            <a:off x="62484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Under Review starts on an explicit officer action</a:t>
            </a:r>
            <a:endParaRPr lang="en-US" sz="1150" dirty="0"/>
          </a:p>
        </p:txBody>
      </p:sp>
      <p:sp>
        <p:nvSpPr>
          <p:cNvPr id="11" name="Text 9"/>
          <p:cNvSpPr txBox="1"/>
          <p:nvPr/>
        </p:nvSpPr>
        <p:spPr>
          <a:xfrm>
            <a:off x="66421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So the actor lands in the audit trail. Start review is a transition row, not a side effect. Assumption 3.</a:t>
            </a:r>
            <a:endParaRPr lang="en-US" sz="950" dirty="0"/>
          </a:p>
        </p:txBody>
      </p:sp>
      <p:sp>
        <p:nvSpPr>
          <p:cNvPr id="12" name="Shape 10"/>
          <p:cNvSpPr/>
          <p:nvPr/>
        </p:nvSpPr>
        <p:spPr>
          <a:xfrm>
            <a:off x="762000" y="3276600"/>
            <a:ext cx="5181600" cy="0"/>
          </a:xfrm>
          <a:prstGeom prst="line">
            <a:avLst/>
          </a:prstGeom>
          <a:noFill/>
          <a:ln w="9525">
            <a:solidFill>
              <a:srgbClr val="DDE1E7"/>
            </a:solidFill>
            <a:prstDash val="solid"/>
          </a:ln>
        </p:spPr>
      </p:sp>
      <p:sp>
        <p:nvSpPr>
          <p:cNvPr id="13" name="Text 11"/>
          <p:cNvSpPr txBox="1"/>
          <p:nvPr/>
        </p:nvSpPr>
        <p:spPr>
          <a:xfrm>
            <a:off x="7620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Requesting resubmission needs at least one open feedback item</a:t>
            </a:r>
            <a:endParaRPr lang="en-US" sz="1150" dirty="0"/>
          </a:p>
        </p:txBody>
      </p:sp>
      <p:sp>
        <p:nvSpPr>
          <p:cNvPr id="15" name="Text 13"/>
          <p:cNvSpPr txBox="1"/>
          <p:nvPr/>
        </p:nvSpPr>
        <p:spPr>
          <a:xfrm>
            <a:off x="11557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Guard on the transition; the button is disabled with the reason. Assumption 4, domain/workflow.py.</a:t>
            </a:r>
            <a:endParaRPr lang="en-US" sz="950" dirty="0"/>
          </a:p>
        </p:txBody>
      </p:sp>
      <p:sp>
        <p:nvSpPr>
          <p:cNvPr id="16" name="Shape 14"/>
          <p:cNvSpPr/>
          <p:nvPr/>
        </p:nvSpPr>
        <p:spPr>
          <a:xfrm>
            <a:off x="6248400" y="3276600"/>
            <a:ext cx="5181600" cy="0"/>
          </a:xfrm>
          <a:prstGeom prst="line">
            <a:avLst/>
          </a:prstGeom>
          <a:noFill/>
          <a:ln w="9525">
            <a:solidFill>
              <a:srgbClr val="DDE1E7"/>
            </a:solidFill>
            <a:prstDash val="solid"/>
          </a:ln>
        </p:spPr>
      </p:sp>
      <p:sp>
        <p:nvSpPr>
          <p:cNvPr id="17" name="Text 15"/>
          <p:cNvSpPr txBox="1"/>
          <p:nvPr/>
        </p:nvSpPr>
        <p:spPr>
          <a:xfrm>
            <a:off x="62484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Addressed is automatic, resolved is a decision</a:t>
            </a:r>
            <a:endParaRPr lang="en-US" sz="1150" dirty="0"/>
          </a:p>
        </p:txBody>
      </p:sp>
      <p:sp>
        <p:nvSpPr>
          <p:cNvPr id="19" name="Text 17"/>
          <p:cNvSpPr txBox="1"/>
          <p:nvPr/>
        </p:nvSpPr>
        <p:spPr>
          <a:xfrm>
            <a:off x="66421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linked section or document changed in the next revision: addressed. The officer confirms: resolved. Assumption 7.</a:t>
            </a:r>
            <a:endParaRPr lang="en-US" sz="950" dirty="0"/>
          </a:p>
        </p:txBody>
      </p:sp>
      <p:sp>
        <p:nvSpPr>
          <p:cNvPr id="20" name="Shape 18"/>
          <p:cNvSpPr/>
          <p:nvPr/>
        </p:nvSpPr>
        <p:spPr>
          <a:xfrm>
            <a:off x="762000" y="4648200"/>
            <a:ext cx="5181600" cy="0"/>
          </a:xfrm>
          <a:prstGeom prst="line">
            <a:avLst/>
          </a:prstGeom>
          <a:noFill/>
          <a:ln w="9525">
            <a:solidFill>
              <a:srgbClr val="DDE1E7"/>
            </a:solidFill>
            <a:prstDash val="solid"/>
          </a:ln>
        </p:spPr>
      </p:sp>
      <p:sp>
        <p:nvSpPr>
          <p:cNvPr id="21" name="Text 19"/>
          <p:cNvSpPr txBox="1"/>
          <p:nvPr/>
        </p:nvSpPr>
        <p:spPr>
          <a:xfrm>
            <a:off x="7620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Only flagged sections may change on resubmission: enforced</a:t>
            </a:r>
            <a:endParaRPr lang="en-US" sz="1150" dirty="0"/>
          </a:p>
        </p:txBody>
      </p:sp>
      <p:sp>
        <p:nvSpPr>
          <p:cNvPr id="23" name="Text 21"/>
          <p:cNvSpPr txBox="1"/>
          <p:nvPr/>
        </p:nvSpPr>
        <p:spPr>
          <a:xfrm>
            <a:off x="11557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API returns 403 for any other change. A product decision open to reversal. Assumption 13, domain/resolution.py.</a:t>
            </a:r>
            <a:endParaRPr lang="en-US" sz="950" dirty="0"/>
          </a:p>
        </p:txBody>
      </p:sp>
      <p:sp>
        <p:nvSpPr>
          <p:cNvPr id="24" name="Shape 22"/>
          <p:cNvSpPr/>
          <p:nvPr/>
        </p:nvSpPr>
        <p:spPr>
          <a:xfrm>
            <a:off x="6248400" y="4648200"/>
            <a:ext cx="5181600" cy="0"/>
          </a:xfrm>
          <a:prstGeom prst="line">
            <a:avLst/>
          </a:prstGeom>
          <a:noFill/>
          <a:ln w="9525">
            <a:solidFill>
              <a:srgbClr val="DDE1E7"/>
            </a:solidFill>
            <a:prstDash val="solid"/>
          </a:ln>
        </p:spPr>
      </p:sp>
      <p:sp>
        <p:nvSpPr>
          <p:cNvPr id="25" name="Text 23"/>
          <p:cNvSpPr txBox="1"/>
          <p:nvPr/>
        </p:nvSpPr>
        <p:spPr>
          <a:xfrm>
            <a:off x="62484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Operators see Pending Approval as a waiting state</a:t>
            </a:r>
            <a:endParaRPr lang="en-US" sz="1150" dirty="0"/>
          </a:p>
        </p:txBody>
      </p:sp>
      <p:sp>
        <p:nvSpPr>
          <p:cNvPr id="27" name="Text 25"/>
          <p:cNvSpPr txBox="1"/>
          <p:nvPr/>
        </p:nvSpPr>
        <p:spPr>
          <a:xfrm>
            <a:off x="66421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brief's own table gives that label; the officer-only label Route to Approval and the decision note never reach an operator. Assumption 17.</a:t>
            </a:r>
            <a:endParaRPr lang="en-US" sz="950" dirty="0"/>
          </a:p>
        </p:txBody>
      </p:sp>
      <p:sp>
        <p:nvSpPr>
          <p:cNvPr id="28" name="Text 26"/>
          <p:cNvSpPr txBox="1"/>
          <p:nvPr/>
        </p:nvSpPr>
        <p:spPr>
          <a:xfrm>
            <a:off x="762000" y="6299200"/>
            <a:ext cx="762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All 17 assumptions: SCOPE.md. Each one that changes behaviour has a test.</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04 / 17</a:t>
            </a:r>
            <a:endParaRPr lang="en-US" sz="1000" dirty="0"/>
          </a:p>
        </p:txBody>
      </p: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HOW THE WORK WAS RUN</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Three one-day sprints on a board that mirrors the repository, a definition of done per story, a close ritual per sprint.</a:t>
            </a:r>
            <a:endParaRPr lang="en-US" sz="2200" dirty="0"/>
          </a:p>
        </p:txBody>
      </p:sp>
      <p:sp>
        <p:nvSpPr>
          <p:cNvPr id="4" name="Shape 2"/>
          <p:cNvSpPr/>
          <p:nvPr/>
        </p:nvSpPr>
        <p:spPr>
          <a:xfrm>
            <a:off x="711200" y="1739900"/>
            <a:ext cx="7284387"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docs/planning/notion/stories.png">    </p:cNvPr>
          <p:cNvPicPr>
            <a:picLocks noChangeAspect="1"/>
          </p:cNvPicPr>
          <p:nvPr/>
        </p:nvPicPr>
        <p:blipFill>
          <a:blip r:embed="rId1"/>
          <a:stretch>
            <a:fillRect/>
          </a:stretch>
        </p:blipFill>
        <p:spPr>
          <a:xfrm>
            <a:off x="762000" y="1790700"/>
            <a:ext cx="7182787" cy="4381500"/>
          </a:xfrm>
          <a:prstGeom prst="rect">
            <a:avLst/>
          </a:prstGeom>
        </p:spPr>
      </p:pic>
      <p:sp>
        <p:nvSpPr>
          <p:cNvPr id="6" name="Shape 3"/>
          <p:cNvSpPr/>
          <p:nvPr/>
        </p:nvSpPr>
        <p:spPr>
          <a:xfrm>
            <a:off x="8198787" y="1790700"/>
            <a:ext cx="3231213" cy="0"/>
          </a:xfrm>
          <a:prstGeom prst="line">
            <a:avLst/>
          </a:prstGeom>
          <a:noFill/>
          <a:ln w="9525">
            <a:solidFill>
              <a:srgbClr val="DDE1E7"/>
            </a:solidFill>
            <a:prstDash val="solid"/>
          </a:ln>
        </p:spPr>
      </p:sp>
      <p:sp>
        <p:nvSpPr>
          <p:cNvPr id="7" name="Text 4"/>
          <p:cNvSpPr txBox="1"/>
          <p:nvPr/>
        </p:nvSpPr>
        <p:spPr>
          <a:xfrm>
            <a:off x="8198787" y="18669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Board and repository, one to one</a:t>
            </a:r>
            <a:endParaRPr lang="en-US" sz="1100" dirty="0"/>
          </a:p>
        </p:txBody>
      </p:sp>
      <p:sp>
        <p:nvSpPr>
          <p:cNvPr id="8" name="Text 5"/>
          <p:cNvSpPr txBox="1"/>
          <p:nvPr/>
        </p:nvSpPr>
        <p:spPr>
          <a:xfrm>
            <a:off x="8198787" y="20701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70 stories in five epics on the board; USER_STORIES.md carries the same ids, titles and acceptance criteria; every branch name carries its story id. Design phase 17 Sep, Sprints 1 to 3 on 18 and 19 Sep.</a:t>
            </a:r>
            <a:endParaRPr lang="en-US" sz="900" dirty="0"/>
          </a:p>
        </p:txBody>
      </p:sp>
      <p:sp>
        <p:nvSpPr>
          <p:cNvPr id="9" name="b1"/>
          <p:cNvSpPr/>
          <p:nvPr/>
        </p:nvSpPr>
        <p:spPr>
          <a:xfrm>
            <a:off x="8198787" y="2908300"/>
            <a:ext cx="3231213" cy="0"/>
          </a:xfrm>
          <a:prstGeom prst="line">
            <a:avLst/>
          </a:prstGeom>
          <a:noFill/>
          <a:ln w="9525">
            <a:solidFill>
              <a:srgbClr val="DDE1E7"/>
            </a:solidFill>
            <a:prstDash val="solid"/>
          </a:ln>
        </p:spPr>
      </p:sp>
      <p:sp>
        <p:nvSpPr>
          <p:cNvPr id="10" name="b1"/>
          <p:cNvSpPr txBox="1"/>
          <p:nvPr/>
        </p:nvSpPr>
        <p:spPr>
          <a:xfrm>
            <a:off x="8198787" y="29845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Cadence</a:t>
            </a:r>
            <a:endParaRPr lang="en-US" sz="1100" dirty="0"/>
          </a:p>
        </p:txBody>
      </p:sp>
      <p:sp>
        <p:nvSpPr>
          <p:cNvPr id="11" name="b1"/>
          <p:cNvSpPr txBox="1"/>
          <p:nvPr/>
        </p:nvSpPr>
        <p:spPr>
          <a:xfrm>
            <a:off x="8198787" y="31877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Planning, 15 minutes at the start of the day. Mid-sprint check at midday: cut or simplify then, not at 23:00. Review and close at the end of the day. Two stories in progress at most.</a:t>
            </a:r>
            <a:endParaRPr lang="en-US" sz="900" dirty="0"/>
          </a:p>
        </p:txBody>
      </p:sp>
      <p:sp>
        <p:nvSpPr>
          <p:cNvPr id="12" name="b1"/>
          <p:cNvSpPr/>
          <p:nvPr/>
        </p:nvSpPr>
        <p:spPr>
          <a:xfrm>
            <a:off x="8198787" y="4025900"/>
            <a:ext cx="3231213" cy="0"/>
          </a:xfrm>
          <a:prstGeom prst="line">
            <a:avLst/>
          </a:prstGeom>
          <a:noFill/>
          <a:ln w="9525">
            <a:solidFill>
              <a:srgbClr val="DDE1E7"/>
            </a:solidFill>
            <a:prstDash val="solid"/>
          </a:ln>
        </p:spPr>
      </p:sp>
      <p:sp>
        <p:nvSpPr>
          <p:cNvPr id="13" name="b1"/>
          <p:cNvSpPr txBox="1"/>
          <p:nvPr/>
        </p:nvSpPr>
        <p:spPr>
          <a:xfrm>
            <a:off x="8198787" y="41021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Definition of done, per story</a:t>
            </a:r>
            <a:endParaRPr lang="en-US" sz="1100" dirty="0"/>
          </a:p>
        </p:txBody>
      </p:sp>
      <p:sp>
        <p:nvSpPr>
          <p:cNvPr id="14" name="b1"/>
          <p:cNvSpPr txBox="1"/>
          <p:nvPr/>
        </p:nvSpPr>
        <p:spPr>
          <a:xfrm>
            <a:off x="8198787" y="43053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Acceptance criteria met; server validation and authorization tested with the wrong role and owner; the standard error body; audit in the same transaction; no path from AI output to state; tests per layer green in CI; docs and the board updated.</a:t>
            </a:r>
            <a:endParaRPr lang="en-US" sz="900" dirty="0"/>
          </a:p>
        </p:txBody>
      </p:sp>
      <p:sp>
        <p:nvSpPr>
          <p:cNvPr id="15" name="b1"/>
          <p:cNvSpPr/>
          <p:nvPr/>
        </p:nvSpPr>
        <p:spPr>
          <a:xfrm>
            <a:off x="8198787" y="5143500"/>
            <a:ext cx="3231213" cy="0"/>
          </a:xfrm>
          <a:prstGeom prst="line">
            <a:avLst/>
          </a:prstGeom>
          <a:noFill/>
          <a:ln w="9525">
            <a:solidFill>
              <a:srgbClr val="DDE1E7"/>
            </a:solidFill>
            <a:prstDash val="solid"/>
          </a:ln>
        </p:spPr>
      </p:sp>
      <p:sp>
        <p:nvSpPr>
          <p:cNvPr id="16" name="b1"/>
          <p:cNvSpPr txBox="1"/>
          <p:nvPr/>
        </p:nvSpPr>
        <p:spPr>
          <a:xfrm>
            <a:off x="8198787" y="52197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Close ritual, run three times</a:t>
            </a:r>
            <a:endParaRPr lang="en-US" sz="1100" dirty="0"/>
          </a:p>
        </p:txBody>
      </p:sp>
      <p:sp>
        <p:nvSpPr>
          <p:cNvPr id="17" name="b1"/>
          <p:cNvSpPr txBox="1"/>
          <p:nvPr/>
        </p:nvSpPr>
        <p:spPr>
          <a:xfrm>
            <a:off x="8198787" y="54229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Tests green, commits checked, board final, CHANGELOG entry with Shipped, Slipped and Retro, SCOPE.md re-read, commit docs: close sprint N. At the third close the admin epic was cut per the cut order, to v0.4.0.</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docs/planning: SPRINTS.md (cadence, sprint DoD, close ritual, cut order) · DEFINITION_OF_DONE.md · KANBAN.md · USER_STORIES.md · notion/</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05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ARCHITECTURE</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A modular monolith: one API in strict layers, one web app, one database, an isolated AI module.</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1-solution-architectur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Layers, enforced</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api, services, domain, repositories, models. domain is pure Python: no SQLAlchemy, no FastAPI, no I/O. tests/unit/test_layering.py fails the build if a layer imports downward the wrong way. ADR-001.</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PostgreSQL only</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Relations for users, applications, feedback and audit; every submitted revision an immutable JSON snapshot. Row locks and a version column for concurrency. ADR-002.</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in-process, behind an interface</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Background task per document, result polled every 2 s, stale runs marked failed on restart. VerificationProvider with OpenAI and a deterministic mock. ADR-004, the worker is next.</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Stack</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FastAPI, SQLAlchemy 2, Pydantic v2, Alembic; React 19, TypeScript strict, Vite, TanStack Query, React Hook Form, Zod; pytest, vitest, Playwright. ADR-009.</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docs/architecture/ARCHITECTURE.md (API table, request flows) · docs/architecture/decisions (12 ADRs, three groups: shape, rules, delivery)</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06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1 OF 4 · ADR-003</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workflow is a table, not a set of if statements.</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The fourteen statuses and every allowed move as data: from, to, actor, guard, label. One function, transition(), consults it. available_actions() gives the UI its buttons with the reason a button is disabled.</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Status changes scattered through services, or a workflow library with its own model of the world.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A table can be compared with the brief's status table line by line and tested exhaustively. Adding a status is a row. Reject is possible from every non-terminal post-submission state, so no case can get stuck.</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1258824"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1258824"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action</a:t>
            </a:r>
            <a:endParaRPr lang="en-US" sz="950" dirty="0"/>
          </a:p>
        </p:txBody>
      </p:sp>
      <p:sp>
        <p:nvSpPr>
          <p:cNvPr id="16" name="Text 14"/>
          <p:cNvSpPr txBox="1"/>
          <p:nvPr/>
        </p:nvSpPr>
        <p:spPr>
          <a:xfrm>
            <a:off x="2046224"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2300224" y="5664200"/>
            <a:ext cx="272592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2300224" y="5664200"/>
            <a:ext cx="27259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transition(status, target, actor)</a:t>
            </a:r>
            <a:endParaRPr lang="en-US" sz="950" dirty="0"/>
          </a:p>
        </p:txBody>
      </p:sp>
      <p:sp>
        <p:nvSpPr>
          <p:cNvPr id="19" name="Text 17"/>
          <p:cNvSpPr txBox="1"/>
          <p:nvPr/>
        </p:nvSpPr>
        <p:spPr>
          <a:xfrm>
            <a:off x="505155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5305552" y="5664200"/>
            <a:ext cx="563880"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5305552" y="56642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guard</a:t>
            </a:r>
            <a:endParaRPr lang="en-US" sz="950" dirty="0"/>
          </a:p>
        </p:txBody>
      </p:sp>
      <p:sp>
        <p:nvSpPr>
          <p:cNvPr id="22" name="Shape 20"/>
          <p:cNvSpPr/>
          <p:nvPr/>
        </p:nvSpPr>
        <p:spPr>
          <a:xfrm>
            <a:off x="762000" y="5981700"/>
            <a:ext cx="226263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226263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status, audit, notification</a:t>
            </a:r>
            <a:endParaRPr lang="en-US" sz="950" dirty="0"/>
          </a:p>
        </p:txBody>
      </p:sp>
      <p:sp>
        <p:nvSpPr>
          <p:cNvPr id="24" name="Text 22"/>
          <p:cNvSpPr txBox="1"/>
          <p:nvPr/>
        </p:nvSpPr>
        <p:spPr>
          <a:xfrm>
            <a:off x="30500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3304032" y="5981700"/>
            <a:ext cx="949960"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330403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one commit</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domain/workflow.py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18 transition rows plus withdraw from any post-submission state; guards: is_complete, open_feedback_count, has_changes_to_flagged_targets</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domain/labels.py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brief's table verbatim: internal status, officer label, operator label, badge tone</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tests/unit/test_workflow.py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every (source, target, actor) combination: 14 x 14 x 3 = 588 cases; terminal states have no exits; guards</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POST /officer/applications/{id}/transition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row lock, expected_version, 409 invalid_transition with the allowed list, audit and notification in the same transaction</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Guards are Python callables, so a guard that needs data the context does not carry means extending the context. Accepted: the context has three fields and has not grown since Day 1.</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07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2 OF 4 · ADR-005</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Operators never see internal status codes, because the API cannot send them.</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Role checked per router; ownership enforced in the one function that loads an application (another owner's case is a 404, not a 403); a separate response model per role, so the operator view has no field for the internal status or the officer label.</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Checking roles in the UI, or one shared response shape with fields hidden client-side.</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brief's constraint, operators cannot see the approval stage, becomes a property of the types and the tests, not a hope. A leaked field would be a schema change, which a reviewer sees in the diff.</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409448"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40944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JWT</a:t>
            </a:r>
            <a:endParaRPr lang="en-US" sz="950" dirty="0"/>
          </a:p>
        </p:txBody>
      </p:sp>
      <p:sp>
        <p:nvSpPr>
          <p:cNvPr id="16" name="Text 14"/>
          <p:cNvSpPr txBox="1"/>
          <p:nvPr/>
        </p:nvSpPr>
        <p:spPr>
          <a:xfrm>
            <a:off x="1196848"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450848" y="5664200"/>
            <a:ext cx="195376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450848" y="5664200"/>
            <a:ext cx="195376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require_role per router</a:t>
            </a:r>
            <a:endParaRPr lang="en-US" sz="950" dirty="0"/>
          </a:p>
        </p:txBody>
      </p:sp>
      <p:sp>
        <p:nvSpPr>
          <p:cNvPr id="19" name="Text 17"/>
          <p:cNvSpPr txBox="1"/>
          <p:nvPr/>
        </p:nvSpPr>
        <p:spPr>
          <a:xfrm>
            <a:off x="343001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684016" y="5664200"/>
            <a:ext cx="187655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684016" y="56642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get_for(user, id): 404</a:t>
            </a:r>
            <a:endParaRPr lang="en-US" sz="950" dirty="0"/>
          </a:p>
        </p:txBody>
      </p:sp>
      <p:sp>
        <p:nvSpPr>
          <p:cNvPr id="22" name="Shape 20"/>
          <p:cNvSpPr/>
          <p:nvPr/>
        </p:nvSpPr>
        <p:spPr>
          <a:xfrm>
            <a:off x="762000" y="5981700"/>
            <a:ext cx="1336040"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role view model</a:t>
            </a:r>
            <a:endParaRPr lang="en-US" sz="950" dirty="0"/>
          </a:p>
        </p:txBody>
      </p:sp>
      <p:sp>
        <p:nvSpPr>
          <p:cNvPr id="24" name="Text 22"/>
          <p:cNvSpPr txBox="1"/>
          <p:nvPr/>
        </p:nvSpPr>
        <p:spPr>
          <a:xfrm>
            <a:off x="2123440"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377440" y="5981700"/>
            <a:ext cx="795528"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377440" y="5981700"/>
            <a:ext cx="7955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response</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api/deps.py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get_current_user (JWT, active user), require_role('officer'), require_role('admin')</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repositories/applications.py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get_for(user, id) applies the operator_id filter; NotFound for another owner</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schemas/applications.py vs schemas/officer.py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operator view: operator label, released feedback without author, no internal status, no decision note before the outcome</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tests/integration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an authorization test for every endpoint: wrong role 403, wrong owner 404, cross-application ids 404, admin read-only</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Two response models to keep in step when a field is added. Accepted: the layering test and the API table in ARCHITECTURE.md make a missed field visible.</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08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3 OF 4 · ADR-006</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AI check advises. Strict schemas and deterministic rules decide what an answer is allowed to mean.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A provider interface with two implementations (OpenAI structured output, deterministic mock). A pinned wire schema, then a strict domain model (extra forbidden, confidence 0 to 1, status must agree with the issue list), then rules after the model: confidence under 0.6 or an injection phrase forces needs_review. The result is stored on the run and shown to the officer. It never touches status, feedback or editability.</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Letting the model's answer drive the workflow, or free-text answers parsed by hand.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 says AI assists and the officer decides. With strict schemas a bad answer becomes a flagged answer, never a state change. Over quota or on failure the run is stored unavailable and the application proceeds.</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upload</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133604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extract, capped</a:t>
            </a:r>
            <a:endParaRPr lang="en-US" sz="950" dirty="0"/>
          </a:p>
        </p:txBody>
      </p:sp>
      <p:sp>
        <p:nvSpPr>
          <p:cNvPr id="19" name="Text 17"/>
          <p:cNvSpPr txBox="1"/>
          <p:nvPr/>
        </p:nvSpPr>
        <p:spPr>
          <a:xfrm>
            <a:off x="304393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297936" y="5664200"/>
            <a:ext cx="1027176"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297936"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model, 30 s</a:t>
            </a:r>
            <a:endParaRPr lang="en-US" sz="950" dirty="0"/>
          </a:p>
        </p:txBody>
      </p:sp>
      <p:sp>
        <p:nvSpPr>
          <p:cNvPr id="22" name="Text 20"/>
          <p:cNvSpPr txBox="1"/>
          <p:nvPr/>
        </p:nvSpPr>
        <p:spPr>
          <a:xfrm>
            <a:off x="435051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3" name="Shape 21"/>
          <p:cNvSpPr/>
          <p:nvPr/>
        </p:nvSpPr>
        <p:spPr>
          <a:xfrm>
            <a:off x="4604512" y="5664200"/>
            <a:ext cx="1027176" cy="228600"/>
          </a:xfrm>
          <a:prstGeom prst="roundRect">
            <a:avLst>
              <a:gd name="adj" fmla="val 16667"/>
            </a:avLst>
          </a:prstGeom>
          <a:solidFill>
            <a:srgbClr val="FFFFFF"/>
          </a:solidFill>
          <a:ln w="9525">
            <a:solidFill>
              <a:srgbClr val="AEB6C2"/>
            </a:solidFill>
            <a:prstDash val="solid"/>
          </a:ln>
        </p:spPr>
      </p:sp>
      <p:sp>
        <p:nvSpPr>
          <p:cNvPr id="24" name="Text 22"/>
          <p:cNvSpPr txBox="1"/>
          <p:nvPr/>
        </p:nvSpPr>
        <p:spPr>
          <a:xfrm>
            <a:off x="4604512"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wire schema</a:t>
            </a:r>
            <a:endParaRPr lang="en-US" sz="950" dirty="0"/>
          </a:p>
        </p:txBody>
      </p:sp>
      <p:sp>
        <p:nvSpPr>
          <p:cNvPr id="25" name="Shape 23"/>
          <p:cNvSpPr/>
          <p:nvPr/>
        </p:nvSpPr>
        <p:spPr>
          <a:xfrm>
            <a:off x="762000"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762000"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domain model</a:t>
            </a:r>
            <a:endParaRPr lang="en-US" sz="950" dirty="0"/>
          </a:p>
        </p:txBody>
      </p:sp>
      <p:sp>
        <p:nvSpPr>
          <p:cNvPr id="27" name="Text 25"/>
          <p:cNvSpPr txBox="1"/>
          <p:nvPr/>
        </p:nvSpPr>
        <p:spPr>
          <a:xfrm>
            <a:off x="189179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2145792" y="5981700"/>
            <a:ext cx="56388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2145792" y="59817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rules</a:t>
            </a:r>
            <a:endParaRPr lang="en-US" sz="950" dirty="0"/>
          </a:p>
        </p:txBody>
      </p:sp>
      <p:sp>
        <p:nvSpPr>
          <p:cNvPr id="30" name="Text 28"/>
          <p:cNvSpPr txBox="1"/>
          <p:nvPr/>
        </p:nvSpPr>
        <p:spPr>
          <a:xfrm>
            <a:off x="273507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1" name="Shape 29"/>
          <p:cNvSpPr/>
          <p:nvPr/>
        </p:nvSpPr>
        <p:spPr>
          <a:xfrm>
            <a:off x="2989072" y="5981700"/>
            <a:ext cx="949960" cy="228600"/>
          </a:xfrm>
          <a:prstGeom prst="roundRect">
            <a:avLst>
              <a:gd name="adj" fmla="val 16667"/>
            </a:avLst>
          </a:prstGeom>
          <a:solidFill>
            <a:srgbClr val="FFFFFF"/>
          </a:solidFill>
          <a:ln w="9525">
            <a:solidFill>
              <a:srgbClr val="AEB6C2"/>
            </a:solidFill>
            <a:prstDash val="solid"/>
          </a:ln>
        </p:spPr>
      </p:sp>
      <p:sp>
        <p:nvSpPr>
          <p:cNvPr id="32" name="Text 30"/>
          <p:cNvSpPr txBox="1"/>
          <p:nvPr/>
        </p:nvSpPr>
        <p:spPr>
          <a:xfrm>
            <a:off x="298907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run stored</a:t>
            </a:r>
            <a:endParaRPr lang="en-US" sz="950" dirty="0"/>
          </a:p>
        </p:txBody>
      </p:sp>
      <p:sp>
        <p:nvSpPr>
          <p:cNvPr id="33" name="Text 31"/>
          <p:cNvSpPr txBox="1"/>
          <p:nvPr/>
        </p:nvSpPr>
        <p:spPr>
          <a:xfrm>
            <a:off x="39644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4" name="Shape 32"/>
          <p:cNvSpPr/>
          <p:nvPr/>
        </p:nvSpPr>
        <p:spPr>
          <a:xfrm>
            <a:off x="4218432" y="5981700"/>
            <a:ext cx="1104392" cy="228600"/>
          </a:xfrm>
          <a:prstGeom prst="roundRect">
            <a:avLst>
              <a:gd name="adj" fmla="val 16667"/>
            </a:avLst>
          </a:prstGeom>
          <a:solidFill>
            <a:srgbClr val="FFFFFF"/>
          </a:solidFill>
          <a:ln w="9525">
            <a:solidFill>
              <a:srgbClr val="AEB6C2"/>
            </a:solidFill>
            <a:prstDash val="solid"/>
          </a:ln>
        </p:spPr>
      </p:sp>
      <p:sp>
        <p:nvSpPr>
          <p:cNvPr id="35" name="Text 33"/>
          <p:cNvSpPr txBox="1"/>
          <p:nvPr/>
        </p:nvSpPr>
        <p:spPr>
          <a:xfrm>
            <a:off x="421843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sees</a:t>
            </a:r>
            <a:endParaRPr lang="en-US" sz="950" dirty="0"/>
          </a:p>
        </p:txBody>
      </p:sp>
      <p:sp>
        <p:nvSpPr>
          <p:cNvPr id="36"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7" name="b1"/>
          <p:cNvSpPr/>
          <p:nvPr/>
        </p:nvSpPr>
        <p:spPr>
          <a:xfrm>
            <a:off x="6667500" y="2133600"/>
            <a:ext cx="4762500" cy="0"/>
          </a:xfrm>
          <a:prstGeom prst="line">
            <a:avLst/>
          </a:prstGeom>
          <a:noFill/>
          <a:ln w="9525">
            <a:solidFill>
              <a:srgbClr val="DDE1E7"/>
            </a:solidFill>
            <a:prstDash val="solid"/>
          </a:ln>
        </p:spPr>
      </p:sp>
      <p:sp>
        <p:nvSpPr>
          <p:cNvPr id="38"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infra/ai/base.py, openai_provider.py, mock.py</a:t>
            </a:r>
            <a:endParaRPr lang="en-US" sz="950" dirty="0"/>
          </a:p>
        </p:txBody>
      </p:sp>
      <p:sp>
        <p:nvSpPr>
          <p:cNvPr id="39"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VerificationProvider; prompt_version 2026-09-19.3 stamped on every run; 30 s timeout, one retry</a:t>
            </a:r>
            <a:endParaRPr lang="en-US" sz="900" dirty="0"/>
          </a:p>
        </p:txBody>
      </p:sp>
      <p:sp>
        <p:nvSpPr>
          <p:cNvPr id="40" name="b1"/>
          <p:cNvSpPr/>
          <p:nvPr/>
        </p:nvSpPr>
        <p:spPr>
          <a:xfrm>
            <a:off x="6667500" y="2844800"/>
            <a:ext cx="4762500" cy="0"/>
          </a:xfrm>
          <a:prstGeom prst="line">
            <a:avLst/>
          </a:prstGeom>
          <a:noFill/>
          <a:ln w="9525">
            <a:solidFill>
              <a:srgbClr val="DDE1E7"/>
            </a:solidFill>
            <a:prstDash val="solid"/>
          </a:ln>
        </p:spPr>
      </p:sp>
      <p:sp>
        <p:nvSpPr>
          <p:cNvPr id="41"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domain/verification_rules.py</a:t>
            </a:r>
            <a:endParaRPr lang="en-US" sz="950" dirty="0"/>
          </a:p>
        </p:txBody>
      </p:sp>
      <p:sp>
        <p:nvSpPr>
          <p:cNvPr id="42"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VerificationResult (extra=forbid), apply_rules(threshold, injection phrases), find_injection_phrases</a:t>
            </a:r>
            <a:endParaRPr lang="en-US" sz="900" dirty="0"/>
          </a:p>
        </p:txBody>
      </p:sp>
      <p:sp>
        <p:nvSpPr>
          <p:cNvPr id="43" name="b1"/>
          <p:cNvSpPr/>
          <p:nvPr/>
        </p:nvSpPr>
        <p:spPr>
          <a:xfrm>
            <a:off x="6667500" y="3556000"/>
            <a:ext cx="4762500" cy="0"/>
          </a:xfrm>
          <a:prstGeom prst="line">
            <a:avLst/>
          </a:prstGeom>
          <a:noFill/>
          <a:ln w="9525">
            <a:solidFill>
              <a:srgbClr val="DDE1E7"/>
            </a:solidFill>
            <a:prstDash val="solid"/>
          </a:ln>
        </p:spPr>
      </p:sp>
      <p:sp>
        <p:nvSpPr>
          <p:cNvPr id="44"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services/verification.py</a:t>
            </a:r>
            <a:endParaRPr lang="en-US" sz="950" dirty="0"/>
          </a:p>
        </p:txBody>
      </p:sp>
      <p:sp>
        <p:nvSpPr>
          <p:cNvPr id="45"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only caller of infra.ai; own session and transaction; text extraction capped (30 pages, 20 000 chars, 10 s); never raises out of the task</a:t>
            </a:r>
            <a:endParaRPr lang="en-US" sz="900" dirty="0"/>
          </a:p>
        </p:txBody>
      </p:sp>
      <p:sp>
        <p:nvSpPr>
          <p:cNvPr id="46" name="b1"/>
          <p:cNvSpPr/>
          <p:nvPr/>
        </p:nvSpPr>
        <p:spPr>
          <a:xfrm>
            <a:off x="6667500" y="4267200"/>
            <a:ext cx="4762500" cy="0"/>
          </a:xfrm>
          <a:prstGeom prst="line">
            <a:avLst/>
          </a:prstGeom>
          <a:noFill/>
          <a:ln w="9525">
            <a:solidFill>
              <a:srgbClr val="DDE1E7"/>
            </a:solidFill>
            <a:prstDash val="solid"/>
          </a:ln>
        </p:spPr>
      </p:sp>
      <p:sp>
        <p:nvSpPr>
          <p:cNvPr id="47"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evals/: 14 golden cases, 2 injection cases, 21 fairness runs</a:t>
            </a:r>
            <a:endParaRPr lang="en-US" sz="950" dirty="0"/>
          </a:p>
        </p:txBody>
      </p:sp>
      <p:sp>
        <p:nvSpPr>
          <p:cNvPr id="48"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mock gate on every push, live nightly, LangSmith experiment per run; docs/ai/AI_ASSURANCE.md</a:t>
            </a:r>
            <a:endParaRPr lang="en-US" sz="900" dirty="0"/>
          </a:p>
        </p:txBody>
      </p:sp>
      <p:sp>
        <p:nvSpPr>
          <p:cNvPr id="49"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50"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51"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Confidence is the model's own estimate and is uncalibrated; the injection heuristic is English-only phrases. Both recorded as next steps with the tools to fix them.</a:t>
            </a:r>
            <a:endParaRPr lang="en-US" sz="950" dirty="0"/>
          </a:p>
        </p:txBody>
      </p:sp>
      <p:sp>
        <p:nvSpPr>
          <p:cNvPr id="52" name="Text 50"/>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09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320"/>
                                        <p:tgtEl>
                                          <p:spTgt spid="36"/>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320"/>
                                        <p:tgtEl>
                                          <p:spTgt spid="37"/>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320"/>
                                        <p:tgtEl>
                                          <p:spTgt spid="38"/>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320"/>
                                        <p:tgtEl>
                                          <p:spTgt spid="3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320"/>
                                        <p:tgtEl>
                                          <p:spTgt spid="4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320"/>
                                        <p:tgtEl>
                                          <p:spTgt spid="4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20"/>
                                        <p:tgtEl>
                                          <p:spTgt spid="4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320"/>
                                        <p:tgtEl>
                                          <p:spTgt spid="4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320"/>
                                        <p:tgtEl>
                                          <p:spTgt spid="4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320"/>
                                        <p:tgtEl>
                                          <p:spTgt spid="4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320"/>
                                        <p:tgtEl>
                                          <p:spTgt spid="4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320"/>
                                        <p:tgtEl>
                                          <p:spTgt spid="47"/>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320"/>
                                        <p:tgtEl>
                                          <p:spTgt spid="48"/>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320"/>
                                        <p:tgtEl>
                                          <p:spTgt spid="49"/>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320"/>
                                        <p:tgtEl>
                                          <p:spTgt spid="50"/>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32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4 OF 4 · ADR-007 AND ADR-008</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Nothing is lost between rounds: every submission is a frozen snapshot, and every change writes its audit row in the same transaction.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Each submit or resubmit stores Revision N: the form as JSON plus the document ids. The comparison between revisions is computed at read time from the snapshots. Audit events, notifications and the licence on approval are written in the same database transaction as the change; there is no update or delete path for audit rows.</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Editing one mutable record, storing diffs instead of snapshots, or a separate logging pipeline and database triggers.</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Never lost between rounds and complete audit trail become true by construction. The officer's compare view cannot disagree with what was submitted. A change without its audit row cannot exist, and vice versa.</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submit</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94996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a:t>
            </a:r>
            <a:endParaRPr lang="en-US" sz="950" dirty="0"/>
          </a:p>
        </p:txBody>
      </p:sp>
      <p:sp>
        <p:nvSpPr>
          <p:cNvPr id="19" name="Text 17"/>
          <p:cNvSpPr txBox="1"/>
          <p:nvPr/>
        </p:nvSpPr>
        <p:spPr>
          <a:xfrm>
            <a:off x="265785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2911856" y="5664200"/>
            <a:ext cx="149047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2911856" y="5664200"/>
            <a:ext cx="149047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feedback released</a:t>
            </a:r>
            <a:endParaRPr lang="en-US" sz="950" dirty="0"/>
          </a:p>
        </p:txBody>
      </p:sp>
      <p:sp>
        <p:nvSpPr>
          <p:cNvPr id="22" name="Shape 20"/>
          <p:cNvSpPr/>
          <p:nvPr/>
        </p:nvSpPr>
        <p:spPr>
          <a:xfrm>
            <a:off x="762000" y="5981700"/>
            <a:ext cx="187655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resubmit: flagged only</a:t>
            </a:r>
            <a:endParaRPr lang="en-US" sz="950" dirty="0"/>
          </a:p>
        </p:txBody>
      </p:sp>
      <p:sp>
        <p:nvSpPr>
          <p:cNvPr id="24" name="Text 22"/>
          <p:cNvSpPr txBox="1"/>
          <p:nvPr/>
        </p:nvSpPr>
        <p:spPr>
          <a:xfrm>
            <a:off x="266395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917952"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91795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N+1</a:t>
            </a:r>
            <a:endParaRPr lang="en-US" sz="950" dirty="0"/>
          </a:p>
        </p:txBody>
      </p:sp>
      <p:sp>
        <p:nvSpPr>
          <p:cNvPr id="27" name="Text 25"/>
          <p:cNvSpPr txBox="1"/>
          <p:nvPr/>
        </p:nvSpPr>
        <p:spPr>
          <a:xfrm>
            <a:off x="4047744"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4301744" y="5981700"/>
            <a:ext cx="133604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4301744"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compare at read</a:t>
            </a:r>
            <a:endParaRPr lang="en-US" sz="950" dirty="0"/>
          </a:p>
        </p:txBody>
      </p:sp>
      <p:sp>
        <p:nvSpPr>
          <p:cNvPr id="30" name="Shape 28"/>
          <p:cNvSpPr/>
          <p:nvPr/>
        </p:nvSpPr>
        <p:spPr>
          <a:xfrm>
            <a:off x="762000" y="6299200"/>
            <a:ext cx="1567688" cy="228600"/>
          </a:xfrm>
          <a:prstGeom prst="roundRect">
            <a:avLst>
              <a:gd name="adj" fmla="val 16667"/>
            </a:avLst>
          </a:prstGeom>
          <a:solidFill>
            <a:srgbClr val="FFFFFF"/>
          </a:solidFill>
          <a:ln w="9525">
            <a:solidFill>
              <a:srgbClr val="AEB6C2"/>
            </a:solidFill>
            <a:prstDash val="solid"/>
          </a:ln>
        </p:spPr>
      </p:sp>
      <p:sp>
        <p:nvSpPr>
          <p:cNvPr id="31" name="Text 29"/>
          <p:cNvSpPr txBox="1"/>
          <p:nvPr/>
        </p:nvSpPr>
        <p:spPr>
          <a:xfrm>
            <a:off x="762000" y="6299200"/>
            <a:ext cx="156768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audit, same commit</a:t>
            </a:r>
            <a:endParaRPr lang="en-US" sz="950" dirty="0"/>
          </a:p>
        </p:txBody>
      </p:sp>
      <p:sp>
        <p:nvSpPr>
          <p:cNvPr id="32"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3" name="b1"/>
          <p:cNvSpPr/>
          <p:nvPr/>
        </p:nvSpPr>
        <p:spPr>
          <a:xfrm>
            <a:off x="6667500" y="2133600"/>
            <a:ext cx="4762500" cy="0"/>
          </a:xfrm>
          <a:prstGeom prst="line">
            <a:avLst/>
          </a:prstGeom>
          <a:noFill/>
          <a:ln w="9525">
            <a:solidFill>
              <a:srgbClr val="DDE1E7"/>
            </a:solidFill>
            <a:prstDash val="solid"/>
          </a:ln>
        </p:spPr>
      </p:sp>
      <p:sp>
        <p:nvSpPr>
          <p:cNvPr id="34"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models: application_revisions, audit_events</a:t>
            </a:r>
            <a:endParaRPr lang="en-US" sz="950" dirty="0"/>
          </a:p>
        </p:txBody>
      </p:sp>
      <p:sp>
        <p:nvSpPr>
          <p:cNvPr id="35"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immutable rows; raised_in_revision on feedback; sha256 on documents so an identical re-upload is no change</a:t>
            </a:r>
            <a:endParaRPr lang="en-US" sz="900" dirty="0"/>
          </a:p>
        </p:txBody>
      </p:sp>
      <p:sp>
        <p:nvSpPr>
          <p:cNvPr id="36" name="b1"/>
          <p:cNvSpPr/>
          <p:nvPr/>
        </p:nvSpPr>
        <p:spPr>
          <a:xfrm>
            <a:off x="6667500" y="2844800"/>
            <a:ext cx="4762500" cy="0"/>
          </a:xfrm>
          <a:prstGeom prst="line">
            <a:avLst/>
          </a:prstGeom>
          <a:noFill/>
          <a:ln w="9525">
            <a:solidFill>
              <a:srgbClr val="DDE1E7"/>
            </a:solidFill>
            <a:prstDash val="solid"/>
          </a:ln>
        </p:spPr>
      </p:sp>
      <p:sp>
        <p:nvSpPr>
          <p:cNvPr id="37"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domain/diff.py, services/compare.py</a:t>
            </a:r>
            <a:endParaRPr lang="en-US" sz="950" dirty="0"/>
          </a:p>
        </p:txBody>
      </p:sp>
      <p:sp>
        <p:nvSpPr>
          <p:cNvPr id="38"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field-level form diff and document add, remove, replace; GET /applications/{id}/compare?from=n&amp;to=m</a:t>
            </a:r>
            <a:endParaRPr lang="en-US" sz="900" dirty="0"/>
          </a:p>
        </p:txBody>
      </p:sp>
      <p:sp>
        <p:nvSpPr>
          <p:cNvPr id="39" name="b1"/>
          <p:cNvSpPr/>
          <p:nvPr/>
        </p:nvSpPr>
        <p:spPr>
          <a:xfrm>
            <a:off x="6667500" y="3556000"/>
            <a:ext cx="4762500" cy="0"/>
          </a:xfrm>
          <a:prstGeom prst="line">
            <a:avLst/>
          </a:prstGeom>
          <a:noFill/>
          <a:ln w="9525">
            <a:solidFill>
              <a:srgbClr val="DDE1E7"/>
            </a:solidFill>
            <a:prstDash val="solid"/>
          </a:ln>
        </p:spPr>
      </p:sp>
      <p:sp>
        <p:nvSpPr>
          <p:cNvPr id="40"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services/resubmission.py</a:t>
            </a:r>
            <a:endParaRPr lang="en-US" sz="950" dirty="0"/>
          </a:p>
        </p:txBody>
      </p:sp>
      <p:sp>
        <p:nvSpPr>
          <p:cNvPr id="41"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SELECT FOR UPDATE, only flagged targets may change (403), at least one flagged target changed (422), Revision N+1, feedback to addressed, audit, notify, one commit</a:t>
            </a:r>
            <a:endParaRPr lang="en-US" sz="900" dirty="0"/>
          </a:p>
        </p:txBody>
      </p:sp>
      <p:sp>
        <p:nvSpPr>
          <p:cNvPr id="42" name="b1"/>
          <p:cNvSpPr/>
          <p:nvPr/>
        </p:nvSpPr>
        <p:spPr>
          <a:xfrm>
            <a:off x="6667500" y="4267200"/>
            <a:ext cx="4762500" cy="0"/>
          </a:xfrm>
          <a:prstGeom prst="line">
            <a:avLst/>
          </a:prstGeom>
          <a:noFill/>
          <a:ln w="9525">
            <a:solidFill>
              <a:srgbClr val="DDE1E7"/>
            </a:solidFill>
            <a:prstDash val="solid"/>
          </a:ln>
        </p:spPr>
      </p:sp>
      <p:sp>
        <p:nvSpPr>
          <p:cNvPr id="43"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GET /officer/applications/{id}/audit</a:t>
            </a:r>
            <a:endParaRPr lang="en-US" sz="950" dirty="0"/>
          </a:p>
        </p:txBody>
      </p:sp>
      <p:sp>
        <p:nvSpPr>
          <p:cNvPr id="44"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actor, role, plain-language summary from domain/audit_labels.py, payload, chronological; 748 backend tests include every event type</a:t>
            </a:r>
            <a:endParaRPr lang="en-US" sz="900" dirty="0"/>
          </a:p>
        </p:txBody>
      </p:sp>
      <p:sp>
        <p:nvSpPr>
          <p:cNvPr id="45"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6"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7"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Snapshots grow with rounds; at this form size a revision is a few kilobytes. A separate audit store would be the answer at a scale this product is not at.</a:t>
            </a:r>
            <a:endParaRPr lang="en-US" sz="950" dirty="0"/>
          </a:p>
        </p:txBody>
      </p:sp>
      <p:sp>
        <p:nvSpPr>
          <p:cNvPr id="48" name="Text 4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10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320"/>
                                        <p:tgtEl>
                                          <p:spTgt spid="3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320"/>
                                        <p:tgtEl>
                                          <p:spTgt spid="3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320"/>
                                        <p:tgtEl>
                                          <p:spTgt spid="3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320"/>
                                        <p:tgtEl>
                                          <p:spTgt spid="3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20"/>
                                        <p:tgtEl>
                                          <p:spTgt spid="3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320"/>
                                        <p:tgtEl>
                                          <p:spTgt spid="3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320"/>
                                        <p:tgtEl>
                                          <p:spTgt spid="3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320"/>
                                        <p:tgtEl>
                                          <p:spTgt spid="3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320"/>
                                        <p:tgtEl>
                                          <p:spTgt spid="4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320"/>
                                        <p:tgtEl>
                                          <p:spTgt spid="4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320"/>
                                        <p:tgtEl>
                                          <p:spTgt spid="4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320"/>
                                        <p:tgtEl>
                                          <p:spTgt spid="43"/>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320"/>
                                        <p:tgtEl>
                                          <p:spTgt spid="44"/>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320"/>
                                        <p:tgtEl>
                                          <p:spTgt spid="45"/>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320"/>
                                        <p:tgtEl>
                                          <p:spTgt spid="46"/>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32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BRANCHING</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Two long-lived branches, one story per branch, releases by tag.</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6-branching.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main and dev</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main is production and receives only release merges from dev (or a hotfix); tagged v0.1.0, v0.2.0, v0.3.0, one per sprint. dev is integration and the default branch: always buildable, CI green, every merge deploys development.</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One story per branch</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feat/us-&lt;id&gt;-&lt;slug&gt;, fix/*, chore/*, docs/*, each from dev and back into dev with --no-ff, so the graph shows one side line per story and the branch name maps to the board. 91 story merges, 173 work branches kept on the remote.</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Release and hotfix</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release is a --no-ff merge of dev into main with frontend/package.json bumped to the tag; CI tags the images with the same string. A hotfix branches from main and merges into main, then dev. The path exists; it was not needed.</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Rules</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Conventional commits with a subject of 50 characters or fewer; history never rewritten on main or dev; nothing pushed without an explicit decision. docs/operations/BRANCHING.md.</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docs/operations/BRANCHING.md · git log --merges dev · git tag</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11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ADR-011</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Build once, promote by tag, production behind a person.</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4-deployment.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Images built once</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CI builds both images after every other job is green and pushes them to GHCR with sha-&lt;commit&gt;, the branch, and v0.3.0 on main. Railway never builds; the tested artefact is the deployed artefact.</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Two environments, nothing shared</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development from dev, production from main. Own PostgreSQL 18, own uploads volume, own secrets, own tokens, own domains.</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Gates</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Production waits for the repository owner's approval in the GitHub environment. Both environments gate on /api/v1/health, /healthz and config.js naming the right API. Rollback is the previous tag.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Known limit</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workflow_run job executes on the default branch, dev, and the production environment admits only main, so production is deployed by hand: gh workflow run deploy.yml --ref main. Documented in OPERATIONS.md.</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docs/operations/OPERATIONS.md: shape, secrets and variables, seeding, custom domain, rollback, what was verified</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12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CI</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Seven CI jobs, an AI gate with six, a live evaluation, and a deploy that waits for health.</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5-ci-cd-pipelin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Everything blocks</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Backend (ruff, mypy strict, 748 pytest on PostgreSQL), Frontend (eslint, tsc, 152 vitest with thresholds, build), gitleaks, pip-audit, bandit, npm audit, End to end (the whole stack in the runner, Playwright), Images. No job is advisory.</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gate on every push</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Model approval, contracts on a real database, 14 golden cases, adversarial injection cases, 21 fairness runs, verdict. On the mock provider so it is deterministic and free.</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Live evaluation</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Nightly and on AI-path pushes against the real OpenAI model: blocking at 14 of 14, each run recorded as a LangSmith experiment. Fails loudly when the key is missing.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Reproducible</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The end-to-end job runs migrations, seed, uvicorn and vite preview inside the runner, with rate limits set to 0 and the mock provider. The same commands run locally.</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.github/workflows: ci.yml, ai-gate.yml (workflow_call), ai-eval.yml, deploy.yml · shell: bash with pipefail everywhere</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13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PRODUCTION READINESS</a:t>
            </a:r>
            <a:endParaRPr lang="en-US" sz="1100" dirty="0"/>
          </a:p>
        </p:txBody>
      </p:sp>
      <p:sp>
        <p:nvSpPr>
          <p:cNvPr id="3" name="Text 1"/>
          <p:cNvSpPr txBox="1"/>
          <p:nvPr/>
        </p:nvSpPr>
        <p:spPr>
          <a:xfrm>
            <a:off x="762000" y="863600"/>
            <a:ext cx="9906000" cy="5715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Instrument Serif" pitchFamily="34" charset="0"/>
                <a:ea typeface="Instrument Serif" pitchFamily="34" charset="-122"/>
                <a:cs typeface="Instrument Serif" pitchFamily="34" charset="-120"/>
              </a:rPr>
              <a:t>Checked by tests, gates and a written record.</a:t>
            </a:r>
            <a:endParaRPr lang="en-US" sz="2300" dirty="0"/>
          </a:p>
        </p:txBody>
      </p:sp>
      <p:sp>
        <p:nvSpPr>
          <p:cNvPr id="4" name="Text 2"/>
          <p:cNvSpPr txBox="1"/>
          <p:nvPr/>
        </p:nvSpPr>
        <p:spPr>
          <a:xfrm>
            <a:off x="762000" y="1524000"/>
            <a:ext cx="10668000" cy="254000"/>
          </a:xfrm>
          <a:prstGeom prst="rect">
            <a:avLst/>
          </a:prstGeom>
          <a:noFill/>
          <a:ln/>
        </p:spPr>
        <p:txBody>
          <a:bodyPr wrap="none" lIns="0" tIns="0" rIns="0" bIns="0" rtlCol="0" anchor="ctr"/>
          <a:lstStyle/>
          <a:p>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748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backend tests, 96 % statements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152</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frontend tests, 80.6 %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Playwright specs, axe over 23 states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23</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threats, each with a control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20</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readiness rows with severity</a:t>
            </a:r>
            <a:endParaRPr lang="en-US" sz="950" dirty="0"/>
          </a:p>
        </p:txBody>
      </p:sp>
      <p:sp>
        <p:nvSpPr>
          <p:cNvPr id="5" name="Shape 3"/>
          <p:cNvSpPr/>
          <p:nvPr/>
        </p:nvSpPr>
        <p:spPr>
          <a:xfrm>
            <a:off x="812800" y="2000250"/>
            <a:ext cx="50800" cy="50800"/>
          </a:xfrm>
          <a:prstGeom prst="line">
            <a:avLst/>
          </a:prstGeom>
          <a:noFill/>
          <a:ln w="25400">
            <a:solidFill>
              <a:srgbClr val="067647"/>
            </a:solidFill>
            <a:prstDash val="solid"/>
          </a:ln>
        </p:spPr>
      </p:sp>
      <p:sp>
        <p:nvSpPr>
          <p:cNvPr id="6" name="Shape 4"/>
          <p:cNvSpPr/>
          <p:nvPr/>
        </p:nvSpPr>
        <p:spPr>
          <a:xfrm flipV="1">
            <a:off x="863600" y="1955800"/>
            <a:ext cx="82550" cy="95250"/>
          </a:xfrm>
          <a:prstGeom prst="line">
            <a:avLst/>
          </a:prstGeom>
          <a:noFill/>
          <a:ln w="25400">
            <a:solidFill>
              <a:srgbClr val="067647"/>
            </a:solidFill>
            <a:prstDash val="solid"/>
          </a:ln>
        </p:spPr>
      </p:sp>
      <p:sp>
        <p:nvSpPr>
          <p:cNvPr id="7" name="Text 5"/>
          <p:cNvSpPr txBox="1"/>
          <p:nvPr/>
        </p:nvSpPr>
        <p:spPr>
          <a:xfrm>
            <a:off x="1079500" y="1905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Input validation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Pydantic 422 with per-field details; upload allowlist, size streamed to 10 MB, magic bytes; zod schemas built from the server's form schema.</a:t>
            </a:r>
            <a:endParaRPr lang="en-US" sz="950" dirty="0"/>
          </a:p>
        </p:txBody>
      </p:sp>
      <p:sp>
        <p:nvSpPr>
          <p:cNvPr id="8" name="Shape 6"/>
          <p:cNvSpPr/>
          <p:nvPr/>
        </p:nvSpPr>
        <p:spPr>
          <a:xfrm>
            <a:off x="762000" y="2552700"/>
            <a:ext cx="6223000" cy="0"/>
          </a:xfrm>
          <a:prstGeom prst="line">
            <a:avLst/>
          </a:prstGeom>
          <a:noFill/>
          <a:ln w="9525">
            <a:solidFill>
              <a:srgbClr val="DDE1E7"/>
            </a:solidFill>
            <a:prstDash val="solid"/>
          </a:ln>
        </p:spPr>
      </p:sp>
      <p:sp>
        <p:nvSpPr>
          <p:cNvPr id="9" name="Shape 7"/>
          <p:cNvSpPr/>
          <p:nvPr/>
        </p:nvSpPr>
        <p:spPr>
          <a:xfrm>
            <a:off x="812800" y="2686050"/>
            <a:ext cx="50800" cy="50800"/>
          </a:xfrm>
          <a:prstGeom prst="line">
            <a:avLst/>
          </a:prstGeom>
          <a:noFill/>
          <a:ln w="25400">
            <a:solidFill>
              <a:srgbClr val="067647"/>
            </a:solidFill>
            <a:prstDash val="solid"/>
          </a:ln>
        </p:spPr>
      </p:sp>
      <p:sp>
        <p:nvSpPr>
          <p:cNvPr id="10" name="Shape 8"/>
          <p:cNvSpPr/>
          <p:nvPr/>
        </p:nvSpPr>
        <p:spPr>
          <a:xfrm flipV="1">
            <a:off x="863600" y="2641600"/>
            <a:ext cx="82550" cy="95250"/>
          </a:xfrm>
          <a:prstGeom prst="line">
            <a:avLst/>
          </a:prstGeom>
          <a:noFill/>
          <a:ln w="25400">
            <a:solidFill>
              <a:srgbClr val="067647"/>
            </a:solidFill>
            <a:prstDash val="solid"/>
          </a:ln>
        </p:spPr>
      </p:sp>
      <p:sp>
        <p:nvSpPr>
          <p:cNvPr id="11" name="Text 9"/>
          <p:cNvSpPr txBox="1"/>
          <p:nvPr/>
        </p:nvSpPr>
        <p:spPr>
          <a:xfrm>
            <a:off x="1079500" y="25908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Error envelope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 error: { code, message, details } } on every route, including 401, 403, 422, 429 and 500 with a request id and no stack trace.</a:t>
            </a:r>
            <a:endParaRPr lang="en-US" sz="950" dirty="0"/>
          </a:p>
        </p:txBody>
      </p:sp>
      <p:sp>
        <p:nvSpPr>
          <p:cNvPr id="12" name="Shape 10"/>
          <p:cNvSpPr/>
          <p:nvPr/>
        </p:nvSpPr>
        <p:spPr>
          <a:xfrm>
            <a:off x="762000" y="3238500"/>
            <a:ext cx="6223000" cy="0"/>
          </a:xfrm>
          <a:prstGeom prst="line">
            <a:avLst/>
          </a:prstGeom>
          <a:noFill/>
          <a:ln w="9525">
            <a:solidFill>
              <a:srgbClr val="DDE1E7"/>
            </a:solidFill>
            <a:prstDash val="solid"/>
          </a:ln>
        </p:spPr>
      </p:sp>
      <p:sp>
        <p:nvSpPr>
          <p:cNvPr id="13" name="Shape 11"/>
          <p:cNvSpPr/>
          <p:nvPr/>
        </p:nvSpPr>
        <p:spPr>
          <a:xfrm>
            <a:off x="812800" y="3371850"/>
            <a:ext cx="50800" cy="50800"/>
          </a:xfrm>
          <a:prstGeom prst="line">
            <a:avLst/>
          </a:prstGeom>
          <a:noFill/>
          <a:ln w="25400">
            <a:solidFill>
              <a:srgbClr val="067647"/>
            </a:solidFill>
            <a:prstDash val="solid"/>
          </a:ln>
        </p:spPr>
      </p:sp>
      <p:sp>
        <p:nvSpPr>
          <p:cNvPr id="14" name="Shape 12"/>
          <p:cNvSpPr/>
          <p:nvPr/>
        </p:nvSpPr>
        <p:spPr>
          <a:xfrm flipV="1">
            <a:off x="863600" y="3327400"/>
            <a:ext cx="82550" cy="95250"/>
          </a:xfrm>
          <a:prstGeom prst="line">
            <a:avLst/>
          </a:prstGeom>
          <a:noFill/>
          <a:ln w="25400">
            <a:solidFill>
              <a:srgbClr val="067647"/>
            </a:solidFill>
            <a:prstDash val="solid"/>
          </a:ln>
        </p:spPr>
      </p:sp>
      <p:sp>
        <p:nvSpPr>
          <p:cNvPr id="15" name="Text 13"/>
          <p:cNvSpPr txBox="1"/>
          <p:nvPr/>
        </p:nvSpPr>
        <p:spPr>
          <a:xfrm>
            <a:off x="1079500" y="32766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Concurrency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SELECT FOR UPDATE on the application; expected_version on transitions (409 version_conflict); stale AI runs recovered on restart.</a:t>
            </a:r>
            <a:endParaRPr lang="en-US" sz="950" dirty="0"/>
          </a:p>
        </p:txBody>
      </p:sp>
      <p:sp>
        <p:nvSpPr>
          <p:cNvPr id="16" name="Shape 14"/>
          <p:cNvSpPr/>
          <p:nvPr/>
        </p:nvSpPr>
        <p:spPr>
          <a:xfrm>
            <a:off x="762000" y="3924300"/>
            <a:ext cx="6223000" cy="0"/>
          </a:xfrm>
          <a:prstGeom prst="line">
            <a:avLst/>
          </a:prstGeom>
          <a:noFill/>
          <a:ln w="9525">
            <a:solidFill>
              <a:srgbClr val="DDE1E7"/>
            </a:solidFill>
            <a:prstDash val="solid"/>
          </a:ln>
        </p:spPr>
      </p:sp>
      <p:sp>
        <p:nvSpPr>
          <p:cNvPr id="17" name="Shape 15"/>
          <p:cNvSpPr/>
          <p:nvPr/>
        </p:nvSpPr>
        <p:spPr>
          <a:xfrm>
            <a:off x="812800" y="4057650"/>
            <a:ext cx="50800" cy="50800"/>
          </a:xfrm>
          <a:prstGeom prst="line">
            <a:avLst/>
          </a:prstGeom>
          <a:noFill/>
          <a:ln w="25400">
            <a:solidFill>
              <a:srgbClr val="067647"/>
            </a:solidFill>
            <a:prstDash val="solid"/>
          </a:ln>
        </p:spPr>
      </p:sp>
      <p:sp>
        <p:nvSpPr>
          <p:cNvPr id="18" name="Shape 16"/>
          <p:cNvSpPr/>
          <p:nvPr/>
        </p:nvSpPr>
        <p:spPr>
          <a:xfrm flipV="1">
            <a:off x="863600" y="4013200"/>
            <a:ext cx="82550" cy="95250"/>
          </a:xfrm>
          <a:prstGeom prst="line">
            <a:avLst/>
          </a:prstGeom>
          <a:noFill/>
          <a:ln w="25400">
            <a:solidFill>
              <a:srgbClr val="067647"/>
            </a:solidFill>
            <a:prstDash val="solid"/>
          </a:ln>
        </p:spPr>
      </p:sp>
      <p:sp>
        <p:nvSpPr>
          <p:cNvPr id="19" name="Text 17"/>
          <p:cNvSpPr txBox="1"/>
          <p:nvPr/>
        </p:nvSpPr>
        <p:spPr>
          <a:xfrm>
            <a:off x="1079500" y="39624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Abuse limits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240 requests and 20 sign-ins per client per minute with Retry-After; 20 open drafts; 60 checks per applicant and 1 000 per day, over quota stored unavailable.</a:t>
            </a:r>
            <a:endParaRPr lang="en-US" sz="950" dirty="0"/>
          </a:p>
        </p:txBody>
      </p:sp>
      <p:sp>
        <p:nvSpPr>
          <p:cNvPr id="20" name="Shape 18"/>
          <p:cNvSpPr/>
          <p:nvPr/>
        </p:nvSpPr>
        <p:spPr>
          <a:xfrm>
            <a:off x="762000" y="4610100"/>
            <a:ext cx="6223000" cy="0"/>
          </a:xfrm>
          <a:prstGeom prst="line">
            <a:avLst/>
          </a:prstGeom>
          <a:noFill/>
          <a:ln w="9525">
            <a:solidFill>
              <a:srgbClr val="DDE1E7"/>
            </a:solidFill>
            <a:prstDash val="solid"/>
          </a:ln>
        </p:spPr>
      </p:sp>
      <p:sp>
        <p:nvSpPr>
          <p:cNvPr id="21" name="Shape 19"/>
          <p:cNvSpPr/>
          <p:nvPr/>
        </p:nvSpPr>
        <p:spPr>
          <a:xfrm>
            <a:off x="812800" y="4743450"/>
            <a:ext cx="50800" cy="50800"/>
          </a:xfrm>
          <a:prstGeom prst="line">
            <a:avLst/>
          </a:prstGeom>
          <a:noFill/>
          <a:ln w="25400">
            <a:solidFill>
              <a:srgbClr val="067647"/>
            </a:solidFill>
            <a:prstDash val="solid"/>
          </a:ln>
        </p:spPr>
      </p:sp>
      <p:sp>
        <p:nvSpPr>
          <p:cNvPr id="22" name="Shape 20"/>
          <p:cNvSpPr/>
          <p:nvPr/>
        </p:nvSpPr>
        <p:spPr>
          <a:xfrm flipV="1">
            <a:off x="863600" y="4699000"/>
            <a:ext cx="82550" cy="95250"/>
          </a:xfrm>
          <a:prstGeom prst="line">
            <a:avLst/>
          </a:prstGeom>
          <a:noFill/>
          <a:ln w="25400">
            <a:solidFill>
              <a:srgbClr val="067647"/>
            </a:solidFill>
            <a:prstDash val="solid"/>
          </a:ln>
        </p:spPr>
      </p:sp>
      <p:sp>
        <p:nvSpPr>
          <p:cNvPr id="23" name="Text 21"/>
          <p:cNvSpPr txBox="1"/>
          <p:nvPr/>
        </p:nvSpPr>
        <p:spPr>
          <a:xfrm>
            <a:off x="1079500" y="46482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Headers and secrets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CSP, HSTS, COOP, Permissions-Policy on both tiers; Argon2, JWT 8 h re-validated per request; gitleaks over the history; .env.example documents every variable.</a:t>
            </a:r>
            <a:endParaRPr lang="en-US" sz="950" dirty="0"/>
          </a:p>
        </p:txBody>
      </p:sp>
      <p:sp>
        <p:nvSpPr>
          <p:cNvPr id="24" name="Shape 22"/>
          <p:cNvSpPr/>
          <p:nvPr/>
        </p:nvSpPr>
        <p:spPr>
          <a:xfrm>
            <a:off x="762000" y="5295900"/>
            <a:ext cx="6223000" cy="0"/>
          </a:xfrm>
          <a:prstGeom prst="line">
            <a:avLst/>
          </a:prstGeom>
          <a:noFill/>
          <a:ln w="9525">
            <a:solidFill>
              <a:srgbClr val="DDE1E7"/>
            </a:solidFill>
            <a:prstDash val="solid"/>
          </a:ln>
        </p:spPr>
      </p:sp>
      <p:sp>
        <p:nvSpPr>
          <p:cNvPr id="25" name="Shape 23"/>
          <p:cNvSpPr/>
          <p:nvPr/>
        </p:nvSpPr>
        <p:spPr>
          <a:xfrm>
            <a:off x="812800" y="5429250"/>
            <a:ext cx="50800" cy="50800"/>
          </a:xfrm>
          <a:prstGeom prst="line">
            <a:avLst/>
          </a:prstGeom>
          <a:noFill/>
          <a:ln w="25400">
            <a:solidFill>
              <a:srgbClr val="067647"/>
            </a:solidFill>
            <a:prstDash val="solid"/>
          </a:ln>
        </p:spPr>
      </p:sp>
      <p:sp>
        <p:nvSpPr>
          <p:cNvPr id="26" name="Shape 24"/>
          <p:cNvSpPr/>
          <p:nvPr/>
        </p:nvSpPr>
        <p:spPr>
          <a:xfrm flipV="1">
            <a:off x="863600" y="5384800"/>
            <a:ext cx="82550" cy="95250"/>
          </a:xfrm>
          <a:prstGeom prst="line">
            <a:avLst/>
          </a:prstGeom>
          <a:noFill/>
          <a:ln w="25400">
            <a:solidFill>
              <a:srgbClr val="067647"/>
            </a:solidFill>
            <a:prstDash val="solid"/>
          </a:ln>
        </p:spPr>
      </p:sp>
      <p:sp>
        <p:nvSpPr>
          <p:cNvPr id="27" name="Text 25"/>
          <p:cNvSpPr txBox="1"/>
          <p:nvPr/>
        </p:nvSpPr>
        <p:spPr>
          <a:xfrm>
            <a:off x="1079500" y="5334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Public Sans" pitchFamily="34" charset="0"/>
                <a:ea typeface="Public Sans" pitchFamily="34" charset="-122"/>
                <a:cs typeface="Public Sans" pitchFamily="34" charset="-120"/>
              </a:rPr>
              <a:t>Accessibility and legal  </a:t>
            </a:r>
            <a:pPr algn="l" indent="0" marL="0">
              <a:lnSpc>
                <a:spcPct val="128000"/>
              </a:lnSpc>
              <a:buNone/>
            </a:pPr>
            <a:r>
              <a:rPr lang="en-US" sz="950" dirty="0">
                <a:solidFill>
                  <a:srgbClr val="465060"/>
                </a:solidFill>
                <a:latin typeface="Public Sans" pitchFamily="34" charset="0"/>
                <a:ea typeface="Public Sans" pitchFamily="34" charset="-122"/>
                <a:cs typeface="Public Sans" pitchFamily="34" charset="-120"/>
              </a:rPr>
              <a:t>axe gate in CI over 23 screen states; labels never colour alone; policy pages and demonstration notices; fonts self-hosted.</a:t>
            </a:r>
            <a:endParaRPr lang="en-US" sz="950" dirty="0"/>
          </a:p>
        </p:txBody>
      </p:sp>
      <p:sp>
        <p:nvSpPr>
          <p:cNvPr id="28" name="b1"/>
          <p:cNvSpPr/>
          <p:nvPr/>
        </p:nvSpPr>
        <p:spPr>
          <a:xfrm>
            <a:off x="7366000" y="19050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9" name="b1"/>
          <p:cNvSpPr txBox="1"/>
          <p:nvPr/>
        </p:nvSpPr>
        <p:spPr>
          <a:xfrm>
            <a:off x="7531100" y="20193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Threat model</a:t>
            </a:r>
            <a:endParaRPr lang="en-US" sz="1050" dirty="0"/>
          </a:p>
        </p:txBody>
      </p:sp>
      <p:sp>
        <p:nvSpPr>
          <p:cNvPr id="30" name="b1"/>
          <p:cNvSpPr txBox="1"/>
          <p:nvPr/>
        </p:nvSpPr>
        <p:spPr>
          <a:xfrm>
            <a:off x="7531100" y="22225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docs/security/THREAT_MODEL.md: T1 to T22 plus T1a, STRIDE per asset, the control for each, what is accepted for a demonstration and why.</a:t>
            </a:r>
            <a:endParaRPr lang="en-US" sz="900" dirty="0"/>
          </a:p>
        </p:txBody>
      </p:sp>
      <p:sp>
        <p:nvSpPr>
          <p:cNvPr id="31" name="b1"/>
          <p:cNvSpPr/>
          <p:nvPr/>
        </p:nvSpPr>
        <p:spPr>
          <a:xfrm>
            <a:off x="7366000" y="29464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2" name="b1"/>
          <p:cNvSpPr txBox="1"/>
          <p:nvPr/>
        </p:nvSpPr>
        <p:spPr>
          <a:xfrm>
            <a:off x="7531100" y="30607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Readiness review</a:t>
            </a:r>
            <a:endParaRPr lang="en-US" sz="1050" dirty="0"/>
          </a:p>
        </p:txBody>
      </p:sp>
      <p:sp>
        <p:nvSpPr>
          <p:cNvPr id="33" name="b1"/>
          <p:cNvSpPr txBox="1"/>
          <p:nvPr/>
        </p:nvSpPr>
        <p:spPr>
          <a:xfrm>
            <a:off x="7531100" y="32639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docs/reviews/PRODUCTION_READINESS_REVIEW.md: 20 rows, severity, what mitigates today, what production needs.</a:t>
            </a:r>
            <a:endParaRPr lang="en-US" sz="900" dirty="0"/>
          </a:p>
        </p:txBody>
      </p:sp>
      <p:sp>
        <p:nvSpPr>
          <p:cNvPr id="34" name="b1"/>
          <p:cNvSpPr/>
          <p:nvPr/>
        </p:nvSpPr>
        <p:spPr>
          <a:xfrm>
            <a:off x="7366000" y="39878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5" name="b1"/>
          <p:cNvSpPr txBox="1"/>
          <p:nvPr/>
        </p:nvSpPr>
        <p:spPr>
          <a:xfrm>
            <a:off x="7531100" y="41021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Security hardening</a:t>
            </a:r>
            <a:endParaRPr lang="en-US" sz="1050" dirty="0"/>
          </a:p>
        </p:txBody>
      </p:sp>
      <p:sp>
        <p:nvSpPr>
          <p:cNvPr id="36" name="b1"/>
          <p:cNvSpPr txBox="1"/>
          <p:nvPr/>
        </p:nvSpPr>
        <p:spPr>
          <a:xfrm>
            <a:off x="7531100" y="43053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docs/security/SECURITY_REVIEW.md: four attack scenarios walked through against the code, with the fix or the accepted risk.</a:t>
            </a:r>
            <a:endParaRPr lang="en-US" sz="900" dirty="0"/>
          </a:p>
        </p:txBody>
      </p:sp>
      <p:sp>
        <p:nvSpPr>
          <p:cNvPr id="37" name="b1"/>
          <p:cNvSpPr/>
          <p:nvPr/>
        </p:nvSpPr>
        <p:spPr>
          <a:xfrm>
            <a:off x="7366000" y="50292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8" name="b1"/>
          <p:cNvSpPr txBox="1"/>
          <p:nvPr/>
        </p:nvSpPr>
        <p:spPr>
          <a:xfrm>
            <a:off x="7531100" y="51435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UAT</a:t>
            </a:r>
            <a:endParaRPr lang="en-US" sz="1050" dirty="0"/>
          </a:p>
        </p:txBody>
      </p:sp>
      <p:sp>
        <p:nvSpPr>
          <p:cNvPr id="39" name="b1"/>
          <p:cNvSpPr txBox="1"/>
          <p:nvPr/>
        </p:nvSpPr>
        <p:spPr>
          <a:xfrm>
            <a:off x="7531100" y="53467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docs/uat/UAT_PLAN.md: twelve scripts, executed on development and again on production after v0.3.0.</a:t>
            </a:r>
            <a:endParaRPr lang="en-US" sz="900" dirty="0"/>
          </a:p>
        </p:txBody>
      </p:sp>
      <p:sp>
        <p:nvSpPr>
          <p:cNvPr id="40" name="Text 3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14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Instrument Serif" pitchFamily="34" charset="0"/>
                <a:ea typeface="Instrument Serif" pitchFamily="34" charset="-122"/>
                <a:cs typeface="Instrument Serif" pitchFamily="34" charset="-120"/>
              </a:rPr>
              <a:t>AI wrote most of the code. The rules it worked under, and the checks on its output, are in the repository.</a:t>
            </a:r>
            <a:endParaRPr lang="en-US" sz="2100" dirty="0"/>
          </a:p>
        </p:txBody>
      </p:sp>
      <p:sp>
        <p:nvSpPr>
          <p:cNvPr id="4" name="Text 2"/>
          <p:cNvSpPr txBox="1"/>
          <p:nvPr/>
        </p:nvSpPr>
        <p:spPr>
          <a:xfrm>
            <a:off x="7620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BUILDING THE PRODUCT</a:t>
            </a:r>
            <a:endParaRPr lang="en-US" sz="900" dirty="0"/>
          </a:p>
        </p:txBody>
      </p:sp>
      <p:sp>
        <p:nvSpPr>
          <p:cNvPr id="5" name="Shape 3"/>
          <p:cNvSpPr/>
          <p:nvPr/>
        </p:nvSpPr>
        <p:spPr>
          <a:xfrm>
            <a:off x="762000" y="2095500"/>
            <a:ext cx="5181600" cy="0"/>
          </a:xfrm>
          <a:prstGeom prst="line">
            <a:avLst/>
          </a:prstGeom>
          <a:noFill/>
          <a:ln w="9525">
            <a:solidFill>
              <a:srgbClr val="DDE1E7"/>
            </a:solidFill>
            <a:prstDash val="solid"/>
          </a:ln>
        </p:spPr>
      </p:sp>
      <p:sp>
        <p:nvSpPr>
          <p:cNvPr id="6" name="Text 4"/>
          <p:cNvSpPr txBox="1"/>
          <p:nvPr/>
        </p:nvSpPr>
        <p:spPr>
          <a:xfrm>
            <a:off x="7620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Tools</a:t>
            </a:r>
            <a:endParaRPr lang="en-US" sz="1000" dirty="0"/>
          </a:p>
        </p:txBody>
      </p:sp>
      <p:sp>
        <p:nvSpPr>
          <p:cNvPr id="7" name="Text 5"/>
          <p:cNvSpPr txBox="1"/>
          <p:nvPr/>
        </p:nvSpPr>
        <p:spPr>
          <a:xfrm>
            <a:off x="20066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Claude Code (Opus 5, some Fable 5.1) in Cursor's terminal; Cursor to read every diff before a commit; Wispr Flow to dictate the long briefs; Claude in Chrome for the dashboard steps and persona run-throughs; Notion, Railway, GitHub through MCP and CLIs.</a:t>
            </a:r>
            <a:endParaRPr lang="en-US" sz="900" dirty="0"/>
          </a:p>
        </p:txBody>
      </p:sp>
      <p:sp>
        <p:nvSpPr>
          <p:cNvPr id="8" name="Shape 6"/>
          <p:cNvSpPr/>
          <p:nvPr/>
        </p:nvSpPr>
        <p:spPr>
          <a:xfrm>
            <a:off x="762000" y="3111500"/>
            <a:ext cx="5181600" cy="0"/>
          </a:xfrm>
          <a:prstGeom prst="line">
            <a:avLst/>
          </a:prstGeom>
          <a:noFill/>
          <a:ln w="9525">
            <a:solidFill>
              <a:srgbClr val="DDE1E7"/>
            </a:solidFill>
            <a:prstDash val="solid"/>
          </a:ln>
        </p:spPr>
      </p:sp>
      <p:sp>
        <p:nvSpPr>
          <p:cNvPr id="9" name="Text 7"/>
          <p:cNvSpPr txBox="1"/>
          <p:nvPr/>
        </p:nvSpPr>
        <p:spPr>
          <a:xfrm>
            <a:off x="7620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Standing context</a:t>
            </a:r>
            <a:endParaRPr lang="en-US" sz="1000" dirty="0"/>
          </a:p>
        </p:txBody>
      </p:sp>
      <p:sp>
        <p:nvSpPr>
          <p:cNvPr id="10" name="Text 8"/>
          <p:cNvSpPr txBox="1"/>
          <p:nvPr/>
        </p:nvSpPr>
        <p:spPr>
          <a:xfrm>
            <a:off x="20066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Two instruction files: a global engineering standard and the checked-in CLAUDE.md (three personas, layering, every status change through workflow.py, AI never mutates state, same-transaction audit, error envelope, the per-story checklist). The brief's five context types, each with an example in AI_USAGE.md.</a:t>
            </a:r>
            <a:endParaRPr lang="en-US" sz="900" dirty="0"/>
          </a:p>
        </p:txBody>
      </p:sp>
      <p:sp>
        <p:nvSpPr>
          <p:cNvPr id="11" name="Shape 9"/>
          <p:cNvSpPr/>
          <p:nvPr/>
        </p:nvSpPr>
        <p:spPr>
          <a:xfrm>
            <a:off x="762000" y="4127500"/>
            <a:ext cx="5181600" cy="0"/>
          </a:xfrm>
          <a:prstGeom prst="line">
            <a:avLst/>
          </a:prstGeom>
          <a:noFill/>
          <a:ln w="9525">
            <a:solidFill>
              <a:srgbClr val="DDE1E7"/>
            </a:solidFill>
            <a:prstDash val="solid"/>
          </a:ln>
        </p:spPr>
      </p:sp>
      <p:sp>
        <p:nvSpPr>
          <p:cNvPr id="12" name="Text 10"/>
          <p:cNvSpPr txBox="1"/>
          <p:nvPr/>
        </p:nvSpPr>
        <p:spPr>
          <a:xfrm>
            <a:off x="7620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How output was checked</a:t>
            </a:r>
            <a:endParaRPr lang="en-US" sz="1000" dirty="0"/>
          </a:p>
        </p:txBody>
      </p:sp>
      <p:sp>
        <p:nvSpPr>
          <p:cNvPr id="13" name="Text 11"/>
          <p:cNvSpPr txBox="1"/>
          <p:nvPr/>
        </p:nvSpPr>
        <p:spPr>
          <a:xfrm>
            <a:off x="20066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Full suites on every story; browser checks at 390, 1024 and 1280; subagent reviews with separate briefs (design critique, edge cases, bug hunts, a strict assessor); every finding reproduced before a fix; docs checked against code at each sprint close.</a:t>
            </a:r>
            <a:endParaRPr lang="en-US" sz="900" dirty="0"/>
          </a:p>
        </p:txBody>
      </p:sp>
      <p:sp>
        <p:nvSpPr>
          <p:cNvPr id="14" name="Shape 12"/>
          <p:cNvSpPr/>
          <p:nvPr/>
        </p:nvSpPr>
        <p:spPr>
          <a:xfrm>
            <a:off x="762000" y="5143500"/>
            <a:ext cx="5181600" cy="0"/>
          </a:xfrm>
          <a:prstGeom prst="line">
            <a:avLst/>
          </a:prstGeom>
          <a:noFill/>
          <a:ln w="9525">
            <a:solidFill>
              <a:srgbClr val="DDE1E7"/>
            </a:solidFill>
            <a:prstDash val="solid"/>
          </a:ln>
        </p:spPr>
      </p:sp>
      <p:sp>
        <p:nvSpPr>
          <p:cNvPr id="15" name="Text 13"/>
          <p:cNvSpPr txBox="1"/>
          <p:nvPr/>
        </p:nvSpPr>
        <p:spPr>
          <a:xfrm>
            <a:off x="7620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Where it was wrong</a:t>
            </a:r>
            <a:endParaRPr lang="en-US" sz="1000" dirty="0"/>
          </a:p>
        </p:txBody>
      </p:sp>
      <p:sp>
        <p:nvSpPr>
          <p:cNvPr id="16" name="Text 14"/>
          <p:cNvSpPr txBox="1"/>
          <p:nvPr/>
        </p:nvSpPr>
        <p:spPr>
          <a:xfrm>
            <a:off x="20066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Invented enum values and a valid verdict on an expired certificate (pinned schema, date in the prompt); a scope-creeping story and a red landing band (rejected); a transition the state machine did not allow (became Return to review); a scratch file swept into a commit.</a:t>
            </a:r>
            <a:endParaRPr lang="en-US" sz="900" dirty="0"/>
          </a:p>
        </p:txBody>
      </p:sp>
      <p:sp>
        <p:nvSpPr>
          <p:cNvPr id="17" name="b1"/>
          <p:cNvSpPr txBox="1"/>
          <p:nvPr/>
        </p:nvSpPr>
        <p:spPr>
          <a:xfrm>
            <a:off x="62484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DEBRIEF MATERIAL, SECOND SESSION</a:t>
            </a:r>
            <a:endParaRPr lang="en-US" sz="900" dirty="0"/>
          </a:p>
        </p:txBody>
      </p:sp>
      <p:sp>
        <p:nvSpPr>
          <p:cNvPr id="18" name="b1"/>
          <p:cNvSpPr/>
          <p:nvPr/>
        </p:nvSpPr>
        <p:spPr>
          <a:xfrm>
            <a:off x="6248400" y="2095500"/>
            <a:ext cx="5181600" cy="0"/>
          </a:xfrm>
          <a:prstGeom prst="line">
            <a:avLst/>
          </a:prstGeom>
          <a:noFill/>
          <a:ln w="9525">
            <a:solidFill>
              <a:srgbClr val="DDE1E7"/>
            </a:solidFill>
            <a:prstDash val="solid"/>
          </a:ln>
        </p:spPr>
      </p:sp>
      <p:sp>
        <p:nvSpPr>
          <p:cNvPr id="19" name="b1"/>
          <p:cNvSpPr txBox="1"/>
          <p:nvPr/>
        </p:nvSpPr>
        <p:spPr>
          <a:xfrm>
            <a:off x="62484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Skills</a:t>
            </a:r>
            <a:endParaRPr lang="en-US" sz="1000" dirty="0"/>
          </a:p>
        </p:txBody>
      </p:sp>
      <p:sp>
        <p:nvSpPr>
          <p:cNvPr id="20" name="b1"/>
          <p:cNvSpPr txBox="1"/>
          <p:nvPr/>
        </p:nvSpPr>
        <p:spPr>
          <a:xfrm>
            <a:off x="74930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brag (launch video workflow); the HyperFrames set: hyperframes-core, -animation, -keyframes, -cli, -audio, media-use, general-video, slideshow; demo-video (Playwright footage recipe); claude-video-generator (narrated walkthrough rules).</a:t>
            </a:r>
            <a:endParaRPr lang="en-US" sz="900" dirty="0"/>
          </a:p>
        </p:txBody>
      </p:sp>
      <p:sp>
        <p:nvSpPr>
          <p:cNvPr id="21" name="b1"/>
          <p:cNvSpPr/>
          <p:nvPr/>
        </p:nvSpPr>
        <p:spPr>
          <a:xfrm>
            <a:off x="6248400" y="3111500"/>
            <a:ext cx="5181600" cy="0"/>
          </a:xfrm>
          <a:prstGeom prst="line">
            <a:avLst/>
          </a:prstGeom>
          <a:noFill/>
          <a:ln w="9525">
            <a:solidFill>
              <a:srgbClr val="DDE1E7"/>
            </a:solidFill>
            <a:prstDash val="solid"/>
          </a:ln>
        </p:spPr>
      </p:sp>
      <p:sp>
        <p:nvSpPr>
          <p:cNvPr id="22" name="b1"/>
          <p:cNvSpPr txBox="1"/>
          <p:nvPr/>
        </p:nvSpPr>
        <p:spPr>
          <a:xfrm>
            <a:off x="62484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Pipeline</a:t>
            </a:r>
            <a:endParaRPr lang="en-US" sz="1000" dirty="0"/>
          </a:p>
        </p:txBody>
      </p:sp>
      <p:sp>
        <p:nvSpPr>
          <p:cNvPr id="23" name="b1"/>
          <p:cNvSpPr txBox="1"/>
          <p:nvPr/>
        </p:nvSpPr>
        <p:spPr>
          <a:xfrm>
            <a:off x="74930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Playwright records the development environment at 1920 x 1080 with a drawn cursor; narration through Kokoro via hyperframes tts; music from the HeyGen catalogue with my own sign-in; a HyperFrames composition checked and rendered at 60 fps.</a:t>
            </a:r>
            <a:endParaRPr lang="en-US" sz="900" dirty="0"/>
          </a:p>
        </p:txBody>
      </p:sp>
      <p:sp>
        <p:nvSpPr>
          <p:cNvPr id="24" name="b1"/>
          <p:cNvSpPr/>
          <p:nvPr/>
        </p:nvSpPr>
        <p:spPr>
          <a:xfrm>
            <a:off x="6248400" y="4127500"/>
            <a:ext cx="5181600" cy="0"/>
          </a:xfrm>
          <a:prstGeom prst="line">
            <a:avLst/>
          </a:prstGeom>
          <a:noFill/>
          <a:ln w="9525">
            <a:solidFill>
              <a:srgbClr val="DDE1E7"/>
            </a:solidFill>
            <a:prstDash val="solid"/>
          </a:ln>
        </p:spPr>
      </p:sp>
      <p:sp>
        <p:nvSpPr>
          <p:cNvPr id="25" name="b1"/>
          <p:cNvSpPr txBox="1"/>
          <p:nvPr/>
        </p:nvSpPr>
        <p:spPr>
          <a:xfrm>
            <a:off x="62484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Guardrails</a:t>
            </a:r>
            <a:endParaRPr lang="en-US" sz="1000" dirty="0"/>
          </a:p>
        </p:txBody>
      </p:sp>
      <p:sp>
        <p:nvSpPr>
          <p:cNvPr id="26" name="b1"/>
          <p:cNvSpPr txBox="1"/>
          <p:nvPr/>
        </p:nvSpPr>
        <p:spPr>
          <a:xfrm>
            <a:off x="74930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Plans reviewed by four persona subagents through fourteen revisions before any build; the code, not the design documents, as the source of truth; a leak sweep of every recording for emails and ids; footage on development, never production.</a:t>
            </a:r>
            <a:endParaRPr lang="en-US" sz="900" dirty="0"/>
          </a:p>
        </p:txBody>
      </p:sp>
      <p:sp>
        <p:nvSpPr>
          <p:cNvPr id="27" name="b1"/>
          <p:cNvSpPr/>
          <p:nvPr/>
        </p:nvSpPr>
        <p:spPr>
          <a:xfrm>
            <a:off x="6248400" y="5143500"/>
            <a:ext cx="5181600" cy="0"/>
          </a:xfrm>
          <a:prstGeom prst="line">
            <a:avLst/>
          </a:prstGeom>
          <a:noFill/>
          <a:ln w="9525">
            <a:solidFill>
              <a:srgbClr val="DDE1E7"/>
            </a:solidFill>
            <a:prstDash val="solid"/>
          </a:ln>
        </p:spPr>
      </p:sp>
      <p:sp>
        <p:nvSpPr>
          <p:cNvPr id="28" name="b1"/>
          <p:cNvSpPr txBox="1"/>
          <p:nvPr/>
        </p:nvSpPr>
        <p:spPr>
          <a:xfrm>
            <a:off x="62484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Public Sans" pitchFamily="34" charset="0"/>
                <a:ea typeface="Public Sans" pitchFamily="34" charset="-122"/>
                <a:cs typeface="Public Sans" pitchFamily="34" charset="-120"/>
              </a:rPr>
              <a:t>Diagrams in this deck</a:t>
            </a:r>
            <a:endParaRPr lang="en-US" sz="1000" dirty="0"/>
          </a:p>
        </p:txBody>
      </p:sp>
      <p:sp>
        <p:nvSpPr>
          <p:cNvPr id="29" name="b1"/>
          <p:cNvSpPr txBox="1"/>
          <p:nvPr/>
        </p:nvSpPr>
        <p:spPr>
          <a:xfrm>
            <a:off x="74930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Public Sans" pitchFamily="34" charset="0"/>
                <a:ea typeface="Public Sans" pitchFamily="34" charset="-122"/>
                <a:cs typeface="Public Sans" pitchFamily="34" charset="-120"/>
              </a:rPr>
              <a:t>ChatGPT image generation from prompts written against the workflows and docs; each picture rated against the code before use; two rejected for invented components (a CDN, an Azure tenant, a proxying frontend).</a:t>
            </a:r>
            <a:endParaRPr lang="en-US" sz="900" dirty="0"/>
          </a:p>
        </p:txBody>
      </p:sp>
      <p:sp>
        <p:nvSpPr>
          <p:cNvPr id="30" name="Text 28"/>
          <p:cNvSpPr txBox="1"/>
          <p:nvPr/>
        </p:nvSpPr>
        <p:spPr>
          <a:xfrm>
            <a:off x="762000" y="6299200"/>
            <a:ext cx="889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AI Usage (short) · AI_USAGE.md (full record: verbatim prompts, discarded output, who did what)</a:t>
            </a:r>
            <a:endParaRPr lang="en-US" sz="1000" dirty="0"/>
          </a:p>
        </p:txBody>
      </p:sp>
      <p:sp>
        <p:nvSpPr>
          <p:cNvPr id="31" name="Text 29"/>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15 / 17</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320"/>
                                        <p:tgtEl>
                                          <p:spTgt spid="1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320"/>
                                        <p:tgtEl>
                                          <p:spTgt spid="1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20"/>
                                        <p:tgtEl>
                                          <p:spTgt spid="1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320"/>
                                        <p:tgtEl>
                                          <p:spTgt spid="2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320"/>
                                        <p:tgtEl>
                                          <p:spTgt spid="2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320"/>
                                        <p:tgtEl>
                                          <p:spTgt spid="2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20"/>
                                        <p:tgtEl>
                                          <p:spTgt spid="2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20"/>
                                        <p:tgtEl>
                                          <p:spTgt spid="2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20"/>
                                        <p:tgtEl>
                                          <p:spTgt spid="2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320"/>
                                        <p:tgtEl>
                                          <p:spTgt spid="2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320"/>
                                        <p:tgtEl>
                                          <p:spTgt spid="2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320"/>
                                        <p:tgtEl>
                                          <p:spTgt spid="2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3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WHAT I WOULD DO NEXT</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Known gaps first, then what production would need.</a:t>
            </a:r>
            <a:endParaRPr lang="en-US" sz="2400" dirty="0"/>
          </a:p>
        </p:txBody>
      </p:sp>
      <p:sp>
        <p:nvSpPr>
          <p:cNvPr id="4" name="Shape 2"/>
          <p:cNvSpPr/>
          <p:nvPr/>
        </p:nvSpPr>
        <p:spPr>
          <a:xfrm>
            <a:off x="762000" y="1841500"/>
            <a:ext cx="5181600" cy="0"/>
          </a:xfrm>
          <a:prstGeom prst="line">
            <a:avLst/>
          </a:prstGeom>
          <a:noFill/>
          <a:ln w="9525">
            <a:solidFill>
              <a:srgbClr val="DDE1E7"/>
            </a:solidFill>
            <a:prstDash val="solid"/>
          </a:ln>
        </p:spPr>
      </p:sp>
      <p:sp>
        <p:nvSpPr>
          <p:cNvPr id="5" name="Text 3"/>
          <p:cNvSpPr txBox="1"/>
          <p:nvPr/>
        </p:nvSpPr>
        <p:spPr>
          <a:xfrm>
            <a:off x="7620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Use case 3</a:t>
            </a:r>
            <a:endParaRPr lang="en-US" sz="1150" dirty="0"/>
          </a:p>
        </p:txBody>
      </p:sp>
      <p:sp>
        <p:nvSpPr>
          <p:cNvPr id="7" name="Text 5"/>
          <p:cNvSpPr txBox="1"/>
          <p:nvPr/>
        </p:nvSpPr>
        <p:spPr>
          <a:xfrm>
            <a:off x="11557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The checklist model, the officer capture screen with draft save, per-item clarification and the operator's targeted response. The statuses and transitions exist. About 1.5 days.</a:t>
            </a:r>
            <a:endParaRPr lang="en-US" sz="950" dirty="0"/>
          </a:p>
        </p:txBody>
      </p:sp>
      <p:sp>
        <p:nvSpPr>
          <p:cNvPr id="8" name="Shape 6"/>
          <p:cNvSpPr/>
          <p:nvPr/>
        </p:nvSpPr>
        <p:spPr>
          <a:xfrm>
            <a:off x="6248400" y="1841500"/>
            <a:ext cx="5181600" cy="0"/>
          </a:xfrm>
          <a:prstGeom prst="line">
            <a:avLst/>
          </a:prstGeom>
          <a:noFill/>
          <a:ln w="9525">
            <a:solidFill>
              <a:srgbClr val="DDE1E7"/>
            </a:solidFill>
            <a:prstDash val="solid"/>
          </a:ln>
        </p:spPr>
      </p:sp>
      <p:sp>
        <p:nvSpPr>
          <p:cNvPr id="9" name="Text 7"/>
          <p:cNvSpPr txBox="1"/>
          <p:nvPr/>
        </p:nvSpPr>
        <p:spPr>
          <a:xfrm>
            <a:off x="62484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worker for the AI checks</a:t>
            </a:r>
            <a:endParaRPr lang="en-US" sz="1150" dirty="0"/>
          </a:p>
        </p:txBody>
      </p:sp>
      <p:sp>
        <p:nvSpPr>
          <p:cNvPr id="11" name="Text 9"/>
          <p:cNvSpPr txBox="1"/>
          <p:nvPr/>
        </p:nvSpPr>
        <p:spPr>
          <a:xfrm>
            <a:off x="66421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Redis and a worker, or a Postgres SKIP LOCKED queue, so checks survive deploys and scale apart from the API. ADR-004 has one call site to change.</a:t>
            </a:r>
            <a:endParaRPr lang="en-US" sz="950" dirty="0"/>
          </a:p>
        </p:txBody>
      </p:sp>
      <p:sp>
        <p:nvSpPr>
          <p:cNvPr id="12" name="Shape 10"/>
          <p:cNvSpPr/>
          <p:nvPr/>
        </p:nvSpPr>
        <p:spPr>
          <a:xfrm>
            <a:off x="762000" y="2908300"/>
            <a:ext cx="5181600" cy="0"/>
          </a:xfrm>
          <a:prstGeom prst="line">
            <a:avLst/>
          </a:prstGeom>
          <a:noFill/>
          <a:ln w="9525">
            <a:solidFill>
              <a:srgbClr val="DDE1E7"/>
            </a:solidFill>
            <a:prstDash val="solid"/>
          </a:ln>
        </p:spPr>
      </p:sp>
      <p:sp>
        <p:nvSpPr>
          <p:cNvPr id="13" name="Text 11"/>
          <p:cNvSpPr txBox="1"/>
          <p:nvPr/>
        </p:nvSpPr>
        <p:spPr>
          <a:xfrm>
            <a:off x="7620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Object storage and backups</a:t>
            </a:r>
            <a:endParaRPr lang="en-US" sz="1150" dirty="0"/>
          </a:p>
        </p:txBody>
      </p:sp>
      <p:sp>
        <p:nvSpPr>
          <p:cNvPr id="15" name="Text 13"/>
          <p:cNvSpPr txBox="1"/>
          <p:nvPr/>
        </p:nvSpPr>
        <p:spPr>
          <a:xfrm>
            <a:off x="11557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S3-compatible bucket with signed URLs and a virus scan; a file backup and a restore drill; a retention policy for documents and traces.</a:t>
            </a:r>
            <a:endParaRPr lang="en-US" sz="950" dirty="0"/>
          </a:p>
        </p:txBody>
      </p:sp>
      <p:sp>
        <p:nvSpPr>
          <p:cNvPr id="16" name="Shape 14"/>
          <p:cNvSpPr/>
          <p:nvPr/>
        </p:nvSpPr>
        <p:spPr>
          <a:xfrm>
            <a:off x="6248400" y="2908300"/>
            <a:ext cx="5181600" cy="0"/>
          </a:xfrm>
          <a:prstGeom prst="line">
            <a:avLst/>
          </a:prstGeom>
          <a:noFill/>
          <a:ln w="9525">
            <a:solidFill>
              <a:srgbClr val="DDE1E7"/>
            </a:solidFill>
            <a:prstDash val="solid"/>
          </a:ln>
        </p:spPr>
      </p:sp>
      <p:sp>
        <p:nvSpPr>
          <p:cNvPr id="17" name="Text 15"/>
          <p:cNvSpPr txBox="1"/>
          <p:nvPr/>
        </p:nvSpPr>
        <p:spPr>
          <a:xfrm>
            <a:off x="62484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Session and edge</a:t>
            </a:r>
            <a:endParaRPr lang="en-US" sz="1150" dirty="0"/>
          </a:p>
        </p:txBody>
      </p:sp>
      <p:sp>
        <p:nvSpPr>
          <p:cNvPr id="19" name="Text 17"/>
          <p:cNvSpPr txBox="1"/>
          <p:nvPr/>
        </p:nvSpPr>
        <p:spPr>
          <a:xfrm>
            <a:off x="66421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httpOnly cookie with CSRF protection instead of sessionStorage; CSP nonces; the rate windows in Redis or at the edge.</a:t>
            </a:r>
            <a:endParaRPr lang="en-US" sz="950" dirty="0"/>
          </a:p>
        </p:txBody>
      </p:sp>
      <p:sp>
        <p:nvSpPr>
          <p:cNvPr id="20" name="Shape 18"/>
          <p:cNvSpPr/>
          <p:nvPr/>
        </p:nvSpPr>
        <p:spPr>
          <a:xfrm>
            <a:off x="762000" y="3975100"/>
            <a:ext cx="5181600" cy="0"/>
          </a:xfrm>
          <a:prstGeom prst="line">
            <a:avLst/>
          </a:prstGeom>
          <a:noFill/>
          <a:ln w="9525">
            <a:solidFill>
              <a:srgbClr val="DDE1E7"/>
            </a:solidFill>
            <a:prstDash val="solid"/>
          </a:ln>
        </p:spPr>
      </p:sp>
      <p:sp>
        <p:nvSpPr>
          <p:cNvPr id="21" name="Text 19"/>
          <p:cNvSpPr txBox="1"/>
          <p:nvPr/>
        </p:nvSpPr>
        <p:spPr>
          <a:xfrm>
            <a:off x="7620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AI assurance</a:t>
            </a:r>
            <a:endParaRPr lang="en-US" sz="1150" dirty="0"/>
          </a:p>
        </p:txBody>
      </p:sp>
      <p:sp>
        <p:nvSpPr>
          <p:cNvPr id="23" name="Text 21"/>
          <p:cNvSpPr txBox="1"/>
          <p:nvPr/>
        </p:nvSpPr>
        <p:spPr>
          <a:xfrm>
            <a:off x="11557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A labelled set from officer overrides; promptfoo or PyRIT red-team beyond two injection cases; Project Moonshot for Singapore evidence; calibrated confidence; in-region tracing; a multilingual injection classifier.</a:t>
            </a:r>
            <a:endParaRPr lang="en-US" sz="950" dirty="0"/>
          </a:p>
        </p:txBody>
      </p:sp>
      <p:sp>
        <p:nvSpPr>
          <p:cNvPr id="24" name="Shape 22"/>
          <p:cNvSpPr/>
          <p:nvPr/>
        </p:nvSpPr>
        <p:spPr>
          <a:xfrm>
            <a:off x="6248400" y="3975100"/>
            <a:ext cx="5181600" cy="0"/>
          </a:xfrm>
          <a:prstGeom prst="line">
            <a:avLst/>
          </a:prstGeom>
          <a:noFill/>
          <a:ln w="9525">
            <a:solidFill>
              <a:srgbClr val="DDE1E7"/>
            </a:solidFill>
            <a:prstDash val="solid"/>
          </a:ln>
        </p:spPr>
      </p:sp>
      <p:sp>
        <p:nvSpPr>
          <p:cNvPr id="25" name="Text 23"/>
          <p:cNvSpPr txBox="1"/>
          <p:nvPr/>
        </p:nvSpPr>
        <p:spPr>
          <a:xfrm>
            <a:off x="62484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Admin epic, v0.4.0</a:t>
            </a:r>
            <a:endParaRPr lang="en-US" sz="1150" dirty="0"/>
          </a:p>
        </p:txBody>
      </p:sp>
      <p:sp>
        <p:nvSpPr>
          <p:cNvPr id="27" name="Text 25"/>
          <p:cNvSpPr txBox="1"/>
          <p:nvPr/>
        </p:nvSpPr>
        <p:spPr>
          <a:xfrm>
            <a:off x="66421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Overview with AI health and quota counters, audit feed, read-only case view, user management. Role and routes reserved, screens not built.</a:t>
            </a:r>
            <a:endParaRPr lang="en-US" sz="950" dirty="0"/>
          </a:p>
        </p:txBody>
      </p:sp>
      <p:sp>
        <p:nvSpPr>
          <p:cNvPr id="28" name="Shape 26"/>
          <p:cNvSpPr/>
          <p:nvPr/>
        </p:nvSpPr>
        <p:spPr>
          <a:xfrm>
            <a:off x="762000" y="5041900"/>
            <a:ext cx="5181600" cy="0"/>
          </a:xfrm>
          <a:prstGeom prst="line">
            <a:avLst/>
          </a:prstGeom>
          <a:noFill/>
          <a:ln w="9525">
            <a:solidFill>
              <a:srgbClr val="DDE1E7"/>
            </a:solidFill>
            <a:prstDash val="solid"/>
          </a:ln>
        </p:spPr>
      </p:sp>
      <p:sp>
        <p:nvSpPr>
          <p:cNvPr id="29" name="Text 27"/>
          <p:cNvSpPr txBox="1"/>
          <p:nvPr/>
        </p:nvSpPr>
        <p:spPr>
          <a:xfrm>
            <a:off x="7620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07</a:t>
            </a:r>
            <a:endParaRPr lang="en-US" sz="1100" dirty="0"/>
          </a:p>
        </p:txBody>
      </p:sp>
      <p:sp>
        <p:nvSpPr>
          <p:cNvPr id="30" name="Text 28"/>
          <p:cNvSpPr txBox="1"/>
          <p:nvPr/>
        </p:nvSpPr>
        <p:spPr>
          <a:xfrm>
            <a:off x="11557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Delivery</a:t>
            </a:r>
            <a:endParaRPr lang="en-US" sz="1150" dirty="0"/>
          </a:p>
        </p:txBody>
      </p:sp>
      <p:sp>
        <p:nvSpPr>
          <p:cNvPr id="31" name="Text 29"/>
          <p:cNvSpPr txBox="1"/>
          <p:nvPr/>
        </p:nvSpPr>
        <p:spPr>
          <a:xfrm>
            <a:off x="11557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Staging with a copy of production data for migration rehearsal; two replicas; Semgrep and CodeQL; Trivy with an SBOM on the images.</a:t>
            </a:r>
            <a:endParaRPr lang="en-US" sz="950" dirty="0"/>
          </a:p>
        </p:txBody>
      </p:sp>
      <p:sp>
        <p:nvSpPr>
          <p:cNvPr id="32" name="Shape 30"/>
          <p:cNvSpPr/>
          <p:nvPr/>
        </p:nvSpPr>
        <p:spPr>
          <a:xfrm>
            <a:off x="6248400" y="5041900"/>
            <a:ext cx="5181600" cy="0"/>
          </a:xfrm>
          <a:prstGeom prst="line">
            <a:avLst/>
          </a:prstGeom>
          <a:noFill/>
          <a:ln w="9525">
            <a:solidFill>
              <a:srgbClr val="DDE1E7"/>
            </a:solidFill>
            <a:prstDash val="solid"/>
          </a:ln>
        </p:spPr>
      </p:sp>
      <p:sp>
        <p:nvSpPr>
          <p:cNvPr id="33" name="Text 31"/>
          <p:cNvSpPr txBox="1"/>
          <p:nvPr/>
        </p:nvSpPr>
        <p:spPr>
          <a:xfrm>
            <a:off x="62484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08</a:t>
            </a:r>
            <a:endParaRPr lang="en-US" sz="1100" dirty="0"/>
          </a:p>
        </p:txBody>
      </p:sp>
      <p:sp>
        <p:nvSpPr>
          <p:cNvPr id="34" name="Text 32"/>
          <p:cNvSpPr txBox="1"/>
          <p:nvPr/>
        </p:nvSpPr>
        <p:spPr>
          <a:xfrm>
            <a:off x="66421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Product</a:t>
            </a:r>
            <a:endParaRPr lang="en-US" sz="1150" dirty="0"/>
          </a:p>
        </p:txBody>
      </p:sp>
      <p:sp>
        <p:nvSpPr>
          <p:cNvPr id="35" name="Text 33"/>
          <p:cNvSpPr txBox="1"/>
          <p:nvPr/>
        </p:nvSpPr>
        <p:spPr>
          <a:xfrm>
            <a:off x="66421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Email delivery, officer assignment, more licence types via a configurable form schema, a public verification page for certificates.</a:t>
            </a:r>
            <a:endParaRPr lang="en-US" sz="950" dirty="0"/>
          </a:p>
        </p:txBody>
      </p:sp>
      <p:sp>
        <p:nvSpPr>
          <p:cNvPr id="36" name="Text 34"/>
          <p:cNvSpPr txBox="1"/>
          <p:nvPr/>
        </p:nvSpPr>
        <p:spPr>
          <a:xfrm>
            <a:off x="762000" y="6299200"/>
            <a:ext cx="825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What I would do next · docs/reviews/PRODUCTION_READINESS_REVIEW.md (severity per row)</a:t>
            </a:r>
            <a:endParaRPr lang="en-US" sz="1000" dirty="0"/>
          </a:p>
        </p:txBody>
      </p:sp>
      <p:sp>
        <p:nvSpPr>
          <p:cNvPr id="37" name="Text 35"/>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16 / 17</a:t>
            </a:r>
            <a:endParaRPr lang="en-US" sz="1000" dirty="0"/>
          </a:p>
        </p:txBody>
      </p:sp>
    </p:spTree>
  </p:cSld>
  <p:clrMapOvr>
    <a:masterClrMapping/>
  </p:clrMapOvr>
  <p:transition spd="fast">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pitch-deck/pptx/build/mark.png">    </p:cNvPr>
          <p:cNvPicPr>
            <a:picLocks noChangeAspect="1"/>
          </p:cNvPicPr>
          <p:nvPr/>
        </p:nvPicPr>
        <p:blipFill>
          <a:blip r:embed="rId1"/>
          <a:stretch>
            <a:fillRect/>
          </a:stretch>
        </p:blipFill>
        <p:spPr>
          <a:xfrm>
            <a:off x="762000" y="1397000"/>
            <a:ext cx="609600" cy="609600"/>
          </a:xfrm>
          <a:prstGeom prst="rect">
            <a:avLst/>
          </a:prstGeom>
        </p:spPr>
      </p:pic>
      <p:sp>
        <p:nvSpPr>
          <p:cNvPr id="3" name="Text 0"/>
          <p:cNvSpPr txBox="1"/>
          <p:nvPr/>
        </p:nvSpPr>
        <p:spPr>
          <a:xfrm>
            <a:off x="1549400" y="1397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4" name="Text 1"/>
          <p:cNvSpPr txBox="1"/>
          <p:nvPr/>
        </p:nvSpPr>
        <p:spPr>
          <a:xfrm>
            <a:off x="762000" y="2311400"/>
            <a:ext cx="9525000" cy="1397000"/>
          </a:xfrm>
          <a:prstGeom prst="rect">
            <a:avLst/>
          </a:prstGeom>
          <a:noFill/>
          <a:ln/>
        </p:spPr>
        <p:txBody>
          <a:bodyPr wrap="square" lIns="0" tIns="0" rIns="0" bIns="0" rtlCol="0" anchor="t"/>
          <a:lstStyle/>
          <a:p>
            <a:pPr algn="l" indent="0" marL="0">
              <a:lnSpc>
                <a:spcPct val="108000"/>
              </a:lnSpc>
              <a:buNone/>
            </a:pPr>
            <a:r>
              <a:rPr lang="en-US" sz="4000" dirty="0">
                <a:solidFill>
                  <a:srgbClr val="FFFFFF"/>
                </a:solidFill>
                <a:latin typeface="Instrument Serif" pitchFamily="34" charset="0"/>
                <a:ea typeface="Instrument Serif" pitchFamily="34" charset="-122"/>
                <a:cs typeface="Instrument Serif" pitchFamily="34" charset="-120"/>
              </a:rPr>
              <a:t>Every decision has a file. Every claim has a test.</a:t>
            </a:r>
            <a:endParaRPr lang="en-US" sz="4000" dirty="0"/>
          </a:p>
        </p:txBody>
      </p:sp>
      <p:sp>
        <p:nvSpPr>
          <p:cNvPr id="5" name="Shape 2"/>
          <p:cNvSpPr/>
          <p:nvPr/>
        </p:nvSpPr>
        <p:spPr>
          <a:xfrm>
            <a:off x="762000" y="4445000"/>
            <a:ext cx="1135888" cy="431800"/>
          </a:xfrm>
          <a:prstGeom prst="roundRect">
            <a:avLst>
              <a:gd name="adj" fmla="val 8824"/>
            </a:avLst>
          </a:prstGeom>
          <a:solidFill>
            <a:srgbClr val="1B2430"/>
          </a:solidFill>
          <a:ln w="9525">
            <a:solidFill>
              <a:srgbClr val="5A6373"/>
            </a:solidFill>
            <a:prstDash val="solid"/>
          </a:ln>
        </p:spPr>
      </p:sp>
      <p:sp>
        <p:nvSpPr>
          <p:cNvPr id="6" name="Text 3"/>
          <p:cNvSpPr txBox="1"/>
          <p:nvPr/>
        </p:nvSpPr>
        <p:spPr>
          <a:xfrm>
            <a:off x="762000"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SCOPE.md</a:t>
            </a:r>
            <a:endParaRPr lang="en-US" sz="1200" dirty="0"/>
          </a:p>
        </p:txBody>
      </p:sp>
      <p:sp>
        <p:nvSpPr>
          <p:cNvPr id="7" name="Text 4"/>
          <p:cNvSpPr txBox="1"/>
          <p:nvPr/>
        </p:nvSpPr>
        <p:spPr>
          <a:xfrm>
            <a:off x="198678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8" name="Shape 5"/>
          <p:cNvSpPr/>
          <p:nvPr/>
        </p:nvSpPr>
        <p:spPr>
          <a:xfrm>
            <a:off x="2266188" y="4445000"/>
            <a:ext cx="745744" cy="431800"/>
          </a:xfrm>
          <a:prstGeom prst="roundRect">
            <a:avLst>
              <a:gd name="adj" fmla="val 8824"/>
            </a:avLst>
          </a:prstGeom>
          <a:solidFill>
            <a:srgbClr val="1B2430"/>
          </a:solidFill>
          <a:ln w="9525">
            <a:solidFill>
              <a:srgbClr val="5A6373"/>
            </a:solidFill>
            <a:prstDash val="solid"/>
          </a:ln>
        </p:spPr>
      </p:sp>
      <p:sp>
        <p:nvSpPr>
          <p:cNvPr id="9" name="Text 6"/>
          <p:cNvSpPr txBox="1"/>
          <p:nvPr/>
        </p:nvSpPr>
        <p:spPr>
          <a:xfrm>
            <a:off x="2266188" y="4445000"/>
            <a:ext cx="745744"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ADRs</a:t>
            </a:r>
            <a:endParaRPr lang="en-US" sz="1200" dirty="0"/>
          </a:p>
        </p:txBody>
      </p:sp>
      <p:sp>
        <p:nvSpPr>
          <p:cNvPr id="10" name="Text 7"/>
          <p:cNvSpPr txBox="1"/>
          <p:nvPr/>
        </p:nvSpPr>
        <p:spPr>
          <a:xfrm>
            <a:off x="310083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1" name="Shape 8"/>
          <p:cNvSpPr/>
          <p:nvPr/>
        </p:nvSpPr>
        <p:spPr>
          <a:xfrm>
            <a:off x="3380232" y="4445000"/>
            <a:ext cx="1428496" cy="431800"/>
          </a:xfrm>
          <a:prstGeom prst="roundRect">
            <a:avLst>
              <a:gd name="adj" fmla="val 8824"/>
            </a:avLst>
          </a:prstGeom>
          <a:solidFill>
            <a:srgbClr val="1B2430"/>
          </a:solidFill>
          <a:ln w="9525">
            <a:solidFill>
              <a:srgbClr val="5A6373"/>
            </a:solidFill>
            <a:prstDash val="solid"/>
          </a:ln>
        </p:spPr>
      </p:sp>
      <p:sp>
        <p:nvSpPr>
          <p:cNvPr id="12" name="Text 9"/>
          <p:cNvSpPr txBox="1"/>
          <p:nvPr/>
        </p:nvSpPr>
        <p:spPr>
          <a:xfrm>
            <a:off x="3380232" y="4445000"/>
            <a:ext cx="142849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workflow.py</a:t>
            </a:r>
            <a:endParaRPr lang="en-US" sz="1200" dirty="0"/>
          </a:p>
        </p:txBody>
      </p:sp>
      <p:sp>
        <p:nvSpPr>
          <p:cNvPr id="13" name="Text 10"/>
          <p:cNvSpPr txBox="1"/>
          <p:nvPr/>
        </p:nvSpPr>
        <p:spPr>
          <a:xfrm>
            <a:off x="489762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4" name="Shape 11"/>
          <p:cNvSpPr/>
          <p:nvPr/>
        </p:nvSpPr>
        <p:spPr>
          <a:xfrm>
            <a:off x="5177028" y="4445000"/>
            <a:ext cx="843280" cy="431800"/>
          </a:xfrm>
          <a:prstGeom prst="roundRect">
            <a:avLst>
              <a:gd name="adj" fmla="val 8824"/>
            </a:avLst>
          </a:prstGeom>
          <a:solidFill>
            <a:srgbClr val="1B2430"/>
          </a:solidFill>
          <a:ln w="9525">
            <a:solidFill>
              <a:srgbClr val="5A6373"/>
            </a:solidFill>
            <a:prstDash val="solid"/>
          </a:ln>
        </p:spPr>
      </p:sp>
      <p:sp>
        <p:nvSpPr>
          <p:cNvPr id="15" name="Text 12"/>
          <p:cNvSpPr txBox="1"/>
          <p:nvPr/>
        </p:nvSpPr>
        <p:spPr>
          <a:xfrm>
            <a:off x="5177028" y="4445000"/>
            <a:ext cx="84328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tests</a:t>
            </a:r>
            <a:endParaRPr lang="en-US" sz="1200" dirty="0"/>
          </a:p>
        </p:txBody>
      </p:sp>
      <p:sp>
        <p:nvSpPr>
          <p:cNvPr id="16" name="Text 13"/>
          <p:cNvSpPr txBox="1"/>
          <p:nvPr/>
        </p:nvSpPr>
        <p:spPr>
          <a:xfrm>
            <a:off x="610920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7" name="Shape 14"/>
          <p:cNvSpPr/>
          <p:nvPr/>
        </p:nvSpPr>
        <p:spPr>
          <a:xfrm>
            <a:off x="6388608" y="4445000"/>
            <a:ext cx="940816" cy="431800"/>
          </a:xfrm>
          <a:prstGeom prst="roundRect">
            <a:avLst>
              <a:gd name="adj" fmla="val 8824"/>
            </a:avLst>
          </a:prstGeom>
          <a:solidFill>
            <a:srgbClr val="1B2430"/>
          </a:solidFill>
          <a:ln w="9525">
            <a:solidFill>
              <a:srgbClr val="5A6373"/>
            </a:solidFill>
            <a:prstDash val="solid"/>
          </a:ln>
        </p:spPr>
      </p:sp>
      <p:sp>
        <p:nvSpPr>
          <p:cNvPr id="18" name="Text 15"/>
          <p:cNvSpPr txBox="1"/>
          <p:nvPr/>
        </p:nvSpPr>
        <p:spPr>
          <a:xfrm>
            <a:off x="6388608"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ci.yml</a:t>
            </a:r>
            <a:endParaRPr lang="en-US" sz="1200" dirty="0"/>
          </a:p>
        </p:txBody>
      </p:sp>
      <p:sp>
        <p:nvSpPr>
          <p:cNvPr id="19" name="Text 16"/>
          <p:cNvSpPr txBox="1"/>
          <p:nvPr/>
        </p:nvSpPr>
        <p:spPr>
          <a:xfrm>
            <a:off x="741832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0" name="Shape 17"/>
          <p:cNvSpPr/>
          <p:nvPr/>
        </p:nvSpPr>
        <p:spPr>
          <a:xfrm>
            <a:off x="7697724" y="4445000"/>
            <a:ext cx="1330960" cy="431800"/>
          </a:xfrm>
          <a:prstGeom prst="roundRect">
            <a:avLst>
              <a:gd name="adj" fmla="val 8824"/>
            </a:avLst>
          </a:prstGeom>
          <a:solidFill>
            <a:srgbClr val="1B2430"/>
          </a:solidFill>
          <a:ln w="9525">
            <a:solidFill>
              <a:srgbClr val="5A6373"/>
            </a:solidFill>
            <a:prstDash val="solid"/>
          </a:ln>
        </p:spPr>
      </p:sp>
      <p:sp>
        <p:nvSpPr>
          <p:cNvPr id="21" name="Text 18"/>
          <p:cNvSpPr txBox="1"/>
          <p:nvPr/>
        </p:nvSpPr>
        <p:spPr>
          <a:xfrm>
            <a:off x="7697724" y="4445000"/>
            <a:ext cx="133096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deploy.yml</a:t>
            </a:r>
            <a:endParaRPr lang="en-US" sz="1200" dirty="0"/>
          </a:p>
        </p:txBody>
      </p:sp>
      <p:sp>
        <p:nvSpPr>
          <p:cNvPr id="22" name="Text 19"/>
          <p:cNvSpPr txBox="1"/>
          <p:nvPr/>
        </p:nvSpPr>
        <p:spPr>
          <a:xfrm>
            <a:off x="911758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3" name="Shape 20"/>
          <p:cNvSpPr/>
          <p:nvPr/>
        </p:nvSpPr>
        <p:spPr>
          <a:xfrm>
            <a:off x="9396984" y="4445000"/>
            <a:ext cx="1916176" cy="431800"/>
          </a:xfrm>
          <a:prstGeom prst="roundRect">
            <a:avLst>
              <a:gd name="adj" fmla="val 8824"/>
            </a:avLst>
          </a:prstGeom>
          <a:solidFill>
            <a:srgbClr val="1B2430"/>
          </a:solidFill>
          <a:ln w="9525">
            <a:solidFill>
              <a:srgbClr val="5A6373"/>
            </a:solidFill>
            <a:prstDash val="solid"/>
          </a:ln>
        </p:spPr>
      </p:sp>
      <p:sp>
        <p:nvSpPr>
          <p:cNvPr id="24" name="Text 21"/>
          <p:cNvSpPr txBox="1"/>
          <p:nvPr/>
        </p:nvSpPr>
        <p:spPr>
          <a:xfrm>
            <a:off x="9396984" y="4445000"/>
            <a:ext cx="191617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permitflow.space</a:t>
            </a:r>
            <a:endParaRPr lang="en-US" sz="1200" dirty="0"/>
          </a:p>
        </p:txBody>
      </p:sp>
      <p:sp>
        <p:nvSpPr>
          <p:cNvPr id="25" name="Text 22"/>
          <p:cNvSpPr txBox="1"/>
          <p:nvPr/>
        </p:nvSpPr>
        <p:spPr>
          <a:xfrm>
            <a:off x="762000" y="5816600"/>
            <a:ext cx="6350000" cy="254000"/>
          </a:xfrm>
          <a:prstGeom prst="rect">
            <a:avLst/>
          </a:prstGeom>
          <a:noFill/>
          <a:ln/>
        </p:spPr>
        <p:txBody>
          <a:bodyPr wrap="square" lIns="0" tIns="0" rIns="0" bIns="0" rtlCol="0" anchor="b"/>
          <a:lstStyle/>
          <a:p>
            <a:pPr algn="l" indent="0" marL="0">
              <a:lnSpc>
                <a:spcPct val="115000"/>
              </a:lnSpc>
              <a:buNone/>
            </a:pPr>
            <a:r>
              <a:rPr lang="en-US" sz="1300" dirty="0">
                <a:solidFill>
                  <a:srgbClr val="C5CBD4"/>
                </a:solidFill>
                <a:latin typeface="Public Sans" pitchFamily="34" charset="0"/>
                <a:ea typeface="Public Sans" pitchFamily="34" charset="-122"/>
                <a:cs typeface="Public Sans" pitchFamily="34" charset="-120"/>
              </a:rPr>
              <a:t>Thank you. Questions on any file, any decision, any gap.</a:t>
            </a:r>
            <a:endParaRPr lang="en-US" sz="1300" dirty="0"/>
          </a:p>
        </p:txBody>
      </p:sp>
      <p:sp>
        <p:nvSpPr>
          <p:cNvPr id="26" name="Text 23"/>
          <p:cNvSpPr txBox="1"/>
          <p:nvPr/>
        </p:nvSpPr>
        <p:spPr>
          <a:xfrm>
            <a:off x="7620000" y="5562600"/>
            <a:ext cx="3810000" cy="508000"/>
          </a:xfrm>
          <a:prstGeom prst="rect">
            <a:avLst/>
          </a:prstGeom>
          <a:noFill/>
          <a:ln/>
        </p:spPr>
        <p:txBody>
          <a:bodyPr wrap="square" lIns="0" tIns="0" rIns="0" bIns="0" rtlCol="0" anchor="b"/>
          <a:lstStyle/>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permitflow.space</a:t>
            </a:r>
            <a:endParaRPr lang="en-US" sz="1500" dirty="0"/>
          </a:p>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github.com/SuhaasNv/permitflow</a:t>
            </a:r>
            <a:endParaRPr lang="en-US" sz="15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PermitFlow technical deck</dc:title>
  <dc:subject>PptxGenJS Presentation</dc:subject>
  <dc:creator>Suhaas Nv</dc:creator>
  <cp:lastModifiedBy>Suhaas Nv</cp:lastModifiedBy>
  <cp:revision>1</cp:revision>
  <dcterms:created xsi:type="dcterms:W3CDTF">2026-09-19T14:39:34Z</dcterms:created>
  <dcterms:modified xsi:type="dcterms:W3CDTF">2026-09-19T14:39:34Z</dcterms:modified>
</cp:coreProperties>
</file>