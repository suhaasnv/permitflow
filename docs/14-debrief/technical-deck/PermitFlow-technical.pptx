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12 to 17</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18 to 21</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11</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rows, grouped here</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Food licensing; the operator applies for the business</a:t>
            </a:r>
            <a:endParaRPr lang="en-US" sz="1150" dirty="0"/>
          </a:p>
        </p:txBody>
      </p:sp>
      <p:sp>
        <p:nvSpPr>
          <p:cNvPr id="15" name="Text 13"/>
          <p:cNvSpPr txBox="1"/>
          <p:nvPr/>
        </p:nvSpPr>
        <p:spPr>
          <a:xfrm>
            <a:off x="11557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23</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74 stories in five epics on the board (11 deferred: use case 3 and the admin epic);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840282" y="203200"/>
            <a:ext cx="10511436"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05-planning/notion/stories.png">    </p:cNvPr>
          <p:cNvPicPr>
            <a:picLocks noChangeAspect="1"/>
          </p:cNvPicPr>
          <p:nvPr/>
        </p:nvPicPr>
        <p:blipFill>
          <a:blip r:embed="rId2"/>
          <a:stretch>
            <a:fillRect/>
          </a:stretch>
        </p:blipFill>
        <p:spPr>
          <a:xfrm>
            <a:off x="891082" y="254000"/>
            <a:ext cx="10409836"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 and telemetry</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 Prometheus scrapes GET /api/v1/metrics behind a token; Grafana shows one dashboard; six alert rules (US-077).</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1-solution-architectur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state the MVP can reach and withdraw from every post-submission state, so no case can get stuck; the three post-site states get reject when use case 3 ships.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16 explicit rows, plus reject from 7 states and withdraw from 10 (33 transitions);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THE TABLE ITSELF</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The table in domain/workflow.py: a row per allowed move, one function that consults it.</a:t>
            </a:r>
            <a:endParaRPr lang="en-US" sz="2000" dirty="0"/>
          </a:p>
        </p:txBody>
      </p:sp>
      <p:sp>
        <p:nvSpPr>
          <p:cNvPr id="4" name="Shape 2"/>
          <p:cNvSpPr/>
          <p:nvPr/>
        </p:nvSpPr>
        <p:spPr>
          <a:xfrm>
            <a:off x="762000" y="1714500"/>
            <a:ext cx="6858000" cy="4445000"/>
          </a:xfrm>
          <a:prstGeom prst="roundRect">
            <a:avLst>
              <a:gd name="adj" fmla="val 857"/>
            </a:avLst>
          </a:prstGeom>
          <a:solidFill>
            <a:srgbClr val="1B2430"/>
          </a:solidFill>
          <a:ln w="9525">
            <a:solidFill>
              <a:srgbClr val="1B2430"/>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90600" y="1892300"/>
            <a:ext cx="6400800" cy="4089400"/>
          </a:xfrm>
          <a:prstGeom prst="rect">
            <a:avLst/>
          </a:prstGeom>
          <a:noFill/>
          <a:ln/>
        </p:spPr>
        <p:txBody>
          <a:bodyPr wrap="square" lIns="0" tIns="0" rIns="0" bIns="0" rtlCol="0" anchor="t"/>
          <a:lstStyle/>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@dataclass(frozen=True)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class Transition:</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source: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target: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 Actor</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guard: Guard | None = None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label: str = ""</a:t>
            </a:r>
            <a:endParaRPr lang="en-US" sz="900" dirty="0"/>
          </a:p>
          <a:p>
            <a:pPr algn="l" indent="0" marL="0">
              <a:lnSpc>
                <a:spcPct val="130000"/>
              </a:lnSpc>
              <a:buNone/>
            </a:pP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tuple[Transition, ...] =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Transition(S.DRAFT, S.APPLICATION_RECEIVED,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Actor.OPERATOR, _needs_complete, "Submit"),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Transition(S.APPLICATION_RECEIVED,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"Start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S.APPROVED,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"Approve"),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"Return to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 tuple(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Transition(src, S.REJECTED, Actor.OFFICER, _needs_note, "Reject")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for src in _REJECT_SOURCES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p:txBody>
      </p:sp>
      <p:sp>
        <p:nvSpPr>
          <p:cNvPr id="6" name="Shape 4"/>
          <p:cNvSpPr/>
          <p:nvPr/>
        </p:nvSpPr>
        <p:spPr>
          <a:xfrm>
            <a:off x="7874000" y="1714500"/>
            <a:ext cx="3556000" cy="0"/>
          </a:xfrm>
          <a:prstGeom prst="line">
            <a:avLst/>
          </a:prstGeom>
          <a:noFill/>
          <a:ln w="9525">
            <a:solidFill>
              <a:srgbClr val="DDE1E7"/>
            </a:solidFill>
            <a:prstDash val="solid"/>
          </a:ln>
        </p:spPr>
      </p:sp>
      <p:sp>
        <p:nvSpPr>
          <p:cNvPr id="7" name="Text 5"/>
          <p:cNvSpPr txBox="1"/>
          <p:nvPr/>
        </p:nvSpPr>
        <p:spPr>
          <a:xfrm>
            <a:off x="7874000" y="18034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Data, not branches</a:t>
            </a:r>
            <a:endParaRPr lang="en-US" sz="1100" dirty="0"/>
          </a:p>
        </p:txBody>
      </p:sp>
      <p:sp>
        <p:nvSpPr>
          <p:cNvPr id="8" name="Text 6"/>
          <p:cNvSpPr txBox="1"/>
          <p:nvPr/>
        </p:nvSpPr>
        <p:spPr>
          <a:xfrm>
            <a:off x="7874000" y="20320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frozen dataclass per row; the tuple is the whole policy. transition() looks a row up, runs its guard, and returns the new status or a typed error (invalid, forbidden, guard).</a:t>
            </a:r>
            <a:endParaRPr lang="en-US" sz="900" dirty="0"/>
          </a:p>
        </p:txBody>
      </p:sp>
      <p:sp>
        <p:nvSpPr>
          <p:cNvPr id="9" name="b1"/>
          <p:cNvSpPr/>
          <p:nvPr/>
        </p:nvSpPr>
        <p:spPr>
          <a:xfrm>
            <a:off x="7874000" y="3187700"/>
            <a:ext cx="3556000" cy="0"/>
          </a:xfrm>
          <a:prstGeom prst="line">
            <a:avLst/>
          </a:prstGeom>
          <a:noFill/>
          <a:ln w="9525">
            <a:solidFill>
              <a:srgbClr val="DDE1E7"/>
            </a:solidFill>
            <a:prstDash val="solid"/>
          </a:ln>
        </p:spPr>
      </p:sp>
      <p:sp>
        <p:nvSpPr>
          <p:cNvPr id="10" name="b1"/>
          <p:cNvSpPr txBox="1"/>
          <p:nvPr/>
        </p:nvSpPr>
        <p:spPr>
          <a:xfrm>
            <a:off x="7874000" y="32766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Guards are named</a:t>
            </a:r>
            <a:endParaRPr lang="en-US" sz="1100" dirty="0"/>
          </a:p>
        </p:txBody>
      </p:sp>
      <p:sp>
        <p:nvSpPr>
          <p:cNvPr id="11" name="b1"/>
          <p:cNvSpPr txBox="1"/>
          <p:nvPr/>
        </p:nvSpPr>
        <p:spPr>
          <a:xfrm>
            <a:off x="7874000" y="35052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_needs_complete, _needs_note, open feedback counts: small callables over a three-field context, listed in the evidence on the previous slide.</a:t>
            </a:r>
            <a:endParaRPr lang="en-US" sz="900" dirty="0"/>
          </a:p>
        </p:txBody>
      </p:sp>
      <p:sp>
        <p:nvSpPr>
          <p:cNvPr id="12" name="b1"/>
          <p:cNvSpPr/>
          <p:nvPr/>
        </p:nvSpPr>
        <p:spPr>
          <a:xfrm>
            <a:off x="7874000" y="4660900"/>
            <a:ext cx="3556000" cy="0"/>
          </a:xfrm>
          <a:prstGeom prst="line">
            <a:avLst/>
          </a:prstGeom>
          <a:noFill/>
          <a:ln w="9525">
            <a:solidFill>
              <a:srgbClr val="DDE1E7"/>
            </a:solidFill>
            <a:prstDash val="solid"/>
          </a:ln>
        </p:spPr>
      </p:sp>
      <p:sp>
        <p:nvSpPr>
          <p:cNvPr id="13" name="b1"/>
          <p:cNvSpPr txBox="1"/>
          <p:nvPr/>
        </p:nvSpPr>
        <p:spPr>
          <a:xfrm>
            <a:off x="7874000" y="47498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sweep</a:t>
            </a:r>
            <a:endParaRPr lang="en-US" sz="1100" dirty="0"/>
          </a:p>
        </p:txBody>
      </p:sp>
      <p:sp>
        <p:nvSpPr>
          <p:cNvPr id="14" name="b1"/>
          <p:cNvSpPr txBox="1"/>
          <p:nvPr/>
        </p:nvSpPr>
        <p:spPr>
          <a:xfrm>
            <a:off x="7874000" y="49784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test_workflow.py builds VALID from this tuple and iterates 14 x 14 x 3 combinations, asserting the kind of refusal, not only that it refused.</a:t>
            </a:r>
            <a:endParaRPr lang="en-US" sz="900" dirty="0"/>
          </a:p>
        </p:txBody>
      </p:sp>
      <p:sp>
        <p:nvSpPr>
          <p:cNvPr id="15" name="Text 13"/>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backend/app/domain/workflow.py · backend/tests/unit/test_workflow.py · the same table drives available_actions() for the UI</a:t>
            </a:r>
            <a:endParaRPr lang="en-US" sz="1000" dirty="0"/>
          </a:p>
        </p:txBody>
      </p:sp>
      <p:sp>
        <p:nvSpPr>
          <p:cNvPr id="16" name="Text 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 (18 name-swapped against 3 baselines)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7366000" cy="434958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153 merge commits on dev and 86 branches still on the remote (git log --merges dev, git branch -r), on 20 Sep.</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228501"/>
            <a:ext cx="10769600" cy="6400998"/>
          </a:xfrm>
          <a:prstGeom prst="roundRect">
            <a:avLst>
              <a:gd name="adj" fmla="val 794"/>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6-branching.png">    </p:cNvPr>
          <p:cNvPicPr>
            <a:picLocks noChangeAspect="1"/>
          </p:cNvPicPr>
          <p:nvPr/>
        </p:nvPicPr>
        <p:blipFill>
          <a:blip r:embed="rId2"/>
          <a:stretch>
            <a:fillRect/>
          </a:stretch>
        </p:blipFill>
        <p:spPr>
          <a:xfrm>
            <a:off x="762000" y="279301"/>
            <a:ext cx="10668000" cy="6299398"/>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plus the monitor</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volume, secrets, tokens, domains. Development also runs prometheus (private, scrapes both APIs, one token each) and grafana at grafana.dev.permitflow.space, from public images.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4-deployment.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763 pytest cases on PostgreSQL), Frontend (eslint, tsc, 160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(18 name-swapped),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5-ci-cd-pipelin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(US-077)</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Prometheus scrapes the API behind a token; one Grafana dashboard answers three questions and a fourth about cost.</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grafana-dashboard.png">    </p:cNvPr>
          <p:cNvPicPr>
            <a:picLocks noChangeAspect="1"/>
          </p:cNvPicPr>
          <p:nvPr/>
        </p:nvPicPr>
        <p:blipFill>
          <a:blip r:embed="rId1"/>
          <a:stretch>
            <a:fillRect/>
          </a:stretch>
        </p:blipFill>
        <p:spPr>
          <a:xfrm>
            <a:off x="762000" y="1790700"/>
            <a:ext cx="7366000" cy="414337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is counted</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Requests by route and status with latency; limiter and quota refusals; checks by outcome and provider with latency; transitions; applications by status; the tokens each check bills. Labels: templates and enums, never an id.</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endpoint</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GET /api/v1/metrics: off unless METRICS_TOKEN is set, 401 without the bearer, exempt from the limiter, never counts itself. T23.</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Dashboard, alerts, Telegram</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health, check health, cost at list price, queue. Six rules on the objective (99.5 % under 500 ms, checks within 3 min, 5xx under 1 %) fire to Telegram with an hourly digest per environment; a bot answers /status, /cost, /queue.</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Where it runs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One Compose profile locally; on Railway three services from public images: prometheus (private, both environments), grafana at grafana.dev.permitflow.space, the Telegram bot.</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377825"/>
            <a:ext cx="10769600" cy="6102350"/>
          </a:xfrm>
          <a:prstGeom prst="roundRect">
            <a:avLst>
              <a:gd name="adj" fmla="val 83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grafana-dashboard.png">    </p:cNvPr>
          <p:cNvPicPr>
            <a:picLocks noChangeAspect="1"/>
          </p:cNvPicPr>
          <p:nvPr/>
        </p:nvPicPr>
        <p:blipFill>
          <a:blip r:embed="rId2"/>
          <a:stretch>
            <a:fillRect/>
          </a:stretch>
        </p:blipFill>
        <p:spPr>
          <a:xfrm>
            <a:off x="762000" y="428625"/>
            <a:ext cx="10668000" cy="600075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 docker/observability/ · backend/app/core/metrics.py · tests/integration/test_metrics.py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ON THE PHONE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rules fire to Telegram, resolve themselves, and a bot answers the question an officer would ask.</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telegram.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arrived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alert when the development target went dark before the endpoint shipped, its RESOLVED the minute the deploy landed, an hourly digest with a section per environment, and /dev answered from Prometheus: API up, 3 requests a minute, p99.5 240 ms, 6 checks for USD 0.002, 13 applications.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How</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Grafana-managed rules mirror the six Prometheus rules, one alert per environment, with a Telegram contact point; the digest is an always-firing rule repeated hourly; the bot is 200 lines of standard-library Python that only reads Prometheus and only answers one chat.</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Provisioned, not clicked</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Rules, contact point, policy and message template are generated by build_alerting.py and provisioned at start, only when the bot token and chat id are set; an instance without them removes its own alerting.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Honest limits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No acknowledgement, no escalation, no silence window, nobody on call. Aggregate numbers only: no id, no name, no document text ever leaves for Telegram.</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telegram.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§5a · docker/observability/grafana/build_alerting.py · docker/observability/telegram-bot/bot.py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763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95 %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160</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81 %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24</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Input validation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00" dirty="0"/>
          </a:p>
        </p:txBody>
      </p:sp>
      <p:sp>
        <p:nvSpPr>
          <p:cNvPr id="8" name="Shape 6"/>
          <p:cNvSpPr/>
          <p:nvPr/>
        </p:nvSpPr>
        <p:spPr>
          <a:xfrm>
            <a:off x="762000" y="2476500"/>
            <a:ext cx="6223000" cy="0"/>
          </a:xfrm>
          <a:prstGeom prst="line">
            <a:avLst/>
          </a:prstGeom>
          <a:noFill/>
          <a:ln w="9525">
            <a:solidFill>
              <a:srgbClr val="DDE1E7"/>
            </a:solidFill>
            <a:prstDash val="solid"/>
          </a:ln>
        </p:spPr>
      </p:sp>
      <p:sp>
        <p:nvSpPr>
          <p:cNvPr id="9" name="Shape 7"/>
          <p:cNvSpPr/>
          <p:nvPr/>
        </p:nvSpPr>
        <p:spPr>
          <a:xfrm>
            <a:off x="812800" y="2609850"/>
            <a:ext cx="50800" cy="50800"/>
          </a:xfrm>
          <a:prstGeom prst="line">
            <a:avLst/>
          </a:prstGeom>
          <a:noFill/>
          <a:ln w="25400">
            <a:solidFill>
              <a:srgbClr val="067647"/>
            </a:solidFill>
            <a:prstDash val="solid"/>
          </a:ln>
        </p:spPr>
      </p:sp>
      <p:sp>
        <p:nvSpPr>
          <p:cNvPr id="10" name="Shape 8"/>
          <p:cNvSpPr/>
          <p:nvPr/>
        </p:nvSpPr>
        <p:spPr>
          <a:xfrm flipV="1">
            <a:off x="863600" y="2565400"/>
            <a:ext cx="82550" cy="95250"/>
          </a:xfrm>
          <a:prstGeom prst="line">
            <a:avLst/>
          </a:prstGeom>
          <a:noFill/>
          <a:ln w="25400">
            <a:solidFill>
              <a:srgbClr val="067647"/>
            </a:solidFill>
            <a:prstDash val="solid"/>
          </a:ln>
        </p:spPr>
      </p:sp>
      <p:sp>
        <p:nvSpPr>
          <p:cNvPr id="11" name="Text 9"/>
          <p:cNvSpPr txBox="1"/>
          <p:nvPr/>
        </p:nvSpPr>
        <p:spPr>
          <a:xfrm>
            <a:off x="1079500" y="2514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Error envelope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00" dirty="0"/>
          </a:p>
        </p:txBody>
      </p:sp>
      <p:sp>
        <p:nvSpPr>
          <p:cNvPr id="12" name="Shape 10"/>
          <p:cNvSpPr/>
          <p:nvPr/>
        </p:nvSpPr>
        <p:spPr>
          <a:xfrm>
            <a:off x="762000" y="3086100"/>
            <a:ext cx="6223000" cy="0"/>
          </a:xfrm>
          <a:prstGeom prst="line">
            <a:avLst/>
          </a:prstGeom>
          <a:noFill/>
          <a:ln w="9525">
            <a:solidFill>
              <a:srgbClr val="DDE1E7"/>
            </a:solidFill>
            <a:prstDash val="solid"/>
          </a:ln>
        </p:spPr>
      </p:sp>
      <p:sp>
        <p:nvSpPr>
          <p:cNvPr id="13" name="Shape 11"/>
          <p:cNvSpPr/>
          <p:nvPr/>
        </p:nvSpPr>
        <p:spPr>
          <a:xfrm>
            <a:off x="812800" y="3219450"/>
            <a:ext cx="50800" cy="50800"/>
          </a:xfrm>
          <a:prstGeom prst="line">
            <a:avLst/>
          </a:prstGeom>
          <a:noFill/>
          <a:ln w="25400">
            <a:solidFill>
              <a:srgbClr val="067647"/>
            </a:solidFill>
            <a:prstDash val="solid"/>
          </a:ln>
        </p:spPr>
      </p:sp>
      <p:sp>
        <p:nvSpPr>
          <p:cNvPr id="14" name="Shape 12"/>
          <p:cNvSpPr/>
          <p:nvPr/>
        </p:nvSpPr>
        <p:spPr>
          <a:xfrm flipV="1">
            <a:off x="863600" y="3175000"/>
            <a:ext cx="82550" cy="95250"/>
          </a:xfrm>
          <a:prstGeom prst="line">
            <a:avLst/>
          </a:prstGeom>
          <a:noFill/>
          <a:ln w="25400">
            <a:solidFill>
              <a:srgbClr val="067647"/>
            </a:solidFill>
            <a:prstDash val="solid"/>
          </a:ln>
        </p:spPr>
      </p:sp>
      <p:sp>
        <p:nvSpPr>
          <p:cNvPr id="15" name="Text 13"/>
          <p:cNvSpPr txBox="1"/>
          <p:nvPr/>
        </p:nvSpPr>
        <p:spPr>
          <a:xfrm>
            <a:off x="1079500" y="31242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Concurrency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00" dirty="0"/>
          </a:p>
        </p:txBody>
      </p:sp>
      <p:sp>
        <p:nvSpPr>
          <p:cNvPr id="16" name="Shape 14"/>
          <p:cNvSpPr/>
          <p:nvPr/>
        </p:nvSpPr>
        <p:spPr>
          <a:xfrm>
            <a:off x="762000" y="3695700"/>
            <a:ext cx="6223000" cy="0"/>
          </a:xfrm>
          <a:prstGeom prst="line">
            <a:avLst/>
          </a:prstGeom>
          <a:noFill/>
          <a:ln w="9525">
            <a:solidFill>
              <a:srgbClr val="DDE1E7"/>
            </a:solidFill>
            <a:prstDash val="solid"/>
          </a:ln>
        </p:spPr>
      </p:sp>
      <p:sp>
        <p:nvSpPr>
          <p:cNvPr id="17" name="Shape 15"/>
          <p:cNvSpPr/>
          <p:nvPr/>
        </p:nvSpPr>
        <p:spPr>
          <a:xfrm>
            <a:off x="812800" y="3829050"/>
            <a:ext cx="50800" cy="50800"/>
          </a:xfrm>
          <a:prstGeom prst="line">
            <a:avLst/>
          </a:prstGeom>
          <a:noFill/>
          <a:ln w="25400">
            <a:solidFill>
              <a:srgbClr val="067647"/>
            </a:solidFill>
            <a:prstDash val="solid"/>
          </a:ln>
        </p:spPr>
      </p:sp>
      <p:sp>
        <p:nvSpPr>
          <p:cNvPr id="18" name="Shape 16"/>
          <p:cNvSpPr/>
          <p:nvPr/>
        </p:nvSpPr>
        <p:spPr>
          <a:xfrm flipV="1">
            <a:off x="863600" y="3784600"/>
            <a:ext cx="82550" cy="95250"/>
          </a:xfrm>
          <a:prstGeom prst="line">
            <a:avLst/>
          </a:prstGeom>
          <a:noFill/>
          <a:ln w="25400">
            <a:solidFill>
              <a:srgbClr val="067647"/>
            </a:solidFill>
            <a:prstDash val="solid"/>
          </a:ln>
        </p:spPr>
      </p:sp>
      <p:sp>
        <p:nvSpPr>
          <p:cNvPr id="19" name="Text 17"/>
          <p:cNvSpPr txBox="1"/>
          <p:nvPr/>
        </p:nvSpPr>
        <p:spPr>
          <a:xfrm>
            <a:off x="1079500" y="37338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Abuse limits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00" dirty="0"/>
          </a:p>
        </p:txBody>
      </p:sp>
      <p:sp>
        <p:nvSpPr>
          <p:cNvPr id="20" name="Shape 18"/>
          <p:cNvSpPr/>
          <p:nvPr/>
        </p:nvSpPr>
        <p:spPr>
          <a:xfrm>
            <a:off x="762000" y="4305300"/>
            <a:ext cx="6223000" cy="0"/>
          </a:xfrm>
          <a:prstGeom prst="line">
            <a:avLst/>
          </a:prstGeom>
          <a:noFill/>
          <a:ln w="9525">
            <a:solidFill>
              <a:srgbClr val="DDE1E7"/>
            </a:solidFill>
            <a:prstDash val="solid"/>
          </a:ln>
        </p:spPr>
      </p:sp>
      <p:sp>
        <p:nvSpPr>
          <p:cNvPr id="21" name="Shape 19"/>
          <p:cNvSpPr/>
          <p:nvPr/>
        </p:nvSpPr>
        <p:spPr>
          <a:xfrm>
            <a:off x="812800" y="4438650"/>
            <a:ext cx="50800" cy="50800"/>
          </a:xfrm>
          <a:prstGeom prst="line">
            <a:avLst/>
          </a:prstGeom>
          <a:noFill/>
          <a:ln w="25400">
            <a:solidFill>
              <a:srgbClr val="067647"/>
            </a:solidFill>
            <a:prstDash val="solid"/>
          </a:ln>
        </p:spPr>
      </p:sp>
      <p:sp>
        <p:nvSpPr>
          <p:cNvPr id="22" name="Shape 20"/>
          <p:cNvSpPr/>
          <p:nvPr/>
        </p:nvSpPr>
        <p:spPr>
          <a:xfrm flipV="1">
            <a:off x="863600" y="4394200"/>
            <a:ext cx="82550" cy="95250"/>
          </a:xfrm>
          <a:prstGeom prst="line">
            <a:avLst/>
          </a:prstGeom>
          <a:noFill/>
          <a:ln w="25400">
            <a:solidFill>
              <a:srgbClr val="067647"/>
            </a:solidFill>
            <a:prstDash val="solid"/>
          </a:ln>
        </p:spPr>
      </p:sp>
      <p:sp>
        <p:nvSpPr>
          <p:cNvPr id="23" name="Text 21"/>
          <p:cNvSpPr txBox="1"/>
          <p:nvPr/>
        </p:nvSpPr>
        <p:spPr>
          <a:xfrm>
            <a:off x="1079500" y="43434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Headers and secrets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00" dirty="0"/>
          </a:p>
        </p:txBody>
      </p:sp>
      <p:sp>
        <p:nvSpPr>
          <p:cNvPr id="24" name="Shape 22"/>
          <p:cNvSpPr/>
          <p:nvPr/>
        </p:nvSpPr>
        <p:spPr>
          <a:xfrm>
            <a:off x="762000" y="4914900"/>
            <a:ext cx="6223000" cy="0"/>
          </a:xfrm>
          <a:prstGeom prst="line">
            <a:avLst/>
          </a:prstGeom>
          <a:noFill/>
          <a:ln w="9525">
            <a:solidFill>
              <a:srgbClr val="DDE1E7"/>
            </a:solidFill>
            <a:prstDash val="solid"/>
          </a:ln>
        </p:spPr>
      </p:sp>
      <p:sp>
        <p:nvSpPr>
          <p:cNvPr id="25" name="Shape 23"/>
          <p:cNvSpPr/>
          <p:nvPr/>
        </p:nvSpPr>
        <p:spPr>
          <a:xfrm>
            <a:off x="812800" y="5048250"/>
            <a:ext cx="50800" cy="50800"/>
          </a:xfrm>
          <a:prstGeom prst="line">
            <a:avLst/>
          </a:prstGeom>
          <a:noFill/>
          <a:ln w="25400">
            <a:solidFill>
              <a:srgbClr val="067647"/>
            </a:solidFill>
            <a:prstDash val="solid"/>
          </a:ln>
        </p:spPr>
      </p:sp>
      <p:sp>
        <p:nvSpPr>
          <p:cNvPr id="26" name="Shape 24"/>
          <p:cNvSpPr/>
          <p:nvPr/>
        </p:nvSpPr>
        <p:spPr>
          <a:xfrm flipV="1">
            <a:off x="863600" y="5003800"/>
            <a:ext cx="82550" cy="95250"/>
          </a:xfrm>
          <a:prstGeom prst="line">
            <a:avLst/>
          </a:prstGeom>
          <a:noFill/>
          <a:ln w="25400">
            <a:solidFill>
              <a:srgbClr val="067647"/>
            </a:solidFill>
            <a:prstDash val="solid"/>
          </a:ln>
        </p:spPr>
      </p:sp>
      <p:sp>
        <p:nvSpPr>
          <p:cNvPr id="27" name="Text 25"/>
          <p:cNvSpPr txBox="1"/>
          <p:nvPr/>
        </p:nvSpPr>
        <p:spPr>
          <a:xfrm>
            <a:off x="1079500" y="4953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00" dirty="0"/>
          </a:p>
        </p:txBody>
      </p:sp>
      <p:sp>
        <p:nvSpPr>
          <p:cNvPr id="28" name="Shape 26"/>
          <p:cNvSpPr/>
          <p:nvPr/>
        </p:nvSpPr>
        <p:spPr>
          <a:xfrm>
            <a:off x="762000" y="5524500"/>
            <a:ext cx="6223000" cy="0"/>
          </a:xfrm>
          <a:prstGeom prst="line">
            <a:avLst/>
          </a:prstGeom>
          <a:noFill/>
          <a:ln w="9525">
            <a:solidFill>
              <a:srgbClr val="DDE1E7"/>
            </a:solidFill>
            <a:prstDash val="solid"/>
          </a:ln>
        </p:spPr>
      </p:sp>
      <p:sp>
        <p:nvSpPr>
          <p:cNvPr id="29" name="Shape 27"/>
          <p:cNvSpPr/>
          <p:nvPr/>
        </p:nvSpPr>
        <p:spPr>
          <a:xfrm>
            <a:off x="812800" y="5657850"/>
            <a:ext cx="50800" cy="50800"/>
          </a:xfrm>
          <a:prstGeom prst="line">
            <a:avLst/>
          </a:prstGeom>
          <a:noFill/>
          <a:ln w="25400">
            <a:solidFill>
              <a:srgbClr val="067647"/>
            </a:solidFill>
            <a:prstDash val="solid"/>
          </a:ln>
        </p:spPr>
      </p:sp>
      <p:sp>
        <p:nvSpPr>
          <p:cNvPr id="30" name="Shape 28"/>
          <p:cNvSpPr/>
          <p:nvPr/>
        </p:nvSpPr>
        <p:spPr>
          <a:xfrm flipV="1">
            <a:off x="863600" y="5613400"/>
            <a:ext cx="82550" cy="95250"/>
          </a:xfrm>
          <a:prstGeom prst="line">
            <a:avLst/>
          </a:prstGeom>
          <a:noFill/>
          <a:ln w="25400">
            <a:solidFill>
              <a:srgbClr val="067647"/>
            </a:solidFill>
            <a:prstDash val="solid"/>
          </a:ln>
        </p:spPr>
      </p:sp>
      <p:sp>
        <p:nvSpPr>
          <p:cNvPr id="31" name="Text 29"/>
          <p:cNvSpPr txBox="1"/>
          <p:nvPr/>
        </p:nvSpPr>
        <p:spPr>
          <a:xfrm>
            <a:off x="1079500" y="5562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Observability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GET /api/v1/metrics behind a bearer token: requests, latency, refusals, check outcomes and cost, transitions, queue; Prometheus with six alert rules; one Grafana dashboard; alerts, an hourly digest and a command bot on Telegram; local and on Railway (US-077).</a:t>
            </a:r>
            <a:endParaRPr lang="en-US" sz="900" dirty="0"/>
          </a:p>
        </p:txBody>
      </p:sp>
      <p:sp>
        <p:nvSpPr>
          <p:cNvPr id="32"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3"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4"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T23 plus T1a, STRIDE per asset, the control for each, what is accepted for a demonstration and why.</a:t>
            </a:r>
            <a:endParaRPr lang="en-US" sz="900" dirty="0"/>
          </a:p>
        </p:txBody>
      </p:sp>
      <p:sp>
        <p:nvSpPr>
          <p:cNvPr id="35"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6"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7"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24 rows, severity, what mitigates today, what production needs.</a:t>
            </a:r>
            <a:endParaRPr lang="en-US" sz="900" dirty="0"/>
          </a:p>
        </p:txBody>
      </p:sp>
      <p:sp>
        <p:nvSpPr>
          <p:cNvPr id="38"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9"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40"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41"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2"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43"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4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(Opus 5, some sessions Fable 5.1); Cursor to read every diff; Wispr Flow for the long briefs; Claude in Chrome for run-throughs and dashboards, my own sign-in, no secret through the agent.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Share of the work</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Nearly all application code and most documents generated by the agent; every decision, prompt, review, merge and push mine. OpenAI only inside the product.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 first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Requirements with ids, SCOPE.md, solutioning, a 23-artboard prototype, three one-day sprints on the board, one branch per story, CI/CD and two environments from day 3.</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the project one is checked in as CLAUDE.md (two slides on). The brief's five context types, each with an example in AI_USAGE.md.</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ruff, mypy strict, tsc strict on every story; browser checks at three widths; subagent reviews that had to reproduce a finding; docs checked against code at each close.</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4 · WHERE IT WAS WRONG</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Six things the AI got wrong, what caught each one, and what changed.</a:t>
            </a:r>
            <a:endParaRPr lang="en-US" sz="2200" dirty="0"/>
          </a:p>
        </p:txBody>
      </p:sp>
      <p:sp>
        <p:nvSpPr>
          <p:cNvPr id="4" name="Shape 2"/>
          <p:cNvSpPr/>
          <p:nvPr/>
        </p:nvSpPr>
        <p:spPr>
          <a:xfrm>
            <a:off x="762000" y="1778000"/>
            <a:ext cx="5181600" cy="0"/>
          </a:xfrm>
          <a:prstGeom prst="line">
            <a:avLst/>
          </a:prstGeom>
          <a:noFill/>
          <a:ln w="9525">
            <a:solidFill>
              <a:srgbClr val="DDE1E7"/>
            </a:solidFill>
            <a:prstDash val="solid"/>
          </a:ln>
        </p:spPr>
      </p:sp>
      <p:sp>
        <p:nvSpPr>
          <p:cNvPr id="5" name="Text 3"/>
          <p:cNvSpPr txBox="1"/>
          <p:nvPr/>
        </p:nvSpPr>
        <p:spPr>
          <a:xfrm>
            <a:off x="7620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Invented enum values, and an expired certificate read as valid</a:t>
            </a:r>
            <a:endParaRPr lang="en-US" sz="1100" dirty="0"/>
          </a:p>
        </p:txBody>
      </p:sp>
      <p:sp>
        <p:nvSpPr>
          <p:cNvPr id="7" name="Text 5"/>
          <p:cNvSpPr txBox="1"/>
          <p:nvPr/>
        </p:nvSpPr>
        <p:spPr>
          <a:xfrm>
            <a:off x="11557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First live run of the verifier. Caught by reading the run. Fix: the vocabulary pinned in the wire schema, today's date in the prompt; the harness now gates every prompt change.</a:t>
            </a:r>
            <a:endParaRPr lang="en-US" sz="900" dirty="0"/>
          </a:p>
        </p:txBody>
      </p:sp>
      <p:sp>
        <p:nvSpPr>
          <p:cNvPr id="8" name="Shape 6"/>
          <p:cNvSpPr/>
          <p:nvPr/>
        </p:nvSpPr>
        <p:spPr>
          <a:xfrm>
            <a:off x="6248400" y="1778000"/>
            <a:ext cx="5181600" cy="0"/>
          </a:xfrm>
          <a:prstGeom prst="line">
            <a:avLst/>
          </a:prstGeom>
          <a:noFill/>
          <a:ln w="9525">
            <a:solidFill>
              <a:srgbClr val="DDE1E7"/>
            </a:solidFill>
            <a:prstDash val="solid"/>
          </a:ln>
        </p:spPr>
      </p:sp>
      <p:sp>
        <p:nvSpPr>
          <p:cNvPr id="9" name="Text 7"/>
          <p:cNvSpPr txBox="1"/>
          <p:nvPr/>
        </p:nvSpPr>
        <p:spPr>
          <a:xfrm>
            <a:off x="62484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scope-creeping story and a red landing band</a:t>
            </a:r>
            <a:endParaRPr lang="en-US" sz="1100" dirty="0"/>
          </a:p>
        </p:txBody>
      </p:sp>
      <p:sp>
        <p:nvSpPr>
          <p:cNvPr id="11" name="Text 9"/>
          <p:cNvSpPr txBox="1"/>
          <p:nvPr/>
        </p:nvSpPr>
        <p:spPr>
          <a:xfrm>
            <a:off x="66421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Proposed unasked. Caught at review. Both rejected and recorded in the story notes; SCOPE.md changes only by decision.</a:t>
            </a:r>
            <a:endParaRPr lang="en-US" sz="900" dirty="0"/>
          </a:p>
        </p:txBody>
      </p:sp>
      <p:sp>
        <p:nvSpPr>
          <p:cNvPr id="12" name="b1"/>
          <p:cNvSpPr/>
          <p:nvPr/>
        </p:nvSpPr>
        <p:spPr>
          <a:xfrm>
            <a:off x="762000" y="3175000"/>
            <a:ext cx="5181600" cy="0"/>
          </a:xfrm>
          <a:prstGeom prst="line">
            <a:avLst/>
          </a:prstGeom>
          <a:noFill/>
          <a:ln w="9525">
            <a:solidFill>
              <a:srgbClr val="DDE1E7"/>
            </a:solidFill>
            <a:prstDash val="solid"/>
          </a:ln>
        </p:spPr>
      </p:sp>
      <p:sp>
        <p:nvSpPr>
          <p:cNvPr id="13" name="b1"/>
          <p:cNvSpPr txBox="1"/>
          <p:nvPr/>
        </p:nvSpPr>
        <p:spPr>
          <a:xfrm>
            <a:off x="7620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b1"/>
          <p:cNvSpPr txBox="1"/>
          <p:nvPr/>
        </p:nvSpPr>
        <p:spPr>
          <a:xfrm>
            <a:off x="11557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transition the state machine did not allow</a:t>
            </a:r>
            <a:endParaRPr lang="en-US" sz="1100" dirty="0"/>
          </a:p>
        </p:txBody>
      </p:sp>
      <p:sp>
        <p:nvSpPr>
          <p:cNvPr id="15" name="b1"/>
          <p:cNvSpPr txBox="1"/>
          <p:nvPr/>
        </p:nvSpPr>
        <p:spPr>
          <a:xfrm>
            <a:off x="11557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approval-stage option offered without checking the table. Caught by the sweep. It exposed a real gap: Return to review was added as a row.</a:t>
            </a:r>
            <a:endParaRPr lang="en-US" sz="900" dirty="0"/>
          </a:p>
        </p:txBody>
      </p:sp>
      <p:sp>
        <p:nvSpPr>
          <p:cNvPr id="16" name="b1"/>
          <p:cNvSpPr/>
          <p:nvPr/>
        </p:nvSpPr>
        <p:spPr>
          <a:xfrm>
            <a:off x="6248400" y="3175000"/>
            <a:ext cx="5181600" cy="0"/>
          </a:xfrm>
          <a:prstGeom prst="line">
            <a:avLst/>
          </a:prstGeom>
          <a:noFill/>
          <a:ln w="9525">
            <a:solidFill>
              <a:srgbClr val="DDE1E7"/>
            </a:solidFill>
            <a:prstDash val="solid"/>
          </a:ln>
        </p:spPr>
      </p:sp>
      <p:sp>
        <p:nvSpPr>
          <p:cNvPr id="17" name="b1"/>
          <p:cNvSpPr txBox="1"/>
          <p:nvPr/>
        </p:nvSpPr>
        <p:spPr>
          <a:xfrm>
            <a:off x="62484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b1"/>
          <p:cNvSpPr txBox="1"/>
          <p:nvPr/>
        </p:nvSpPr>
        <p:spPr>
          <a:xfrm>
            <a:off x="66421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scratch file swept into a commit</a:t>
            </a:r>
            <a:endParaRPr lang="en-US" sz="1100" dirty="0"/>
          </a:p>
        </p:txBody>
      </p:sp>
      <p:sp>
        <p:nvSpPr>
          <p:cNvPr id="19" name="b1"/>
          <p:cNvSpPr txBox="1"/>
          <p:nvPr/>
        </p:nvSpPr>
        <p:spPr>
          <a:xfrm>
            <a:off x="66421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subagent's test file caught by git add -A while it was still running. Caught in the diff. Staging became explicit from then on.</a:t>
            </a:r>
            <a:endParaRPr lang="en-US" sz="900" dirty="0"/>
          </a:p>
        </p:txBody>
      </p:sp>
      <p:sp>
        <p:nvSpPr>
          <p:cNvPr id="20" name="b1"/>
          <p:cNvSpPr/>
          <p:nvPr/>
        </p:nvSpPr>
        <p:spPr>
          <a:xfrm>
            <a:off x="762000" y="4572000"/>
            <a:ext cx="5181600" cy="0"/>
          </a:xfrm>
          <a:prstGeom prst="line">
            <a:avLst/>
          </a:prstGeom>
          <a:noFill/>
          <a:ln w="9525">
            <a:solidFill>
              <a:srgbClr val="DDE1E7"/>
            </a:solidFill>
            <a:prstDash val="solid"/>
          </a:ln>
        </p:spPr>
      </p:sp>
      <p:sp>
        <p:nvSpPr>
          <p:cNvPr id="21" name="b1"/>
          <p:cNvSpPr txBox="1"/>
          <p:nvPr/>
        </p:nvSpPr>
        <p:spPr>
          <a:xfrm>
            <a:off x="7620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b1"/>
          <p:cNvSpPr txBox="1"/>
          <p:nvPr/>
        </p:nvSpPr>
        <p:spPr>
          <a:xfrm>
            <a:off x="11557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Licence dates computed in UTC</a:t>
            </a:r>
            <a:endParaRPr lang="en-US" sz="1100" dirty="0"/>
          </a:p>
        </p:txBody>
      </p:sp>
      <p:sp>
        <p:nvSpPr>
          <p:cNvPr id="23" name="b1"/>
          <p:cNvSpPr txBox="1"/>
          <p:nvPr/>
        </p:nvSpPr>
        <p:spPr>
          <a:xfrm>
            <a:off x="11557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day off in Singapore. Caught in the rendered PDF. Fixed to Asia/Singapore with a test.</a:t>
            </a:r>
            <a:endParaRPr lang="en-US" sz="900" dirty="0"/>
          </a:p>
        </p:txBody>
      </p:sp>
      <p:sp>
        <p:nvSpPr>
          <p:cNvPr id="24" name="b1"/>
          <p:cNvSpPr/>
          <p:nvPr/>
        </p:nvSpPr>
        <p:spPr>
          <a:xfrm>
            <a:off x="6248400" y="4572000"/>
            <a:ext cx="5181600" cy="0"/>
          </a:xfrm>
          <a:prstGeom prst="line">
            <a:avLst/>
          </a:prstGeom>
          <a:noFill/>
          <a:ln w="9525">
            <a:solidFill>
              <a:srgbClr val="DDE1E7"/>
            </a:solidFill>
            <a:prstDash val="solid"/>
          </a:ln>
        </p:spPr>
      </p:sp>
      <p:sp>
        <p:nvSpPr>
          <p:cNvPr id="25" name="b1"/>
          <p:cNvSpPr txBox="1"/>
          <p:nvPr/>
        </p:nvSpPr>
        <p:spPr>
          <a:xfrm>
            <a:off x="62484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b1"/>
          <p:cNvSpPr txBox="1"/>
          <p:nvPr/>
        </p:nvSpPr>
        <p:spPr>
          <a:xfrm>
            <a:off x="66421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harness fault blamed on the model</a:t>
            </a:r>
            <a:endParaRPr lang="en-US" sz="1100" dirty="0"/>
          </a:p>
        </p:txBody>
      </p:sp>
      <p:sp>
        <p:nvSpPr>
          <p:cNvPr id="27" name="b1"/>
          <p:cNvSpPr txBox="1"/>
          <p:nvPr/>
        </p:nvSpPr>
        <p:spPr>
          <a:xfrm>
            <a:off x="66421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first fairness run reported two name-swapped cases as differing; the harness had left the baseline email in the form. Caught by reading the traces. Twenty-one of twenty-one after the fix, recorded as such.</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6: the full list, with what I would not defend line by line (the certificate layout code, the widest Tailwind class strings, the fairness harness).</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320"/>
                                        <p:tgtEl>
                                          <p:spTgt spid="1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320"/>
                                        <p:tgtEl>
                                          <p:spTgt spid="1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20"/>
                                        <p:tgtEl>
                                          <p:spTgt spid="1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320"/>
                                        <p:tgtEl>
                                          <p:spTgt spid="1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20"/>
                                        <p:tgtEl>
                                          <p:spTgt spid="1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20"/>
                                        <p:tgtEl>
                                          <p:spTgt spid="1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20"/>
                                        <p:tgtEl>
                                          <p:spTgt spid="1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20"/>
                                        <p:tgtEl>
                                          <p:spTgt spid="1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20"/>
                                        <p:tgtEl>
                                          <p:spTgt spid="2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320"/>
                                        <p:tgtEl>
                                          <p:spTgt spid="2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320"/>
                                        <p:tgtEl>
                                          <p:spTgt spid="2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320"/>
                                        <p:tgtEl>
                                          <p:spTgt spid="2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320"/>
                                        <p:tgtEl>
                                          <p:spTgt spid="2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320"/>
                                        <p:tgtEl>
                                          <p:spTgt spid="2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20"/>
                                        <p:tgtEl>
                                          <p:spTgt spid="2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4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SCOPE.md, REQUIREMENTS.md with ids, USER_STORIES.md one to one with the board, the architecture documents, the threat model. Code and a document disagree: fix one in the same change.</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server-side authorization; operators never receive internal codes; strict layering; every status change through workflow.py; the AI never mutates state; immutable revisions; same-transaction audit.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same turn</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 progress when a story starts, Done only on its definition of done, slipped with a note; new or renamed stories mirrored in the same turn.</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env vars to .env.example, README, OPERATIONS; schema changes to a migration and DOMAIN_MODEL; endpoints to the API table plus an authorization test; ADRs; SCOPE.md at once; prompt changes to docs/07-ai.</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PM, architect, QA, security, DevOps, writer and reviewer duties per story; sprint close daily; a handover line if a session stops mid-story; no push without my yes.</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4 OF 4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5 min 40 s, all 1920 x 1080 at 60 fps with subtitles; the pitch deck (15 slides) and this deck (23 slides). All in docs/14-debrief/.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second Claude Code session after the code freeze, with the video skills installed for the workflow; Playwright footage from the development environment at 4K, a synthetic voice, catalogue music under it, rendered at 60 fps.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every label; a leak sweep of every recording; production never touched.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Generated by ChatGPT from prompts written against the workflows, Dockerfiles and operations documents, each with an acceptance list; rated against the code before use, two rejected for invented components.</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content.json per deck through a pptxgenjs generator; facts pulled from the repository; an independent cold review on 20 Sep corrected five counts and one claim before this version.</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docs/14-debrief/README.md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Observability, second half: alerts routed to a channel (Alertmanager), nginx and Postgres exporters, one Prometheus per environment, a runbook per alert.</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22 / 23</a:t>
            </a:r>
            <a:endParaRPr lang="en-US" sz="1000" dirty="0"/>
          </a:p>
        </p:txBody>
      </p:sp>
    </p:spTree>
  </p:cSld>
  <p:clrMapOvr>
    <a:masterClrMapping/>
  </p:clrMapOvr>
  <p:transition spd="fast">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2026-09-20T07:52:49Z</dcterms:created>
  <dcterms:modified xsi:type="dcterms:W3CDTF">2026-09-20T07:52:49Z</dcterms:modified>
</cp:coreProperties>
</file>