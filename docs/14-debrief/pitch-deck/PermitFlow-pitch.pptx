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uhaasnv/Documents/Desktop ALT/portfolioprojects/permitflow/notes/pitch/pitch-deck/pptx/build/cover-queue-1440.pn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0" y="0"/>
            <a:ext cx="12192000" cy="6667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03200" y="152400"/>
            <a:ext cx="721360" cy="215900"/>
          </a:xfrm>
          <a:prstGeom prst="roundRect">
            <a:avLst>
              <a:gd name="adj" fmla="val 1764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203200" y="152400"/>
            <a:ext cx="72136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1000" dirty="0"/>
          </a:p>
        </p:txBody>
      </p:sp>
      <p:pic>
        <p:nvPicPr>
          <p:cNvPr id="5" name="Image 1" descr="/Users/suhaasnv/Documents/Desktop ALT/portfolioprojects/permitflow/notes/pitch/pitch-deck/pptx/build/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905000"/>
            <a:ext cx="609600" cy="6096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549400" y="1905000"/>
            <a:ext cx="3810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976" b="1" spc="-100" kern="0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PermitFlow</a:t>
            </a:r>
            <a:endParaRPr lang="en-US" sz="2976" dirty="0"/>
          </a:p>
        </p:txBody>
      </p:sp>
      <p:sp>
        <p:nvSpPr>
          <p:cNvPr id="7" name="Text 3"/>
          <p:cNvSpPr txBox="1"/>
          <p:nvPr/>
        </p:nvSpPr>
        <p:spPr>
          <a:xfrm>
            <a:off x="762000" y="2870200"/>
            <a:ext cx="8255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Modernising regulatory licensing workflows</a:t>
            </a:r>
            <a:endParaRPr lang="en-US" sz="4400" dirty="0"/>
          </a:p>
        </p:txBody>
      </p:sp>
      <p:sp>
        <p:nvSpPr>
          <p:cNvPr id="8" name="Text 4"/>
          <p:cNvSpPr txBox="1"/>
          <p:nvPr/>
        </p:nvSpPr>
        <p:spPr>
          <a:xfrm>
            <a:off x="762000" y="4470400"/>
            <a:ext cx="8255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5CBD4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working product for the Food Establishment Licence: submit, review, feedback, resubmit and decide, with an advisory document check.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762000" y="6096000"/>
            <a:ext cx="762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Full Stack Developer Assessment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· Xtremax, Singapore · September 2026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7620000" y="6096000"/>
            <a:ext cx="381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v0.3.0 · permitflow.space</a:t>
            </a:r>
            <a:endParaRPr lang="en-US" sz="1200" dirty="0"/>
          </a:p>
        </p:txBody>
      </p:sp>
    </p:spTree>
  </p:cSld>
  <p:clrMapOvr>
    <a:masterClrMapping/>
  </p:clrMapOvr>
  <p:transition spd="fast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9906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Licence applications go round in a slow, lossy loop, and each turn costs both sides time and trust.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491343" y="2489200"/>
            <a:ext cx="9209314" cy="736600"/>
          </a:xfrm>
          <a:prstGeom prst="roundRect">
            <a:avLst>
              <a:gd name="adj" fmla="val 24138"/>
            </a:avLst>
          </a:prstGeom>
          <a:solidFill>
            <a:srgbClr val="F4F5F7"/>
          </a:solidFill>
          <a:ln w="28575">
            <a:solidFill>
              <a:srgbClr val="AEB6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415143" y="2794000"/>
            <a:ext cx="76200" cy="101600"/>
          </a:xfrm>
          <a:prstGeom prst="line">
            <a:avLst/>
          </a:prstGeom>
          <a:noFill/>
          <a:ln w="28575">
            <a:solidFill>
              <a:srgbClr val="AEB6C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91343" y="2794000"/>
            <a:ext cx="76200" cy="101600"/>
          </a:xfrm>
          <a:prstGeom prst="line">
            <a:avLst/>
          </a:prstGeom>
          <a:noFill/>
          <a:ln w="28575">
            <a:solidFill>
              <a:srgbClr val="AEB6C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2000" y="2197100"/>
            <a:ext cx="10668000" cy="5842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2000" y="2222500"/>
            <a:ext cx="1458686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62000" y="2222500"/>
            <a:ext cx="1458686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Application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296886" y="2222500"/>
            <a:ext cx="1458686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2296886" y="2222500"/>
            <a:ext cx="1458686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Documents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3831771" y="2222500"/>
            <a:ext cx="1458686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831771" y="2222500"/>
            <a:ext cx="1458686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Review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366657" y="2222500"/>
            <a:ext cx="1458686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5366657" y="2222500"/>
            <a:ext cx="1458686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Feedback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901543" y="2222500"/>
            <a:ext cx="1458686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901543" y="2222500"/>
            <a:ext cx="1458686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Resubmission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436429" y="2222500"/>
            <a:ext cx="1458686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436429" y="2222500"/>
            <a:ext cx="1458686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Review again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9971314" y="2222500"/>
            <a:ext cx="1458686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971314" y="2222500"/>
            <a:ext cx="1458686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Feedback again</a:t>
            </a:r>
            <a:endParaRPr lang="en-US" sz="1350" dirty="0"/>
          </a:p>
        </p:txBody>
      </p:sp>
      <p:sp>
        <p:nvSpPr>
          <p:cNvPr id="22" name="b1"/>
          <p:cNvSpPr txBox="1"/>
          <p:nvPr/>
        </p:nvSpPr>
        <p:spPr>
          <a:xfrm>
            <a:off x="762000" y="3587750"/>
            <a:ext cx="304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200" dirty="0"/>
          </a:p>
        </p:txBody>
      </p:sp>
      <p:sp>
        <p:nvSpPr>
          <p:cNvPr id="23" name="b1"/>
          <p:cNvSpPr txBox="1"/>
          <p:nvPr/>
        </p:nvSpPr>
        <p:spPr>
          <a:xfrm>
            <a:off x="1143000" y="3556000"/>
            <a:ext cx="4699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Incomplete or incorrect submissions cause repeated rejection cycles.</a:t>
            </a:r>
            <a:endParaRPr lang="en-US" sz="1500" dirty="0"/>
          </a:p>
        </p:txBody>
      </p:sp>
      <p:sp>
        <p:nvSpPr>
          <p:cNvPr id="24" name="b1"/>
          <p:cNvSpPr txBox="1"/>
          <p:nvPr/>
        </p:nvSpPr>
        <p:spPr>
          <a:xfrm>
            <a:off x="6096000" y="3587750"/>
            <a:ext cx="304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200" dirty="0"/>
          </a:p>
        </p:txBody>
      </p:sp>
      <p:sp>
        <p:nvSpPr>
          <p:cNvPr id="25" name="b1"/>
          <p:cNvSpPr txBox="1"/>
          <p:nvPr/>
        </p:nvSpPr>
        <p:spPr>
          <a:xfrm>
            <a:off x="6477000" y="3556000"/>
            <a:ext cx="4699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Feedback is not tied to a section or a document, so the business does not know what to fix.</a:t>
            </a:r>
            <a:endParaRPr lang="en-US" sz="1500" dirty="0"/>
          </a:p>
        </p:txBody>
      </p:sp>
      <p:sp>
        <p:nvSpPr>
          <p:cNvPr id="26" name="b1"/>
          <p:cNvSpPr txBox="1"/>
          <p:nvPr/>
        </p:nvSpPr>
        <p:spPr>
          <a:xfrm>
            <a:off x="762000" y="4273550"/>
            <a:ext cx="304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200" dirty="0"/>
          </a:p>
        </p:txBody>
      </p:sp>
      <p:sp>
        <p:nvSpPr>
          <p:cNvPr id="27" name="b1"/>
          <p:cNvSpPr txBox="1"/>
          <p:nvPr/>
        </p:nvSpPr>
        <p:spPr>
          <a:xfrm>
            <a:off x="1143000" y="4241800"/>
            <a:ext cx="4699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whole application is re-entered on resubmission and data is lost between rounds.</a:t>
            </a:r>
            <a:endParaRPr lang="en-US" sz="1500" dirty="0"/>
          </a:p>
        </p:txBody>
      </p:sp>
      <p:sp>
        <p:nvSpPr>
          <p:cNvPr id="28" name="b1"/>
          <p:cNvSpPr txBox="1"/>
          <p:nvPr/>
        </p:nvSpPr>
        <p:spPr>
          <a:xfrm>
            <a:off x="6096000" y="4273550"/>
            <a:ext cx="304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200" dirty="0"/>
          </a:p>
        </p:txBody>
      </p:sp>
      <p:sp>
        <p:nvSpPr>
          <p:cNvPr id="29" name="b1"/>
          <p:cNvSpPr txBox="1"/>
          <p:nvPr/>
        </p:nvSpPr>
        <p:spPr>
          <a:xfrm>
            <a:off x="6477000" y="4241800"/>
            <a:ext cx="4699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officer cannot see what changed, or whether an earlier issue was actually resolved.</a:t>
            </a:r>
            <a:endParaRPr lang="en-US" sz="1500" dirty="0"/>
          </a:p>
        </p:txBody>
      </p:sp>
      <p:sp>
        <p:nvSpPr>
          <p:cNvPr id="30" name="b1"/>
          <p:cNvSpPr txBox="1"/>
          <p:nvPr/>
        </p:nvSpPr>
        <p:spPr>
          <a:xfrm>
            <a:off x="762000" y="4959350"/>
            <a:ext cx="304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200" dirty="0"/>
          </a:p>
        </p:txBody>
      </p:sp>
      <p:sp>
        <p:nvSpPr>
          <p:cNvPr id="31" name="b1"/>
          <p:cNvSpPr txBox="1"/>
          <p:nvPr/>
        </p:nvSpPr>
        <p:spPr>
          <a:xfrm>
            <a:off x="1143000" y="4927600"/>
            <a:ext cx="4699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same comments are rewritten for the same common problems.</a:t>
            </a:r>
            <a:endParaRPr lang="en-US" sz="1500" dirty="0"/>
          </a:p>
        </p:txBody>
      </p:sp>
      <p:sp>
        <p:nvSpPr>
          <p:cNvPr id="32" name="b1"/>
          <p:cNvSpPr txBox="1"/>
          <p:nvPr/>
        </p:nvSpPr>
        <p:spPr>
          <a:xfrm>
            <a:off x="6096000" y="4959350"/>
            <a:ext cx="304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200" dirty="0"/>
          </a:p>
        </p:txBody>
      </p:sp>
      <p:sp>
        <p:nvSpPr>
          <p:cNvPr id="33" name="b1"/>
          <p:cNvSpPr txBox="1"/>
          <p:nvPr/>
        </p:nvSpPr>
        <p:spPr>
          <a:xfrm>
            <a:off x="6477000" y="4927600"/>
            <a:ext cx="4699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Applications get lost between stages and the record of what happened is incomplete.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62000" y="6299200"/>
            <a:ext cx="635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Source: the assessment brief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13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9906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One continuous workflow: submit, review, feedback tied to a section or a document, then resubmit only what was flagged.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2019300"/>
            <a:ext cx="10668000" cy="825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90600" y="2171700"/>
            <a:ext cx="802640" cy="215900"/>
          </a:xfrm>
          <a:prstGeom prst="roundRect">
            <a:avLst>
              <a:gd name="adj" fmla="val 17647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90600" y="2171700"/>
            <a:ext cx="80264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7546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990600" y="24511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Applies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387600" y="2159000"/>
            <a:ext cx="1518920" cy="228600"/>
          </a:xfrm>
          <a:prstGeom prst="roundRect">
            <a:avLst>
              <a:gd name="adj" fmla="val 16667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87600" y="2159000"/>
            <a:ext cx="151892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New application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982720" y="21590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262120" y="2159000"/>
            <a:ext cx="284683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four sections, validated as you go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387600" y="2451100"/>
            <a:ext cx="1250696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387600" y="2451100"/>
            <a:ext cx="125069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Browse files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714496" y="24511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993896" y="2451100"/>
            <a:ext cx="229209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check runs on each upload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222492" y="24511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501892" y="2451100"/>
            <a:ext cx="1787144" cy="228600"/>
          </a:xfrm>
          <a:prstGeom prst="roundRect">
            <a:avLst>
              <a:gd name="adj" fmla="val 16667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01892" y="2451100"/>
            <a:ext cx="178714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Submit application</a:t>
            </a:r>
            <a:endParaRPr lang="en-US" sz="1100" dirty="0"/>
          </a:p>
        </p:txBody>
      </p:sp>
      <p:sp>
        <p:nvSpPr>
          <p:cNvPr id="19" name="b1"/>
          <p:cNvSpPr/>
          <p:nvPr/>
        </p:nvSpPr>
        <p:spPr>
          <a:xfrm>
            <a:off x="762000" y="2933700"/>
            <a:ext cx="10668000" cy="825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20" name="b1"/>
          <p:cNvSpPr/>
          <p:nvPr/>
        </p:nvSpPr>
        <p:spPr>
          <a:xfrm>
            <a:off x="990600" y="3086100"/>
            <a:ext cx="721360" cy="215900"/>
          </a:xfrm>
          <a:prstGeom prst="roundRect">
            <a:avLst>
              <a:gd name="adj" fmla="val 1764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21" name="b1"/>
          <p:cNvSpPr txBox="1"/>
          <p:nvPr/>
        </p:nvSpPr>
        <p:spPr>
          <a:xfrm>
            <a:off x="990600" y="3086100"/>
            <a:ext cx="72136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1000" dirty="0"/>
          </a:p>
        </p:txBody>
      </p:sp>
      <p:sp>
        <p:nvSpPr>
          <p:cNvPr id="22" name="b1"/>
          <p:cNvSpPr txBox="1"/>
          <p:nvPr/>
        </p:nvSpPr>
        <p:spPr>
          <a:xfrm>
            <a:off x="990600" y="3365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Reviews</a:t>
            </a:r>
            <a:endParaRPr lang="en-US" sz="1100" dirty="0"/>
          </a:p>
        </p:txBody>
      </p:sp>
      <p:sp>
        <p:nvSpPr>
          <p:cNvPr id="23" name="b1"/>
          <p:cNvSpPr/>
          <p:nvPr/>
        </p:nvSpPr>
        <p:spPr>
          <a:xfrm>
            <a:off x="2387600" y="3073400"/>
            <a:ext cx="1250696" cy="228600"/>
          </a:xfrm>
          <a:prstGeom prst="roundRect">
            <a:avLst>
              <a:gd name="adj" fmla="val 16667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24" name="b1"/>
          <p:cNvSpPr txBox="1"/>
          <p:nvPr/>
        </p:nvSpPr>
        <p:spPr>
          <a:xfrm>
            <a:off x="2387600" y="3073400"/>
            <a:ext cx="125069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Start review</a:t>
            </a:r>
            <a:endParaRPr lang="en-US" sz="1100" dirty="0"/>
          </a:p>
        </p:txBody>
      </p:sp>
      <p:sp>
        <p:nvSpPr>
          <p:cNvPr id="25" name="b1"/>
          <p:cNvSpPr txBox="1"/>
          <p:nvPr/>
        </p:nvSpPr>
        <p:spPr>
          <a:xfrm>
            <a:off x="3714496" y="30734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26" name="b1"/>
          <p:cNvSpPr txBox="1"/>
          <p:nvPr/>
        </p:nvSpPr>
        <p:spPr>
          <a:xfrm>
            <a:off x="3993896" y="3073400"/>
            <a:ext cx="245059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findings beside each document</a:t>
            </a:r>
            <a:endParaRPr lang="en-US" sz="1200" dirty="0"/>
          </a:p>
        </p:txBody>
      </p:sp>
      <p:sp>
        <p:nvSpPr>
          <p:cNvPr id="27" name="b1"/>
          <p:cNvSpPr txBox="1"/>
          <p:nvPr/>
        </p:nvSpPr>
        <p:spPr>
          <a:xfrm>
            <a:off x="6380988" y="30734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28" name="b1"/>
          <p:cNvSpPr/>
          <p:nvPr/>
        </p:nvSpPr>
        <p:spPr>
          <a:xfrm>
            <a:off x="6660388" y="3073400"/>
            <a:ext cx="1250696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29" name="b1"/>
          <p:cNvSpPr txBox="1"/>
          <p:nvPr/>
        </p:nvSpPr>
        <p:spPr>
          <a:xfrm>
            <a:off x="6660388" y="3073400"/>
            <a:ext cx="125069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Add feedback</a:t>
            </a:r>
            <a:endParaRPr lang="en-US" sz="1100" dirty="0"/>
          </a:p>
        </p:txBody>
      </p:sp>
      <p:sp>
        <p:nvSpPr>
          <p:cNvPr id="30" name="b1"/>
          <p:cNvSpPr txBox="1"/>
          <p:nvPr/>
        </p:nvSpPr>
        <p:spPr>
          <a:xfrm>
            <a:off x="2387600" y="3365500"/>
            <a:ext cx="601675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tied to a section or a document, from a template when it is a common issue</a:t>
            </a:r>
            <a:endParaRPr lang="en-US" sz="1200" dirty="0"/>
          </a:p>
        </p:txBody>
      </p:sp>
      <p:sp>
        <p:nvSpPr>
          <p:cNvPr id="31" name="b1"/>
          <p:cNvSpPr txBox="1"/>
          <p:nvPr/>
        </p:nvSpPr>
        <p:spPr>
          <a:xfrm>
            <a:off x="8340852" y="33655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32" name="b1"/>
          <p:cNvSpPr/>
          <p:nvPr/>
        </p:nvSpPr>
        <p:spPr>
          <a:xfrm>
            <a:off x="8620252" y="3365500"/>
            <a:ext cx="1965960" cy="228600"/>
          </a:xfrm>
          <a:prstGeom prst="roundRect">
            <a:avLst>
              <a:gd name="adj" fmla="val 16667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33" name="b1"/>
          <p:cNvSpPr txBox="1"/>
          <p:nvPr/>
        </p:nvSpPr>
        <p:spPr>
          <a:xfrm>
            <a:off x="8620252" y="3365500"/>
            <a:ext cx="19659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Request resubmission</a:t>
            </a:r>
            <a:endParaRPr lang="en-US" sz="1100" dirty="0"/>
          </a:p>
        </p:txBody>
      </p:sp>
      <p:sp>
        <p:nvSpPr>
          <p:cNvPr id="34" name="b2"/>
          <p:cNvSpPr/>
          <p:nvPr/>
        </p:nvSpPr>
        <p:spPr>
          <a:xfrm>
            <a:off x="762000" y="3848100"/>
            <a:ext cx="10668000" cy="825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35" name="b2"/>
          <p:cNvSpPr/>
          <p:nvPr/>
        </p:nvSpPr>
        <p:spPr>
          <a:xfrm>
            <a:off x="990600" y="4000500"/>
            <a:ext cx="802640" cy="215900"/>
          </a:xfrm>
          <a:prstGeom prst="roundRect">
            <a:avLst>
              <a:gd name="adj" fmla="val 17647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36" name="b2"/>
          <p:cNvSpPr txBox="1"/>
          <p:nvPr/>
        </p:nvSpPr>
        <p:spPr>
          <a:xfrm>
            <a:off x="990600" y="4000500"/>
            <a:ext cx="80264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7546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</a:t>
            </a:r>
            <a:endParaRPr lang="en-US" sz="1000" dirty="0"/>
          </a:p>
        </p:txBody>
      </p:sp>
      <p:sp>
        <p:nvSpPr>
          <p:cNvPr id="37" name="b2"/>
          <p:cNvSpPr txBox="1"/>
          <p:nvPr/>
        </p:nvSpPr>
        <p:spPr>
          <a:xfrm>
            <a:off x="990600" y="42799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Responds</a:t>
            </a:r>
            <a:endParaRPr lang="en-US" sz="1100" dirty="0"/>
          </a:p>
        </p:txBody>
      </p:sp>
      <p:sp>
        <p:nvSpPr>
          <p:cNvPr id="38" name="b2"/>
          <p:cNvSpPr/>
          <p:nvPr/>
        </p:nvSpPr>
        <p:spPr>
          <a:xfrm>
            <a:off x="2387600" y="3987800"/>
            <a:ext cx="1876552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39" name="b2"/>
          <p:cNvSpPr txBox="1"/>
          <p:nvPr/>
        </p:nvSpPr>
        <p:spPr>
          <a:xfrm>
            <a:off x="2387600" y="3987800"/>
            <a:ext cx="187655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Respond to feedback</a:t>
            </a:r>
            <a:endParaRPr lang="en-US" sz="1100" dirty="0"/>
          </a:p>
        </p:txBody>
      </p:sp>
      <p:sp>
        <p:nvSpPr>
          <p:cNvPr id="40" name="b2"/>
          <p:cNvSpPr txBox="1"/>
          <p:nvPr/>
        </p:nvSpPr>
        <p:spPr>
          <a:xfrm>
            <a:off x="4340352" y="39878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41" name="b2"/>
          <p:cNvSpPr txBox="1"/>
          <p:nvPr/>
        </p:nvSpPr>
        <p:spPr>
          <a:xfrm>
            <a:off x="4619752" y="3987800"/>
            <a:ext cx="245059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only the flagged parts reopen</a:t>
            </a:r>
            <a:endParaRPr lang="en-US" sz="1200" dirty="0"/>
          </a:p>
        </p:txBody>
      </p:sp>
      <p:sp>
        <p:nvSpPr>
          <p:cNvPr id="42" name="b2"/>
          <p:cNvSpPr txBox="1"/>
          <p:nvPr/>
        </p:nvSpPr>
        <p:spPr>
          <a:xfrm>
            <a:off x="7006844" y="39878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43" name="b2"/>
          <p:cNvSpPr/>
          <p:nvPr/>
        </p:nvSpPr>
        <p:spPr>
          <a:xfrm>
            <a:off x="7286244" y="3987800"/>
            <a:ext cx="1608328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44" name="b2"/>
          <p:cNvSpPr txBox="1"/>
          <p:nvPr/>
        </p:nvSpPr>
        <p:spPr>
          <a:xfrm>
            <a:off x="7286244" y="3987800"/>
            <a:ext cx="160832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Replace document</a:t>
            </a:r>
            <a:endParaRPr lang="en-US" sz="1100" dirty="0"/>
          </a:p>
        </p:txBody>
      </p:sp>
      <p:sp>
        <p:nvSpPr>
          <p:cNvPr id="45" name="b2"/>
          <p:cNvSpPr/>
          <p:nvPr/>
        </p:nvSpPr>
        <p:spPr>
          <a:xfrm>
            <a:off x="2387600" y="4279900"/>
            <a:ext cx="893064" cy="228600"/>
          </a:xfrm>
          <a:prstGeom prst="roundRect">
            <a:avLst>
              <a:gd name="adj" fmla="val 16667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46" name="b2"/>
          <p:cNvSpPr txBox="1"/>
          <p:nvPr/>
        </p:nvSpPr>
        <p:spPr>
          <a:xfrm>
            <a:off x="2387600" y="4279900"/>
            <a:ext cx="8930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Resubmit</a:t>
            </a:r>
            <a:endParaRPr lang="en-US" sz="1100" dirty="0"/>
          </a:p>
        </p:txBody>
      </p:sp>
      <p:sp>
        <p:nvSpPr>
          <p:cNvPr id="47" name="b2"/>
          <p:cNvSpPr txBox="1"/>
          <p:nvPr/>
        </p:nvSpPr>
        <p:spPr>
          <a:xfrm>
            <a:off x="3356864" y="4279900"/>
            <a:ext cx="149961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as a new revision</a:t>
            </a:r>
            <a:endParaRPr lang="en-US" sz="1200" dirty="0"/>
          </a:p>
        </p:txBody>
      </p:sp>
      <p:sp>
        <p:nvSpPr>
          <p:cNvPr id="48" name="b3"/>
          <p:cNvSpPr/>
          <p:nvPr/>
        </p:nvSpPr>
        <p:spPr>
          <a:xfrm>
            <a:off x="762000" y="4762500"/>
            <a:ext cx="10668000" cy="825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49" name="b3"/>
          <p:cNvSpPr/>
          <p:nvPr/>
        </p:nvSpPr>
        <p:spPr>
          <a:xfrm>
            <a:off x="990600" y="4914900"/>
            <a:ext cx="721360" cy="215900"/>
          </a:xfrm>
          <a:prstGeom prst="roundRect">
            <a:avLst>
              <a:gd name="adj" fmla="val 1764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50" name="b3"/>
          <p:cNvSpPr txBox="1"/>
          <p:nvPr/>
        </p:nvSpPr>
        <p:spPr>
          <a:xfrm>
            <a:off x="990600" y="4914900"/>
            <a:ext cx="72136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1000" dirty="0"/>
          </a:p>
        </p:txBody>
      </p:sp>
      <p:sp>
        <p:nvSpPr>
          <p:cNvPr id="51" name="b3"/>
          <p:cNvSpPr txBox="1"/>
          <p:nvPr/>
        </p:nvSpPr>
        <p:spPr>
          <a:xfrm>
            <a:off x="990600" y="51943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Continues</a:t>
            </a:r>
            <a:endParaRPr lang="en-US" sz="1100" dirty="0"/>
          </a:p>
        </p:txBody>
      </p:sp>
      <p:sp>
        <p:nvSpPr>
          <p:cNvPr id="52" name="b3"/>
          <p:cNvSpPr txBox="1"/>
          <p:nvPr/>
        </p:nvSpPr>
        <p:spPr>
          <a:xfrm>
            <a:off x="2387600" y="4902200"/>
            <a:ext cx="149961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Compare revisions</a:t>
            </a:r>
            <a:endParaRPr lang="en-US" sz="1200" dirty="0"/>
          </a:p>
        </p:txBody>
      </p:sp>
      <p:sp>
        <p:nvSpPr>
          <p:cNvPr id="53" name="b3"/>
          <p:cNvSpPr txBox="1"/>
          <p:nvPr/>
        </p:nvSpPr>
        <p:spPr>
          <a:xfrm>
            <a:off x="3823716" y="49022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54" name="b3"/>
          <p:cNvSpPr/>
          <p:nvPr/>
        </p:nvSpPr>
        <p:spPr>
          <a:xfrm>
            <a:off x="4103116" y="4902200"/>
            <a:ext cx="1340104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55" name="b3"/>
          <p:cNvSpPr txBox="1"/>
          <p:nvPr/>
        </p:nvSpPr>
        <p:spPr>
          <a:xfrm>
            <a:off x="4103116" y="4902200"/>
            <a:ext cx="134010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Mark resolved</a:t>
            </a:r>
            <a:endParaRPr lang="en-US" sz="1100" dirty="0"/>
          </a:p>
        </p:txBody>
      </p:sp>
      <p:sp>
        <p:nvSpPr>
          <p:cNvPr id="56" name="b3"/>
          <p:cNvSpPr txBox="1"/>
          <p:nvPr/>
        </p:nvSpPr>
        <p:spPr>
          <a:xfrm>
            <a:off x="5519420" y="49022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57" name="b3"/>
          <p:cNvSpPr/>
          <p:nvPr/>
        </p:nvSpPr>
        <p:spPr>
          <a:xfrm>
            <a:off x="5798820" y="4902200"/>
            <a:ext cx="2413000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58" name="b3"/>
          <p:cNvSpPr txBox="1"/>
          <p:nvPr/>
        </p:nvSpPr>
        <p:spPr>
          <a:xfrm>
            <a:off x="5798820" y="4902200"/>
            <a:ext cx="2413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Mark site visit scheduled</a:t>
            </a:r>
            <a:endParaRPr lang="en-US" sz="1100" dirty="0"/>
          </a:p>
        </p:txBody>
      </p:sp>
      <p:sp>
        <p:nvSpPr>
          <p:cNvPr id="59" name="b3"/>
          <p:cNvSpPr txBox="1"/>
          <p:nvPr/>
        </p:nvSpPr>
        <p:spPr>
          <a:xfrm>
            <a:off x="8288020" y="49022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60" name="b3"/>
          <p:cNvSpPr/>
          <p:nvPr/>
        </p:nvSpPr>
        <p:spPr>
          <a:xfrm>
            <a:off x="8567420" y="4902200"/>
            <a:ext cx="1965960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61" name="b3"/>
          <p:cNvSpPr txBox="1"/>
          <p:nvPr/>
        </p:nvSpPr>
        <p:spPr>
          <a:xfrm>
            <a:off x="8567420" y="4902200"/>
            <a:ext cx="19659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Mark site visit done</a:t>
            </a:r>
            <a:endParaRPr lang="en-US" sz="1100" dirty="0"/>
          </a:p>
        </p:txBody>
      </p:sp>
      <p:sp>
        <p:nvSpPr>
          <p:cNvPr id="62" name="b3"/>
          <p:cNvSpPr/>
          <p:nvPr/>
        </p:nvSpPr>
        <p:spPr>
          <a:xfrm>
            <a:off x="2387600" y="5194300"/>
            <a:ext cx="1697736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63" name="b3"/>
          <p:cNvSpPr txBox="1"/>
          <p:nvPr/>
        </p:nvSpPr>
        <p:spPr>
          <a:xfrm>
            <a:off x="2387600" y="5194300"/>
            <a:ext cx="169773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Route to approval</a:t>
            </a:r>
            <a:endParaRPr lang="en-US" sz="1100" dirty="0"/>
          </a:p>
        </p:txBody>
      </p:sp>
      <p:sp>
        <p:nvSpPr>
          <p:cNvPr id="64" name="b3"/>
          <p:cNvSpPr txBox="1"/>
          <p:nvPr/>
        </p:nvSpPr>
        <p:spPr>
          <a:xfrm>
            <a:off x="4161536" y="51943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65" name="b3"/>
          <p:cNvSpPr/>
          <p:nvPr/>
        </p:nvSpPr>
        <p:spPr>
          <a:xfrm>
            <a:off x="4440936" y="5194300"/>
            <a:ext cx="803656" cy="228600"/>
          </a:xfrm>
          <a:prstGeom prst="roundRect">
            <a:avLst>
              <a:gd name="adj" fmla="val 16667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66" name="b3"/>
          <p:cNvSpPr txBox="1"/>
          <p:nvPr/>
        </p:nvSpPr>
        <p:spPr>
          <a:xfrm>
            <a:off x="4440936" y="5194300"/>
            <a:ext cx="8036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Approve</a:t>
            </a:r>
            <a:endParaRPr lang="en-US" sz="1100" dirty="0"/>
          </a:p>
        </p:txBody>
      </p:sp>
      <p:sp>
        <p:nvSpPr>
          <p:cNvPr id="67" name="b3"/>
          <p:cNvSpPr txBox="1"/>
          <p:nvPr/>
        </p:nvSpPr>
        <p:spPr>
          <a:xfrm>
            <a:off x="5320792" y="5194300"/>
            <a:ext cx="25298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issues the licence certificate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762000" y="6299200"/>
            <a:ext cx="698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dark or outlined chip is a control label in the product, spelled as it appears.</a:t>
            </a:r>
            <a:endParaRPr lang="en-US" sz="1000" dirty="0"/>
          </a:p>
        </p:txBody>
      </p:sp>
      <p:sp>
        <p:nvSpPr>
          <p:cNvPr id="69" name="Text 67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13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0" fill="hold">
                      <p:stCondLst>
                        <p:cond delay="indefinite"/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32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2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3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2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32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2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32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2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32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32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32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32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32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32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32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32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32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32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32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32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32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32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32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0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32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PRODUCT · OPERATOR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10668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operator's side: applications grouped by who needs to act, and a check result on every upload.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55650" y="1657350"/>
            <a:ext cx="5194300" cy="2927350"/>
          </a:xfrm>
          <a:prstGeom prst="roundRect">
            <a:avLst>
              <a:gd name="adj" fmla="val 1302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pic>
        <p:nvPicPr>
          <p:cNvPr id="5" name="Image 0" descr="/Users/suhaasnv/Documents/Desktop ALT/portfolioprojects/permitflow/notes/pitch/pitch-deck/pptx/build/operator-dashboard-16x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1663700"/>
            <a:ext cx="5181600" cy="29146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2000" y="4679950"/>
            <a:ext cx="802640" cy="203200"/>
          </a:xfrm>
          <a:prstGeom prst="roundRect">
            <a:avLst>
              <a:gd name="adj" fmla="val 18750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2000" y="4679950"/>
            <a:ext cx="8026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7546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640840" y="4667250"/>
            <a:ext cx="43027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Dashboard: applications grouped by who needs to act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42050" y="1657350"/>
            <a:ext cx="5194300" cy="2927350"/>
          </a:xfrm>
          <a:prstGeom prst="roundRect">
            <a:avLst>
              <a:gd name="adj" fmla="val 1302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pic>
        <p:nvPicPr>
          <p:cNvPr id="10" name="Image 1" descr="/Users/suhaasnv/Documents/Desktop ALT/portfolioprojects/permitflow/notes/pitch/pitch-deck/pptx/build/operator-documents-16x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400" y="1663700"/>
            <a:ext cx="5181600" cy="291465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248400" y="4679950"/>
            <a:ext cx="802640" cy="203200"/>
          </a:xfrm>
          <a:prstGeom prst="roundRect">
            <a:avLst>
              <a:gd name="adj" fmla="val 18750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248400" y="4679950"/>
            <a:ext cx="8026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7546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7127240" y="4667250"/>
            <a:ext cx="43027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Documents: a check result on each upload, in plain language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13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PRODUCT · OFFICER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10668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officer's side: findings with evidence beside each document, and a compare view for every round.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55650" y="1657350"/>
            <a:ext cx="5194300" cy="2927350"/>
          </a:xfrm>
          <a:prstGeom prst="roundRect">
            <a:avLst>
              <a:gd name="adj" fmla="val 1302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pic>
        <p:nvPicPr>
          <p:cNvPr id="5" name="Image 0" descr="/Users/suhaasnv/Documents/Desktop ALT/portfolioprojects/permitflow/notes/pitch/pitch-deck/pptx/build/officer-case-findings-16x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1663700"/>
            <a:ext cx="5181600" cy="29146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2000" y="4679950"/>
            <a:ext cx="721360" cy="203200"/>
          </a:xfrm>
          <a:prstGeom prst="roundRect">
            <a:avLst>
              <a:gd name="adj" fmla="val 18750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2000" y="4679950"/>
            <a:ext cx="72136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559560" y="4667250"/>
            <a:ext cx="43840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Case: findings with evidence beside each document, feedback rail on the right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42050" y="1657350"/>
            <a:ext cx="5194300" cy="2927350"/>
          </a:xfrm>
          <a:prstGeom prst="roundRect">
            <a:avLst>
              <a:gd name="adj" fmla="val 1302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pic>
        <p:nvPicPr>
          <p:cNvPr id="10" name="Image 1" descr="/Users/suhaasnv/Documents/Desktop ALT/portfolioprojects/permitflow/notes/pitch/pitch-deck/pptx/build/officer-compare-16x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400" y="1663700"/>
            <a:ext cx="5181600" cy="291465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248400" y="4679950"/>
            <a:ext cx="721360" cy="203200"/>
          </a:xfrm>
          <a:prstGeom prst="roundRect">
            <a:avLst>
              <a:gd name="adj" fmla="val 18750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248400" y="4679950"/>
            <a:ext cx="72136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7045960" y="4667250"/>
            <a:ext cx="43840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Compare revisions: what changed, and each item's resolution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13</a:t>
            </a:r>
            <a:endParaRPr lang="en-US" sz="1000" dirty="0"/>
          </a:p>
        </p:txBody>
      </p:sp>
      <p:sp>
        <p:nvSpPr>
          <p:cNvPr id="15" name="b1"/>
          <p:cNvSpPr/>
          <p:nvPr/>
        </p:nvSpPr>
        <p:spPr>
          <a:xfrm>
            <a:off x="0" y="0"/>
            <a:ext cx="12192000" cy="68580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6" name="b1"/>
          <p:cNvSpPr/>
          <p:nvPr/>
        </p:nvSpPr>
        <p:spPr>
          <a:xfrm>
            <a:off x="755650" y="946150"/>
            <a:ext cx="10680700" cy="4159250"/>
          </a:xfrm>
          <a:prstGeom prst="roundRect">
            <a:avLst>
              <a:gd name="adj" fmla="val 916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pic>
        <p:nvPicPr>
          <p:cNvPr id="17" name="b1" descr="/Users/suhaasnv/Documents/Desktop ALT/portfolioprojects/permitflow/notes/pitch/pitch-deck/pptx/build/officer-case-zoom-16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952500"/>
            <a:ext cx="10668000" cy="4146550"/>
          </a:xfrm>
          <a:prstGeom prst="rect">
            <a:avLst/>
          </a:prstGeom>
        </p:spPr>
      </p:pic>
      <p:sp>
        <p:nvSpPr>
          <p:cNvPr id="18" name="b1"/>
          <p:cNvSpPr/>
          <p:nvPr/>
        </p:nvSpPr>
        <p:spPr>
          <a:xfrm>
            <a:off x="762000" y="584200"/>
            <a:ext cx="721360" cy="215900"/>
          </a:xfrm>
          <a:prstGeom prst="roundRect">
            <a:avLst>
              <a:gd name="adj" fmla="val 1764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19" name="b1"/>
          <p:cNvSpPr txBox="1"/>
          <p:nvPr/>
        </p:nvSpPr>
        <p:spPr>
          <a:xfrm>
            <a:off x="762000" y="584200"/>
            <a:ext cx="72136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1000" dirty="0"/>
          </a:p>
        </p:txBody>
      </p:sp>
      <p:sp>
        <p:nvSpPr>
          <p:cNvPr id="20" name="b1"/>
          <p:cNvSpPr txBox="1"/>
          <p:nvPr/>
        </p:nvSpPr>
        <p:spPr>
          <a:xfrm>
            <a:off x="1572260" y="584200"/>
            <a:ext cx="95250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Finding, evidence and confidence beside the document · two open feedback items</a:t>
            </a:r>
            <a:endParaRPr lang="en-US" sz="1200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AI DOCUMENT VERIFICATION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9906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AI assists. Humans decide.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752600"/>
            <a:ext cx="2730500" cy="3746500"/>
          </a:xfrm>
          <a:prstGeom prst="roundRect">
            <a:avLst>
              <a:gd name="adj" fmla="val 139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52500" y="1917700"/>
            <a:ext cx="23495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Per upload, before submission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52500" y="2451100"/>
            <a:ext cx="23495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Advisory check on every document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952500" y="2730500"/>
            <a:ext cx="2349500" cy="264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Extract the text; unreadable files are reported without a model call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Compare the document with the form: name, UEN, address, dates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Flag issues with a closed issue code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Quote the evidence from the document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Self-reported confidence; below 0.6 becomes Needs your review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1752600"/>
            <a:ext cx="2730500" cy="3746500"/>
          </a:xfrm>
          <a:prstGeom prst="roundRect">
            <a:avLst>
              <a:gd name="adj" fmla="val 139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848100" y="1917700"/>
            <a:ext cx="23495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What the officer sees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8100" y="2451100"/>
            <a:ext cx="721360" cy="215900"/>
          </a:xfrm>
          <a:prstGeom prst="roundRect">
            <a:avLst>
              <a:gd name="adj" fmla="val 1764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848100" y="2451100"/>
            <a:ext cx="72136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848100" y="2755900"/>
            <a:ext cx="2349500" cy="261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Outcome: Verified, Issues found, Needs your review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Each issue with its code, severity and evidence quote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Confidence and model on the card; prompt version in the audit event and the trace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b="1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Re-run check</a:t>
            </a:r>
            <a:pPr algn="l" indent="0" marL="0">
              <a:lnSpc>
                <a:spcPct val="120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at any time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53200" y="1752600"/>
            <a:ext cx="2730500" cy="3746500"/>
          </a:xfrm>
          <a:prstGeom prst="roundRect">
            <a:avLst>
              <a:gd name="adj" fmla="val 139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743700" y="1917700"/>
            <a:ext cx="23495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What the officer decides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743700" y="2451100"/>
            <a:ext cx="23495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decision is a person's, and audited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743700" y="2895600"/>
            <a:ext cx="23495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findings never change a status or write feedback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Approve dialog warns about unresolved findings but never blocks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state machine has no AI actor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448800" y="1752600"/>
            <a:ext cx="1981200" cy="3746500"/>
          </a:xfrm>
          <a:prstGeom prst="roundRect">
            <a:avLst>
              <a:gd name="adj" fmla="val 1923"/>
            </a:avLst>
          </a:prstGeom>
          <a:solidFill>
            <a:srgbClr val="F8F9FB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639300" y="1917700"/>
            <a:ext cx="1600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Deterministic by design, not AI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639300" y="2451100"/>
            <a:ext cx="1600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Never touched by the model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9639300" y="2895600"/>
            <a:ext cx="16002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Feedback templates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Revision compare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Status changes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prompt-injection rule, applied before the verdict is read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62000" y="5664200"/>
            <a:ext cx="802640" cy="215900"/>
          </a:xfrm>
          <a:prstGeom prst="roundRect">
            <a:avLst>
              <a:gd name="adj" fmla="val 17647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62000" y="5664200"/>
            <a:ext cx="80264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7546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602740" y="5664200"/>
            <a:ext cx="9525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sees the outcome, a plain explanation and each issue in plain words.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Never the evidence quote, never the confidence.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62000" y="6299200"/>
            <a:ext cx="730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Advisory by design: the check informs the officer and never decides.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13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REAL WORKFLOW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1079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3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Two planted problems, one feedback round,</a:t>
            </a:r>
            <a:endParaRPr lang="en-US" sz="2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23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and the record shows exactly what changed.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1714500"/>
            <a:ext cx="31750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Kopi &amp; Kaya Toast House Pte. Ltd.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4064000" y="1714500"/>
            <a:ext cx="31750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0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UEN 202355555E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413500" y="1714500"/>
            <a:ext cx="31750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10 Jalan Besar #01-12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890000" y="1714500"/>
            <a:ext cx="31750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0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PF-2026-001009</a:t>
            </a:r>
            <a:endParaRPr lang="en-US" sz="1250" dirty="0"/>
          </a:p>
        </p:txBody>
      </p:sp>
      <p:sp>
        <p:nvSpPr>
          <p:cNvPr id="8" name="b1"/>
          <p:cNvSpPr/>
          <p:nvPr/>
        </p:nvSpPr>
        <p:spPr>
          <a:xfrm>
            <a:off x="831850" y="2095500"/>
            <a:ext cx="8534400" cy="0"/>
          </a:xfrm>
          <a:prstGeom prst="line">
            <a:avLst/>
          </a:prstGeom>
          <a:noFill/>
          <a:ln w="38100">
            <a:solidFill>
              <a:srgbClr val="AEB6C2"/>
            </a:solidFill>
            <a:prstDash val="solid"/>
          </a:ln>
        </p:spPr>
      </p:sp>
      <p:sp>
        <p:nvSpPr>
          <p:cNvPr id="9" name="b1"/>
          <p:cNvSpPr/>
          <p:nvPr/>
        </p:nvSpPr>
        <p:spPr>
          <a:xfrm>
            <a:off x="762000" y="2025650"/>
            <a:ext cx="139700" cy="139700"/>
          </a:xfrm>
          <a:prstGeom prst="ellipse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0" name="b1"/>
          <p:cNvSpPr txBox="1"/>
          <p:nvPr/>
        </p:nvSpPr>
        <p:spPr>
          <a:xfrm>
            <a:off x="762000" y="2286000"/>
            <a:ext cx="19558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Revision 1 submitted</a:t>
            </a:r>
            <a:endParaRPr lang="en-US" sz="1200" dirty="0"/>
          </a:p>
        </p:txBody>
      </p:sp>
      <p:sp>
        <p:nvSpPr>
          <p:cNvPr id="11" name="b1"/>
          <p:cNvSpPr/>
          <p:nvPr/>
        </p:nvSpPr>
        <p:spPr>
          <a:xfrm>
            <a:off x="762000" y="2755900"/>
            <a:ext cx="770128" cy="190500"/>
          </a:xfrm>
          <a:prstGeom prst="roundRect">
            <a:avLst>
              <a:gd name="adj" fmla="val 20000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2" name="b1"/>
          <p:cNvSpPr txBox="1"/>
          <p:nvPr/>
        </p:nvSpPr>
        <p:spPr>
          <a:xfrm>
            <a:off x="762000" y="2755900"/>
            <a:ext cx="7701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7546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</a:t>
            </a:r>
            <a:endParaRPr lang="en-US" sz="950" dirty="0"/>
          </a:p>
        </p:txBody>
      </p:sp>
      <p:sp>
        <p:nvSpPr>
          <p:cNvPr id="13" name="b1"/>
          <p:cNvSpPr/>
          <p:nvPr/>
        </p:nvSpPr>
        <p:spPr>
          <a:xfrm>
            <a:off x="2895600" y="2025650"/>
            <a:ext cx="139700" cy="139700"/>
          </a:xfrm>
          <a:prstGeom prst="ellipse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4" name="b1"/>
          <p:cNvSpPr txBox="1"/>
          <p:nvPr/>
        </p:nvSpPr>
        <p:spPr>
          <a:xfrm>
            <a:off x="2895600" y="2286000"/>
            <a:ext cx="19558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Checks return two findings</a:t>
            </a:r>
            <a:endParaRPr lang="en-US" sz="1200" dirty="0"/>
          </a:p>
        </p:txBody>
      </p:sp>
      <p:sp>
        <p:nvSpPr>
          <p:cNvPr id="15" name="b1"/>
          <p:cNvSpPr txBox="1"/>
          <p:nvPr/>
        </p:nvSpPr>
        <p:spPr>
          <a:xfrm>
            <a:off x="2895600" y="2755900"/>
            <a:ext cx="195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Expired certificate · tenancy for unit #01-21</a:t>
            </a:r>
            <a:endParaRPr lang="en-US" sz="1050" dirty="0"/>
          </a:p>
        </p:txBody>
      </p:sp>
      <p:sp>
        <p:nvSpPr>
          <p:cNvPr id="16" name="b2"/>
          <p:cNvSpPr/>
          <p:nvPr/>
        </p:nvSpPr>
        <p:spPr>
          <a:xfrm>
            <a:off x="5029200" y="2025650"/>
            <a:ext cx="139700" cy="139700"/>
          </a:xfrm>
          <a:prstGeom prst="ellipse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7" name="b2"/>
          <p:cNvSpPr txBox="1"/>
          <p:nvPr/>
        </p:nvSpPr>
        <p:spPr>
          <a:xfrm>
            <a:off x="5029200" y="2286000"/>
            <a:ext cx="19558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Feedback on both documents</a:t>
            </a:r>
            <a:endParaRPr lang="en-US" sz="1200" dirty="0"/>
          </a:p>
        </p:txBody>
      </p:sp>
      <p:sp>
        <p:nvSpPr>
          <p:cNvPr id="18" name="b2"/>
          <p:cNvSpPr/>
          <p:nvPr/>
        </p:nvSpPr>
        <p:spPr>
          <a:xfrm>
            <a:off x="5029200" y="2755900"/>
            <a:ext cx="692912" cy="190500"/>
          </a:xfrm>
          <a:prstGeom prst="roundRect">
            <a:avLst>
              <a:gd name="adj" fmla="val 20000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19" name="b2"/>
          <p:cNvSpPr txBox="1"/>
          <p:nvPr/>
        </p:nvSpPr>
        <p:spPr>
          <a:xfrm>
            <a:off x="5029200" y="2755900"/>
            <a:ext cx="69291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950" dirty="0"/>
          </a:p>
        </p:txBody>
      </p:sp>
      <p:sp>
        <p:nvSpPr>
          <p:cNvPr id="20" name="b2"/>
          <p:cNvSpPr/>
          <p:nvPr/>
        </p:nvSpPr>
        <p:spPr>
          <a:xfrm>
            <a:off x="5785612" y="2755900"/>
            <a:ext cx="1104392" cy="190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21" name="b2"/>
          <p:cNvSpPr txBox="1"/>
          <p:nvPr/>
        </p:nvSpPr>
        <p:spPr>
          <a:xfrm>
            <a:off x="5785612" y="2755900"/>
            <a:ext cx="11043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Add feedback</a:t>
            </a:r>
            <a:endParaRPr lang="en-US" sz="950" dirty="0"/>
          </a:p>
        </p:txBody>
      </p:sp>
      <p:sp>
        <p:nvSpPr>
          <p:cNvPr id="22" name="b2"/>
          <p:cNvSpPr/>
          <p:nvPr/>
        </p:nvSpPr>
        <p:spPr>
          <a:xfrm>
            <a:off x="5029200" y="2997200"/>
            <a:ext cx="1722120" cy="190500"/>
          </a:xfrm>
          <a:prstGeom prst="roundRect">
            <a:avLst>
              <a:gd name="adj" fmla="val 20000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23" name="b2"/>
          <p:cNvSpPr txBox="1"/>
          <p:nvPr/>
        </p:nvSpPr>
        <p:spPr>
          <a:xfrm>
            <a:off x="5029200" y="2997200"/>
            <a:ext cx="1722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Request resubmission</a:t>
            </a:r>
            <a:endParaRPr lang="en-US" sz="950" dirty="0"/>
          </a:p>
        </p:txBody>
      </p:sp>
      <p:sp>
        <p:nvSpPr>
          <p:cNvPr id="24" name="b3"/>
          <p:cNvSpPr/>
          <p:nvPr/>
        </p:nvSpPr>
        <p:spPr>
          <a:xfrm>
            <a:off x="7162800" y="2025650"/>
            <a:ext cx="139700" cy="139700"/>
          </a:xfrm>
          <a:prstGeom prst="ellipse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25" name="b3"/>
          <p:cNvSpPr txBox="1"/>
          <p:nvPr/>
        </p:nvSpPr>
        <p:spPr>
          <a:xfrm>
            <a:off x="7162800" y="2286000"/>
            <a:ext cx="19558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Only two slots reopen</a:t>
            </a:r>
            <a:endParaRPr lang="en-US" sz="1200" dirty="0"/>
          </a:p>
        </p:txBody>
      </p:sp>
      <p:sp>
        <p:nvSpPr>
          <p:cNvPr id="26" name="b3"/>
          <p:cNvSpPr/>
          <p:nvPr/>
        </p:nvSpPr>
        <p:spPr>
          <a:xfrm>
            <a:off x="7162800" y="2755900"/>
            <a:ext cx="770128" cy="190500"/>
          </a:xfrm>
          <a:prstGeom prst="roundRect">
            <a:avLst>
              <a:gd name="adj" fmla="val 20000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27" name="b3"/>
          <p:cNvSpPr txBox="1"/>
          <p:nvPr/>
        </p:nvSpPr>
        <p:spPr>
          <a:xfrm>
            <a:off x="7162800" y="2755900"/>
            <a:ext cx="7701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7546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</a:t>
            </a:r>
            <a:endParaRPr lang="en-US" sz="950" dirty="0"/>
          </a:p>
        </p:txBody>
      </p:sp>
      <p:sp>
        <p:nvSpPr>
          <p:cNvPr id="28" name="b3"/>
          <p:cNvSpPr/>
          <p:nvPr/>
        </p:nvSpPr>
        <p:spPr>
          <a:xfrm>
            <a:off x="7162800" y="2997200"/>
            <a:ext cx="1413256" cy="190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29" name="b3"/>
          <p:cNvSpPr txBox="1"/>
          <p:nvPr/>
        </p:nvSpPr>
        <p:spPr>
          <a:xfrm>
            <a:off x="7162800" y="2997200"/>
            <a:ext cx="141325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Replace document</a:t>
            </a:r>
            <a:endParaRPr lang="en-US" sz="950" dirty="0"/>
          </a:p>
        </p:txBody>
      </p:sp>
      <p:sp>
        <p:nvSpPr>
          <p:cNvPr id="30" name="b3"/>
          <p:cNvSpPr/>
          <p:nvPr/>
        </p:nvSpPr>
        <p:spPr>
          <a:xfrm>
            <a:off x="7162800" y="3238500"/>
            <a:ext cx="795528" cy="190500"/>
          </a:xfrm>
          <a:prstGeom prst="roundRect">
            <a:avLst>
              <a:gd name="adj" fmla="val 20000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31" name="b3"/>
          <p:cNvSpPr txBox="1"/>
          <p:nvPr/>
        </p:nvSpPr>
        <p:spPr>
          <a:xfrm>
            <a:off x="7162800" y="3238500"/>
            <a:ext cx="7955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Resubmit</a:t>
            </a:r>
            <a:endParaRPr lang="en-US" sz="950" dirty="0"/>
          </a:p>
        </p:txBody>
      </p:sp>
      <p:sp>
        <p:nvSpPr>
          <p:cNvPr id="32" name="b5"/>
          <p:cNvSpPr/>
          <p:nvPr/>
        </p:nvSpPr>
        <p:spPr>
          <a:xfrm>
            <a:off x="9296400" y="2025650"/>
            <a:ext cx="139700" cy="139700"/>
          </a:xfrm>
          <a:prstGeom prst="ellipse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33" name="b5"/>
          <p:cNvSpPr txBox="1"/>
          <p:nvPr/>
        </p:nvSpPr>
        <p:spPr>
          <a:xfrm>
            <a:off x="9296400" y="2286000"/>
            <a:ext cx="19558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Resolved, on to the site visit</a:t>
            </a:r>
            <a:endParaRPr lang="en-US" sz="1200" dirty="0"/>
          </a:p>
        </p:txBody>
      </p:sp>
      <p:sp>
        <p:nvSpPr>
          <p:cNvPr id="34" name="b5"/>
          <p:cNvSpPr/>
          <p:nvPr/>
        </p:nvSpPr>
        <p:spPr>
          <a:xfrm>
            <a:off x="9296400" y="2755900"/>
            <a:ext cx="692912" cy="190500"/>
          </a:xfrm>
          <a:prstGeom prst="roundRect">
            <a:avLst>
              <a:gd name="adj" fmla="val 20000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35" name="b5"/>
          <p:cNvSpPr txBox="1"/>
          <p:nvPr/>
        </p:nvSpPr>
        <p:spPr>
          <a:xfrm>
            <a:off x="9296400" y="2755900"/>
            <a:ext cx="69291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950" dirty="0"/>
          </a:p>
        </p:txBody>
      </p:sp>
      <p:sp>
        <p:nvSpPr>
          <p:cNvPr id="36" name="b5"/>
          <p:cNvSpPr/>
          <p:nvPr/>
        </p:nvSpPr>
        <p:spPr>
          <a:xfrm>
            <a:off x="10052812" y="2755900"/>
            <a:ext cx="1104392" cy="190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37" name="b5"/>
          <p:cNvSpPr txBox="1"/>
          <p:nvPr/>
        </p:nvSpPr>
        <p:spPr>
          <a:xfrm>
            <a:off x="10052812" y="2755900"/>
            <a:ext cx="11043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Start review</a:t>
            </a:r>
            <a:endParaRPr lang="en-US" sz="950" dirty="0"/>
          </a:p>
        </p:txBody>
      </p:sp>
      <p:sp>
        <p:nvSpPr>
          <p:cNvPr id="38" name="b5"/>
          <p:cNvSpPr/>
          <p:nvPr/>
        </p:nvSpPr>
        <p:spPr>
          <a:xfrm>
            <a:off x="9296400" y="2997200"/>
            <a:ext cx="1181608" cy="190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39" name="b5"/>
          <p:cNvSpPr txBox="1"/>
          <p:nvPr/>
        </p:nvSpPr>
        <p:spPr>
          <a:xfrm>
            <a:off x="9296400" y="2997200"/>
            <a:ext cx="118160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Mark resolved</a:t>
            </a:r>
            <a:endParaRPr lang="en-US" sz="950" dirty="0"/>
          </a:p>
        </p:txBody>
      </p:sp>
      <p:sp>
        <p:nvSpPr>
          <p:cNvPr id="40" name="b5"/>
          <p:cNvSpPr/>
          <p:nvPr/>
        </p:nvSpPr>
        <p:spPr>
          <a:xfrm>
            <a:off x="9296400" y="3238500"/>
            <a:ext cx="2108200" cy="190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41" name="b5"/>
          <p:cNvSpPr txBox="1"/>
          <p:nvPr/>
        </p:nvSpPr>
        <p:spPr>
          <a:xfrm>
            <a:off x="9296400" y="3238500"/>
            <a:ext cx="2108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Mark site visit scheduled</a:t>
            </a:r>
            <a:endParaRPr lang="en-US" sz="950" dirty="0"/>
          </a:p>
        </p:txBody>
      </p:sp>
      <p:sp>
        <p:nvSpPr>
          <p:cNvPr id="42" name="b1"/>
          <p:cNvSpPr/>
          <p:nvPr/>
        </p:nvSpPr>
        <p:spPr>
          <a:xfrm>
            <a:off x="762000" y="3644900"/>
            <a:ext cx="5746750" cy="2565400"/>
          </a:xfrm>
          <a:prstGeom prst="roundRect">
            <a:avLst>
              <a:gd name="adj" fmla="val 148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43" name="b1"/>
          <p:cNvSpPr txBox="1"/>
          <p:nvPr/>
        </p:nvSpPr>
        <p:spPr>
          <a:xfrm>
            <a:off x="952500" y="3784600"/>
            <a:ext cx="536575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15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DOCUMENTS AND CHECK RESULTS</a:t>
            </a:r>
            <a:endParaRPr lang="en-US" sz="950" dirty="0"/>
          </a:p>
        </p:txBody>
      </p:sp>
      <p:sp>
        <p:nvSpPr>
          <p:cNvPr id="44" name="b1"/>
          <p:cNvSpPr txBox="1"/>
          <p:nvPr/>
        </p:nvSpPr>
        <p:spPr>
          <a:xfrm>
            <a:off x="952500" y="40259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Business profile (ACRA)</a:t>
            </a:r>
            <a:endParaRPr lang="en-US" sz="1250" dirty="0"/>
          </a:p>
        </p:txBody>
      </p:sp>
      <p:sp>
        <p:nvSpPr>
          <p:cNvPr id="45" name="b1"/>
          <p:cNvSpPr txBox="1"/>
          <p:nvPr/>
        </p:nvSpPr>
        <p:spPr>
          <a:xfrm>
            <a:off x="952500" y="4229100"/>
            <a:ext cx="381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business_profile.pdf</a:t>
            </a:r>
            <a:endParaRPr lang="en-US" sz="1000" dirty="0"/>
          </a:p>
        </p:txBody>
      </p:sp>
      <p:sp>
        <p:nvSpPr>
          <p:cNvPr id="46" name="b1"/>
          <p:cNvSpPr/>
          <p:nvPr/>
        </p:nvSpPr>
        <p:spPr>
          <a:xfrm>
            <a:off x="5369560" y="4064000"/>
            <a:ext cx="948690" cy="228600"/>
          </a:xfrm>
          <a:prstGeom prst="roundRect">
            <a:avLst>
              <a:gd name="adj" fmla="val 16667"/>
            </a:avLst>
          </a:prstGeom>
          <a:solidFill>
            <a:srgbClr val="ECFDF3"/>
          </a:solidFill>
          <a:ln w="9525">
            <a:solidFill>
              <a:srgbClr val="A6E9C4"/>
            </a:solidFill>
            <a:prstDash val="solid"/>
          </a:ln>
        </p:spPr>
      </p:sp>
      <p:sp>
        <p:nvSpPr>
          <p:cNvPr id="47" name="b1"/>
          <p:cNvSpPr/>
          <p:nvPr/>
        </p:nvSpPr>
        <p:spPr>
          <a:xfrm>
            <a:off x="5458460" y="4149725"/>
            <a:ext cx="57150" cy="57150"/>
          </a:xfrm>
          <a:prstGeom prst="ellipse">
            <a:avLst/>
          </a:prstGeom>
          <a:solidFill>
            <a:srgbClr val="067647"/>
          </a:solidFill>
          <a:ln w="12700">
            <a:solidFill>
              <a:srgbClr val="067647"/>
            </a:solidFill>
            <a:prstDash val="solid"/>
          </a:ln>
        </p:spPr>
      </p:sp>
      <p:sp>
        <p:nvSpPr>
          <p:cNvPr id="48" name="b1"/>
          <p:cNvSpPr txBox="1"/>
          <p:nvPr/>
        </p:nvSpPr>
        <p:spPr>
          <a:xfrm>
            <a:off x="5579110" y="4064000"/>
            <a:ext cx="7391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6764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Verified</a:t>
            </a:r>
            <a:endParaRPr lang="en-US" sz="1000" dirty="0"/>
          </a:p>
        </p:txBody>
      </p:sp>
      <p:sp>
        <p:nvSpPr>
          <p:cNvPr id="49" name="b1"/>
          <p:cNvSpPr/>
          <p:nvPr/>
        </p:nvSpPr>
        <p:spPr>
          <a:xfrm>
            <a:off x="952500" y="4533900"/>
            <a:ext cx="536575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50" name="b1"/>
          <p:cNvSpPr txBox="1"/>
          <p:nvPr/>
        </p:nvSpPr>
        <p:spPr>
          <a:xfrm>
            <a:off x="952500" y="45720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Floor plan</a:t>
            </a:r>
            <a:endParaRPr lang="en-US" sz="1250" dirty="0"/>
          </a:p>
        </p:txBody>
      </p:sp>
      <p:sp>
        <p:nvSpPr>
          <p:cNvPr id="51" name="b1"/>
          <p:cNvSpPr txBox="1"/>
          <p:nvPr/>
        </p:nvSpPr>
        <p:spPr>
          <a:xfrm>
            <a:off x="952500" y="4775200"/>
            <a:ext cx="381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floor_plan.pdf</a:t>
            </a:r>
            <a:endParaRPr lang="en-US" sz="1000" dirty="0"/>
          </a:p>
        </p:txBody>
      </p:sp>
      <p:sp>
        <p:nvSpPr>
          <p:cNvPr id="52" name="b1"/>
          <p:cNvSpPr/>
          <p:nvPr/>
        </p:nvSpPr>
        <p:spPr>
          <a:xfrm>
            <a:off x="5369560" y="4610100"/>
            <a:ext cx="948690" cy="228600"/>
          </a:xfrm>
          <a:prstGeom prst="roundRect">
            <a:avLst>
              <a:gd name="adj" fmla="val 16667"/>
            </a:avLst>
          </a:prstGeom>
          <a:solidFill>
            <a:srgbClr val="ECFDF3"/>
          </a:solidFill>
          <a:ln w="9525">
            <a:solidFill>
              <a:srgbClr val="A6E9C4"/>
            </a:solidFill>
            <a:prstDash val="solid"/>
          </a:ln>
        </p:spPr>
      </p:sp>
      <p:sp>
        <p:nvSpPr>
          <p:cNvPr id="53" name="b1"/>
          <p:cNvSpPr/>
          <p:nvPr/>
        </p:nvSpPr>
        <p:spPr>
          <a:xfrm>
            <a:off x="5458460" y="4695825"/>
            <a:ext cx="57150" cy="57150"/>
          </a:xfrm>
          <a:prstGeom prst="ellipse">
            <a:avLst/>
          </a:prstGeom>
          <a:solidFill>
            <a:srgbClr val="067647"/>
          </a:solidFill>
          <a:ln w="12700">
            <a:solidFill>
              <a:srgbClr val="067647"/>
            </a:solidFill>
            <a:prstDash val="solid"/>
          </a:ln>
        </p:spPr>
      </p:sp>
      <p:sp>
        <p:nvSpPr>
          <p:cNvPr id="54" name="b1"/>
          <p:cNvSpPr txBox="1"/>
          <p:nvPr/>
        </p:nvSpPr>
        <p:spPr>
          <a:xfrm>
            <a:off x="5579110" y="4610100"/>
            <a:ext cx="7391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6764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Verified</a:t>
            </a:r>
            <a:endParaRPr lang="en-US" sz="1000" dirty="0"/>
          </a:p>
        </p:txBody>
      </p:sp>
      <p:sp>
        <p:nvSpPr>
          <p:cNvPr id="55" name="b1"/>
          <p:cNvSpPr/>
          <p:nvPr/>
        </p:nvSpPr>
        <p:spPr>
          <a:xfrm>
            <a:off x="952500" y="5080000"/>
            <a:ext cx="536575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56" name="b1"/>
          <p:cNvSpPr txBox="1"/>
          <p:nvPr/>
        </p:nvSpPr>
        <p:spPr>
          <a:xfrm>
            <a:off x="952500" y="51181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Tenancy agreement</a:t>
            </a:r>
            <a:endParaRPr lang="en-US" sz="1250" dirty="0"/>
          </a:p>
        </p:txBody>
      </p:sp>
      <p:sp>
        <p:nvSpPr>
          <p:cNvPr id="57" name="b1 x4"/>
          <p:cNvSpPr txBox="1"/>
          <p:nvPr/>
        </p:nvSpPr>
        <p:spPr>
          <a:xfrm>
            <a:off x="952500" y="5321300"/>
            <a:ext cx="381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field_mismatch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· "10 Jalan Besar #01-21" against the form's #01-12</a:t>
            </a:r>
            <a:endParaRPr lang="en-US" sz="1000" dirty="0"/>
          </a:p>
        </p:txBody>
      </p:sp>
      <p:sp>
        <p:nvSpPr>
          <p:cNvPr id="58" name="b4"/>
          <p:cNvSpPr txBox="1"/>
          <p:nvPr/>
        </p:nvSpPr>
        <p:spPr>
          <a:xfrm>
            <a:off x="952500" y="5321300"/>
            <a:ext cx="381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Replaced in Revision 2 · tenancy_agreement.pdf</a:t>
            </a:r>
            <a:endParaRPr lang="en-US" sz="1000" dirty="0"/>
          </a:p>
        </p:txBody>
      </p:sp>
      <p:sp>
        <p:nvSpPr>
          <p:cNvPr id="59" name="b1 x4"/>
          <p:cNvSpPr/>
          <p:nvPr/>
        </p:nvSpPr>
        <p:spPr>
          <a:xfrm>
            <a:off x="5044440" y="5156200"/>
            <a:ext cx="1273810" cy="228600"/>
          </a:xfrm>
          <a:prstGeom prst="roundRect">
            <a:avLst>
              <a:gd name="adj" fmla="val 16667"/>
            </a:avLst>
          </a:prstGeom>
          <a:solidFill>
            <a:srgbClr val="FFF6E5"/>
          </a:solidFill>
          <a:ln w="9525">
            <a:solidFill>
              <a:srgbClr val="F5CF86"/>
            </a:solidFill>
            <a:prstDash val="solid"/>
          </a:ln>
        </p:spPr>
      </p:sp>
      <p:sp>
        <p:nvSpPr>
          <p:cNvPr id="60" name="b1 x4"/>
          <p:cNvSpPr/>
          <p:nvPr/>
        </p:nvSpPr>
        <p:spPr>
          <a:xfrm>
            <a:off x="5133340" y="5241925"/>
            <a:ext cx="57150" cy="57150"/>
          </a:xfrm>
          <a:prstGeom prst="ellipse">
            <a:avLst/>
          </a:prstGeom>
          <a:solidFill>
            <a:srgbClr val="9A4A00"/>
          </a:solidFill>
          <a:ln w="12700">
            <a:solidFill>
              <a:srgbClr val="9A4A00"/>
            </a:solidFill>
            <a:prstDash val="solid"/>
          </a:ln>
        </p:spPr>
      </p:sp>
      <p:sp>
        <p:nvSpPr>
          <p:cNvPr id="61" name="b1 x4"/>
          <p:cNvSpPr txBox="1"/>
          <p:nvPr/>
        </p:nvSpPr>
        <p:spPr>
          <a:xfrm>
            <a:off x="5253990" y="5156200"/>
            <a:ext cx="10642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9A4A0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Issues found</a:t>
            </a:r>
            <a:endParaRPr lang="en-US" sz="1000" dirty="0"/>
          </a:p>
        </p:txBody>
      </p:sp>
      <p:sp>
        <p:nvSpPr>
          <p:cNvPr id="62" name="b4"/>
          <p:cNvSpPr/>
          <p:nvPr/>
        </p:nvSpPr>
        <p:spPr>
          <a:xfrm>
            <a:off x="5369560" y="5156200"/>
            <a:ext cx="948690" cy="228600"/>
          </a:xfrm>
          <a:prstGeom prst="roundRect">
            <a:avLst>
              <a:gd name="adj" fmla="val 16667"/>
            </a:avLst>
          </a:prstGeom>
          <a:solidFill>
            <a:srgbClr val="ECFDF3"/>
          </a:solidFill>
          <a:ln w="9525">
            <a:solidFill>
              <a:srgbClr val="A6E9C4"/>
            </a:solidFill>
            <a:prstDash val="solid"/>
          </a:ln>
        </p:spPr>
      </p:sp>
      <p:sp>
        <p:nvSpPr>
          <p:cNvPr id="63" name="b4"/>
          <p:cNvSpPr/>
          <p:nvPr/>
        </p:nvSpPr>
        <p:spPr>
          <a:xfrm>
            <a:off x="5458460" y="5241925"/>
            <a:ext cx="57150" cy="57150"/>
          </a:xfrm>
          <a:prstGeom prst="ellipse">
            <a:avLst/>
          </a:prstGeom>
          <a:solidFill>
            <a:srgbClr val="067647"/>
          </a:solidFill>
          <a:ln w="12700">
            <a:solidFill>
              <a:srgbClr val="067647"/>
            </a:solidFill>
            <a:prstDash val="solid"/>
          </a:ln>
        </p:spPr>
      </p:sp>
      <p:sp>
        <p:nvSpPr>
          <p:cNvPr id="64" name="b4"/>
          <p:cNvSpPr txBox="1"/>
          <p:nvPr/>
        </p:nvSpPr>
        <p:spPr>
          <a:xfrm>
            <a:off x="5579110" y="5156200"/>
            <a:ext cx="7391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6764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Verified</a:t>
            </a:r>
            <a:endParaRPr lang="en-US" sz="1000" dirty="0"/>
          </a:p>
        </p:txBody>
      </p:sp>
      <p:sp>
        <p:nvSpPr>
          <p:cNvPr id="65" name="b1"/>
          <p:cNvSpPr/>
          <p:nvPr/>
        </p:nvSpPr>
        <p:spPr>
          <a:xfrm>
            <a:off x="952500" y="5626100"/>
            <a:ext cx="536575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66" name="b1"/>
          <p:cNvSpPr txBox="1"/>
          <p:nvPr/>
        </p:nvSpPr>
        <p:spPr>
          <a:xfrm>
            <a:off x="952500" y="56642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Food hygiene certificate</a:t>
            </a:r>
            <a:endParaRPr lang="en-US" sz="1250" dirty="0"/>
          </a:p>
        </p:txBody>
      </p:sp>
      <p:sp>
        <p:nvSpPr>
          <p:cNvPr id="67" name="b1 x4"/>
          <p:cNvSpPr txBox="1"/>
          <p:nvPr/>
        </p:nvSpPr>
        <p:spPr>
          <a:xfrm>
            <a:off x="952500" y="5867400"/>
            <a:ext cx="381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expired_document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· valid until 3 January 2025</a:t>
            </a:r>
            <a:endParaRPr lang="en-US" sz="1000" dirty="0"/>
          </a:p>
        </p:txBody>
      </p:sp>
      <p:sp>
        <p:nvSpPr>
          <p:cNvPr id="68" name="b4"/>
          <p:cNvSpPr txBox="1"/>
          <p:nvPr/>
        </p:nvSpPr>
        <p:spPr>
          <a:xfrm>
            <a:off x="952500" y="5867400"/>
            <a:ext cx="381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Replaced in Revision 2 · food_hygiene_certificate.pdf</a:t>
            </a:r>
            <a:endParaRPr lang="en-US" sz="1000" dirty="0"/>
          </a:p>
        </p:txBody>
      </p:sp>
      <p:sp>
        <p:nvSpPr>
          <p:cNvPr id="69" name="b1 x4"/>
          <p:cNvSpPr/>
          <p:nvPr/>
        </p:nvSpPr>
        <p:spPr>
          <a:xfrm>
            <a:off x="5044440" y="5702300"/>
            <a:ext cx="1273810" cy="228600"/>
          </a:xfrm>
          <a:prstGeom prst="roundRect">
            <a:avLst>
              <a:gd name="adj" fmla="val 16667"/>
            </a:avLst>
          </a:prstGeom>
          <a:solidFill>
            <a:srgbClr val="FFF6E5"/>
          </a:solidFill>
          <a:ln w="9525">
            <a:solidFill>
              <a:srgbClr val="F5CF86"/>
            </a:solidFill>
            <a:prstDash val="solid"/>
          </a:ln>
        </p:spPr>
      </p:sp>
      <p:sp>
        <p:nvSpPr>
          <p:cNvPr id="70" name="b1 x4"/>
          <p:cNvSpPr/>
          <p:nvPr/>
        </p:nvSpPr>
        <p:spPr>
          <a:xfrm>
            <a:off x="5133340" y="5788025"/>
            <a:ext cx="57150" cy="57150"/>
          </a:xfrm>
          <a:prstGeom prst="ellipse">
            <a:avLst/>
          </a:prstGeom>
          <a:solidFill>
            <a:srgbClr val="9A4A00"/>
          </a:solidFill>
          <a:ln w="12700">
            <a:solidFill>
              <a:srgbClr val="9A4A00"/>
            </a:solidFill>
            <a:prstDash val="solid"/>
          </a:ln>
        </p:spPr>
      </p:sp>
      <p:sp>
        <p:nvSpPr>
          <p:cNvPr id="71" name="b1 x4"/>
          <p:cNvSpPr txBox="1"/>
          <p:nvPr/>
        </p:nvSpPr>
        <p:spPr>
          <a:xfrm>
            <a:off x="5253990" y="5702300"/>
            <a:ext cx="10642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9A4A0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Issues found</a:t>
            </a:r>
            <a:endParaRPr lang="en-US" sz="1000" dirty="0"/>
          </a:p>
        </p:txBody>
      </p:sp>
      <p:sp>
        <p:nvSpPr>
          <p:cNvPr id="72" name="b4"/>
          <p:cNvSpPr/>
          <p:nvPr/>
        </p:nvSpPr>
        <p:spPr>
          <a:xfrm>
            <a:off x="5369560" y="5702300"/>
            <a:ext cx="948690" cy="228600"/>
          </a:xfrm>
          <a:prstGeom prst="roundRect">
            <a:avLst>
              <a:gd name="adj" fmla="val 16667"/>
            </a:avLst>
          </a:prstGeom>
          <a:solidFill>
            <a:srgbClr val="ECFDF3"/>
          </a:solidFill>
          <a:ln w="9525">
            <a:solidFill>
              <a:srgbClr val="A6E9C4"/>
            </a:solidFill>
            <a:prstDash val="solid"/>
          </a:ln>
        </p:spPr>
      </p:sp>
      <p:sp>
        <p:nvSpPr>
          <p:cNvPr id="73" name="b4"/>
          <p:cNvSpPr/>
          <p:nvPr/>
        </p:nvSpPr>
        <p:spPr>
          <a:xfrm>
            <a:off x="5458460" y="5788025"/>
            <a:ext cx="57150" cy="57150"/>
          </a:xfrm>
          <a:prstGeom prst="ellipse">
            <a:avLst/>
          </a:prstGeom>
          <a:solidFill>
            <a:srgbClr val="067647"/>
          </a:solidFill>
          <a:ln w="12700">
            <a:solidFill>
              <a:srgbClr val="067647"/>
            </a:solidFill>
            <a:prstDash val="solid"/>
          </a:ln>
        </p:spPr>
      </p:sp>
      <p:sp>
        <p:nvSpPr>
          <p:cNvPr id="74" name="b4"/>
          <p:cNvSpPr txBox="1"/>
          <p:nvPr/>
        </p:nvSpPr>
        <p:spPr>
          <a:xfrm>
            <a:off x="5579110" y="5702300"/>
            <a:ext cx="7391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6764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Verified</a:t>
            </a:r>
            <a:endParaRPr lang="en-US" sz="1000" dirty="0"/>
          </a:p>
        </p:txBody>
      </p:sp>
      <p:sp>
        <p:nvSpPr>
          <p:cNvPr id="75" name="b2"/>
          <p:cNvSpPr/>
          <p:nvPr/>
        </p:nvSpPr>
        <p:spPr>
          <a:xfrm>
            <a:off x="6686550" y="3644900"/>
            <a:ext cx="4743450" cy="2565400"/>
          </a:xfrm>
          <a:prstGeom prst="roundRect">
            <a:avLst>
              <a:gd name="adj" fmla="val 148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76" name="b2"/>
          <p:cNvSpPr txBox="1"/>
          <p:nvPr/>
        </p:nvSpPr>
        <p:spPr>
          <a:xfrm>
            <a:off x="6877050" y="3784600"/>
            <a:ext cx="436245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15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FEEDBACK RAISED AGAINST REVISION 1</a:t>
            </a:r>
            <a:endParaRPr lang="en-US" sz="950" dirty="0"/>
          </a:p>
        </p:txBody>
      </p:sp>
      <p:sp>
        <p:nvSpPr>
          <p:cNvPr id="77" name="b2"/>
          <p:cNvSpPr txBox="1"/>
          <p:nvPr/>
        </p:nvSpPr>
        <p:spPr>
          <a:xfrm>
            <a:off x="6877050" y="4025900"/>
            <a:ext cx="279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Food hygiene certificate</a:t>
            </a:r>
            <a:endParaRPr lang="en-US" sz="1250" dirty="0"/>
          </a:p>
        </p:txBody>
      </p:sp>
      <p:sp>
        <p:nvSpPr>
          <p:cNvPr id="78" name="b2"/>
          <p:cNvSpPr txBox="1"/>
          <p:nvPr/>
        </p:nvSpPr>
        <p:spPr>
          <a:xfrm>
            <a:off x="6877050" y="4216400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Template: Food hygiene certificate has expired</a:t>
            </a:r>
            <a:endParaRPr lang="en-US" sz="950" dirty="0"/>
          </a:p>
        </p:txBody>
      </p:sp>
      <p:sp>
        <p:nvSpPr>
          <p:cNvPr id="79" name="b2 x4"/>
          <p:cNvSpPr/>
          <p:nvPr/>
        </p:nvSpPr>
        <p:spPr>
          <a:xfrm>
            <a:off x="10615930" y="4051300"/>
            <a:ext cx="623570" cy="228600"/>
          </a:xfrm>
          <a:prstGeom prst="roundRect">
            <a:avLst>
              <a:gd name="adj" fmla="val 16667"/>
            </a:avLst>
          </a:prstGeom>
          <a:solidFill>
            <a:srgbClr val="FFF6E5"/>
          </a:solidFill>
          <a:ln w="9525">
            <a:solidFill>
              <a:srgbClr val="F5CF86"/>
            </a:solidFill>
            <a:prstDash val="solid"/>
          </a:ln>
        </p:spPr>
      </p:sp>
      <p:sp>
        <p:nvSpPr>
          <p:cNvPr id="80" name="b2 x4"/>
          <p:cNvSpPr/>
          <p:nvPr/>
        </p:nvSpPr>
        <p:spPr>
          <a:xfrm>
            <a:off x="10704830" y="4137025"/>
            <a:ext cx="57150" cy="57150"/>
          </a:xfrm>
          <a:prstGeom prst="ellipse">
            <a:avLst/>
          </a:prstGeom>
          <a:solidFill>
            <a:srgbClr val="9A4A00"/>
          </a:solidFill>
          <a:ln w="12700">
            <a:solidFill>
              <a:srgbClr val="9A4A00"/>
            </a:solidFill>
            <a:prstDash val="solid"/>
          </a:ln>
        </p:spPr>
      </p:sp>
      <p:sp>
        <p:nvSpPr>
          <p:cNvPr id="81" name="b2 x4"/>
          <p:cNvSpPr txBox="1"/>
          <p:nvPr/>
        </p:nvSpPr>
        <p:spPr>
          <a:xfrm>
            <a:off x="10825480" y="4051300"/>
            <a:ext cx="41402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9A4A0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Open</a:t>
            </a:r>
            <a:endParaRPr lang="en-US" sz="1000" dirty="0"/>
          </a:p>
        </p:txBody>
      </p:sp>
      <p:sp>
        <p:nvSpPr>
          <p:cNvPr id="82" name="b4 x5"/>
          <p:cNvSpPr/>
          <p:nvPr/>
        </p:nvSpPr>
        <p:spPr>
          <a:xfrm>
            <a:off x="9071610" y="4051300"/>
            <a:ext cx="2167890" cy="228600"/>
          </a:xfrm>
          <a:prstGeom prst="roundRect">
            <a:avLst>
              <a:gd name="adj" fmla="val 1666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83" name="b4 x5"/>
          <p:cNvSpPr/>
          <p:nvPr/>
        </p:nvSpPr>
        <p:spPr>
          <a:xfrm>
            <a:off x="9160510" y="4137025"/>
            <a:ext cx="57150" cy="57150"/>
          </a:xfrm>
          <a:prstGeom prst="ellipse">
            <a:avLst/>
          </a:prstGeom>
          <a:solidFill>
            <a:srgbClr val="175CD3"/>
          </a:solidFill>
          <a:ln w="12700">
            <a:solidFill>
              <a:srgbClr val="175CD3"/>
            </a:solidFill>
            <a:prstDash val="solid"/>
          </a:ln>
        </p:spPr>
      </p:sp>
      <p:sp>
        <p:nvSpPr>
          <p:cNvPr id="84" name="b4 x5"/>
          <p:cNvSpPr txBox="1"/>
          <p:nvPr/>
        </p:nvSpPr>
        <p:spPr>
          <a:xfrm>
            <a:off x="9281160" y="4051300"/>
            <a:ext cx="19583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Addressed in Revision 2</a:t>
            </a:r>
            <a:endParaRPr lang="en-US" sz="1000" dirty="0"/>
          </a:p>
        </p:txBody>
      </p:sp>
      <p:sp>
        <p:nvSpPr>
          <p:cNvPr id="85" name="b5"/>
          <p:cNvSpPr/>
          <p:nvPr/>
        </p:nvSpPr>
        <p:spPr>
          <a:xfrm>
            <a:off x="10290810" y="4051300"/>
            <a:ext cx="948690" cy="228600"/>
          </a:xfrm>
          <a:prstGeom prst="roundRect">
            <a:avLst>
              <a:gd name="adj" fmla="val 16667"/>
            </a:avLst>
          </a:prstGeom>
          <a:solidFill>
            <a:srgbClr val="ECFDF3"/>
          </a:solidFill>
          <a:ln w="9525">
            <a:solidFill>
              <a:srgbClr val="A6E9C4"/>
            </a:solidFill>
            <a:prstDash val="solid"/>
          </a:ln>
        </p:spPr>
      </p:sp>
      <p:sp>
        <p:nvSpPr>
          <p:cNvPr id="86" name="b5"/>
          <p:cNvSpPr/>
          <p:nvPr/>
        </p:nvSpPr>
        <p:spPr>
          <a:xfrm>
            <a:off x="10379710" y="4137025"/>
            <a:ext cx="57150" cy="57150"/>
          </a:xfrm>
          <a:prstGeom prst="ellipse">
            <a:avLst/>
          </a:prstGeom>
          <a:solidFill>
            <a:srgbClr val="067647"/>
          </a:solidFill>
          <a:ln w="12700">
            <a:solidFill>
              <a:srgbClr val="067647"/>
            </a:solidFill>
            <a:prstDash val="solid"/>
          </a:ln>
        </p:spPr>
      </p:sp>
      <p:sp>
        <p:nvSpPr>
          <p:cNvPr id="87" name="b5"/>
          <p:cNvSpPr txBox="1"/>
          <p:nvPr/>
        </p:nvSpPr>
        <p:spPr>
          <a:xfrm>
            <a:off x="10500360" y="4051300"/>
            <a:ext cx="7391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6764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Resolved</a:t>
            </a:r>
            <a:endParaRPr lang="en-US" sz="1000" dirty="0"/>
          </a:p>
        </p:txBody>
      </p:sp>
      <p:sp>
        <p:nvSpPr>
          <p:cNvPr id="88" name="b2"/>
          <p:cNvSpPr/>
          <p:nvPr/>
        </p:nvSpPr>
        <p:spPr>
          <a:xfrm>
            <a:off x="6877050" y="4533900"/>
            <a:ext cx="436245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89" name="b2"/>
          <p:cNvSpPr txBox="1"/>
          <p:nvPr/>
        </p:nvSpPr>
        <p:spPr>
          <a:xfrm>
            <a:off x="6877050" y="4572000"/>
            <a:ext cx="279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Tenancy agreement</a:t>
            </a:r>
            <a:endParaRPr lang="en-US" sz="1250" dirty="0"/>
          </a:p>
        </p:txBody>
      </p:sp>
      <p:sp>
        <p:nvSpPr>
          <p:cNvPr id="90" name="b2"/>
          <p:cNvSpPr txBox="1"/>
          <p:nvPr/>
        </p:nvSpPr>
        <p:spPr>
          <a:xfrm>
            <a:off x="6877050" y="4762500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tenancy agreement names unit #01-21, but the application and the business profile give #01-12</a:t>
            </a:r>
            <a:endParaRPr lang="en-US" sz="950" dirty="0"/>
          </a:p>
        </p:txBody>
      </p:sp>
      <p:sp>
        <p:nvSpPr>
          <p:cNvPr id="91" name="b2 x4"/>
          <p:cNvSpPr/>
          <p:nvPr/>
        </p:nvSpPr>
        <p:spPr>
          <a:xfrm>
            <a:off x="10615930" y="4597400"/>
            <a:ext cx="623570" cy="228600"/>
          </a:xfrm>
          <a:prstGeom prst="roundRect">
            <a:avLst>
              <a:gd name="adj" fmla="val 16667"/>
            </a:avLst>
          </a:prstGeom>
          <a:solidFill>
            <a:srgbClr val="FFF6E5"/>
          </a:solidFill>
          <a:ln w="9525">
            <a:solidFill>
              <a:srgbClr val="F5CF86"/>
            </a:solidFill>
            <a:prstDash val="solid"/>
          </a:ln>
        </p:spPr>
      </p:sp>
      <p:sp>
        <p:nvSpPr>
          <p:cNvPr id="92" name="b2 x4"/>
          <p:cNvSpPr/>
          <p:nvPr/>
        </p:nvSpPr>
        <p:spPr>
          <a:xfrm>
            <a:off x="10704830" y="4683125"/>
            <a:ext cx="57150" cy="57150"/>
          </a:xfrm>
          <a:prstGeom prst="ellipse">
            <a:avLst/>
          </a:prstGeom>
          <a:solidFill>
            <a:srgbClr val="9A4A00"/>
          </a:solidFill>
          <a:ln w="12700">
            <a:solidFill>
              <a:srgbClr val="9A4A00"/>
            </a:solidFill>
            <a:prstDash val="solid"/>
          </a:ln>
        </p:spPr>
      </p:sp>
      <p:sp>
        <p:nvSpPr>
          <p:cNvPr id="93" name="b2 x4"/>
          <p:cNvSpPr txBox="1"/>
          <p:nvPr/>
        </p:nvSpPr>
        <p:spPr>
          <a:xfrm>
            <a:off x="10825480" y="4597400"/>
            <a:ext cx="41402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9A4A0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Open</a:t>
            </a:r>
            <a:endParaRPr lang="en-US" sz="1000" dirty="0"/>
          </a:p>
        </p:txBody>
      </p:sp>
      <p:sp>
        <p:nvSpPr>
          <p:cNvPr id="94" name="b4 x5"/>
          <p:cNvSpPr/>
          <p:nvPr/>
        </p:nvSpPr>
        <p:spPr>
          <a:xfrm>
            <a:off x="9071610" y="4597400"/>
            <a:ext cx="2167890" cy="228600"/>
          </a:xfrm>
          <a:prstGeom prst="roundRect">
            <a:avLst>
              <a:gd name="adj" fmla="val 1666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95" name="b4 x5"/>
          <p:cNvSpPr/>
          <p:nvPr/>
        </p:nvSpPr>
        <p:spPr>
          <a:xfrm>
            <a:off x="9160510" y="4683125"/>
            <a:ext cx="57150" cy="57150"/>
          </a:xfrm>
          <a:prstGeom prst="ellipse">
            <a:avLst/>
          </a:prstGeom>
          <a:solidFill>
            <a:srgbClr val="175CD3"/>
          </a:solidFill>
          <a:ln w="12700">
            <a:solidFill>
              <a:srgbClr val="175CD3"/>
            </a:solidFill>
            <a:prstDash val="solid"/>
          </a:ln>
        </p:spPr>
      </p:sp>
      <p:sp>
        <p:nvSpPr>
          <p:cNvPr id="96" name="b4 x5"/>
          <p:cNvSpPr txBox="1"/>
          <p:nvPr/>
        </p:nvSpPr>
        <p:spPr>
          <a:xfrm>
            <a:off x="9281160" y="4597400"/>
            <a:ext cx="19583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Addressed in Revision 2</a:t>
            </a:r>
            <a:endParaRPr lang="en-US" sz="1000" dirty="0"/>
          </a:p>
        </p:txBody>
      </p:sp>
      <p:sp>
        <p:nvSpPr>
          <p:cNvPr id="97" name="b5"/>
          <p:cNvSpPr/>
          <p:nvPr/>
        </p:nvSpPr>
        <p:spPr>
          <a:xfrm>
            <a:off x="10290810" y="4597400"/>
            <a:ext cx="948690" cy="228600"/>
          </a:xfrm>
          <a:prstGeom prst="roundRect">
            <a:avLst>
              <a:gd name="adj" fmla="val 16667"/>
            </a:avLst>
          </a:prstGeom>
          <a:solidFill>
            <a:srgbClr val="ECFDF3"/>
          </a:solidFill>
          <a:ln w="9525">
            <a:solidFill>
              <a:srgbClr val="A6E9C4"/>
            </a:solidFill>
            <a:prstDash val="solid"/>
          </a:ln>
        </p:spPr>
      </p:sp>
      <p:sp>
        <p:nvSpPr>
          <p:cNvPr id="98" name="b5"/>
          <p:cNvSpPr/>
          <p:nvPr/>
        </p:nvSpPr>
        <p:spPr>
          <a:xfrm>
            <a:off x="10379710" y="4683125"/>
            <a:ext cx="57150" cy="57150"/>
          </a:xfrm>
          <a:prstGeom prst="ellipse">
            <a:avLst/>
          </a:prstGeom>
          <a:solidFill>
            <a:srgbClr val="067647"/>
          </a:solidFill>
          <a:ln w="12700">
            <a:solidFill>
              <a:srgbClr val="067647"/>
            </a:solidFill>
            <a:prstDash val="solid"/>
          </a:ln>
        </p:spPr>
      </p:sp>
      <p:sp>
        <p:nvSpPr>
          <p:cNvPr id="99" name="b5"/>
          <p:cNvSpPr txBox="1"/>
          <p:nvPr/>
        </p:nvSpPr>
        <p:spPr>
          <a:xfrm>
            <a:off x="10500360" y="4597400"/>
            <a:ext cx="7391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6764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Resolved</a:t>
            </a:r>
            <a:endParaRPr lang="en-US" sz="1000" dirty="0"/>
          </a:p>
        </p:txBody>
      </p:sp>
      <p:sp>
        <p:nvSpPr>
          <p:cNvPr id="100" name="b4"/>
          <p:cNvSpPr/>
          <p:nvPr/>
        </p:nvSpPr>
        <p:spPr>
          <a:xfrm>
            <a:off x="6877050" y="5080000"/>
            <a:ext cx="436245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01" name="b4"/>
          <p:cNvSpPr txBox="1"/>
          <p:nvPr/>
        </p:nvSpPr>
        <p:spPr>
          <a:xfrm>
            <a:off x="6877050" y="5118100"/>
            <a:ext cx="279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Compare revisions</a:t>
            </a:r>
            <a:endParaRPr lang="en-US" sz="1250" dirty="0"/>
          </a:p>
        </p:txBody>
      </p:sp>
      <p:sp>
        <p:nvSpPr>
          <p:cNvPr id="102" name="b4"/>
          <p:cNvSpPr txBox="1"/>
          <p:nvPr/>
        </p:nvSpPr>
        <p:spPr>
          <a:xfrm>
            <a:off x="6877050" y="5308600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From Revision 1 to Revision 2</a:t>
            </a:r>
            <a:endParaRPr lang="en-US" sz="950" dirty="0"/>
          </a:p>
        </p:txBody>
      </p:sp>
      <p:sp>
        <p:nvSpPr>
          <p:cNvPr id="103" name="b4"/>
          <p:cNvSpPr txBox="1"/>
          <p:nvPr/>
        </p:nvSpPr>
        <p:spPr>
          <a:xfrm>
            <a:off x="8782050" y="5118100"/>
            <a:ext cx="2457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0 sections and 2 documents changed</a:t>
            </a:r>
            <a:endParaRPr lang="en-US" sz="1100" dirty="0"/>
          </a:p>
        </p:txBody>
      </p:sp>
      <p:sp>
        <p:nvSpPr>
          <p:cNvPr id="104" name="b2"/>
          <p:cNvSpPr/>
          <p:nvPr/>
        </p:nvSpPr>
        <p:spPr>
          <a:xfrm>
            <a:off x="6877050" y="5626100"/>
            <a:ext cx="436245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05" name="b2"/>
          <p:cNvSpPr txBox="1"/>
          <p:nvPr/>
        </p:nvSpPr>
        <p:spPr>
          <a:xfrm>
            <a:off x="6877050" y="5664200"/>
            <a:ext cx="279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Status</a:t>
            </a:r>
            <a:endParaRPr lang="en-US" sz="1250" dirty="0"/>
          </a:p>
        </p:txBody>
      </p:sp>
      <p:sp>
        <p:nvSpPr>
          <p:cNvPr id="106" name="b2 x4"/>
          <p:cNvSpPr/>
          <p:nvPr/>
        </p:nvSpPr>
        <p:spPr>
          <a:xfrm>
            <a:off x="8583930" y="5689600"/>
            <a:ext cx="2655570" cy="228600"/>
          </a:xfrm>
          <a:prstGeom prst="roundRect">
            <a:avLst>
              <a:gd name="adj" fmla="val 16667"/>
            </a:avLst>
          </a:prstGeom>
          <a:solidFill>
            <a:srgbClr val="FFF6E5"/>
          </a:solidFill>
          <a:ln w="9525">
            <a:solidFill>
              <a:srgbClr val="F5CF86"/>
            </a:solidFill>
            <a:prstDash val="solid"/>
          </a:ln>
        </p:spPr>
      </p:sp>
      <p:sp>
        <p:nvSpPr>
          <p:cNvPr id="107" name="b2 x4"/>
          <p:cNvSpPr/>
          <p:nvPr/>
        </p:nvSpPr>
        <p:spPr>
          <a:xfrm>
            <a:off x="8672830" y="5775325"/>
            <a:ext cx="57150" cy="57150"/>
          </a:xfrm>
          <a:prstGeom prst="ellipse">
            <a:avLst/>
          </a:prstGeom>
          <a:solidFill>
            <a:srgbClr val="9A4A00"/>
          </a:solidFill>
          <a:ln w="12700">
            <a:solidFill>
              <a:srgbClr val="9A4A00"/>
            </a:solidFill>
            <a:prstDash val="solid"/>
          </a:ln>
        </p:spPr>
      </p:sp>
      <p:sp>
        <p:nvSpPr>
          <p:cNvPr id="108" name="b2 x4"/>
          <p:cNvSpPr txBox="1"/>
          <p:nvPr/>
        </p:nvSpPr>
        <p:spPr>
          <a:xfrm>
            <a:off x="8793480" y="5689600"/>
            <a:ext cx="244602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9A4A0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Pending Pre-Site Resubmission</a:t>
            </a:r>
            <a:endParaRPr lang="en-US" sz="1000" dirty="0"/>
          </a:p>
        </p:txBody>
      </p:sp>
      <p:sp>
        <p:nvSpPr>
          <p:cNvPr id="109" name="b4 x5"/>
          <p:cNvSpPr/>
          <p:nvPr/>
        </p:nvSpPr>
        <p:spPr>
          <a:xfrm>
            <a:off x="9315450" y="5689600"/>
            <a:ext cx="1924050" cy="228600"/>
          </a:xfrm>
          <a:prstGeom prst="roundRect">
            <a:avLst>
              <a:gd name="adj" fmla="val 1666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110" name="b4 x5"/>
          <p:cNvSpPr/>
          <p:nvPr/>
        </p:nvSpPr>
        <p:spPr>
          <a:xfrm>
            <a:off x="9404350" y="5775325"/>
            <a:ext cx="57150" cy="57150"/>
          </a:xfrm>
          <a:prstGeom prst="ellipse">
            <a:avLst/>
          </a:prstGeom>
          <a:solidFill>
            <a:srgbClr val="175CD3"/>
          </a:solidFill>
          <a:ln w="12700">
            <a:solidFill>
              <a:srgbClr val="175CD3"/>
            </a:solidFill>
            <a:prstDash val="solid"/>
          </a:ln>
        </p:spPr>
      </p:sp>
      <p:sp>
        <p:nvSpPr>
          <p:cNvPr id="111" name="b4 x5"/>
          <p:cNvSpPr txBox="1"/>
          <p:nvPr/>
        </p:nvSpPr>
        <p:spPr>
          <a:xfrm>
            <a:off x="9525000" y="5689600"/>
            <a:ext cx="1714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Pre-Site Resubmitted</a:t>
            </a:r>
            <a:endParaRPr lang="en-US" sz="1000" dirty="0"/>
          </a:p>
        </p:txBody>
      </p:sp>
      <p:sp>
        <p:nvSpPr>
          <p:cNvPr id="112" name="b5"/>
          <p:cNvSpPr/>
          <p:nvPr/>
        </p:nvSpPr>
        <p:spPr>
          <a:xfrm>
            <a:off x="9315450" y="5689600"/>
            <a:ext cx="1924050" cy="228600"/>
          </a:xfrm>
          <a:prstGeom prst="roundRect">
            <a:avLst>
              <a:gd name="adj" fmla="val 1666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113" name="b5"/>
          <p:cNvSpPr/>
          <p:nvPr/>
        </p:nvSpPr>
        <p:spPr>
          <a:xfrm>
            <a:off x="9404350" y="5775325"/>
            <a:ext cx="57150" cy="57150"/>
          </a:xfrm>
          <a:prstGeom prst="ellipse">
            <a:avLst/>
          </a:prstGeom>
          <a:solidFill>
            <a:srgbClr val="175CD3"/>
          </a:solidFill>
          <a:ln w="12700">
            <a:solidFill>
              <a:srgbClr val="175CD3"/>
            </a:solidFill>
            <a:prstDash val="solid"/>
          </a:ln>
        </p:spPr>
      </p:sp>
      <p:sp>
        <p:nvSpPr>
          <p:cNvPr id="114" name="b5"/>
          <p:cNvSpPr txBox="1"/>
          <p:nvPr/>
        </p:nvSpPr>
        <p:spPr>
          <a:xfrm>
            <a:off x="9525000" y="5689600"/>
            <a:ext cx="1714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Site Visit Scheduled</a:t>
            </a:r>
            <a:endParaRPr lang="en-US" sz="1000" dirty="0"/>
          </a:p>
        </p:txBody>
      </p:sp>
      <p:sp>
        <p:nvSpPr>
          <p:cNvPr id="115" name="Text 113"/>
          <p:cNvSpPr txBox="1"/>
          <p:nvPr/>
        </p:nvSpPr>
        <p:spPr>
          <a:xfrm>
            <a:off x="762000" y="6299200"/>
            <a:ext cx="889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 labels shown. Recorded on the development environment, 19 September 2026.</a:t>
            </a:r>
            <a:endParaRPr lang="en-US" sz="1000" dirty="0"/>
          </a:p>
        </p:txBody>
      </p:sp>
      <p:sp>
        <p:nvSpPr>
          <p:cNvPr id="116" name="Text 114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13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2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2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2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2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2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2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2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2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2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2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2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2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32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2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32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2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32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2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32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2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2" fill="hold">
                      <p:stCondLst>
                        <p:cond delay="indefinite"/>
                      </p:stCondLst>
                      <p:childTnLst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2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2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2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2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32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2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32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2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32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2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32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2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32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2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2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2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32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32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8" fill="hold">
                      <p:stCondLst>
                        <p:cond delay="indefinite"/>
                      </p:stCondLst>
                      <p:childTnLst>
                        <p:par>
                          <p:cTn id="209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3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3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4" fill="hold">
                      <p:stCondLst>
                        <p:cond delay="indefinite"/>
                      </p:stCondLst>
                      <p:childTnLst>
                        <p:par>
                          <p:cTn id="325" fill="hold">
                            <p:stCondLst>
                              <p:cond delay="0"/>
                            </p:stCondLst>
                            <p:childTnLst>
                              <p:par>
                                <p:cTn id="21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1" dur="32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4" dur="32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7" dur="32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0" dur="32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3" dur="32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6" dur="32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9" dur="32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2" dur="32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5" dur="32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8" dur="32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1" dur="32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4" dur="32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7" dur="32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0" dur="32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3" dur="32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6" dur="32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9" dur="32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32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32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32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2" dur="32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5" dur="32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8" dur="32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1" dur="32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4" dur="32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7" dur="32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0" dur="32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3" dur="32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6" dur="32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9" dur="32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2" dur="32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5" dur="32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8" dur="32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1" dur="32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4" dur="32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7" dur="32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0" dur="32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3" dur="32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0" fill="hold">
                      <p:stCondLst>
                        <p:cond delay="indefinite"/>
                      </p:stCondLst>
                      <p:childTnLst>
                        <p:par>
                          <p:cTn id="411" fill="hold">
                            <p:stCondLst>
                              <p:cond delay="0"/>
                            </p:stCondLst>
                            <p:childTnLst>
                              <p:par>
                                <p:cTn id="326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7" dur="32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0" dur="32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3" dur="32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6" dur="32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7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9" dur="32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2" dur="32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5" dur="32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8" dur="32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1" dur="32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5" dur="3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8" dur="3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1" dur="3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4" dur="3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7" dur="3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0" dur="3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3" dur="3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6" dur="3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9" dur="3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2" dur="3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5" dur="32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8" dur="32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1" dur="32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4" dur="32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7" dur="32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0" dur="32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3" dur="32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6" dur="32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9" dur="32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9" grpId="0" animBg="1"/>
      <p:bldP spid="60" grpId="0" animBg="1"/>
      <p:bldP spid="61" grpId="0" animBg="1"/>
      <p:bldP spid="65" grpId="0" animBg="1"/>
      <p:bldP spid="66" grpId="0" animBg="1"/>
      <p:bldP spid="67" grpId="0" animBg="1"/>
      <p:bldP spid="69" grpId="0" animBg="1"/>
      <p:bldP spid="70" grpId="0" animBg="1"/>
      <p:bldP spid="71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104" grpId="0" animBg="1"/>
      <p:bldP spid="105" grpId="0" animBg="1"/>
      <p:bldP spid="106" grpId="0" animBg="1"/>
      <p:bldP spid="107" grpId="0" animBg="1"/>
      <p:bldP spid="108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57" grpId="1" animBg="1"/>
      <p:bldP spid="59" grpId="1" animBg="1"/>
      <p:bldP spid="60" grpId="1" animBg="1"/>
      <p:bldP spid="61" grpId="1" animBg="1"/>
      <p:bldP spid="67" grpId="1" animBg="1"/>
      <p:bldP spid="69" grpId="1" animBg="1"/>
      <p:bldP spid="70" grpId="1" animBg="1"/>
      <p:bldP spid="71" grpId="1" animBg="1"/>
      <p:bldP spid="79" grpId="1" animBg="1"/>
      <p:bldP spid="80" grpId="1" animBg="1"/>
      <p:bldP spid="81" grpId="1" animBg="1"/>
      <p:bldP spid="91" grpId="1" animBg="1"/>
      <p:bldP spid="92" grpId="1" animBg="1"/>
      <p:bldP spid="93" grpId="1" animBg="1"/>
      <p:bldP spid="106" grpId="1" animBg="1"/>
      <p:bldP spid="107" grpId="1" animBg="1"/>
      <p:bldP spid="108" grpId="1" animBg="1"/>
      <p:bldP spid="58" grpId="0" animBg="1"/>
      <p:bldP spid="62" grpId="0" animBg="1"/>
      <p:bldP spid="63" grpId="0" animBg="1"/>
      <p:bldP spid="64" grpId="0" animBg="1"/>
      <p:bldP spid="68" grpId="0" animBg="1"/>
      <p:bldP spid="72" grpId="0" animBg="1"/>
      <p:bldP spid="73" grpId="0" animBg="1"/>
      <p:bldP spid="74" grpId="0" animBg="1"/>
      <p:bldP spid="82" grpId="0" animBg="1"/>
      <p:bldP spid="83" grpId="0" animBg="1"/>
      <p:bldP spid="84" grpId="0" animBg="1"/>
      <p:bldP spid="94" grpId="0" animBg="1"/>
      <p:bldP spid="95" grpId="0" animBg="1"/>
      <p:bldP spid="96" grpId="0" animBg="1"/>
      <p:bldP spid="100" grpId="0" animBg="1"/>
      <p:bldP spid="101" grpId="0" animBg="1"/>
      <p:bldP spid="102" grpId="0" animBg="1"/>
      <p:bldP spid="103" grpId="0" animBg="1"/>
      <p:bldP spid="109" grpId="0" animBg="1"/>
      <p:bldP spid="110" grpId="0" animBg="1"/>
      <p:bldP spid="111" grpId="0" animBg="1"/>
      <p:bldP spid="82" grpId="1" animBg="1"/>
      <p:bldP spid="83" grpId="1" animBg="1"/>
      <p:bldP spid="84" grpId="1" animBg="1"/>
      <p:bldP spid="94" grpId="1" animBg="1"/>
      <p:bldP spid="95" grpId="1" animBg="1"/>
      <p:bldP spid="96" grpId="1" animBg="1"/>
      <p:bldP spid="109" grpId="1" animBg="1"/>
      <p:bldP spid="110" grpId="1" animBg="1"/>
      <p:bldP spid="111" grpId="1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85" grpId="0" animBg="1"/>
      <p:bldP spid="86" grpId="0" animBg="1"/>
      <p:bldP spid="87" grpId="0" animBg="1"/>
      <p:bldP spid="97" grpId="0" animBg="1"/>
      <p:bldP spid="98" grpId="0" animBg="1"/>
      <p:bldP spid="99" grpId="0" animBg="1"/>
      <p:bldP spid="112" grpId="0" animBg="1"/>
      <p:bldP spid="113" grpId="0" animBg="1"/>
      <p:bldP spid="11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WHAT MAKES IT DIFFERENT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9906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Six principles, each enforced by code.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828800"/>
            <a:ext cx="51562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2000" y="20193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206500" y="1981200"/>
            <a:ext cx="47117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Continuous workflow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One application, any number of rounds. Fourteen states with actors, guards and labels as a table; every status change goes through one function.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2000" y="3403600"/>
            <a:ext cx="51562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62000" y="35941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206500" y="3556000"/>
            <a:ext cx="47117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Immutable revisions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submission is a snapshot. The compare view is a read-time diff, computed and never stored, so nothing is lost between rounds by construction.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62000" y="4978400"/>
            <a:ext cx="51562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62000" y="51689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206500" y="5130800"/>
            <a:ext cx="47117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Contextual feedback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item is tied to a section or a document. "Only the flagged parts" is an authorization rule: the server answers 403, the UI walks the operator through exactly those targets.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endParaRPr lang="en-US" sz="1200" dirty="0"/>
          </a:p>
        </p:txBody>
      </p:sp>
      <p:sp>
        <p:nvSpPr>
          <p:cNvPr id="13" name="b1"/>
          <p:cNvSpPr/>
          <p:nvPr/>
        </p:nvSpPr>
        <p:spPr>
          <a:xfrm>
            <a:off x="6273800" y="1828800"/>
            <a:ext cx="51562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4" name="b1"/>
          <p:cNvSpPr txBox="1"/>
          <p:nvPr/>
        </p:nvSpPr>
        <p:spPr>
          <a:xfrm>
            <a:off x="6273800" y="20193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100" dirty="0"/>
          </a:p>
        </p:txBody>
      </p:sp>
      <p:sp>
        <p:nvSpPr>
          <p:cNvPr id="15" name="b1"/>
          <p:cNvSpPr txBox="1"/>
          <p:nvPr/>
        </p:nvSpPr>
        <p:spPr>
          <a:xfrm>
            <a:off x="6718300" y="1981200"/>
            <a:ext cx="47117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AI-assisted, never AI-decided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verifier writes only to verification_runs. The state machine has no AI actor. Injection is handled by a deterministic rule before the verdict is read.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endParaRPr lang="en-US" sz="1200" dirty="0"/>
          </a:p>
        </p:txBody>
      </p:sp>
      <p:sp>
        <p:nvSpPr>
          <p:cNvPr id="16" name="b1"/>
          <p:cNvSpPr/>
          <p:nvPr/>
        </p:nvSpPr>
        <p:spPr>
          <a:xfrm>
            <a:off x="6273800" y="3403600"/>
            <a:ext cx="51562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7" name="b1"/>
          <p:cNvSpPr txBox="1"/>
          <p:nvPr/>
        </p:nvSpPr>
        <p:spPr>
          <a:xfrm>
            <a:off x="6273800" y="35941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100" dirty="0"/>
          </a:p>
        </p:txBody>
      </p:sp>
      <p:sp>
        <p:nvSpPr>
          <p:cNvPr id="18" name="b1"/>
          <p:cNvSpPr txBox="1"/>
          <p:nvPr/>
        </p:nvSpPr>
        <p:spPr>
          <a:xfrm>
            <a:off x="6718300" y="3556000"/>
            <a:ext cx="47117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Same-transaction audit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status change, its audit row, the operator's notification and, on approval, the licence certificate either all happen or none do.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endParaRPr lang="en-US" sz="1200" dirty="0"/>
          </a:p>
        </p:txBody>
      </p:sp>
      <p:sp>
        <p:nvSpPr>
          <p:cNvPr id="19" name="b1"/>
          <p:cNvSpPr/>
          <p:nvPr/>
        </p:nvSpPr>
        <p:spPr>
          <a:xfrm>
            <a:off x="6273800" y="4978400"/>
            <a:ext cx="51562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0" name="b1"/>
          <p:cNvSpPr txBox="1"/>
          <p:nvPr/>
        </p:nvSpPr>
        <p:spPr>
          <a:xfrm>
            <a:off x="6273800" y="51689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100" dirty="0"/>
          </a:p>
        </p:txBody>
      </p:sp>
      <p:sp>
        <p:nvSpPr>
          <p:cNvPr id="21" name="b1"/>
          <p:cNvSpPr txBox="1"/>
          <p:nvPr/>
        </p:nvSpPr>
        <p:spPr>
          <a:xfrm>
            <a:off x="6718300" y="5130800"/>
            <a:ext cx="47117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Role-aware by construction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Authorization is server-side on every route with an authorization test per endpoint. Operators receive their own labels and never an internal status code.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13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BUILT TO BE TAKEN TO PRODUCTION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9906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7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 modular monolith with an explicit state machine, an advisory AI module and an audit trail written in the same transaction.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736600" y="21463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2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BROWSER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736600" y="30353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2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API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736600" y="39243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2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DOMAIN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36600" y="48133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2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DATA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736600" y="57023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2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RUNS ON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937000" y="2540000"/>
            <a:ext cx="0" cy="25400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937000" y="3429000"/>
            <a:ext cx="0" cy="25400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937000" y="4318000"/>
            <a:ext cx="0" cy="25400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37000" y="5207000"/>
            <a:ext cx="0" cy="25400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13500" y="3111500"/>
            <a:ext cx="635000" cy="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26500" y="3429000"/>
            <a:ext cx="0" cy="25400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826500" y="4318000"/>
            <a:ext cx="0" cy="25400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588000" y="4318000"/>
            <a:ext cx="0" cy="25400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60500" y="1905000"/>
            <a:ext cx="4953000" cy="63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1600200" y="1993900"/>
            <a:ext cx="4673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React 19 UI · TypeScript strict · Vite · TanStack Query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2171700"/>
            <a:ext cx="4673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 and officer workspaces, role-specific labels; a check's status is polled while it runs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48500" y="1905000"/>
            <a:ext cx="3556000" cy="635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188200" y="1993900"/>
            <a:ext cx="327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 · Officer · Admin (reserved)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7188200" y="2171700"/>
            <a:ext cx="3276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Three roles; every authorization decision is made on the server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460500" y="2794000"/>
            <a:ext cx="4953000" cy="63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1600200" y="2882900"/>
            <a:ext cx="4673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FastAPI · JWT with a role claim · rate limits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1600200" y="3060700"/>
            <a:ext cx="4673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Role guard per router, ownership as 404, one error envelope with a request id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048500" y="2794000"/>
            <a:ext cx="3556000" cy="63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188200" y="2882900"/>
            <a:ext cx="327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AI verification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7188200" y="3060700"/>
            <a:ext cx="3276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In-process background task per upload; Re-run check recovers after a restart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460500" y="3683000"/>
            <a:ext cx="4953000" cy="63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1600200" y="3771900"/>
            <a:ext cx="4673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Application services · pure Python domain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1600200" y="3949700"/>
            <a:ext cx="4673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Workflow table, verification rules, diff, upload rules; no FastAPI or SQLAlchemy import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048500" y="3683000"/>
            <a:ext cx="3556000" cy="63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7188200" y="3771900"/>
            <a:ext cx="327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VerificationProvider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7188200" y="3949700"/>
            <a:ext cx="3276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Structured output through two strict schemas, then deterministic post-rules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460500" y="4572000"/>
            <a:ext cx="3048000" cy="63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1600200" y="4660900"/>
            <a:ext cx="2768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Repositories · audit trail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1600200" y="4838700"/>
            <a:ext cx="2768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Append-only audit rows in the same transaction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762500" y="4572000"/>
            <a:ext cx="1651000" cy="63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4902200" y="4660900"/>
            <a:ext cx="1371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FileStorage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4902200" y="4838700"/>
            <a:ext cx="1371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Allowlist, 10 MB, magic bytes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048500" y="4572000"/>
            <a:ext cx="3556000" cy="635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7188200" y="4660900"/>
            <a:ext cx="327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OpenAI (gpt-4.1-mini) or Mock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7188200" y="4838700"/>
            <a:ext cx="3276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Mock by default, in tests and CI; with no key a check is stored unavailable, no model call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1460500" y="5461000"/>
            <a:ext cx="3048000" cy="635000"/>
          </a:xfrm>
          <a:prstGeom prst="roundRect">
            <a:avLst>
              <a:gd name="adj" fmla="val 6000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600200" y="5549900"/>
            <a:ext cx="2768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PostgreSQL 18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1600200" y="5727700"/>
            <a:ext cx="2768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Row locks, UUIDs, revisions as JSONB snapshots; 18 on Railway, 16 locally and in CI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762500" y="5461000"/>
            <a:ext cx="4064000" cy="635000"/>
          </a:xfrm>
          <a:prstGeom prst="roundRect">
            <a:avLst>
              <a:gd name="adj" fmla="val 6000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4902200" y="5549900"/>
            <a:ext cx="3784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Railway · two environments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4902200" y="5727700"/>
            <a:ext cx="3784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Images built once in CI; dev on push, production run by hand from main and paused for an approval; health gate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080500" y="5461000"/>
            <a:ext cx="1524000" cy="635000"/>
          </a:xfrm>
          <a:prstGeom prst="roundRect">
            <a:avLst>
              <a:gd name="adj" fmla="val 6000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220200" y="5549900"/>
            <a:ext cx="1244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LangSmith · Prometheus · Grafana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9220200" y="5727700"/>
            <a:ext cx="1244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AI traces with inputs hidden; metrics behind a token, one dashboard, six alert rules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762000" y="629920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13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BUILT TO BE WATCHED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10668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One dashboard answers whether the API is healthy, whether the document checks are healthy and what they cost, and whether the queue is moving.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343150" y="1835150"/>
            <a:ext cx="7505700" cy="4229100"/>
          </a:xfrm>
          <a:prstGeom prst="roundRect">
            <a:avLst>
              <a:gd name="adj" fmla="val 901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pic>
        <p:nvPicPr>
          <p:cNvPr id="5" name="Image 0" descr="/Users/suhaasnv/Documents/Desktop ALT/portfolioprojects/permitflow/docs/13-observability/grafana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9500" y="1841500"/>
            <a:ext cx="7493000" cy="4216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49500" y="6146800"/>
            <a:ext cx="749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Grafana on grafana.dev.permitflow.space, fed by Prometheus scraping the API's token-protected metrics every 15 seconds; six alert rules on the service objective and an hourly digest reach Telegram, where a bot also answers /status; the dashboard is a generated file in the repository.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 / 13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ENGINEERING QUALITY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9906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3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Checked by tests, gates and a written record.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1701800"/>
            <a:ext cx="1066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763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backend tests  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158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frontend tests  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8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Playwright specs  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95 % and 81 %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coverage  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588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state-machine combinations  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23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threats  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74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stories, 11 deferred</a:t>
            </a:r>
            <a:endParaRPr lang="en-US" sz="1000" dirty="0"/>
          </a:p>
        </p:txBody>
      </p:sp>
      <p:sp>
        <p:nvSpPr>
          <p:cNvPr id="5" name="b1"/>
          <p:cNvSpPr/>
          <p:nvPr/>
        </p:nvSpPr>
        <p:spPr>
          <a:xfrm>
            <a:off x="812800" y="2165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6" name="b1"/>
          <p:cNvSpPr/>
          <p:nvPr/>
        </p:nvSpPr>
        <p:spPr>
          <a:xfrm flipV="1">
            <a:off x="863600" y="2120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7" name="b1"/>
          <p:cNvSpPr txBox="1"/>
          <p:nvPr/>
        </p:nvSpPr>
        <p:spPr>
          <a:xfrm>
            <a:off x="1079500" y="2070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Tests.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Backend on a real PostgreSQL; Playwright journey and scenarios in CI against the full stack.</a:t>
            </a:r>
            <a:endParaRPr lang="en-US" sz="1100" dirty="0"/>
          </a:p>
        </p:txBody>
      </p:sp>
      <p:sp>
        <p:nvSpPr>
          <p:cNvPr id="8" name="b1"/>
          <p:cNvSpPr/>
          <p:nvPr/>
        </p:nvSpPr>
        <p:spPr>
          <a:xfrm>
            <a:off x="762000" y="2540000"/>
            <a:ext cx="64770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9" name="b1"/>
          <p:cNvSpPr/>
          <p:nvPr/>
        </p:nvSpPr>
        <p:spPr>
          <a:xfrm>
            <a:off x="812800" y="2673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10" name="b1"/>
          <p:cNvSpPr/>
          <p:nvPr/>
        </p:nvSpPr>
        <p:spPr>
          <a:xfrm flipV="1">
            <a:off x="863600" y="2628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11" name="b1"/>
          <p:cNvSpPr txBox="1"/>
          <p:nvPr/>
        </p:nvSpPr>
        <p:spPr>
          <a:xfrm>
            <a:off x="1079500" y="2578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State machine.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588 transition combinations over 14 states and 3 actors; every invalid one rejected.</a:t>
            </a:r>
            <a:endParaRPr lang="en-US" sz="1100" dirty="0"/>
          </a:p>
        </p:txBody>
      </p:sp>
      <p:sp>
        <p:nvSpPr>
          <p:cNvPr id="12" name="b1"/>
          <p:cNvSpPr/>
          <p:nvPr/>
        </p:nvSpPr>
        <p:spPr>
          <a:xfrm>
            <a:off x="762000" y="3048000"/>
            <a:ext cx="64770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3" name="b1"/>
          <p:cNvSpPr/>
          <p:nvPr/>
        </p:nvSpPr>
        <p:spPr>
          <a:xfrm>
            <a:off x="812800" y="3181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14" name="b1"/>
          <p:cNvSpPr/>
          <p:nvPr/>
        </p:nvSpPr>
        <p:spPr>
          <a:xfrm flipV="1">
            <a:off x="863600" y="3136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15" name="b1"/>
          <p:cNvSpPr txBox="1"/>
          <p:nvPr/>
        </p:nvSpPr>
        <p:spPr>
          <a:xfrm>
            <a:off x="1079500" y="3086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Authorization.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Server-side on every route; an authorization test for every application-scoped endpoint; ownership answered as 404.</a:t>
            </a:r>
            <a:endParaRPr lang="en-US" sz="1100" dirty="0"/>
          </a:p>
        </p:txBody>
      </p:sp>
      <p:sp>
        <p:nvSpPr>
          <p:cNvPr id="16" name="b1"/>
          <p:cNvSpPr/>
          <p:nvPr/>
        </p:nvSpPr>
        <p:spPr>
          <a:xfrm>
            <a:off x="762000" y="3556000"/>
            <a:ext cx="64770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7" name="b1"/>
          <p:cNvSpPr/>
          <p:nvPr/>
        </p:nvSpPr>
        <p:spPr>
          <a:xfrm>
            <a:off x="812800" y="3689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18" name="b1"/>
          <p:cNvSpPr/>
          <p:nvPr/>
        </p:nvSpPr>
        <p:spPr>
          <a:xfrm flipV="1">
            <a:off x="863600" y="3644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19" name="b1"/>
          <p:cNvSpPr txBox="1"/>
          <p:nvPr/>
        </p:nvSpPr>
        <p:spPr>
          <a:xfrm>
            <a:off x="1079500" y="3594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Validation.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Strict schemas at the HTTP boundary and on the model's output; one error envelope with a request id.</a:t>
            </a:r>
            <a:endParaRPr lang="en-US" sz="1100" dirty="0"/>
          </a:p>
        </p:txBody>
      </p:sp>
      <p:sp>
        <p:nvSpPr>
          <p:cNvPr id="20" name="b1"/>
          <p:cNvSpPr/>
          <p:nvPr/>
        </p:nvSpPr>
        <p:spPr>
          <a:xfrm>
            <a:off x="762000" y="4064000"/>
            <a:ext cx="64770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1" name="b1"/>
          <p:cNvSpPr/>
          <p:nvPr/>
        </p:nvSpPr>
        <p:spPr>
          <a:xfrm>
            <a:off x="812800" y="4197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22" name="b1"/>
          <p:cNvSpPr/>
          <p:nvPr/>
        </p:nvSpPr>
        <p:spPr>
          <a:xfrm flipV="1">
            <a:off x="863600" y="4152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23" name="b1"/>
          <p:cNvSpPr txBox="1"/>
          <p:nvPr/>
        </p:nvSpPr>
        <p:spPr>
          <a:xfrm>
            <a:off x="1079500" y="4102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Audit.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Append-only rows in the same transaction as the change; actor and time on every event.</a:t>
            </a:r>
            <a:endParaRPr lang="en-US" sz="1100" dirty="0"/>
          </a:p>
        </p:txBody>
      </p:sp>
      <p:sp>
        <p:nvSpPr>
          <p:cNvPr id="24" name="b1"/>
          <p:cNvSpPr/>
          <p:nvPr/>
        </p:nvSpPr>
        <p:spPr>
          <a:xfrm>
            <a:off x="762000" y="4572000"/>
            <a:ext cx="64770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5" name="b1"/>
          <p:cNvSpPr/>
          <p:nvPr/>
        </p:nvSpPr>
        <p:spPr>
          <a:xfrm>
            <a:off x="812800" y="4705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26" name="b1"/>
          <p:cNvSpPr/>
          <p:nvPr/>
        </p:nvSpPr>
        <p:spPr>
          <a:xfrm flipV="1">
            <a:off x="863600" y="4660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27" name="b1"/>
          <p:cNvSpPr txBox="1"/>
          <p:nvPr/>
        </p:nvSpPr>
        <p:spPr>
          <a:xfrm>
            <a:off x="1079500" y="4610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CI gates.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Lint, types, an 80 % coverage floor that fails the build, the six-stage AI gate, accessibility, secret and dependency scans.</a:t>
            </a:r>
            <a:endParaRPr lang="en-US" sz="1100" dirty="0"/>
          </a:p>
        </p:txBody>
      </p:sp>
      <p:sp>
        <p:nvSpPr>
          <p:cNvPr id="28" name="b1"/>
          <p:cNvSpPr/>
          <p:nvPr/>
        </p:nvSpPr>
        <p:spPr>
          <a:xfrm>
            <a:off x="762000" y="5080000"/>
            <a:ext cx="64770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9" name="b1"/>
          <p:cNvSpPr/>
          <p:nvPr/>
        </p:nvSpPr>
        <p:spPr>
          <a:xfrm>
            <a:off x="812800" y="5213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30" name="b1"/>
          <p:cNvSpPr/>
          <p:nvPr/>
        </p:nvSpPr>
        <p:spPr>
          <a:xfrm flipV="1">
            <a:off x="863600" y="5168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31" name="b1"/>
          <p:cNvSpPr txBox="1"/>
          <p:nvPr/>
        </p:nvSpPr>
        <p:spPr>
          <a:xfrm>
            <a:off x="1079500" y="5118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AI evaluation.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14 golden cases and 21 fairness runs, 18 of them name-swapped, on the live model; nightly and on change.</a:t>
            </a:r>
            <a:endParaRPr lang="en-US" sz="1100" dirty="0"/>
          </a:p>
        </p:txBody>
      </p:sp>
      <p:sp>
        <p:nvSpPr>
          <p:cNvPr id="32" name="b1"/>
          <p:cNvSpPr/>
          <p:nvPr/>
        </p:nvSpPr>
        <p:spPr>
          <a:xfrm>
            <a:off x="762000" y="5588000"/>
            <a:ext cx="64770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33" name="b1"/>
          <p:cNvSpPr/>
          <p:nvPr/>
        </p:nvSpPr>
        <p:spPr>
          <a:xfrm>
            <a:off x="812800" y="5721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34" name="b1"/>
          <p:cNvSpPr/>
          <p:nvPr/>
        </p:nvSpPr>
        <p:spPr>
          <a:xfrm flipV="1">
            <a:off x="863600" y="5676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35" name="b1"/>
          <p:cNvSpPr txBox="1"/>
          <p:nvPr/>
        </p:nvSpPr>
        <p:spPr>
          <a:xfrm>
            <a:off x="1079500" y="5626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Delivery.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Images built once; production behind an approval; health gates after every deploy; request ids everywhere; Prometheus metrics and a Grafana dashboard with six alert rules.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 / 13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3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3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3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WHAT I WOULD DO NEXT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9906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7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Known gaps first, then what production would need.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62000" y="19050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2000" y="20193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55700" y="19939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First: use case 3, the site-visit checklist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55700" y="21971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Statuses and transitions exist and are tested; the checklist, capture screen and clarification round are not built.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48400" y="19050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48400" y="20193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642100" y="19939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queue and a worker for the AI checks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42100" y="21971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So checks survive deploys and scale on their own; today they run in-process.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62000" y="27813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2000" y="28956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155700" y="28702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Object storage with a virus scan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155700" y="30734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S3-compatible storage with signed URLs behind the existing storage interface.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48400" y="27813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48400" y="28956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642100" y="28702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Frontend and edge hardening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642100" y="30734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httpOnly cookie sessions, CSP nonces, rate-limit windows shared across instances.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62000" y="36576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62000" y="37719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155700" y="37465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Identity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155700" y="39497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Registration, password reset, MFA and SSO; seeded accounts today.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48400" y="36576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48400" y="37719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642100" y="37465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Data protection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642100" y="39497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Retention and redaction for document text sent to the model; an in-region provider.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2000" y="45339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62000" y="46482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1155700" y="46228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AI evaluation and assurance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155700" y="48260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labelled set from officer overrides, broader red-teaming, calibration, multilingual injection defence.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48400" y="45339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48400" y="46482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642100" y="46228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admin epic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642100" y="48260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Oversight dashboard, AI health, audit feed, user management; role and routes reserved.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62000" y="54102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62000" y="55245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155700" y="54991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Delivery, backups and alert routing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1155700" y="57023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Scheduled backups with a tested restore; a staging rehearsal for migrations; image scanning; alerts routed to a channel, exporters for nginx and Postgres.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762000" y="6299200"/>
            <a:ext cx="698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/ 13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uhaasnv/Documents/Desktop ALT/portfolioprojects/permitflow/notes/pitch/pitch-deck/pptx/build/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1397000"/>
            <a:ext cx="609600" cy="6096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549400" y="1397000"/>
            <a:ext cx="3810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976" b="1" spc="-100" kern="0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PermitFlow</a:t>
            </a:r>
            <a:endParaRPr lang="en-US" sz="2976" dirty="0"/>
          </a:p>
        </p:txBody>
      </p:sp>
      <p:sp>
        <p:nvSpPr>
          <p:cNvPr id="4" name="Text 1"/>
          <p:cNvSpPr txBox="1"/>
          <p:nvPr/>
        </p:nvSpPr>
        <p:spPr>
          <a:xfrm>
            <a:off x="762000" y="2311400"/>
            <a:ext cx="9525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2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From submission to resolution: one traceable licensing workflow.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762000" y="4445000"/>
            <a:ext cx="940816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2000" y="4445000"/>
            <a:ext cx="940816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Submit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791716" y="4445000"/>
            <a:ext cx="1905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071116" y="4445000"/>
            <a:ext cx="843280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071116" y="4445000"/>
            <a:ext cx="843280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Check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003296" y="4445000"/>
            <a:ext cx="1905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282696" y="4445000"/>
            <a:ext cx="940816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282696" y="4445000"/>
            <a:ext cx="940816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Review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312412" y="4445000"/>
            <a:ext cx="1905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91812" y="4445000"/>
            <a:ext cx="1135888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91812" y="4445000"/>
            <a:ext cx="1135888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Feedback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816600" y="4445000"/>
            <a:ext cx="1905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096000" y="4445000"/>
            <a:ext cx="1135888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096000" y="4445000"/>
            <a:ext cx="1135888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Resubmit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7320788" y="4445000"/>
            <a:ext cx="1905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600188" y="4445000"/>
            <a:ext cx="1038352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600188" y="4445000"/>
            <a:ext cx="1038352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Compare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727440" y="4445000"/>
            <a:ext cx="1905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9006840" y="4445000"/>
            <a:ext cx="1038352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006840" y="4445000"/>
            <a:ext cx="1038352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Resolve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0134092" y="4445000"/>
            <a:ext cx="1905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10413492" y="4445000"/>
            <a:ext cx="940816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413492" y="4445000"/>
            <a:ext cx="940816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Decide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762000" y="5816600"/>
            <a:ext cx="635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5CBD4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working MVP built with production practices, in a three-day engineering constraint.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7620000" y="5562600"/>
            <a:ext cx="381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permitflow.space</a:t>
            </a:r>
            <a:endParaRPr lang="en-US" sz="1500" dirty="0"/>
          </a:p>
          <a:p>
            <a:pPr algn="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github.com/SuhaasNv/permitflow</a:t>
            </a:r>
            <a:endParaRPr lang="en-US" sz="1500" dirty="0"/>
          </a:p>
        </p:txBody>
      </p:sp>
    </p:spTree>
  </p:cSld>
  <p:clrMapOvr>
    <a:masterClrMapping/>
  </p:clrMapOvr>
  <p:transition spd="fast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PermitFlow pitch deck</dc:title>
  <dc:subject>PptxGenJS Presentation</dc:subject>
  <dc:creator>Suhaas Nv</dc:creator>
  <cp:lastModifiedBy>Suhaas Nv</cp:lastModifiedBy>
  <cp:revision>1</cp:revision>
  <dcterms:created xsi:type="dcterms:W3CDTF">2026-09-20T07:05:38Z</dcterms:created>
  <dcterms:modified xsi:type="dcterms:W3CDTF">2026-09-20T07:05:38Z</dcterms:modified>
</cp:coreProperties>
</file>