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cover-queue-1440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0" y="0"/>
            <a:ext cx="12192000" cy="6667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03200" y="1524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03200" y="1524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pic>
        <p:nvPicPr>
          <p:cNvPr id="5" name="Image 1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905000"/>
            <a:ext cx="609600" cy="609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49400" y="1905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7" name="Text 3"/>
          <p:cNvSpPr txBox="1"/>
          <p:nvPr/>
        </p:nvSpPr>
        <p:spPr>
          <a:xfrm>
            <a:off x="762000" y="2870200"/>
            <a:ext cx="8255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Modernising regulatory licensing workflows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762000" y="4470400"/>
            <a:ext cx="825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product for the Food Establishment Licence: submit, review, feedback, resubmit and decide, with an advisory document check.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62000" y="60960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Full Stack Developer Assessment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Xtremax, Singapore · September 2026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609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v0.3.0 · permitflow.space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Licence applications go round in a slow, lossy loop, and each turn costs both sides time and trust.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91343" y="2489200"/>
            <a:ext cx="9209314" cy="736600"/>
          </a:xfrm>
          <a:prstGeom prst="roundRect">
            <a:avLst>
              <a:gd name="adj" fmla="val 24138"/>
            </a:avLst>
          </a:prstGeom>
          <a:solidFill>
            <a:srgbClr val="F4F5F7"/>
          </a:solidFill>
          <a:ln w="28575">
            <a:solidFill>
              <a:srgbClr val="AEB6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4151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13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2197100"/>
            <a:ext cx="10668000" cy="5842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2000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296886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296886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831771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831771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366657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366657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901543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01543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Resubmission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436429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36429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 again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971314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71314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again</a:t>
            </a:r>
            <a:endParaRPr lang="en-US" sz="1350" dirty="0"/>
          </a:p>
        </p:txBody>
      </p:sp>
      <p:sp>
        <p:nvSpPr>
          <p:cNvPr id="22" name="b1"/>
          <p:cNvSpPr txBox="1"/>
          <p:nvPr/>
        </p:nvSpPr>
        <p:spPr>
          <a:xfrm>
            <a:off x="762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200" dirty="0"/>
          </a:p>
        </p:txBody>
      </p:sp>
      <p:sp>
        <p:nvSpPr>
          <p:cNvPr id="23" name="b1"/>
          <p:cNvSpPr txBox="1"/>
          <p:nvPr/>
        </p:nvSpPr>
        <p:spPr>
          <a:xfrm>
            <a:off x="1143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Incomplete or incorrect submissions cause repeated rejection cycles.</a:t>
            </a:r>
            <a:endParaRPr lang="en-US" sz="1500" dirty="0"/>
          </a:p>
        </p:txBody>
      </p:sp>
      <p:sp>
        <p:nvSpPr>
          <p:cNvPr id="24" name="b1"/>
          <p:cNvSpPr txBox="1"/>
          <p:nvPr/>
        </p:nvSpPr>
        <p:spPr>
          <a:xfrm>
            <a:off x="6096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200" dirty="0"/>
          </a:p>
        </p:txBody>
      </p:sp>
      <p:sp>
        <p:nvSpPr>
          <p:cNvPr id="25" name="b1"/>
          <p:cNvSpPr txBox="1"/>
          <p:nvPr/>
        </p:nvSpPr>
        <p:spPr>
          <a:xfrm>
            <a:off x="6477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is not tied to a section or a document, so the business does not know what to fix.</a:t>
            </a:r>
            <a:endParaRPr lang="en-US" sz="1500" dirty="0"/>
          </a:p>
        </p:txBody>
      </p:sp>
      <p:sp>
        <p:nvSpPr>
          <p:cNvPr id="26" name="b1"/>
          <p:cNvSpPr txBox="1"/>
          <p:nvPr/>
        </p:nvSpPr>
        <p:spPr>
          <a:xfrm>
            <a:off x="762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1143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whole application is re-entered on resubmission and data is lost between rounds.</a:t>
            </a:r>
            <a:endParaRPr lang="en-US" sz="1500" dirty="0"/>
          </a:p>
        </p:txBody>
      </p:sp>
      <p:sp>
        <p:nvSpPr>
          <p:cNvPr id="28" name="b1"/>
          <p:cNvSpPr txBox="1"/>
          <p:nvPr/>
        </p:nvSpPr>
        <p:spPr>
          <a:xfrm>
            <a:off x="6096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b1"/>
          <p:cNvSpPr txBox="1"/>
          <p:nvPr/>
        </p:nvSpPr>
        <p:spPr>
          <a:xfrm>
            <a:off x="6477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officer cannot see what changed, or whether an earlier issue was actually resolved.</a:t>
            </a:r>
            <a:endParaRPr lang="en-US" sz="1500" dirty="0"/>
          </a:p>
        </p:txBody>
      </p:sp>
      <p:sp>
        <p:nvSpPr>
          <p:cNvPr id="30" name="b1"/>
          <p:cNvSpPr txBox="1"/>
          <p:nvPr/>
        </p:nvSpPr>
        <p:spPr>
          <a:xfrm>
            <a:off x="762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1143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same comments are rewritten for the same common problems.</a:t>
            </a:r>
            <a:endParaRPr lang="en-US" sz="1500" dirty="0"/>
          </a:p>
        </p:txBody>
      </p:sp>
      <p:sp>
        <p:nvSpPr>
          <p:cNvPr id="32" name="b1"/>
          <p:cNvSpPr txBox="1"/>
          <p:nvPr/>
        </p:nvSpPr>
        <p:spPr>
          <a:xfrm>
            <a:off x="6096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b1"/>
          <p:cNvSpPr txBox="1"/>
          <p:nvPr/>
        </p:nvSpPr>
        <p:spPr>
          <a:xfrm>
            <a:off x="6477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Applications get lost between stages and the record of what happened is incomplete.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62000" y="629920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Source: the assessment brief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PROBLEM · BEFORE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Before: a pile, a letter with no reason, the whole thing again, and an officer comparing by hand.</a:t>
            </a:r>
            <a:endParaRPr lang="en-US" sz="2000" dirty="0"/>
          </a:p>
        </p:txBody>
      </p:sp>
      <p:pic>
        <p:nvPicPr>
          <p:cNvPr id="4" name="Image 0" descr="/Users/suhaasnv/Documents/Desktop ALT/portfolioprojects/permitflow/notes/pitch/pitch-deck/pptx/build/comic-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1270000"/>
            <a:ext cx="9810750" cy="5334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continuous workflow: submit, review, feedback tied to a section or a document, then resubmit only what was flagged.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20193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90600" y="21717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0600" y="21717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90600" y="24511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87600" y="2159000"/>
            <a:ext cx="151892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87600" y="2159000"/>
            <a:ext cx="15189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New application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982720" y="21590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62120" y="2159000"/>
            <a:ext cx="284683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sections, validated as you go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87600" y="24511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87600" y="24511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 files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14496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93896" y="2451100"/>
            <a:ext cx="22920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check runs on each upload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22492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501892" y="2451100"/>
            <a:ext cx="178714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01892" y="2451100"/>
            <a:ext cx="17871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 application</a:t>
            </a:r>
            <a:endParaRPr lang="en-US" sz="1100" dirty="0"/>
          </a:p>
        </p:txBody>
      </p:sp>
      <p:sp>
        <p:nvSpPr>
          <p:cNvPr id="19" name="b1"/>
          <p:cNvSpPr/>
          <p:nvPr/>
        </p:nvSpPr>
        <p:spPr>
          <a:xfrm>
            <a:off x="762000" y="29337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0" name="b1"/>
          <p:cNvSpPr/>
          <p:nvPr/>
        </p:nvSpPr>
        <p:spPr>
          <a:xfrm>
            <a:off x="990600" y="3086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21" name="b1"/>
          <p:cNvSpPr txBox="1"/>
          <p:nvPr/>
        </p:nvSpPr>
        <p:spPr>
          <a:xfrm>
            <a:off x="990600" y="3086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2" name="b1"/>
          <p:cNvSpPr txBox="1"/>
          <p:nvPr/>
        </p:nvSpPr>
        <p:spPr>
          <a:xfrm>
            <a:off x="990600" y="3365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Reviews</a:t>
            </a:r>
            <a:endParaRPr lang="en-US" sz="1100" dirty="0"/>
          </a:p>
        </p:txBody>
      </p:sp>
      <p:sp>
        <p:nvSpPr>
          <p:cNvPr id="23" name="b1"/>
          <p:cNvSpPr/>
          <p:nvPr/>
        </p:nvSpPr>
        <p:spPr>
          <a:xfrm>
            <a:off x="2387600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4" name="b1"/>
          <p:cNvSpPr txBox="1"/>
          <p:nvPr/>
        </p:nvSpPr>
        <p:spPr>
          <a:xfrm>
            <a:off x="2387600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1100" dirty="0"/>
          </a:p>
        </p:txBody>
      </p:sp>
      <p:sp>
        <p:nvSpPr>
          <p:cNvPr id="25" name="b1"/>
          <p:cNvSpPr txBox="1"/>
          <p:nvPr/>
        </p:nvSpPr>
        <p:spPr>
          <a:xfrm>
            <a:off x="3714496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b1"/>
          <p:cNvSpPr txBox="1"/>
          <p:nvPr/>
        </p:nvSpPr>
        <p:spPr>
          <a:xfrm>
            <a:off x="3993896" y="30734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findings beside each document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6380988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6660388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1"/>
          <p:cNvSpPr txBox="1"/>
          <p:nvPr/>
        </p:nvSpPr>
        <p:spPr>
          <a:xfrm>
            <a:off x="6660388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1100" dirty="0"/>
          </a:p>
        </p:txBody>
      </p:sp>
      <p:sp>
        <p:nvSpPr>
          <p:cNvPr id="30" name="b1"/>
          <p:cNvSpPr txBox="1"/>
          <p:nvPr/>
        </p:nvSpPr>
        <p:spPr>
          <a:xfrm>
            <a:off x="2387600" y="3365500"/>
            <a:ext cx="60167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tied to a section or a document, from a template when it is a common issue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8340852" y="33655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8620252" y="33655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3" name="b1"/>
          <p:cNvSpPr txBox="1"/>
          <p:nvPr/>
        </p:nvSpPr>
        <p:spPr>
          <a:xfrm>
            <a:off x="8620252" y="33655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1100" dirty="0"/>
          </a:p>
        </p:txBody>
      </p:sp>
      <p:sp>
        <p:nvSpPr>
          <p:cNvPr id="34" name="b2"/>
          <p:cNvSpPr/>
          <p:nvPr/>
        </p:nvSpPr>
        <p:spPr>
          <a:xfrm>
            <a:off x="762000" y="38481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5" name="b2"/>
          <p:cNvSpPr/>
          <p:nvPr/>
        </p:nvSpPr>
        <p:spPr>
          <a:xfrm>
            <a:off x="990600" y="40005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36" name="b2"/>
          <p:cNvSpPr txBox="1"/>
          <p:nvPr/>
        </p:nvSpPr>
        <p:spPr>
          <a:xfrm>
            <a:off x="990600" y="40005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37" name="b2"/>
          <p:cNvSpPr txBox="1"/>
          <p:nvPr/>
        </p:nvSpPr>
        <p:spPr>
          <a:xfrm>
            <a:off x="990600" y="42799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Responds</a:t>
            </a:r>
            <a:endParaRPr lang="en-US" sz="1100" dirty="0"/>
          </a:p>
        </p:txBody>
      </p:sp>
      <p:sp>
        <p:nvSpPr>
          <p:cNvPr id="38" name="b2"/>
          <p:cNvSpPr/>
          <p:nvPr/>
        </p:nvSpPr>
        <p:spPr>
          <a:xfrm>
            <a:off x="2387600" y="3987800"/>
            <a:ext cx="1876552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2"/>
          <p:cNvSpPr txBox="1"/>
          <p:nvPr/>
        </p:nvSpPr>
        <p:spPr>
          <a:xfrm>
            <a:off x="2387600" y="3987800"/>
            <a:ext cx="18765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 to feedback</a:t>
            </a:r>
            <a:endParaRPr lang="en-US" sz="1100" dirty="0"/>
          </a:p>
        </p:txBody>
      </p:sp>
      <p:sp>
        <p:nvSpPr>
          <p:cNvPr id="40" name="b2"/>
          <p:cNvSpPr txBox="1"/>
          <p:nvPr/>
        </p:nvSpPr>
        <p:spPr>
          <a:xfrm>
            <a:off x="4340352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1" name="b2"/>
          <p:cNvSpPr txBox="1"/>
          <p:nvPr/>
        </p:nvSpPr>
        <p:spPr>
          <a:xfrm>
            <a:off x="4619752" y="39878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the flagged parts reopen</a:t>
            </a:r>
            <a:endParaRPr lang="en-US" sz="1200" dirty="0"/>
          </a:p>
        </p:txBody>
      </p:sp>
      <p:sp>
        <p:nvSpPr>
          <p:cNvPr id="42" name="b2"/>
          <p:cNvSpPr txBox="1"/>
          <p:nvPr/>
        </p:nvSpPr>
        <p:spPr>
          <a:xfrm>
            <a:off x="7006844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b2"/>
          <p:cNvSpPr/>
          <p:nvPr/>
        </p:nvSpPr>
        <p:spPr>
          <a:xfrm>
            <a:off x="7286244" y="3987800"/>
            <a:ext cx="1608328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4" name="b2"/>
          <p:cNvSpPr txBox="1"/>
          <p:nvPr/>
        </p:nvSpPr>
        <p:spPr>
          <a:xfrm>
            <a:off x="7286244" y="3987800"/>
            <a:ext cx="16083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1100" dirty="0"/>
          </a:p>
        </p:txBody>
      </p:sp>
      <p:sp>
        <p:nvSpPr>
          <p:cNvPr id="45" name="b2"/>
          <p:cNvSpPr/>
          <p:nvPr/>
        </p:nvSpPr>
        <p:spPr>
          <a:xfrm>
            <a:off x="2387600" y="4279900"/>
            <a:ext cx="89306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6" name="b2"/>
          <p:cNvSpPr txBox="1"/>
          <p:nvPr/>
        </p:nvSpPr>
        <p:spPr>
          <a:xfrm>
            <a:off x="2387600" y="4279900"/>
            <a:ext cx="893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100" dirty="0"/>
          </a:p>
        </p:txBody>
      </p:sp>
      <p:sp>
        <p:nvSpPr>
          <p:cNvPr id="47" name="b2"/>
          <p:cNvSpPr txBox="1"/>
          <p:nvPr/>
        </p:nvSpPr>
        <p:spPr>
          <a:xfrm>
            <a:off x="3356864" y="42799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 a new revision</a:t>
            </a:r>
            <a:endParaRPr lang="en-US" sz="1200" dirty="0"/>
          </a:p>
        </p:txBody>
      </p:sp>
      <p:sp>
        <p:nvSpPr>
          <p:cNvPr id="48" name="b3"/>
          <p:cNvSpPr/>
          <p:nvPr/>
        </p:nvSpPr>
        <p:spPr>
          <a:xfrm>
            <a:off x="762000" y="47625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9" name="b3"/>
          <p:cNvSpPr/>
          <p:nvPr/>
        </p:nvSpPr>
        <p:spPr>
          <a:xfrm>
            <a:off x="990600" y="49149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50" name="b3"/>
          <p:cNvSpPr txBox="1"/>
          <p:nvPr/>
        </p:nvSpPr>
        <p:spPr>
          <a:xfrm>
            <a:off x="990600" y="49149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51" name="b3"/>
          <p:cNvSpPr txBox="1"/>
          <p:nvPr/>
        </p:nvSpPr>
        <p:spPr>
          <a:xfrm>
            <a:off x="990600" y="51943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Continues</a:t>
            </a:r>
            <a:endParaRPr lang="en-US" sz="1100" dirty="0"/>
          </a:p>
        </p:txBody>
      </p:sp>
      <p:sp>
        <p:nvSpPr>
          <p:cNvPr id="52" name="b3"/>
          <p:cNvSpPr txBox="1"/>
          <p:nvPr/>
        </p:nvSpPr>
        <p:spPr>
          <a:xfrm>
            <a:off x="2387600" y="49022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00" dirty="0"/>
          </a:p>
        </p:txBody>
      </p:sp>
      <p:sp>
        <p:nvSpPr>
          <p:cNvPr id="53" name="b3"/>
          <p:cNvSpPr txBox="1"/>
          <p:nvPr/>
        </p:nvSpPr>
        <p:spPr>
          <a:xfrm>
            <a:off x="3823716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4" name="b3"/>
          <p:cNvSpPr/>
          <p:nvPr/>
        </p:nvSpPr>
        <p:spPr>
          <a:xfrm>
            <a:off x="4103116" y="4902200"/>
            <a:ext cx="1340104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5" name="b3"/>
          <p:cNvSpPr txBox="1"/>
          <p:nvPr/>
        </p:nvSpPr>
        <p:spPr>
          <a:xfrm>
            <a:off x="4103116" y="4902200"/>
            <a:ext cx="13401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1100" dirty="0"/>
          </a:p>
        </p:txBody>
      </p:sp>
      <p:sp>
        <p:nvSpPr>
          <p:cNvPr id="56" name="b3"/>
          <p:cNvSpPr txBox="1"/>
          <p:nvPr/>
        </p:nvSpPr>
        <p:spPr>
          <a:xfrm>
            <a:off x="55194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7" name="b3"/>
          <p:cNvSpPr/>
          <p:nvPr/>
        </p:nvSpPr>
        <p:spPr>
          <a:xfrm>
            <a:off x="5798820" y="4902200"/>
            <a:ext cx="241300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8" name="b3"/>
          <p:cNvSpPr txBox="1"/>
          <p:nvPr/>
        </p:nvSpPr>
        <p:spPr>
          <a:xfrm>
            <a:off x="5798820" y="4902200"/>
            <a:ext cx="2413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1100" dirty="0"/>
          </a:p>
        </p:txBody>
      </p:sp>
      <p:sp>
        <p:nvSpPr>
          <p:cNvPr id="59" name="b3"/>
          <p:cNvSpPr txBox="1"/>
          <p:nvPr/>
        </p:nvSpPr>
        <p:spPr>
          <a:xfrm>
            <a:off x="82880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0" name="b3"/>
          <p:cNvSpPr/>
          <p:nvPr/>
        </p:nvSpPr>
        <p:spPr>
          <a:xfrm>
            <a:off x="8567420" y="49022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1" name="b3"/>
          <p:cNvSpPr txBox="1"/>
          <p:nvPr/>
        </p:nvSpPr>
        <p:spPr>
          <a:xfrm>
            <a:off x="8567420" y="49022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done</a:t>
            </a:r>
            <a:endParaRPr lang="en-US" sz="1100" dirty="0"/>
          </a:p>
        </p:txBody>
      </p:sp>
      <p:sp>
        <p:nvSpPr>
          <p:cNvPr id="62" name="b3"/>
          <p:cNvSpPr/>
          <p:nvPr/>
        </p:nvSpPr>
        <p:spPr>
          <a:xfrm>
            <a:off x="2387600" y="5194300"/>
            <a:ext cx="169773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3" name="b3"/>
          <p:cNvSpPr txBox="1"/>
          <p:nvPr/>
        </p:nvSpPr>
        <p:spPr>
          <a:xfrm>
            <a:off x="2387600" y="5194300"/>
            <a:ext cx="16977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Route to approval</a:t>
            </a:r>
            <a:endParaRPr lang="en-US" sz="1100" dirty="0"/>
          </a:p>
        </p:txBody>
      </p:sp>
      <p:sp>
        <p:nvSpPr>
          <p:cNvPr id="64" name="b3"/>
          <p:cNvSpPr txBox="1"/>
          <p:nvPr/>
        </p:nvSpPr>
        <p:spPr>
          <a:xfrm>
            <a:off x="4161536" y="51943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5" name="b3"/>
          <p:cNvSpPr/>
          <p:nvPr/>
        </p:nvSpPr>
        <p:spPr>
          <a:xfrm>
            <a:off x="4440936" y="5194300"/>
            <a:ext cx="80365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66" name="b3"/>
          <p:cNvSpPr txBox="1"/>
          <p:nvPr/>
        </p:nvSpPr>
        <p:spPr>
          <a:xfrm>
            <a:off x="4440936" y="5194300"/>
            <a:ext cx="8036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Approve</a:t>
            </a:r>
            <a:endParaRPr lang="en-US" sz="1100" dirty="0"/>
          </a:p>
        </p:txBody>
      </p:sp>
      <p:sp>
        <p:nvSpPr>
          <p:cNvPr id="67" name="b3"/>
          <p:cNvSpPr txBox="1"/>
          <p:nvPr/>
        </p:nvSpPr>
        <p:spPr>
          <a:xfrm>
            <a:off x="5320792" y="5194300"/>
            <a:ext cx="2529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the licence certificate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dark or outlined chip is a control label in the product, spelled as it appears.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SOLUTION · AFTER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After: the same four moments with PermitFlow, and each one is shorter.</a:t>
            </a:r>
            <a:endParaRPr lang="en-US" sz="2000" dirty="0"/>
          </a:p>
        </p:txBody>
      </p:sp>
      <p:pic>
        <p:nvPicPr>
          <p:cNvPr id="4" name="Image 0" descr="/Users/suhaasnv/Documents/Desktop ALT/portfolioprojects/permitflow/notes/pitch/pitch-deck/pptx/build/comic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1270000"/>
            <a:ext cx="9810750" cy="5334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OPERATOR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operator's side: applications grouped by who needs to act, and a check result on every upload.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perator-dashboard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6408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Dashboard: applications grouped by who needs to act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perator-documents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1272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Documents: a check result on each upload, in plain language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OFFICER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officer's side: findings with evidence beside each document, and a compare view for every round.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fficer-case-findings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5595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Case: findings with evidence beside each document, feedback rail on the right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fficer-compare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0459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revisions: what changed, and each item's resolution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15</a:t>
            </a:r>
            <a:endParaRPr lang="en-US" sz="1000" dirty="0"/>
          </a:p>
        </p:txBody>
      </p:sp>
      <p:sp>
        <p:nvSpPr>
          <p:cNvPr id="15" name="b1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6" name="b1"/>
          <p:cNvSpPr/>
          <p:nvPr/>
        </p:nvSpPr>
        <p:spPr>
          <a:xfrm>
            <a:off x="755650" y="946150"/>
            <a:ext cx="10680700" cy="4159250"/>
          </a:xfrm>
          <a:prstGeom prst="roundRect">
            <a:avLst>
              <a:gd name="adj" fmla="val 916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7" name="b1" descr="/Users/suhaasnv/Documents/Desktop ALT/portfolioprojects/permitflow/notes/pitch/pitch-deck/pptx/build/officer-case-zoom-1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952500"/>
            <a:ext cx="10668000" cy="4146550"/>
          </a:xfrm>
          <a:prstGeom prst="rect">
            <a:avLst/>
          </a:prstGeom>
        </p:spPr>
      </p:pic>
      <p:sp>
        <p:nvSpPr>
          <p:cNvPr id="18" name="b1"/>
          <p:cNvSpPr/>
          <p:nvPr/>
        </p:nvSpPr>
        <p:spPr>
          <a:xfrm>
            <a:off x="762000" y="5842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762000" y="5842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0" name="b1"/>
          <p:cNvSpPr txBox="1"/>
          <p:nvPr/>
        </p:nvSpPr>
        <p:spPr>
          <a:xfrm>
            <a:off x="1572260" y="584200"/>
            <a:ext cx="952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Finding, evidence and confidence beside the document · two open feedback items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DOCUMENT VERIFICATION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AI assists. Humans decide.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25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 upload, before submission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check on every document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52500" y="2730500"/>
            <a:ext cx="2349500" cy="264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Extract the text; unreadable files are reported without a model call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the document with the form: name, UEN, address, dates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Flag issues with a closed issue code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Quote the evidence from the document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Self-reported confidence; below 0.6 becomes Needs your 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481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sees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8100" y="2451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8100" y="2451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848100" y="2755900"/>
            <a:ext cx="2349500" cy="26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Outcome: Verified, Issues found, Needs your review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issue with its code, severity and evidence quote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Confidence and model on the card; prompt version in the audit event and the trace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Re-run check</a:t>
            </a:r>
            <a:pPr algn="l" indent="0" marL="0">
              <a:lnSpc>
                <a:spcPct val="120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at any time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532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437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decides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7437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decision is a person's, and audited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743700" y="2895600"/>
            <a:ext cx="2349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findings never change a status or write feedback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Approve dialog warns about unresolved findings but never blocks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state machine has no AI actor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448800" y="1752600"/>
            <a:ext cx="1981200" cy="3746500"/>
          </a:xfrm>
          <a:prstGeom prst="roundRect">
            <a:avLst>
              <a:gd name="adj" fmla="val 1923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639300" y="1917700"/>
            <a:ext cx="1600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Deterministic by design, not AI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2451100"/>
            <a:ext cx="1600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touched by the model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639300" y="2895600"/>
            <a:ext cx="16002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templates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compare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 changes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prompt-injection rule, applied before the verdict is read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2000" y="56642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000" y="56642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602740" y="5664200"/>
            <a:ext cx="952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sees the outcome, a plain explanation and each issue in plain words.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the evidence quote, never the confidence.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62000" y="6299200"/>
            <a:ext cx="730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by design: the check informs the officer and never decides.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REAL WORKFLOW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79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Two planted problems, one feedback round,</a:t>
            </a:r>
            <a:endParaRPr lang="en-US" sz="2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and the record shows exactly what changed.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Kopi &amp; Kaya Toast House Pte. Ltd.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064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UEN 202355555E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135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 Jalan Besar #01-12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890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PF-2026-001009</a:t>
            </a:r>
            <a:endParaRPr lang="en-US" sz="1250" dirty="0"/>
          </a:p>
        </p:txBody>
      </p:sp>
      <p:sp>
        <p:nvSpPr>
          <p:cNvPr id="8" name="b1"/>
          <p:cNvSpPr/>
          <p:nvPr/>
        </p:nvSpPr>
        <p:spPr>
          <a:xfrm>
            <a:off x="831850" y="2095500"/>
            <a:ext cx="8534400" cy="0"/>
          </a:xfrm>
          <a:prstGeom prst="line">
            <a:avLst/>
          </a:prstGeom>
          <a:noFill/>
          <a:ln w="38100">
            <a:solidFill>
              <a:srgbClr val="AEB6C2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7620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b1"/>
          <p:cNvSpPr txBox="1"/>
          <p:nvPr/>
        </p:nvSpPr>
        <p:spPr>
          <a:xfrm>
            <a:off x="7620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1 submitted</a:t>
            </a:r>
            <a:endParaRPr lang="en-US" sz="1200" dirty="0"/>
          </a:p>
        </p:txBody>
      </p:sp>
      <p:sp>
        <p:nvSpPr>
          <p:cNvPr id="11" name="b1"/>
          <p:cNvSpPr/>
          <p:nvPr/>
        </p:nvSpPr>
        <p:spPr>
          <a:xfrm>
            <a:off x="7620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b1"/>
          <p:cNvSpPr txBox="1"/>
          <p:nvPr/>
        </p:nvSpPr>
        <p:spPr>
          <a:xfrm>
            <a:off x="7620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13" name="b1"/>
          <p:cNvSpPr/>
          <p:nvPr/>
        </p:nvSpPr>
        <p:spPr>
          <a:xfrm>
            <a:off x="28956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28956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Checks return two findings</a:t>
            </a:r>
            <a:endParaRPr lang="en-US" sz="1200" dirty="0"/>
          </a:p>
        </p:txBody>
      </p:sp>
      <p:sp>
        <p:nvSpPr>
          <p:cNvPr id="15" name="b1"/>
          <p:cNvSpPr txBox="1"/>
          <p:nvPr/>
        </p:nvSpPr>
        <p:spPr>
          <a:xfrm>
            <a:off x="2895600" y="2755900"/>
            <a:ext cx="195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Expired certificate · tenancy for unit #01-21</a:t>
            </a:r>
            <a:endParaRPr lang="en-US" sz="1050" dirty="0"/>
          </a:p>
        </p:txBody>
      </p:sp>
      <p:sp>
        <p:nvSpPr>
          <p:cNvPr id="16" name="b2"/>
          <p:cNvSpPr/>
          <p:nvPr/>
        </p:nvSpPr>
        <p:spPr>
          <a:xfrm>
            <a:off x="50292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7" name="b2"/>
          <p:cNvSpPr txBox="1"/>
          <p:nvPr/>
        </p:nvSpPr>
        <p:spPr>
          <a:xfrm>
            <a:off x="50292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on both documents</a:t>
            </a:r>
            <a:endParaRPr lang="en-US" sz="1200" dirty="0"/>
          </a:p>
        </p:txBody>
      </p:sp>
      <p:sp>
        <p:nvSpPr>
          <p:cNvPr id="18" name="b2"/>
          <p:cNvSpPr/>
          <p:nvPr/>
        </p:nvSpPr>
        <p:spPr>
          <a:xfrm>
            <a:off x="50292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2"/>
          <p:cNvSpPr txBox="1"/>
          <p:nvPr/>
        </p:nvSpPr>
        <p:spPr>
          <a:xfrm>
            <a:off x="50292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20" name="b2"/>
          <p:cNvSpPr/>
          <p:nvPr/>
        </p:nvSpPr>
        <p:spPr>
          <a:xfrm>
            <a:off x="57856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1" name="b2"/>
          <p:cNvSpPr txBox="1"/>
          <p:nvPr/>
        </p:nvSpPr>
        <p:spPr>
          <a:xfrm>
            <a:off x="57856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950" dirty="0"/>
          </a:p>
        </p:txBody>
      </p:sp>
      <p:sp>
        <p:nvSpPr>
          <p:cNvPr id="22" name="b2"/>
          <p:cNvSpPr/>
          <p:nvPr/>
        </p:nvSpPr>
        <p:spPr>
          <a:xfrm>
            <a:off x="5029200" y="2997200"/>
            <a:ext cx="1722120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3" name="b2"/>
          <p:cNvSpPr txBox="1"/>
          <p:nvPr/>
        </p:nvSpPr>
        <p:spPr>
          <a:xfrm>
            <a:off x="5029200" y="2997200"/>
            <a:ext cx="1722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950" dirty="0"/>
          </a:p>
        </p:txBody>
      </p:sp>
      <p:sp>
        <p:nvSpPr>
          <p:cNvPr id="24" name="b3"/>
          <p:cNvSpPr/>
          <p:nvPr/>
        </p:nvSpPr>
        <p:spPr>
          <a:xfrm>
            <a:off x="71628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5" name="b3"/>
          <p:cNvSpPr txBox="1"/>
          <p:nvPr/>
        </p:nvSpPr>
        <p:spPr>
          <a:xfrm>
            <a:off x="71628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two slots reopen</a:t>
            </a:r>
            <a:endParaRPr lang="en-US" sz="1200" dirty="0"/>
          </a:p>
        </p:txBody>
      </p:sp>
      <p:sp>
        <p:nvSpPr>
          <p:cNvPr id="26" name="b3"/>
          <p:cNvSpPr/>
          <p:nvPr/>
        </p:nvSpPr>
        <p:spPr>
          <a:xfrm>
            <a:off x="71628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7" name="b3"/>
          <p:cNvSpPr txBox="1"/>
          <p:nvPr/>
        </p:nvSpPr>
        <p:spPr>
          <a:xfrm>
            <a:off x="71628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28" name="b3"/>
          <p:cNvSpPr/>
          <p:nvPr/>
        </p:nvSpPr>
        <p:spPr>
          <a:xfrm>
            <a:off x="7162800" y="2997200"/>
            <a:ext cx="1413256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3"/>
          <p:cNvSpPr txBox="1"/>
          <p:nvPr/>
        </p:nvSpPr>
        <p:spPr>
          <a:xfrm>
            <a:off x="7162800" y="2997200"/>
            <a:ext cx="141325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950" dirty="0"/>
          </a:p>
        </p:txBody>
      </p:sp>
      <p:sp>
        <p:nvSpPr>
          <p:cNvPr id="30" name="b3"/>
          <p:cNvSpPr/>
          <p:nvPr/>
        </p:nvSpPr>
        <p:spPr>
          <a:xfrm>
            <a:off x="7162800" y="3238500"/>
            <a:ext cx="795528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1" name="b3"/>
          <p:cNvSpPr txBox="1"/>
          <p:nvPr/>
        </p:nvSpPr>
        <p:spPr>
          <a:xfrm>
            <a:off x="7162800" y="3238500"/>
            <a:ext cx="7955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950" dirty="0"/>
          </a:p>
        </p:txBody>
      </p:sp>
      <p:sp>
        <p:nvSpPr>
          <p:cNvPr id="32" name="b5"/>
          <p:cNvSpPr/>
          <p:nvPr/>
        </p:nvSpPr>
        <p:spPr>
          <a:xfrm>
            <a:off x="92964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33" name="b5"/>
          <p:cNvSpPr txBox="1"/>
          <p:nvPr/>
        </p:nvSpPr>
        <p:spPr>
          <a:xfrm>
            <a:off x="92964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Resolved, on to the site visit</a:t>
            </a:r>
            <a:endParaRPr lang="en-US" sz="1200" dirty="0"/>
          </a:p>
        </p:txBody>
      </p:sp>
      <p:sp>
        <p:nvSpPr>
          <p:cNvPr id="34" name="b5"/>
          <p:cNvSpPr/>
          <p:nvPr/>
        </p:nvSpPr>
        <p:spPr>
          <a:xfrm>
            <a:off x="92964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35" name="b5"/>
          <p:cNvSpPr txBox="1"/>
          <p:nvPr/>
        </p:nvSpPr>
        <p:spPr>
          <a:xfrm>
            <a:off x="92964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36" name="b5"/>
          <p:cNvSpPr/>
          <p:nvPr/>
        </p:nvSpPr>
        <p:spPr>
          <a:xfrm>
            <a:off x="100528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7" name="b5"/>
          <p:cNvSpPr txBox="1"/>
          <p:nvPr/>
        </p:nvSpPr>
        <p:spPr>
          <a:xfrm>
            <a:off x="100528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950" dirty="0"/>
          </a:p>
        </p:txBody>
      </p:sp>
      <p:sp>
        <p:nvSpPr>
          <p:cNvPr id="38" name="b5"/>
          <p:cNvSpPr/>
          <p:nvPr/>
        </p:nvSpPr>
        <p:spPr>
          <a:xfrm>
            <a:off x="9296400" y="2997200"/>
            <a:ext cx="1181608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5"/>
          <p:cNvSpPr txBox="1"/>
          <p:nvPr/>
        </p:nvSpPr>
        <p:spPr>
          <a:xfrm>
            <a:off x="9296400" y="2997200"/>
            <a:ext cx="1181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950" dirty="0"/>
          </a:p>
        </p:txBody>
      </p:sp>
      <p:sp>
        <p:nvSpPr>
          <p:cNvPr id="40" name="b5"/>
          <p:cNvSpPr/>
          <p:nvPr/>
        </p:nvSpPr>
        <p:spPr>
          <a:xfrm>
            <a:off x="9296400" y="3238500"/>
            <a:ext cx="2108200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1" name="b5"/>
          <p:cNvSpPr txBox="1"/>
          <p:nvPr/>
        </p:nvSpPr>
        <p:spPr>
          <a:xfrm>
            <a:off x="9296400" y="3238500"/>
            <a:ext cx="2108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950" dirty="0"/>
          </a:p>
        </p:txBody>
      </p:sp>
      <p:sp>
        <p:nvSpPr>
          <p:cNvPr id="42" name="b1"/>
          <p:cNvSpPr/>
          <p:nvPr/>
        </p:nvSpPr>
        <p:spPr>
          <a:xfrm>
            <a:off x="762000" y="3644900"/>
            <a:ext cx="57467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3" name="b1"/>
          <p:cNvSpPr txBox="1"/>
          <p:nvPr/>
        </p:nvSpPr>
        <p:spPr>
          <a:xfrm>
            <a:off x="952500" y="3784600"/>
            <a:ext cx="53657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 AND CHECK RESULTS</a:t>
            </a:r>
            <a:endParaRPr lang="en-US" sz="950" dirty="0"/>
          </a:p>
        </p:txBody>
      </p:sp>
      <p:sp>
        <p:nvSpPr>
          <p:cNvPr id="44" name="b1"/>
          <p:cNvSpPr txBox="1"/>
          <p:nvPr/>
        </p:nvSpPr>
        <p:spPr>
          <a:xfrm>
            <a:off x="952500" y="40259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 profile (ACRA)</a:t>
            </a:r>
            <a:endParaRPr lang="en-US" sz="1250" dirty="0"/>
          </a:p>
        </p:txBody>
      </p:sp>
      <p:sp>
        <p:nvSpPr>
          <p:cNvPr id="45" name="b1"/>
          <p:cNvSpPr txBox="1"/>
          <p:nvPr/>
        </p:nvSpPr>
        <p:spPr>
          <a:xfrm>
            <a:off x="952500" y="42291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business_profile.pdf</a:t>
            </a:r>
            <a:endParaRPr lang="en-US" sz="1000" dirty="0"/>
          </a:p>
        </p:txBody>
      </p:sp>
      <p:sp>
        <p:nvSpPr>
          <p:cNvPr id="46" name="b1"/>
          <p:cNvSpPr/>
          <p:nvPr/>
        </p:nvSpPr>
        <p:spPr>
          <a:xfrm>
            <a:off x="5369560" y="40640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47" name="b1"/>
          <p:cNvSpPr/>
          <p:nvPr/>
        </p:nvSpPr>
        <p:spPr>
          <a:xfrm>
            <a:off x="5458460" y="41497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48" name="b1"/>
          <p:cNvSpPr txBox="1"/>
          <p:nvPr/>
        </p:nvSpPr>
        <p:spPr>
          <a:xfrm>
            <a:off x="5579110" y="40640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49" name="b1"/>
          <p:cNvSpPr/>
          <p:nvPr/>
        </p:nvSpPr>
        <p:spPr>
          <a:xfrm>
            <a:off x="952500" y="45339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0" name="b1"/>
          <p:cNvSpPr txBox="1"/>
          <p:nvPr/>
        </p:nvSpPr>
        <p:spPr>
          <a:xfrm>
            <a:off x="952500" y="45720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 plan</a:t>
            </a:r>
            <a:endParaRPr lang="en-US" sz="1250" dirty="0"/>
          </a:p>
        </p:txBody>
      </p:sp>
      <p:sp>
        <p:nvSpPr>
          <p:cNvPr id="51" name="b1"/>
          <p:cNvSpPr txBox="1"/>
          <p:nvPr/>
        </p:nvSpPr>
        <p:spPr>
          <a:xfrm>
            <a:off x="952500" y="47752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floor_plan.pdf</a:t>
            </a:r>
            <a:endParaRPr lang="en-US" sz="1000" dirty="0"/>
          </a:p>
        </p:txBody>
      </p:sp>
      <p:sp>
        <p:nvSpPr>
          <p:cNvPr id="52" name="b1"/>
          <p:cNvSpPr/>
          <p:nvPr/>
        </p:nvSpPr>
        <p:spPr>
          <a:xfrm>
            <a:off x="5369560" y="46101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53" name="b1"/>
          <p:cNvSpPr/>
          <p:nvPr/>
        </p:nvSpPr>
        <p:spPr>
          <a:xfrm>
            <a:off x="5458460" y="46958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54" name="b1"/>
          <p:cNvSpPr txBox="1"/>
          <p:nvPr/>
        </p:nvSpPr>
        <p:spPr>
          <a:xfrm>
            <a:off x="5579110" y="46101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55" name="b1"/>
          <p:cNvSpPr/>
          <p:nvPr/>
        </p:nvSpPr>
        <p:spPr>
          <a:xfrm>
            <a:off x="952500" y="50800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6" name="b1"/>
          <p:cNvSpPr txBox="1"/>
          <p:nvPr/>
        </p:nvSpPr>
        <p:spPr>
          <a:xfrm>
            <a:off x="952500" y="5118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57" name="b1 x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field_mismatch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"10 Jalan Besar #01-21" against the form's #01-12</a:t>
            </a:r>
            <a:endParaRPr lang="en-US" sz="1000" dirty="0"/>
          </a:p>
        </p:txBody>
      </p:sp>
      <p:sp>
        <p:nvSpPr>
          <p:cNvPr id="58" name="b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tenancy_agreement.pdf</a:t>
            </a:r>
            <a:endParaRPr lang="en-US" sz="1000" dirty="0"/>
          </a:p>
        </p:txBody>
      </p:sp>
      <p:sp>
        <p:nvSpPr>
          <p:cNvPr id="59" name="b1 x4"/>
          <p:cNvSpPr/>
          <p:nvPr/>
        </p:nvSpPr>
        <p:spPr>
          <a:xfrm>
            <a:off x="5044440" y="51562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60" name="b1 x4"/>
          <p:cNvSpPr/>
          <p:nvPr/>
        </p:nvSpPr>
        <p:spPr>
          <a:xfrm>
            <a:off x="5133340" y="52419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61" name="b1 x4"/>
          <p:cNvSpPr txBox="1"/>
          <p:nvPr/>
        </p:nvSpPr>
        <p:spPr>
          <a:xfrm>
            <a:off x="5253990" y="51562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62" name="b4"/>
          <p:cNvSpPr/>
          <p:nvPr/>
        </p:nvSpPr>
        <p:spPr>
          <a:xfrm>
            <a:off x="5369560" y="51562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63" name="b4"/>
          <p:cNvSpPr/>
          <p:nvPr/>
        </p:nvSpPr>
        <p:spPr>
          <a:xfrm>
            <a:off x="5458460" y="52419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64" name="b4"/>
          <p:cNvSpPr txBox="1"/>
          <p:nvPr/>
        </p:nvSpPr>
        <p:spPr>
          <a:xfrm>
            <a:off x="5579110" y="51562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65" name="b1"/>
          <p:cNvSpPr/>
          <p:nvPr/>
        </p:nvSpPr>
        <p:spPr>
          <a:xfrm>
            <a:off x="952500" y="56261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66" name="b1"/>
          <p:cNvSpPr txBox="1"/>
          <p:nvPr/>
        </p:nvSpPr>
        <p:spPr>
          <a:xfrm>
            <a:off x="952500" y="56642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67" name="b1 x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expired_document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valid until 3 January 2025</a:t>
            </a:r>
            <a:endParaRPr lang="en-US" sz="1000" dirty="0"/>
          </a:p>
        </p:txBody>
      </p:sp>
      <p:sp>
        <p:nvSpPr>
          <p:cNvPr id="68" name="b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food_hygiene_certificate.pdf</a:t>
            </a:r>
            <a:endParaRPr lang="en-US" sz="1000" dirty="0"/>
          </a:p>
        </p:txBody>
      </p:sp>
      <p:sp>
        <p:nvSpPr>
          <p:cNvPr id="69" name="b1 x4"/>
          <p:cNvSpPr/>
          <p:nvPr/>
        </p:nvSpPr>
        <p:spPr>
          <a:xfrm>
            <a:off x="5044440" y="57023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70" name="b1 x4"/>
          <p:cNvSpPr/>
          <p:nvPr/>
        </p:nvSpPr>
        <p:spPr>
          <a:xfrm>
            <a:off x="5133340" y="5788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71" name="b1 x4"/>
          <p:cNvSpPr txBox="1"/>
          <p:nvPr/>
        </p:nvSpPr>
        <p:spPr>
          <a:xfrm>
            <a:off x="5253990" y="57023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72" name="b4"/>
          <p:cNvSpPr/>
          <p:nvPr/>
        </p:nvSpPr>
        <p:spPr>
          <a:xfrm>
            <a:off x="5369560" y="5702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73" name="b4"/>
          <p:cNvSpPr/>
          <p:nvPr/>
        </p:nvSpPr>
        <p:spPr>
          <a:xfrm>
            <a:off x="5458460" y="5788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74" name="b4"/>
          <p:cNvSpPr txBox="1"/>
          <p:nvPr/>
        </p:nvSpPr>
        <p:spPr>
          <a:xfrm>
            <a:off x="5579110" y="5702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5" name="b2"/>
          <p:cNvSpPr/>
          <p:nvPr/>
        </p:nvSpPr>
        <p:spPr>
          <a:xfrm>
            <a:off x="6686550" y="3644900"/>
            <a:ext cx="47434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76" name="b2"/>
          <p:cNvSpPr txBox="1"/>
          <p:nvPr/>
        </p:nvSpPr>
        <p:spPr>
          <a:xfrm>
            <a:off x="6877050" y="3784600"/>
            <a:ext cx="4362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RAISED AGAINST REVISION 1</a:t>
            </a:r>
            <a:endParaRPr lang="en-US" sz="950" dirty="0"/>
          </a:p>
        </p:txBody>
      </p:sp>
      <p:sp>
        <p:nvSpPr>
          <p:cNvPr id="77" name="b2"/>
          <p:cNvSpPr txBox="1"/>
          <p:nvPr/>
        </p:nvSpPr>
        <p:spPr>
          <a:xfrm>
            <a:off x="6877050" y="40259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78" name="b2"/>
          <p:cNvSpPr txBox="1"/>
          <p:nvPr/>
        </p:nvSpPr>
        <p:spPr>
          <a:xfrm>
            <a:off x="6877050" y="4216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Template: Food hygiene certificate has expired</a:t>
            </a:r>
            <a:endParaRPr lang="en-US" sz="950" dirty="0"/>
          </a:p>
        </p:txBody>
      </p:sp>
      <p:sp>
        <p:nvSpPr>
          <p:cNvPr id="79" name="b2 x4"/>
          <p:cNvSpPr/>
          <p:nvPr/>
        </p:nvSpPr>
        <p:spPr>
          <a:xfrm>
            <a:off x="10615930" y="40513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80" name="b2 x4"/>
          <p:cNvSpPr/>
          <p:nvPr/>
        </p:nvSpPr>
        <p:spPr>
          <a:xfrm>
            <a:off x="10704830" y="4137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81" name="b2 x4"/>
          <p:cNvSpPr txBox="1"/>
          <p:nvPr/>
        </p:nvSpPr>
        <p:spPr>
          <a:xfrm>
            <a:off x="10825480" y="40513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82" name="b4 x5"/>
          <p:cNvSpPr/>
          <p:nvPr/>
        </p:nvSpPr>
        <p:spPr>
          <a:xfrm>
            <a:off x="9071610" y="40513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83" name="b4 x5"/>
          <p:cNvSpPr/>
          <p:nvPr/>
        </p:nvSpPr>
        <p:spPr>
          <a:xfrm>
            <a:off x="9160510" y="41370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84" name="b4 x5"/>
          <p:cNvSpPr txBox="1"/>
          <p:nvPr/>
        </p:nvSpPr>
        <p:spPr>
          <a:xfrm>
            <a:off x="9281160" y="40513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85" name="b5"/>
          <p:cNvSpPr/>
          <p:nvPr/>
        </p:nvSpPr>
        <p:spPr>
          <a:xfrm>
            <a:off x="10290810" y="4051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86" name="b5"/>
          <p:cNvSpPr/>
          <p:nvPr/>
        </p:nvSpPr>
        <p:spPr>
          <a:xfrm>
            <a:off x="10379710" y="4137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87" name="b5"/>
          <p:cNvSpPr txBox="1"/>
          <p:nvPr/>
        </p:nvSpPr>
        <p:spPr>
          <a:xfrm>
            <a:off x="10500360" y="4051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88" name="b2"/>
          <p:cNvSpPr/>
          <p:nvPr/>
        </p:nvSpPr>
        <p:spPr>
          <a:xfrm>
            <a:off x="6877050" y="45339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9" name="b2"/>
          <p:cNvSpPr txBox="1"/>
          <p:nvPr/>
        </p:nvSpPr>
        <p:spPr>
          <a:xfrm>
            <a:off x="6877050" y="45720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90" name="b2"/>
          <p:cNvSpPr txBox="1"/>
          <p:nvPr/>
        </p:nvSpPr>
        <p:spPr>
          <a:xfrm>
            <a:off x="6877050" y="47625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tenancy agreement names unit #01-21, but the application and the business profile give #01-12</a:t>
            </a:r>
            <a:endParaRPr lang="en-US" sz="950" dirty="0"/>
          </a:p>
        </p:txBody>
      </p:sp>
      <p:sp>
        <p:nvSpPr>
          <p:cNvPr id="91" name="b2 x4"/>
          <p:cNvSpPr/>
          <p:nvPr/>
        </p:nvSpPr>
        <p:spPr>
          <a:xfrm>
            <a:off x="10615930" y="45974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92" name="b2 x4"/>
          <p:cNvSpPr/>
          <p:nvPr/>
        </p:nvSpPr>
        <p:spPr>
          <a:xfrm>
            <a:off x="10704830" y="46831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93" name="b2 x4"/>
          <p:cNvSpPr txBox="1"/>
          <p:nvPr/>
        </p:nvSpPr>
        <p:spPr>
          <a:xfrm>
            <a:off x="10825480" y="45974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94" name="b4 x5"/>
          <p:cNvSpPr/>
          <p:nvPr/>
        </p:nvSpPr>
        <p:spPr>
          <a:xfrm>
            <a:off x="9071610" y="45974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95" name="b4 x5"/>
          <p:cNvSpPr/>
          <p:nvPr/>
        </p:nvSpPr>
        <p:spPr>
          <a:xfrm>
            <a:off x="9160510" y="46831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96" name="b4 x5"/>
          <p:cNvSpPr txBox="1"/>
          <p:nvPr/>
        </p:nvSpPr>
        <p:spPr>
          <a:xfrm>
            <a:off x="9281160" y="45974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97" name="b5"/>
          <p:cNvSpPr/>
          <p:nvPr/>
        </p:nvSpPr>
        <p:spPr>
          <a:xfrm>
            <a:off x="10290810" y="45974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98" name="b5"/>
          <p:cNvSpPr/>
          <p:nvPr/>
        </p:nvSpPr>
        <p:spPr>
          <a:xfrm>
            <a:off x="10379710" y="46831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99" name="b5"/>
          <p:cNvSpPr txBox="1"/>
          <p:nvPr/>
        </p:nvSpPr>
        <p:spPr>
          <a:xfrm>
            <a:off x="10500360" y="45974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0" name="b4"/>
          <p:cNvSpPr/>
          <p:nvPr/>
        </p:nvSpPr>
        <p:spPr>
          <a:xfrm>
            <a:off x="6877050" y="50800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1" name="b4"/>
          <p:cNvSpPr txBox="1"/>
          <p:nvPr/>
        </p:nvSpPr>
        <p:spPr>
          <a:xfrm>
            <a:off x="6877050" y="51181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50" dirty="0"/>
          </a:p>
        </p:txBody>
      </p:sp>
      <p:sp>
        <p:nvSpPr>
          <p:cNvPr id="102" name="b4"/>
          <p:cNvSpPr txBox="1"/>
          <p:nvPr/>
        </p:nvSpPr>
        <p:spPr>
          <a:xfrm>
            <a:off x="6877050" y="53086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From Revision 1 to Revision 2</a:t>
            </a:r>
            <a:endParaRPr lang="en-US" sz="950" dirty="0"/>
          </a:p>
        </p:txBody>
      </p:sp>
      <p:sp>
        <p:nvSpPr>
          <p:cNvPr id="103" name="b4"/>
          <p:cNvSpPr txBox="1"/>
          <p:nvPr/>
        </p:nvSpPr>
        <p:spPr>
          <a:xfrm>
            <a:off x="8782050" y="5118100"/>
            <a:ext cx="2457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 sections and 2 documents changed</a:t>
            </a:r>
            <a:endParaRPr lang="en-US" sz="1100" dirty="0"/>
          </a:p>
        </p:txBody>
      </p:sp>
      <p:sp>
        <p:nvSpPr>
          <p:cNvPr id="104" name="b2"/>
          <p:cNvSpPr/>
          <p:nvPr/>
        </p:nvSpPr>
        <p:spPr>
          <a:xfrm>
            <a:off x="6877050" y="56261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5" name="b2"/>
          <p:cNvSpPr txBox="1"/>
          <p:nvPr/>
        </p:nvSpPr>
        <p:spPr>
          <a:xfrm>
            <a:off x="6877050" y="56642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</a:t>
            </a:r>
            <a:endParaRPr lang="en-US" sz="1250" dirty="0"/>
          </a:p>
        </p:txBody>
      </p:sp>
      <p:sp>
        <p:nvSpPr>
          <p:cNvPr id="106" name="b2 x4"/>
          <p:cNvSpPr/>
          <p:nvPr/>
        </p:nvSpPr>
        <p:spPr>
          <a:xfrm>
            <a:off x="8583930" y="5689600"/>
            <a:ext cx="2655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107" name="b2 x4"/>
          <p:cNvSpPr/>
          <p:nvPr/>
        </p:nvSpPr>
        <p:spPr>
          <a:xfrm>
            <a:off x="8672830" y="57753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108" name="b2 x4"/>
          <p:cNvSpPr txBox="1"/>
          <p:nvPr/>
        </p:nvSpPr>
        <p:spPr>
          <a:xfrm>
            <a:off x="8793480" y="5689600"/>
            <a:ext cx="244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Pending Pre-Site Resubmission</a:t>
            </a:r>
            <a:endParaRPr lang="en-US" sz="1000" dirty="0"/>
          </a:p>
        </p:txBody>
      </p:sp>
      <p:sp>
        <p:nvSpPr>
          <p:cNvPr id="109" name="b4 x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0" name="b4 x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1" name="b4 x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Pre-Site Resubmitted</a:t>
            </a:r>
            <a:endParaRPr lang="en-US" sz="1000" dirty="0"/>
          </a:p>
        </p:txBody>
      </p:sp>
      <p:sp>
        <p:nvSpPr>
          <p:cNvPr id="112" name="b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3" name="b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4" name="b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Site Visit Scheduled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762000" y="629920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 labels shown. Recorded on the development environment, 19 September 2026.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2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2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2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2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2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2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2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2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2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4" fill="hold">
                      <p:stCondLst>
                        <p:cond delay="indefinite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4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8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32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32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32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32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32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32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32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32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" fill="hold">
                      <p:stCondLst>
                        <p:cond delay="indefinite"/>
                      </p:stCondLst>
                      <p:childTnLst>
                        <p:par>
                          <p:cTn id="411" fill="hold">
                            <p:stCondLst>
                              <p:cond delay="0"/>
                            </p:stCondLst>
                            <p:childTnLst>
                              <p:par>
                                <p:cTn id="3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32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8" dur="32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32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32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32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0" dur="32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32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32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32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5" grpId="0" animBg="1"/>
      <p:bldP spid="66" grpId="0" animBg="1"/>
      <p:bldP spid="67" grpId="0" animBg="1"/>
      <p:bldP spid="69" grpId="0" animBg="1"/>
      <p:bldP spid="70" grpId="0" animBg="1"/>
      <p:bldP spid="71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57" grpId="1" animBg="1"/>
      <p:bldP spid="59" grpId="1" animBg="1"/>
      <p:bldP spid="60" grpId="1" animBg="1"/>
      <p:bldP spid="61" grpId="1" animBg="1"/>
      <p:bldP spid="67" grpId="1" animBg="1"/>
      <p:bldP spid="69" grpId="1" animBg="1"/>
      <p:bldP spid="70" grpId="1" animBg="1"/>
      <p:bldP spid="71" grpId="1" animBg="1"/>
      <p:bldP spid="79" grpId="1" animBg="1"/>
      <p:bldP spid="80" grpId="1" animBg="1"/>
      <p:bldP spid="81" grpId="1" animBg="1"/>
      <p:bldP spid="91" grpId="1" animBg="1"/>
      <p:bldP spid="92" grpId="1" animBg="1"/>
      <p:bldP spid="93" grpId="1" animBg="1"/>
      <p:bldP spid="106" grpId="1" animBg="1"/>
      <p:bldP spid="107" grpId="1" animBg="1"/>
      <p:bldP spid="108" grpId="1" animBg="1"/>
      <p:bldP spid="58" grpId="0" animBg="1"/>
      <p:bldP spid="62" grpId="0" animBg="1"/>
      <p:bldP spid="63" grpId="0" animBg="1"/>
      <p:bldP spid="64" grpId="0" animBg="1"/>
      <p:bldP spid="68" grpId="0" animBg="1"/>
      <p:bldP spid="72" grpId="0" animBg="1"/>
      <p:bldP spid="73" grpId="0" animBg="1"/>
      <p:bldP spid="74" grpId="0" animBg="1"/>
      <p:bldP spid="82" grpId="0" animBg="1"/>
      <p:bldP spid="83" grpId="0" animBg="1"/>
      <p:bldP spid="84" grpId="0" animBg="1"/>
      <p:bldP spid="94" grpId="0" animBg="1"/>
      <p:bldP spid="95" grpId="0" animBg="1"/>
      <p:bldP spid="96" grpId="0" animBg="1"/>
      <p:bldP spid="100" grpId="0" animBg="1"/>
      <p:bldP spid="101" grpId="0" animBg="1"/>
      <p:bldP spid="102" grpId="0" animBg="1"/>
      <p:bldP spid="103" grpId="0" animBg="1"/>
      <p:bldP spid="109" grpId="0" animBg="1"/>
      <p:bldP spid="110" grpId="0" animBg="1"/>
      <p:bldP spid="111" grpId="0" animBg="1"/>
      <p:bldP spid="82" grpId="1" animBg="1"/>
      <p:bldP spid="83" grpId="1" animBg="1"/>
      <p:bldP spid="84" grpId="1" animBg="1"/>
      <p:bldP spid="94" grpId="1" animBg="1"/>
      <p:bldP spid="95" grpId="1" animBg="1"/>
      <p:bldP spid="96" grpId="1" animBg="1"/>
      <p:bldP spid="109" grpId="1" animBg="1"/>
      <p:bldP spid="110" grpId="1" animBg="1"/>
      <p:bldP spid="111" grpId="1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85" grpId="0" animBg="1"/>
      <p:bldP spid="86" grpId="0" animBg="1"/>
      <p:bldP spid="87" grpId="0" animBg="1"/>
      <p:bldP spid="97" grpId="0" animBg="1"/>
      <p:bldP spid="98" grpId="0" animBg="1"/>
      <p:bldP spid="99" grpId="0" animBg="1"/>
      <p:bldP spid="112" grpId="0" animBg="1"/>
      <p:bldP spid="113" grpId="0" animBg="1"/>
      <p:bldP spid="1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MAKES IT DIFFERENT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Six principles, each enforced by code.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65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Continuous workflow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application, any number of rounds. Fourteen states with actors, guards and labels as a table; every status change goes through one function.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20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20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065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Immutable revisions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submission is a snapshot. The compare view is a read-time diff, computed and never stored, so nothing is lost between rounds by construction.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20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20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065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Contextual feedback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item is tied to a section or a document. "Only the flagged parts" is an authorization rule: the server answers 403, the UI walks the operator through exactly those targets.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3" name="b1"/>
          <p:cNvSpPr/>
          <p:nvPr/>
        </p:nvSpPr>
        <p:spPr>
          <a:xfrm>
            <a:off x="62738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62738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b1"/>
          <p:cNvSpPr txBox="1"/>
          <p:nvPr/>
        </p:nvSpPr>
        <p:spPr>
          <a:xfrm>
            <a:off x="67183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AI-assisted, never AI-decided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verifier writes only to verification_runs. The state machine has no AI actor. Injection is handled by a deterministic rule before the verdict is read.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6" name="b1"/>
          <p:cNvSpPr/>
          <p:nvPr/>
        </p:nvSpPr>
        <p:spPr>
          <a:xfrm>
            <a:off x="62738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 txBox="1"/>
          <p:nvPr/>
        </p:nvSpPr>
        <p:spPr>
          <a:xfrm>
            <a:off x="62738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b1"/>
          <p:cNvSpPr txBox="1"/>
          <p:nvPr/>
        </p:nvSpPr>
        <p:spPr>
          <a:xfrm>
            <a:off x="67183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Same-transaction audit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status change, its audit row, the operator's notification and, on approval, the licence certificate either all happen or none do.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9" name="b1"/>
          <p:cNvSpPr/>
          <p:nvPr/>
        </p:nvSpPr>
        <p:spPr>
          <a:xfrm>
            <a:off x="62738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0" name="b1"/>
          <p:cNvSpPr txBox="1"/>
          <p:nvPr/>
        </p:nvSpPr>
        <p:spPr>
          <a:xfrm>
            <a:off x="62738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1" name="b1"/>
          <p:cNvSpPr txBox="1"/>
          <p:nvPr/>
        </p:nvSpPr>
        <p:spPr>
          <a:xfrm>
            <a:off x="67183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Role-aware by construction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 is server-side on every route with an authorization test per endpoint. Operators receive their own labels and never an internal status code.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BUILT TO BE TAKEN TO PRODUCTION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modular monolith with an explicit state machine, an advisory AI module and an audit trail written in the same transaction.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6600" y="2146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BROWSER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736600" y="3035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API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36600" y="3924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DOMAIN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6600" y="4813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36600" y="5702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RUNS 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937000" y="2540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70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7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7000" y="5207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13500" y="3111500"/>
            <a:ext cx="635000" cy="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265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265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88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0500" y="1905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600200" y="1993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React 19 UI · TypeScript strict · Vite · TanStack Query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2171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and officer workspaces, role-specific labels; a check's status is polled while it runs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48500" y="1905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88200" y="1993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· Officer · Admin (reserved)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188200" y="2171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Three roles; every authorization decision is made on the server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460500" y="2794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600200" y="2882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FastAPI · JWT with a role claim · rate limits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3060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 guard per router, ownership as 404, one error envelope with a request 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048500" y="2794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188200" y="2882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verification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188200" y="3060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In-process background task per upload; Re-run check recovers after a restart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0500" y="3683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600200" y="3771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 services · pure Python domain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3949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 table, verification rules, diff, upload rules; no FastAPI or SQLAlchemy import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48500" y="3683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188200" y="3771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VerificationProvider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188200" y="3949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Structured output through two strict schemas, then deterministic post-rules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460500" y="4572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1600200" y="4660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Repositories · audit trail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600200" y="4838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audit rows in the same transaction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62500" y="4572000"/>
            <a:ext cx="1651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902200" y="4660900"/>
            <a:ext cx="1371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FileStorage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902200" y="4838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Allowlist, 10 MB, magic bytes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048500" y="4572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188200" y="4660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OpenAI (gpt-4.1-mini) or Mock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188200" y="4838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Mock by default, in tests and CI; with no key a check is stored unavailable, no model call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460500" y="5461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600200" y="5549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PostgreSQL 18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1600200" y="5727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Row locks, UUIDs, revisions as JSONB snapshots; 18 on Railway, 16 locally and in CI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762500" y="5461000"/>
            <a:ext cx="406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902200" y="5549900"/>
            <a:ext cx="378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Railway · two environments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4902200" y="5727700"/>
            <a:ext cx="378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 in CI; dev on push, production run by hand from main and paused for an approval; health gate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80500" y="5461000"/>
            <a:ext cx="152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220200" y="5549900"/>
            <a:ext cx="124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LangSmith · Prometheus · Grafana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220200" y="5727700"/>
            <a:ext cx="124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traces with inputs hidden; metrics behind a token, one dashboard, six alert rules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62000" y="62992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BUILT TO BE WATCHED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dashboard answers whether the API is healthy, whether the document checks are healthy and what they cost, and whether the queue is moving.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343150" y="1835150"/>
            <a:ext cx="7505700" cy="4229100"/>
          </a:xfrm>
          <a:prstGeom prst="roundRect">
            <a:avLst>
              <a:gd name="adj" fmla="val 901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docs/13-observability/grafana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9500" y="1841500"/>
            <a:ext cx="7493000" cy="4216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49500" y="6146800"/>
            <a:ext cx="749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Grafana on grafana.dev.permitflow.space, fed by Prometheus scraping the API's token-protected metrics every 15 seconds; six alert rules on the service objective and an hourly digest reach Telegram, where a bot also answers /status; the dashboard is a generated file in the repository.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ENGINEERING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Checked by tests, gates and a written record.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01800"/>
            <a:ext cx="1066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763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backend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158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frontend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Playwright specs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95 % and 81 %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coverage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state-machine combinations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23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threats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74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stories, 11 deferred</a:t>
            </a:r>
            <a:endParaRPr lang="en-US" sz="1000" dirty="0"/>
          </a:p>
        </p:txBody>
      </p:sp>
      <p:sp>
        <p:nvSpPr>
          <p:cNvPr id="5" name="b1"/>
          <p:cNvSpPr/>
          <p:nvPr/>
        </p:nvSpPr>
        <p:spPr>
          <a:xfrm>
            <a:off x="812800" y="216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6" name="b1"/>
          <p:cNvSpPr/>
          <p:nvPr/>
        </p:nvSpPr>
        <p:spPr>
          <a:xfrm flipV="1">
            <a:off x="863600" y="212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7" name="b1"/>
          <p:cNvSpPr txBox="1"/>
          <p:nvPr/>
        </p:nvSpPr>
        <p:spPr>
          <a:xfrm>
            <a:off x="1079500" y="207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Tests.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Backend on a real PostgreSQL; Playwright journey and scenarios in CI against the full stack.</a:t>
            </a:r>
            <a:endParaRPr lang="en-US" sz="1100" dirty="0"/>
          </a:p>
        </p:txBody>
      </p:sp>
      <p:sp>
        <p:nvSpPr>
          <p:cNvPr id="8" name="b1"/>
          <p:cNvSpPr/>
          <p:nvPr/>
        </p:nvSpPr>
        <p:spPr>
          <a:xfrm>
            <a:off x="762000" y="254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812800" y="267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0" name="b1"/>
          <p:cNvSpPr/>
          <p:nvPr/>
        </p:nvSpPr>
        <p:spPr>
          <a:xfrm flipV="1">
            <a:off x="863600" y="262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1" name="b1"/>
          <p:cNvSpPr txBox="1"/>
          <p:nvPr/>
        </p:nvSpPr>
        <p:spPr>
          <a:xfrm>
            <a:off x="1079500" y="257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State machine.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 transition combinations over 14 states and 3 actors; every invalid one rejected.</a:t>
            </a:r>
            <a:endParaRPr lang="en-US" sz="1100" dirty="0"/>
          </a:p>
        </p:txBody>
      </p:sp>
      <p:sp>
        <p:nvSpPr>
          <p:cNvPr id="12" name="b1"/>
          <p:cNvSpPr/>
          <p:nvPr/>
        </p:nvSpPr>
        <p:spPr>
          <a:xfrm>
            <a:off x="762000" y="304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b1"/>
          <p:cNvSpPr/>
          <p:nvPr/>
        </p:nvSpPr>
        <p:spPr>
          <a:xfrm>
            <a:off x="812800" y="318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4" name="b1"/>
          <p:cNvSpPr/>
          <p:nvPr/>
        </p:nvSpPr>
        <p:spPr>
          <a:xfrm flipV="1">
            <a:off x="863600" y="313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5" name="b1"/>
          <p:cNvSpPr txBox="1"/>
          <p:nvPr/>
        </p:nvSpPr>
        <p:spPr>
          <a:xfrm>
            <a:off x="1079500" y="308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Server-side on every route; an authorization test for every application-scoped endpoint; ownership answered as 404.</a:t>
            </a:r>
            <a:endParaRPr lang="en-US" sz="1100" dirty="0"/>
          </a:p>
        </p:txBody>
      </p:sp>
      <p:sp>
        <p:nvSpPr>
          <p:cNvPr id="16" name="b1"/>
          <p:cNvSpPr/>
          <p:nvPr/>
        </p:nvSpPr>
        <p:spPr>
          <a:xfrm>
            <a:off x="762000" y="3556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/>
          <p:nvPr/>
        </p:nvSpPr>
        <p:spPr>
          <a:xfrm>
            <a:off x="812800" y="3689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8" name="b1"/>
          <p:cNvSpPr/>
          <p:nvPr/>
        </p:nvSpPr>
        <p:spPr>
          <a:xfrm flipV="1">
            <a:off x="863600" y="3644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1079500" y="3594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Validation.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Strict schemas at the HTTP boundary and on the model's output; one error envelope with a request id.</a:t>
            </a:r>
            <a:endParaRPr lang="en-US" sz="1100" dirty="0"/>
          </a:p>
        </p:txBody>
      </p:sp>
      <p:sp>
        <p:nvSpPr>
          <p:cNvPr id="20" name="b1"/>
          <p:cNvSpPr/>
          <p:nvPr/>
        </p:nvSpPr>
        <p:spPr>
          <a:xfrm>
            <a:off x="762000" y="4064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b1"/>
          <p:cNvSpPr/>
          <p:nvPr/>
        </p:nvSpPr>
        <p:spPr>
          <a:xfrm>
            <a:off x="812800" y="4197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2" name="b1"/>
          <p:cNvSpPr/>
          <p:nvPr/>
        </p:nvSpPr>
        <p:spPr>
          <a:xfrm flipV="1">
            <a:off x="863600" y="4152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3" name="b1"/>
          <p:cNvSpPr txBox="1"/>
          <p:nvPr/>
        </p:nvSpPr>
        <p:spPr>
          <a:xfrm>
            <a:off x="1079500" y="4102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Audit.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rows in the same transaction as the change; actor and time on every event.</a:t>
            </a:r>
            <a:endParaRPr lang="en-US" sz="1100" dirty="0"/>
          </a:p>
        </p:txBody>
      </p:sp>
      <p:sp>
        <p:nvSpPr>
          <p:cNvPr id="24" name="b1"/>
          <p:cNvSpPr/>
          <p:nvPr/>
        </p:nvSpPr>
        <p:spPr>
          <a:xfrm>
            <a:off x="762000" y="4572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b1"/>
          <p:cNvSpPr/>
          <p:nvPr/>
        </p:nvSpPr>
        <p:spPr>
          <a:xfrm>
            <a:off x="812800" y="470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6" name="b1"/>
          <p:cNvSpPr/>
          <p:nvPr/>
        </p:nvSpPr>
        <p:spPr>
          <a:xfrm flipV="1">
            <a:off x="863600" y="466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7" name="b1"/>
          <p:cNvSpPr txBox="1"/>
          <p:nvPr/>
        </p:nvSpPr>
        <p:spPr>
          <a:xfrm>
            <a:off x="1079500" y="461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CI gates.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Lint, types, an 80 % coverage floor that fails the build, the six-stage AI gate, accessibility, secret and dependency scans.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762000" y="508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b1"/>
          <p:cNvSpPr/>
          <p:nvPr/>
        </p:nvSpPr>
        <p:spPr>
          <a:xfrm>
            <a:off x="812800" y="521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0" name="b1"/>
          <p:cNvSpPr/>
          <p:nvPr/>
        </p:nvSpPr>
        <p:spPr>
          <a:xfrm flipV="1">
            <a:off x="863600" y="516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1" name="b1"/>
          <p:cNvSpPr txBox="1"/>
          <p:nvPr/>
        </p:nvSpPr>
        <p:spPr>
          <a:xfrm>
            <a:off x="1079500" y="511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14 golden cases and 21 fairness runs, 18 of them name-swapped, on the live model; nightly and on change.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762000" y="558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b1"/>
          <p:cNvSpPr/>
          <p:nvPr/>
        </p:nvSpPr>
        <p:spPr>
          <a:xfrm>
            <a:off x="812800" y="572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4" name="b1"/>
          <p:cNvSpPr/>
          <p:nvPr/>
        </p:nvSpPr>
        <p:spPr>
          <a:xfrm flipV="1">
            <a:off x="863600" y="567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5" name="b1"/>
          <p:cNvSpPr txBox="1"/>
          <p:nvPr/>
        </p:nvSpPr>
        <p:spPr>
          <a:xfrm>
            <a:off x="1079500" y="562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once; production behind an approval; health gates after every deploy; request ids everywhere; Prometheus metrics and a Grafana dashboard with six alert rules.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I WOULD DO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Known gaps first, then what production would need.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620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557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First: use case 3, the site-visit checklist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557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Statuses and transitions exist and are tested; the checklist, capture screen and clarification round are not built.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484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484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421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queue and a worker for the AI checks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21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 checks survive deploys and scale on their own; today they run in-process.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20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20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1557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Object storage with a virus scan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557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S3-compatible storage with signed URLs behind the existing storage interface.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484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484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6421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Frontend and edge hardening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421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httpOnly cookie sessions, CSP nonces, rate-limit windows shared across instances.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20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20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557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Identity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557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Registration, password reset, MFA and SSO; seeded accounts today.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484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484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6421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 protection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421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Retention and redaction for document text sent to the model; an in-region provider.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20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557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 and assurance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1557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labelled set from officer overrides, broader red-teaming, calibration, multilingual injection defence.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484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84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6421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admin epic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6421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Oversight dashboard, AI health, audit feed, user management; role and routes reserved.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62000" y="54102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2000" y="55245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155700" y="54991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Delivery, backups and alert routing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155700" y="57023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Scheduled backups with a tested restore; a staging rehearsal for migrations; image scanning; alerts routed to a channel, exporters for nginx and Postgres.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397000"/>
            <a:ext cx="609600" cy="609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49400" y="1397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4" name="Text 1"/>
          <p:cNvSpPr txBox="1"/>
          <p:nvPr/>
        </p:nvSpPr>
        <p:spPr>
          <a:xfrm>
            <a:off x="762000" y="2311400"/>
            <a:ext cx="9525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submission to resolution: one traceable licensing workflow.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762000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2000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79171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071116" y="4445000"/>
            <a:ext cx="843280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71116" y="4445000"/>
            <a:ext cx="843280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00329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82696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82696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31241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91812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1812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81660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96000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96000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320788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600188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00188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72744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9006840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006840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13409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0413492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413492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Decide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62000" y="58166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MVP built with production practices, in a three-day engineering constraint.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620000" y="5562600"/>
            <a:ext cx="381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permitflow.space</a:t>
            </a:r>
            <a:endParaRPr lang="en-US" sz="15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github.com/SuhaasNv/permitflow</a:t>
            </a:r>
            <a:endParaRPr lang="en-US" sz="1500" dirty="0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PermitFlow pitch deck</dc:title>
  <dc:subject>PptxGenJS Presentation</dc:subject>
  <dc:creator>Suhaas Nv</dc:creator>
  <cp:lastModifiedBy>Suhaas Nv</cp:lastModifiedBy>
  <cp:revision>1</cp:revision>
  <dcterms:created xsi:type="dcterms:W3CDTF">2026-09-20T07:09:56Z</dcterms:created>
  <dcterms:modified xsi:type="dcterms:W3CDTF">2026-09-20T07:09:56Z</dcterms:modified>
</cp:coreProperties>
</file>