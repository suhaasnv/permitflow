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pitch-deck/pptx/build/cover-queue-1440.png">    </p:cNvPr>
          <p:cNvPicPr>
            <a:picLocks noChangeAspect="1"/>
          </p:cNvPicPr>
          <p:nvPr/>
        </p:nvPicPr>
        <p:blipFill>
          <a:blip r:embed="rId1">
            <a:alphaModFix amt="22000"/>
          </a:blip>
          <a:stretch>
            <a:fillRect/>
          </a:stretch>
        </p:blipFill>
        <p:spPr>
          <a:xfrm>
            <a:off x="0" y="0"/>
            <a:ext cx="12192000" cy="6667500"/>
          </a:xfrm>
          <a:prstGeom prst="rect">
            <a:avLst/>
          </a:prstGeom>
        </p:spPr>
      </p:pic>
      <p:sp>
        <p:nvSpPr>
          <p:cNvPr id="3" name="Shape 0"/>
          <p:cNvSpPr/>
          <p:nvPr/>
        </p:nvSpPr>
        <p:spPr>
          <a:xfrm>
            <a:off x="203200" y="152400"/>
            <a:ext cx="721360" cy="215900"/>
          </a:xfrm>
          <a:prstGeom prst="roundRect">
            <a:avLst>
              <a:gd name="adj" fmla="val 17647"/>
            </a:avLst>
          </a:prstGeom>
          <a:solidFill>
            <a:srgbClr val="EEF4FF"/>
          </a:solidFill>
          <a:ln w="9525">
            <a:solidFill>
              <a:srgbClr val="B2CCFA"/>
            </a:solidFill>
            <a:prstDash val="solid"/>
          </a:ln>
        </p:spPr>
      </p:sp>
      <p:sp>
        <p:nvSpPr>
          <p:cNvPr id="4" name="Text 1"/>
          <p:cNvSpPr txBox="1"/>
          <p:nvPr/>
        </p:nvSpPr>
        <p:spPr>
          <a:xfrm>
            <a:off x="203200" y="152400"/>
            <a:ext cx="721360" cy="215900"/>
          </a:xfrm>
          <a:prstGeom prst="rect">
            <a:avLst/>
          </a:prstGeom>
          <a:noFill/>
          <a:ln/>
        </p:spPr>
        <p:txBody>
          <a:bodyPr wrap="none" lIns="0" tIns="0" rIns="0" bIns="0" rtlCol="0" anchor="ctr"/>
          <a:lstStyle/>
          <a:p>
            <a:pPr algn="ctr" indent="0" marL="0">
              <a:lnSpc>
                <a:spcPct val="115000"/>
              </a:lnSpc>
              <a:buNone/>
            </a:pPr>
            <a:r>
              <a:rPr lang="en-US" sz="1000" b="1" dirty="0">
                <a:solidFill>
                  <a:srgbClr val="175CD3"/>
                </a:solidFill>
                <a:latin typeface="Public Sans" pitchFamily="34" charset="0"/>
                <a:ea typeface="Public Sans" pitchFamily="34" charset="-122"/>
                <a:cs typeface="Public Sans" pitchFamily="34" charset="-120"/>
              </a:rPr>
              <a:t>Officer</a:t>
            </a:r>
            <a:endParaRPr lang="en-US" sz="1000" dirty="0"/>
          </a:p>
        </p:txBody>
      </p:sp>
      <p:pic>
        <p:nvPicPr>
          <p:cNvPr id="5" name="Image 1" descr="/Users/suhaasnv/Documents/Desktop ALT/portfolioprojects/permitflow/notes/pitch/pitch-deck/pptx/build/mark.png">    </p:cNvPr>
          <p:cNvPicPr>
            <a:picLocks noChangeAspect="1"/>
          </p:cNvPicPr>
          <p:nvPr/>
        </p:nvPicPr>
        <p:blipFill>
          <a:blip r:embed="rId2"/>
          <a:stretch>
            <a:fillRect/>
          </a:stretch>
        </p:blipFill>
        <p:spPr>
          <a:xfrm>
            <a:off x="762000" y="1905000"/>
            <a:ext cx="609600" cy="609600"/>
          </a:xfrm>
          <a:prstGeom prst="rect">
            <a:avLst/>
          </a:prstGeom>
        </p:spPr>
      </p:pic>
      <p:sp>
        <p:nvSpPr>
          <p:cNvPr id="6" name="Text 2"/>
          <p:cNvSpPr txBox="1"/>
          <p:nvPr/>
        </p:nvSpPr>
        <p:spPr>
          <a:xfrm>
            <a:off x="1549400" y="1905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Public Sans" pitchFamily="34" charset="0"/>
                <a:ea typeface="Public Sans" pitchFamily="34" charset="-122"/>
                <a:cs typeface="Public Sans" pitchFamily="34" charset="-120"/>
              </a:rPr>
              <a:t>PermitFlow</a:t>
            </a:r>
            <a:endParaRPr lang="en-US" sz="2976" dirty="0"/>
          </a:p>
        </p:txBody>
      </p:sp>
      <p:sp>
        <p:nvSpPr>
          <p:cNvPr id="7" name="Text 3"/>
          <p:cNvSpPr txBox="1"/>
          <p:nvPr/>
        </p:nvSpPr>
        <p:spPr>
          <a:xfrm>
            <a:off x="762000" y="2870200"/>
            <a:ext cx="8890000" cy="889000"/>
          </a:xfrm>
          <a:prstGeom prst="rect">
            <a:avLst/>
          </a:prstGeom>
          <a:noFill/>
          <a:ln/>
        </p:spPr>
        <p:txBody>
          <a:bodyPr wrap="square" lIns="0" tIns="0" rIns="0" bIns="0" rtlCol="0" anchor="t"/>
          <a:lstStyle/>
          <a:p>
            <a:pPr algn="l" indent="0" marL="0">
              <a:lnSpc>
                <a:spcPct val="108000"/>
              </a:lnSpc>
              <a:buNone/>
            </a:pPr>
            <a:r>
              <a:rPr lang="en-US" sz="4200" dirty="0">
                <a:solidFill>
                  <a:srgbClr val="FFFFFF"/>
                </a:solidFill>
                <a:latin typeface="Instrument Serif" pitchFamily="34" charset="0"/>
                <a:ea typeface="Instrument Serif" pitchFamily="34" charset="-122"/>
                <a:cs typeface="Instrument Serif" pitchFamily="34" charset="-120"/>
              </a:rPr>
              <a:t>PermitFlow: how it is built</a:t>
            </a:r>
            <a:endParaRPr lang="en-US" sz="4200" dirty="0"/>
          </a:p>
        </p:txBody>
      </p:sp>
      <p:sp>
        <p:nvSpPr>
          <p:cNvPr id="8" name="Text 4"/>
          <p:cNvSpPr txBox="1"/>
          <p:nvPr/>
        </p:nvSpPr>
        <p:spPr>
          <a:xfrm>
            <a:off x="762000" y="3937000"/>
            <a:ext cx="8255000" cy="952500"/>
          </a:xfrm>
          <a:prstGeom prst="rect">
            <a:avLst/>
          </a:prstGeom>
          <a:noFill/>
          <a:ln/>
        </p:spPr>
        <p:txBody>
          <a:bodyPr wrap="square" lIns="0" tIns="0" rIns="0" bIns="0" rtlCol="0" anchor="t"/>
          <a:lstStyle/>
          <a:p>
            <a:pPr algn="l" indent="0" marL="0">
              <a:lnSpc>
                <a:spcPct val="130000"/>
              </a:lnSpc>
              <a:buNone/>
            </a:pPr>
            <a:r>
              <a:rPr lang="en-US" sz="1500" dirty="0">
                <a:solidFill>
                  <a:srgbClr val="C5CBD4"/>
                </a:solidFill>
                <a:latin typeface="Public Sans" pitchFamily="34" charset="0"/>
                <a:ea typeface="Public Sans" pitchFamily="34" charset="-122"/>
                <a:cs typeface="Public Sans" pitchFamily="34" charset="-120"/>
              </a:rPr>
              <a:t>Scope, architecture, the decisions that make the brief's guarantees true, the pipeline, the evidence, and the gaps. Every claim names its file.</a:t>
            </a:r>
            <a:endParaRPr lang="en-US" sz="1500" dirty="0"/>
          </a:p>
        </p:txBody>
      </p:sp>
      <p:sp>
        <p:nvSpPr>
          <p:cNvPr id="9" name="Text 5"/>
          <p:cNvSpPr txBox="1"/>
          <p:nvPr/>
        </p:nvSpPr>
        <p:spPr>
          <a:xfrm>
            <a:off x="762000" y="6096000"/>
            <a:ext cx="7620000" cy="254000"/>
          </a:xfrm>
          <a:prstGeom prst="rect">
            <a:avLst/>
          </a:prstGeom>
          <a:noFill/>
          <a:ln/>
        </p:spPr>
        <p:txBody>
          <a:bodyPr wrap="square" lIns="0" tIns="0" rIns="0" bIns="0" rtlCol="0" anchor="t"/>
          <a:lstStyle/>
          <a:p>
            <a:pPr algn="l" indent="0" marL="0">
              <a:lnSpc>
                <a:spcPct val="115000"/>
              </a:lnSpc>
              <a:buNone/>
            </a:pPr>
            <a:r>
              <a:rPr lang="en-US" sz="1100" b="1" dirty="0">
                <a:solidFill>
                  <a:srgbClr val="FFFFFF"/>
                </a:solidFill>
                <a:latin typeface="Public Sans" pitchFamily="34" charset="0"/>
                <a:ea typeface="Public Sans" pitchFamily="34" charset="-122"/>
                <a:cs typeface="Public Sans" pitchFamily="34" charset="-120"/>
              </a:rPr>
              <a:t>Technical debrief</a:t>
            </a:r>
            <a:pPr algn="l"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 · Full Stack Developer Assessment · Xtremax, Singapore · September 2026</a:t>
            </a:r>
            <a:endParaRPr lang="en-US" sz="1100" dirty="0"/>
          </a:p>
        </p:txBody>
      </p:sp>
      <p:sp>
        <p:nvSpPr>
          <p:cNvPr id="10" name="Text 6"/>
          <p:cNvSpPr txBox="1"/>
          <p:nvPr/>
        </p:nvSpPr>
        <p:spPr>
          <a:xfrm>
            <a:off x="6985000" y="6096000"/>
            <a:ext cx="4445000" cy="254000"/>
          </a:xfrm>
          <a:prstGeom prst="rect">
            <a:avLst/>
          </a:prstGeom>
          <a:noFill/>
          <a:ln/>
        </p:spPr>
        <p:txBody>
          <a:bodyPr wrap="square" lIns="0" tIns="0" rIns="0" bIns="0" rtlCol="0" anchor="t"/>
          <a:lstStyle/>
          <a:p>
            <a:pPr algn="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v0.3.0 · permitflow.space · github.com/SuhaasNv/permitflow</a:t>
            </a:r>
            <a:endParaRPr lang="en-US" sz="1100" dirty="0"/>
          </a:p>
        </p:txBody>
      </p:sp>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THE BRIEF, DECODED</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Instrument Serif" pitchFamily="34" charset="0"/>
                <a:ea typeface="Instrument Serif" pitchFamily="34" charset="-122"/>
                <a:cs typeface="Instrument Serif" pitchFamily="34" charset="-120"/>
              </a:rPr>
              <a:t>Three use cases, one status table, five things being evaluated.</a:t>
            </a:r>
            <a:endParaRPr lang="en-US" sz="2400" dirty="0"/>
          </a:p>
        </p:txBody>
      </p:sp>
      <p:sp>
        <p:nvSpPr>
          <p:cNvPr id="4" name="Shape 2"/>
          <p:cNvSpPr/>
          <p:nvPr/>
        </p:nvSpPr>
        <p:spPr>
          <a:xfrm>
            <a:off x="762000" y="1905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UC1</a:t>
            </a:r>
            <a:endParaRPr lang="en-US" sz="1100" dirty="0"/>
          </a:p>
        </p:txBody>
      </p:sp>
      <p:sp>
        <p:nvSpPr>
          <p:cNvPr id="6" name="Text 4"/>
          <p:cNvSpPr txBox="1"/>
          <p:nvPr/>
        </p:nvSpPr>
        <p:spPr>
          <a:xfrm>
            <a:off x="1473200" y="2032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Operator submission and resubmission</a:t>
            </a:r>
            <a:endParaRPr lang="en-US" sz="1250" dirty="0"/>
          </a:p>
        </p:txBody>
      </p:sp>
      <p:sp>
        <p:nvSpPr>
          <p:cNvPr id="7" name="Shape 5"/>
          <p:cNvSpPr/>
          <p:nvPr/>
        </p:nvSpPr>
        <p:spPr>
          <a:xfrm>
            <a:off x="6324600" y="2032000"/>
            <a:ext cx="664210" cy="203200"/>
          </a:xfrm>
          <a:prstGeom prst="roundRect">
            <a:avLst>
              <a:gd name="adj" fmla="val 18750"/>
            </a:avLst>
          </a:prstGeom>
          <a:solidFill>
            <a:srgbClr val="ECFDF3"/>
          </a:solidFill>
          <a:ln w="9525">
            <a:solidFill>
              <a:srgbClr val="A6E9C4"/>
            </a:solidFill>
            <a:prstDash val="solid"/>
          </a:ln>
        </p:spPr>
      </p:sp>
      <p:sp>
        <p:nvSpPr>
          <p:cNvPr id="8" name="Shape 6"/>
          <p:cNvSpPr/>
          <p:nvPr/>
        </p:nvSpPr>
        <p:spPr>
          <a:xfrm>
            <a:off x="6413500" y="2105025"/>
            <a:ext cx="57150" cy="57150"/>
          </a:xfrm>
          <a:prstGeom prst="ellipse">
            <a:avLst/>
          </a:prstGeom>
          <a:solidFill>
            <a:srgbClr val="067647"/>
          </a:solidFill>
          <a:ln w="12700">
            <a:solidFill>
              <a:srgbClr val="067647"/>
            </a:solidFill>
            <a:prstDash val="solid"/>
          </a:ln>
        </p:spPr>
      </p:sp>
      <p:sp>
        <p:nvSpPr>
          <p:cNvPr id="9" name="Text 7"/>
          <p:cNvSpPr txBox="1"/>
          <p:nvPr/>
        </p:nvSpPr>
        <p:spPr>
          <a:xfrm>
            <a:off x="6534150" y="20320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Public Sans" pitchFamily="34" charset="0"/>
                <a:ea typeface="Public Sans" pitchFamily="34" charset="-122"/>
                <a:cs typeface="Public Sans" pitchFamily="34" charset="-120"/>
              </a:rPr>
              <a:t>Built</a:t>
            </a:r>
            <a:endParaRPr lang="en-US" sz="900" dirty="0"/>
          </a:p>
        </p:txBody>
      </p:sp>
      <p:sp>
        <p:nvSpPr>
          <p:cNvPr id="10" name="Text 8"/>
          <p:cNvSpPr txBox="1"/>
          <p:nvPr/>
        </p:nvSpPr>
        <p:spPr>
          <a:xfrm>
            <a:off x="939800" y="2324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Form with sections, drag-and-drop uploads, live AI status per document, progress, feedback on top, edit only flagged parts, unlimited rounds, history.</a:t>
            </a:r>
            <a:endParaRPr lang="en-US" sz="950" dirty="0"/>
          </a:p>
        </p:txBody>
      </p:sp>
      <p:sp>
        <p:nvSpPr>
          <p:cNvPr id="11" name="Shape 9"/>
          <p:cNvSpPr/>
          <p:nvPr/>
        </p:nvSpPr>
        <p:spPr>
          <a:xfrm>
            <a:off x="762000" y="31115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2" name="Text 10"/>
          <p:cNvSpPr txBox="1"/>
          <p:nvPr/>
        </p:nvSpPr>
        <p:spPr>
          <a:xfrm>
            <a:off x="939800" y="32512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UC2</a:t>
            </a:r>
            <a:endParaRPr lang="en-US" sz="1100" dirty="0"/>
          </a:p>
        </p:txBody>
      </p:sp>
      <p:sp>
        <p:nvSpPr>
          <p:cNvPr id="13" name="Text 11"/>
          <p:cNvSpPr txBox="1"/>
          <p:nvPr/>
        </p:nvSpPr>
        <p:spPr>
          <a:xfrm>
            <a:off x="1473200" y="32385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Officer review and feedback</a:t>
            </a:r>
            <a:endParaRPr lang="en-US" sz="1250" dirty="0"/>
          </a:p>
        </p:txBody>
      </p:sp>
      <p:sp>
        <p:nvSpPr>
          <p:cNvPr id="14" name="Shape 12"/>
          <p:cNvSpPr/>
          <p:nvPr/>
        </p:nvSpPr>
        <p:spPr>
          <a:xfrm>
            <a:off x="6324600" y="3238500"/>
            <a:ext cx="664210" cy="203200"/>
          </a:xfrm>
          <a:prstGeom prst="roundRect">
            <a:avLst>
              <a:gd name="adj" fmla="val 18750"/>
            </a:avLst>
          </a:prstGeom>
          <a:solidFill>
            <a:srgbClr val="ECFDF3"/>
          </a:solidFill>
          <a:ln w="9525">
            <a:solidFill>
              <a:srgbClr val="A6E9C4"/>
            </a:solidFill>
            <a:prstDash val="solid"/>
          </a:ln>
        </p:spPr>
      </p:sp>
      <p:sp>
        <p:nvSpPr>
          <p:cNvPr id="15" name="Shape 13"/>
          <p:cNvSpPr/>
          <p:nvPr/>
        </p:nvSpPr>
        <p:spPr>
          <a:xfrm>
            <a:off x="6413500" y="3311525"/>
            <a:ext cx="57150" cy="57150"/>
          </a:xfrm>
          <a:prstGeom prst="ellipse">
            <a:avLst/>
          </a:prstGeom>
          <a:solidFill>
            <a:srgbClr val="067647"/>
          </a:solidFill>
          <a:ln w="12700">
            <a:solidFill>
              <a:srgbClr val="067647"/>
            </a:solidFill>
            <a:prstDash val="solid"/>
          </a:ln>
        </p:spPr>
      </p:sp>
      <p:sp>
        <p:nvSpPr>
          <p:cNvPr id="16" name="Text 14"/>
          <p:cNvSpPr txBox="1"/>
          <p:nvPr/>
        </p:nvSpPr>
        <p:spPr>
          <a:xfrm>
            <a:off x="6534150" y="3238500"/>
            <a:ext cx="454660" cy="203200"/>
          </a:xfrm>
          <a:prstGeom prst="rect">
            <a:avLst/>
          </a:prstGeom>
          <a:noFill/>
          <a:ln/>
        </p:spPr>
        <p:txBody>
          <a:bodyPr wrap="none" lIns="0" tIns="0" rIns="0" bIns="0" rtlCol="0" anchor="ctr"/>
          <a:lstStyle/>
          <a:p>
            <a:pPr algn="l" indent="0" marL="0">
              <a:lnSpc>
                <a:spcPct val="115000"/>
              </a:lnSpc>
              <a:buNone/>
            </a:pPr>
            <a:r>
              <a:rPr lang="en-US" sz="900" b="1" dirty="0">
                <a:solidFill>
                  <a:srgbClr val="067647"/>
                </a:solidFill>
                <a:latin typeface="Public Sans" pitchFamily="34" charset="0"/>
                <a:ea typeface="Public Sans" pitchFamily="34" charset="-122"/>
                <a:cs typeface="Public Sans" pitchFamily="34" charset="-120"/>
              </a:rPr>
              <a:t>Built</a:t>
            </a:r>
            <a:endParaRPr lang="en-US" sz="900" dirty="0"/>
          </a:p>
        </p:txBody>
      </p:sp>
      <p:sp>
        <p:nvSpPr>
          <p:cNvPr id="17" name="Text 15"/>
          <p:cNvSpPr txBox="1"/>
          <p:nvPr/>
        </p:nvSpPr>
        <p:spPr>
          <a:xfrm>
            <a:off x="939800" y="35306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Full submission, AI results, contextual feedback with templates, status change notifies, changed sections highlighted, compare revisions, resolution tracked, audit trail.</a:t>
            </a:r>
            <a:endParaRPr lang="en-US" sz="950" dirty="0"/>
          </a:p>
        </p:txBody>
      </p:sp>
      <p:sp>
        <p:nvSpPr>
          <p:cNvPr id="18" name="Shape 16"/>
          <p:cNvSpPr/>
          <p:nvPr/>
        </p:nvSpPr>
        <p:spPr>
          <a:xfrm>
            <a:off x="762000" y="4318000"/>
            <a:ext cx="6350000" cy="1117600"/>
          </a:xfrm>
          <a:prstGeom prst="roundRect">
            <a:avLst>
              <a:gd name="adj" fmla="val 3409"/>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9" name="Text 17"/>
          <p:cNvSpPr txBox="1"/>
          <p:nvPr/>
        </p:nvSpPr>
        <p:spPr>
          <a:xfrm>
            <a:off x="939800" y="4457700"/>
            <a:ext cx="50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616C7A"/>
                </a:solidFill>
                <a:latin typeface="IBM Plex Mono" pitchFamily="34" charset="0"/>
                <a:ea typeface="IBM Plex Mono" pitchFamily="34" charset="-122"/>
                <a:cs typeface="IBM Plex Mono" pitchFamily="34" charset="-120"/>
              </a:rPr>
              <a:t>UC3</a:t>
            </a:r>
            <a:endParaRPr lang="en-US" sz="1100" dirty="0"/>
          </a:p>
        </p:txBody>
      </p:sp>
      <p:sp>
        <p:nvSpPr>
          <p:cNvPr id="20" name="Text 18"/>
          <p:cNvSpPr txBox="1"/>
          <p:nvPr/>
        </p:nvSpPr>
        <p:spPr>
          <a:xfrm>
            <a:off x="1473200" y="4445000"/>
            <a:ext cx="3556000" cy="215900"/>
          </a:xfrm>
          <a:prstGeom prst="rect">
            <a:avLst/>
          </a:prstGeom>
          <a:noFill/>
          <a:ln/>
        </p:spPr>
        <p:txBody>
          <a:bodyPr wrap="square" lIns="0" tIns="0" rIns="0" bIns="0" rtlCol="0" anchor="t"/>
          <a:lstStyle/>
          <a:p>
            <a:pPr algn="l" indent="0" marL="0">
              <a:lnSpc>
                <a:spcPct val="115000"/>
              </a:lnSpc>
              <a:buNone/>
            </a:pPr>
            <a:r>
              <a:rPr lang="en-US" sz="1250" b="1" dirty="0">
                <a:solidFill>
                  <a:srgbClr val="1B2430"/>
                </a:solidFill>
                <a:latin typeface="Public Sans" pitchFamily="34" charset="0"/>
                <a:ea typeface="Public Sans" pitchFamily="34" charset="-122"/>
                <a:cs typeface="Public Sans" pitchFamily="34" charset="-120"/>
              </a:rPr>
              <a:t>On-site assessment and post-site clarification</a:t>
            </a:r>
            <a:endParaRPr lang="en-US" sz="1250" dirty="0"/>
          </a:p>
        </p:txBody>
      </p:sp>
      <p:sp>
        <p:nvSpPr>
          <p:cNvPr id="21" name="Shape 19"/>
          <p:cNvSpPr/>
          <p:nvPr/>
        </p:nvSpPr>
        <p:spPr>
          <a:xfrm>
            <a:off x="6184900" y="4445000"/>
            <a:ext cx="883666" cy="203200"/>
          </a:xfrm>
          <a:prstGeom prst="roundRect">
            <a:avLst>
              <a:gd name="adj" fmla="val 18750"/>
            </a:avLst>
          </a:prstGeom>
          <a:solidFill>
            <a:srgbClr val="FFF6E5"/>
          </a:solidFill>
          <a:ln w="9525">
            <a:solidFill>
              <a:srgbClr val="F5CF86"/>
            </a:solidFill>
            <a:prstDash val="solid"/>
          </a:ln>
        </p:spPr>
      </p:sp>
      <p:sp>
        <p:nvSpPr>
          <p:cNvPr id="22" name="Shape 20"/>
          <p:cNvSpPr/>
          <p:nvPr/>
        </p:nvSpPr>
        <p:spPr>
          <a:xfrm>
            <a:off x="6273800" y="4518025"/>
            <a:ext cx="57150" cy="57150"/>
          </a:xfrm>
          <a:prstGeom prst="ellipse">
            <a:avLst/>
          </a:prstGeom>
          <a:solidFill>
            <a:srgbClr val="9A4A00"/>
          </a:solidFill>
          <a:ln w="12700">
            <a:solidFill>
              <a:srgbClr val="9A4A00"/>
            </a:solidFill>
            <a:prstDash val="solid"/>
          </a:ln>
        </p:spPr>
      </p:sp>
      <p:sp>
        <p:nvSpPr>
          <p:cNvPr id="23" name="Text 21"/>
          <p:cNvSpPr txBox="1"/>
          <p:nvPr/>
        </p:nvSpPr>
        <p:spPr>
          <a:xfrm>
            <a:off x="6394450" y="4445000"/>
            <a:ext cx="674116" cy="203200"/>
          </a:xfrm>
          <a:prstGeom prst="rect">
            <a:avLst/>
          </a:prstGeom>
          <a:noFill/>
          <a:ln/>
        </p:spPr>
        <p:txBody>
          <a:bodyPr wrap="none" lIns="0" tIns="0" rIns="0" bIns="0" rtlCol="0" anchor="ctr"/>
          <a:lstStyle/>
          <a:p>
            <a:pPr algn="l" indent="0" marL="0">
              <a:lnSpc>
                <a:spcPct val="115000"/>
              </a:lnSpc>
              <a:buNone/>
            </a:pPr>
            <a:r>
              <a:rPr lang="en-US" sz="900" b="1" dirty="0">
                <a:solidFill>
                  <a:srgbClr val="9A4A00"/>
                </a:solidFill>
                <a:latin typeface="Public Sans" pitchFamily="34" charset="0"/>
                <a:ea typeface="Public Sans" pitchFamily="34" charset="-122"/>
                <a:cs typeface="Public Sans" pitchFamily="34" charset="-120"/>
              </a:rPr>
              <a:t>Deferred</a:t>
            </a:r>
            <a:endParaRPr lang="en-US" sz="900" dirty="0"/>
          </a:p>
        </p:txBody>
      </p:sp>
      <p:sp>
        <p:nvSpPr>
          <p:cNvPr id="24" name="Text 22"/>
          <p:cNvSpPr txBox="1"/>
          <p:nvPr/>
        </p:nvSpPr>
        <p:spPr>
          <a:xfrm>
            <a:off x="939800" y="4737100"/>
            <a:ext cx="5994400" cy="6477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three post-site statuses and their transitions exist and are tested; the checklist model and screens are not built. Recorded in SCOPE.md with what production needs.</a:t>
            </a:r>
            <a:endParaRPr lang="en-US" sz="950" dirty="0"/>
          </a:p>
        </p:txBody>
      </p:sp>
      <p:sp>
        <p:nvSpPr>
          <p:cNvPr id="25" name="Shape 23"/>
          <p:cNvSpPr/>
          <p:nvPr/>
        </p:nvSpPr>
        <p:spPr>
          <a:xfrm>
            <a:off x="7493000" y="1905000"/>
            <a:ext cx="3937000" cy="952500"/>
          </a:xfrm>
          <a:prstGeom prst="roundRect">
            <a:avLst>
              <a:gd name="adj" fmla="val 4000"/>
            </a:avLst>
          </a:prstGeom>
          <a:solidFill>
            <a:srgbClr val="1B2430"/>
          </a:solidFill>
          <a:ln w="12700">
            <a:solidFill>
              <a:srgbClr val="1B2430"/>
            </a:solidFill>
            <a:prstDash val="solid"/>
          </a:ln>
        </p:spPr>
      </p:sp>
      <p:sp>
        <p:nvSpPr>
          <p:cNvPr id="26" name="Text 24"/>
          <p:cNvSpPr txBox="1"/>
          <p:nvPr/>
        </p:nvSpPr>
        <p:spPr>
          <a:xfrm>
            <a:off x="7658100" y="20320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STATUS TABLE</a:t>
            </a:r>
            <a:endParaRPr lang="en-US" sz="900" dirty="0"/>
          </a:p>
        </p:txBody>
      </p:sp>
      <p:sp>
        <p:nvSpPr>
          <p:cNvPr id="27" name="Text 25"/>
          <p:cNvSpPr txBox="1"/>
          <p:nvPr/>
        </p:nvSpPr>
        <p:spPr>
          <a:xfrm>
            <a:off x="7658100" y="2222500"/>
            <a:ext cx="3606800" cy="609600"/>
          </a:xfrm>
          <a:prstGeom prst="rect">
            <a:avLst/>
          </a:prstGeom>
          <a:noFill/>
          <a:ln/>
        </p:spPr>
        <p:txBody>
          <a:bodyPr wrap="square" lIns="0" tIns="0" rIns="0" bIns="0" rtlCol="0" anchor="t"/>
          <a:lstStyle/>
          <a:p>
            <a:pPr algn="l" indent="0" marL="0">
              <a:lnSpc>
                <a:spcPct val="125000"/>
              </a:lnSpc>
              <a:buNone/>
            </a:pPr>
            <a:r>
              <a:rPr lang="en-US" sz="900" dirty="0">
                <a:solidFill>
                  <a:srgbClr val="C5CBD4"/>
                </a:solidFill>
                <a:latin typeface="Public Sans" pitchFamily="34" charset="0"/>
                <a:ea typeface="Public Sans" pitchFamily="34" charset="-122"/>
                <a:cs typeface="Public Sans" pitchFamily="34" charset="-120"/>
              </a:rPr>
              <a:t>Status table: 12 internal statuses with a different label per role. Implemented as data in domain/labels.py, verbatim from the brief, plus draft and withdrawn as written assumptions.</a:t>
            </a:r>
            <a:endParaRPr lang="en-US" sz="900" dirty="0"/>
          </a:p>
        </p:txBody>
      </p:sp>
      <p:sp>
        <p:nvSpPr>
          <p:cNvPr id="28" name="b1"/>
          <p:cNvSpPr txBox="1"/>
          <p:nvPr/>
        </p:nvSpPr>
        <p:spPr>
          <a:xfrm>
            <a:off x="7493000" y="3022600"/>
            <a:ext cx="3937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WHAT IS EVALUATED, AND WHERE IT IS IN THIS DECK</a:t>
            </a:r>
            <a:endParaRPr lang="en-US" sz="900" dirty="0"/>
          </a:p>
        </p:txBody>
      </p:sp>
      <p:sp>
        <p:nvSpPr>
          <p:cNvPr id="29" name="b1"/>
          <p:cNvSpPr/>
          <p:nvPr/>
        </p:nvSpPr>
        <p:spPr>
          <a:xfrm>
            <a:off x="7493000" y="3238500"/>
            <a:ext cx="3937000" cy="0"/>
          </a:xfrm>
          <a:prstGeom prst="line">
            <a:avLst/>
          </a:prstGeom>
          <a:noFill/>
          <a:ln w="9525">
            <a:solidFill>
              <a:srgbClr val="DDE1E7"/>
            </a:solidFill>
            <a:prstDash val="solid"/>
          </a:ln>
        </p:spPr>
      </p:sp>
      <p:sp>
        <p:nvSpPr>
          <p:cNvPr id="30" name="b1"/>
          <p:cNvSpPr txBox="1"/>
          <p:nvPr/>
        </p:nvSpPr>
        <p:spPr>
          <a:xfrm>
            <a:off x="7493000" y="33020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Scope judgement</a:t>
            </a:r>
            <a:endParaRPr lang="en-US" sz="1050" dirty="0"/>
          </a:p>
        </p:txBody>
      </p:sp>
      <p:sp>
        <p:nvSpPr>
          <p:cNvPr id="31" name="b1"/>
          <p:cNvSpPr txBox="1"/>
          <p:nvPr/>
        </p:nvSpPr>
        <p:spPr>
          <a:xfrm>
            <a:off x="9080500" y="33020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3 to 5</a:t>
            </a:r>
            <a:endParaRPr lang="en-US" sz="900" dirty="0"/>
          </a:p>
        </p:txBody>
      </p:sp>
      <p:sp>
        <p:nvSpPr>
          <p:cNvPr id="32" name="b1"/>
          <p:cNvSpPr/>
          <p:nvPr/>
        </p:nvSpPr>
        <p:spPr>
          <a:xfrm>
            <a:off x="7493000" y="3708400"/>
            <a:ext cx="3937000" cy="0"/>
          </a:xfrm>
          <a:prstGeom prst="line">
            <a:avLst/>
          </a:prstGeom>
          <a:noFill/>
          <a:ln w="9525">
            <a:solidFill>
              <a:srgbClr val="DDE1E7"/>
            </a:solidFill>
            <a:prstDash val="solid"/>
          </a:ln>
        </p:spPr>
      </p:sp>
      <p:sp>
        <p:nvSpPr>
          <p:cNvPr id="33" name="b1"/>
          <p:cNvSpPr txBox="1"/>
          <p:nvPr/>
        </p:nvSpPr>
        <p:spPr>
          <a:xfrm>
            <a:off x="7493000" y="37719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Production readiness</a:t>
            </a:r>
            <a:endParaRPr lang="en-US" sz="1050" dirty="0"/>
          </a:p>
        </p:txBody>
      </p:sp>
      <p:sp>
        <p:nvSpPr>
          <p:cNvPr id="34" name="b1"/>
          <p:cNvSpPr txBox="1"/>
          <p:nvPr/>
        </p:nvSpPr>
        <p:spPr>
          <a:xfrm>
            <a:off x="9080500" y="37719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12 to 15</a:t>
            </a:r>
            <a:endParaRPr lang="en-US" sz="900" dirty="0"/>
          </a:p>
        </p:txBody>
      </p:sp>
      <p:sp>
        <p:nvSpPr>
          <p:cNvPr id="35" name="b1"/>
          <p:cNvSpPr/>
          <p:nvPr/>
        </p:nvSpPr>
        <p:spPr>
          <a:xfrm>
            <a:off x="7493000" y="4178300"/>
            <a:ext cx="3937000" cy="0"/>
          </a:xfrm>
          <a:prstGeom prst="line">
            <a:avLst/>
          </a:prstGeom>
          <a:noFill/>
          <a:ln w="9525">
            <a:solidFill>
              <a:srgbClr val="DDE1E7"/>
            </a:solidFill>
            <a:prstDash val="solid"/>
          </a:ln>
        </p:spPr>
      </p:sp>
      <p:sp>
        <p:nvSpPr>
          <p:cNvPr id="36" name="b1"/>
          <p:cNvSpPr txBox="1"/>
          <p:nvPr/>
        </p:nvSpPr>
        <p:spPr>
          <a:xfrm>
            <a:off x="7493000" y="42418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AI tool usage</a:t>
            </a:r>
            <a:endParaRPr lang="en-US" sz="1050" dirty="0"/>
          </a:p>
        </p:txBody>
      </p:sp>
      <p:sp>
        <p:nvSpPr>
          <p:cNvPr id="37" name="b1"/>
          <p:cNvSpPr txBox="1"/>
          <p:nvPr/>
        </p:nvSpPr>
        <p:spPr>
          <a:xfrm>
            <a:off x="9080500" y="42418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16 to 19</a:t>
            </a:r>
            <a:endParaRPr lang="en-US" sz="900" dirty="0"/>
          </a:p>
        </p:txBody>
      </p:sp>
      <p:sp>
        <p:nvSpPr>
          <p:cNvPr id="38" name="b1"/>
          <p:cNvSpPr/>
          <p:nvPr/>
        </p:nvSpPr>
        <p:spPr>
          <a:xfrm>
            <a:off x="7493000" y="4648200"/>
            <a:ext cx="3937000" cy="0"/>
          </a:xfrm>
          <a:prstGeom prst="line">
            <a:avLst/>
          </a:prstGeom>
          <a:noFill/>
          <a:ln w="9525">
            <a:solidFill>
              <a:srgbClr val="DDE1E7"/>
            </a:solidFill>
            <a:prstDash val="solid"/>
          </a:ln>
        </p:spPr>
      </p:sp>
      <p:sp>
        <p:nvSpPr>
          <p:cNvPr id="39" name="b1"/>
          <p:cNvSpPr txBox="1"/>
          <p:nvPr/>
        </p:nvSpPr>
        <p:spPr>
          <a:xfrm>
            <a:off x="7493000" y="47117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Code quality</a:t>
            </a:r>
            <a:endParaRPr lang="en-US" sz="1050" dirty="0"/>
          </a:p>
        </p:txBody>
      </p:sp>
      <p:sp>
        <p:nvSpPr>
          <p:cNvPr id="40" name="b1"/>
          <p:cNvSpPr txBox="1"/>
          <p:nvPr/>
        </p:nvSpPr>
        <p:spPr>
          <a:xfrm>
            <a:off x="9080500" y="4711700"/>
            <a:ext cx="2349500" cy="381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slides 6 to 11</a:t>
            </a:r>
            <a:endParaRPr lang="en-US" sz="900" dirty="0"/>
          </a:p>
        </p:txBody>
      </p:sp>
      <p:sp>
        <p:nvSpPr>
          <p:cNvPr id="41" name="b1"/>
          <p:cNvSpPr/>
          <p:nvPr/>
        </p:nvSpPr>
        <p:spPr>
          <a:xfrm>
            <a:off x="7493000" y="5118100"/>
            <a:ext cx="3937000" cy="0"/>
          </a:xfrm>
          <a:prstGeom prst="line">
            <a:avLst/>
          </a:prstGeom>
          <a:noFill/>
          <a:ln w="9525">
            <a:solidFill>
              <a:srgbClr val="DDE1E7"/>
            </a:solidFill>
            <a:prstDash val="solid"/>
          </a:ln>
        </p:spPr>
      </p:sp>
      <p:sp>
        <p:nvSpPr>
          <p:cNvPr id="42" name="b1"/>
          <p:cNvSpPr txBox="1"/>
          <p:nvPr/>
        </p:nvSpPr>
        <p:spPr>
          <a:xfrm>
            <a:off x="7493000" y="5181600"/>
            <a:ext cx="19050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Documentation</a:t>
            </a:r>
            <a:endParaRPr lang="en-US" sz="1050" dirty="0"/>
          </a:p>
        </p:txBody>
      </p:sp>
      <p:sp>
        <p:nvSpPr>
          <p:cNvPr id="43" name="b1"/>
          <p:cNvSpPr txBox="1"/>
          <p:nvPr/>
        </p:nvSpPr>
        <p:spPr>
          <a:xfrm>
            <a:off x="9080500" y="5181600"/>
            <a:ext cx="2349500" cy="8636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docs/README.md is the index; docs/11-reviews/ASSESSMENT_TRACEABILITY.md maps every brief line to code, test and evidence</a:t>
            </a:r>
            <a:endParaRPr lang="en-US" sz="900" dirty="0"/>
          </a:p>
        </p:txBody>
      </p:sp>
      <p:sp>
        <p:nvSpPr>
          <p:cNvPr id="44" name="Text 42"/>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02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8"/>
                                        </p:tgtEl>
                                        <p:attrNameLst>
                                          <p:attrName>style.visibility</p:attrName>
                                        </p:attrNameLst>
                                      </p:cBhvr>
                                      <p:to>
                                        <p:strVal val="visible"/>
                                      </p:to>
                                    </p:set>
                                    <p:animEffect transition="in" filter="fade">
                                      <p:cBhvr>
                                        <p:cTn id="5" dur="320"/>
                                        <p:tgtEl>
                                          <p:spTgt spid="28"/>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9"/>
                                        </p:tgtEl>
                                        <p:attrNameLst>
                                          <p:attrName>style.visibility</p:attrName>
                                        </p:attrNameLst>
                                      </p:cBhvr>
                                      <p:to>
                                        <p:strVal val="visible"/>
                                      </p:to>
                                    </p:set>
                                    <p:animEffect transition="in" filter="fade">
                                      <p:cBhvr>
                                        <p:cTn id="8" dur="320"/>
                                        <p:tgtEl>
                                          <p:spTgt spid="29"/>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320"/>
                                        <p:tgtEl>
                                          <p:spTgt spid="30"/>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320"/>
                                        <p:tgtEl>
                                          <p:spTgt spid="31"/>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320"/>
                                        <p:tgtEl>
                                          <p:spTgt spid="32"/>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320"/>
                                        <p:tgtEl>
                                          <p:spTgt spid="33"/>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320"/>
                                        <p:tgtEl>
                                          <p:spTgt spid="34"/>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5"/>
                                        </p:tgtEl>
                                        <p:attrNameLst>
                                          <p:attrName>style.visibility</p:attrName>
                                        </p:attrNameLst>
                                      </p:cBhvr>
                                      <p:to>
                                        <p:strVal val="visible"/>
                                      </p:to>
                                    </p:set>
                                    <p:animEffect transition="in" filter="fade">
                                      <p:cBhvr>
                                        <p:cTn id="26" dur="320"/>
                                        <p:tgtEl>
                                          <p:spTgt spid="35"/>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320"/>
                                        <p:tgtEl>
                                          <p:spTgt spid="36"/>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320"/>
                                        <p:tgtEl>
                                          <p:spTgt spid="3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320"/>
                                        <p:tgtEl>
                                          <p:spTgt spid="38"/>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9"/>
                                        </p:tgtEl>
                                        <p:attrNameLst>
                                          <p:attrName>style.visibility</p:attrName>
                                        </p:attrNameLst>
                                      </p:cBhvr>
                                      <p:to>
                                        <p:strVal val="visible"/>
                                      </p:to>
                                    </p:set>
                                    <p:animEffect transition="in" filter="fade">
                                      <p:cBhvr>
                                        <p:cTn id="38" dur="320"/>
                                        <p:tgtEl>
                                          <p:spTgt spid="39"/>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320"/>
                                        <p:tgtEl>
                                          <p:spTgt spid="40"/>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320"/>
                                        <p:tgtEl>
                                          <p:spTgt spid="41"/>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320"/>
                                        <p:tgtEl>
                                          <p:spTgt spid="42"/>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3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SCOPE</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One polished, tested, deployed vertical slice. Everything else written down with what production would need.</a:t>
            </a:r>
            <a:endParaRPr lang="en-US" sz="2200" dirty="0"/>
          </a:p>
        </p:txBody>
      </p:sp>
      <p:sp>
        <p:nvSpPr>
          <p:cNvPr id="4" name="Shape 2"/>
          <p:cNvSpPr/>
          <p:nvPr/>
        </p:nvSpPr>
        <p:spPr>
          <a:xfrm>
            <a:off x="7620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Shape 3"/>
          <p:cNvSpPr/>
          <p:nvPr/>
        </p:nvSpPr>
        <p:spPr>
          <a:xfrm>
            <a:off x="920750" y="2082800"/>
            <a:ext cx="63500" cy="63500"/>
          </a:xfrm>
          <a:prstGeom prst="ellipse">
            <a:avLst/>
          </a:prstGeom>
          <a:solidFill>
            <a:srgbClr val="067647"/>
          </a:solidFill>
          <a:ln w="12700">
            <a:solidFill>
              <a:srgbClr val="067647"/>
            </a:solidFill>
            <a:prstDash val="solid"/>
          </a:ln>
        </p:spPr>
      </p:sp>
      <p:sp>
        <p:nvSpPr>
          <p:cNvPr id="6" name="Text 4"/>
          <p:cNvSpPr txBox="1"/>
          <p:nvPr/>
        </p:nvSpPr>
        <p:spPr>
          <a:xfrm>
            <a:off x="10541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MUST</a:t>
            </a:r>
            <a:endParaRPr lang="en-US" sz="1100" dirty="0"/>
          </a:p>
        </p:txBody>
      </p:sp>
      <p:sp>
        <p:nvSpPr>
          <p:cNvPr id="7" name="Text 5"/>
          <p:cNvSpPr txBox="1"/>
          <p:nvPr/>
        </p:nvSpPr>
        <p:spPr>
          <a:xfrm>
            <a:off x="9271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067647"/>
                </a:solidFill>
                <a:latin typeface="Public Sans" pitchFamily="34" charset="0"/>
                <a:ea typeface="Public Sans" pitchFamily="34" charset="-122"/>
                <a:cs typeface="Public Sans" pitchFamily="34" charset="-120"/>
              </a:rPr>
              <a:t>20 of 20 built</a:t>
            </a:r>
            <a:endParaRPr lang="en-US" sz="950" dirty="0"/>
          </a:p>
        </p:txBody>
      </p:sp>
      <p:sp>
        <p:nvSpPr>
          <p:cNvPr id="8" name="Shape 6"/>
          <p:cNvSpPr/>
          <p:nvPr/>
        </p:nvSpPr>
        <p:spPr>
          <a:xfrm>
            <a:off x="927100" y="2514600"/>
            <a:ext cx="2222500" cy="0"/>
          </a:xfrm>
          <a:prstGeom prst="line">
            <a:avLst/>
          </a:prstGeom>
          <a:noFill/>
          <a:ln w="9525">
            <a:solidFill>
              <a:srgbClr val="DDE1E7"/>
            </a:solidFill>
            <a:prstDash val="solid"/>
          </a:ln>
        </p:spPr>
      </p:sp>
      <p:sp>
        <p:nvSpPr>
          <p:cNvPr id="9" name="Text 7"/>
          <p:cNvSpPr txBox="1"/>
          <p:nvPr/>
        </p:nvSpPr>
        <p:spPr>
          <a:xfrm>
            <a:off x="9271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Form, uploads with allowlist, magic bytes and 10 MB</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AI check per document with live status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Explicit state machine, 14 statuses, role labels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Feedback tied to a section or document, templates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Targeted resubmission, immutable revisions, compare</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Audit trail, in-app notifications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Server-side authorization, error envelope</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Tests per layer, CI, Railway, README, SCOPE.md</a:t>
            </a:r>
            <a:endParaRPr lang="en-US" sz="900" dirty="0"/>
          </a:p>
        </p:txBody>
      </p:sp>
      <p:sp>
        <p:nvSpPr>
          <p:cNvPr id="10" name="Shape 8"/>
          <p:cNvSpPr/>
          <p:nvPr/>
        </p:nvSpPr>
        <p:spPr>
          <a:xfrm>
            <a:off x="34671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1" name="Shape 9"/>
          <p:cNvSpPr/>
          <p:nvPr/>
        </p:nvSpPr>
        <p:spPr>
          <a:xfrm>
            <a:off x="3625850" y="2082800"/>
            <a:ext cx="63500" cy="63500"/>
          </a:xfrm>
          <a:prstGeom prst="ellipse">
            <a:avLst/>
          </a:prstGeom>
          <a:solidFill>
            <a:srgbClr val="175CD3"/>
          </a:solidFill>
          <a:ln w="12700">
            <a:solidFill>
              <a:srgbClr val="175CD3"/>
            </a:solidFill>
            <a:prstDash val="solid"/>
          </a:ln>
        </p:spPr>
      </p:sp>
      <p:sp>
        <p:nvSpPr>
          <p:cNvPr id="12" name="Text 10"/>
          <p:cNvSpPr txBox="1"/>
          <p:nvPr/>
        </p:nvSpPr>
        <p:spPr>
          <a:xfrm>
            <a:off x="37592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SHOULD</a:t>
            </a:r>
            <a:endParaRPr lang="en-US" sz="1100" dirty="0"/>
          </a:p>
        </p:txBody>
      </p:sp>
      <p:sp>
        <p:nvSpPr>
          <p:cNvPr id="13" name="Text 11"/>
          <p:cNvSpPr txBox="1"/>
          <p:nvPr/>
        </p:nvSpPr>
        <p:spPr>
          <a:xfrm>
            <a:off x="36322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175CD3"/>
                </a:solidFill>
                <a:latin typeface="Public Sans" pitchFamily="34" charset="0"/>
                <a:ea typeface="Public Sans" pitchFamily="34" charset="-122"/>
                <a:cs typeface="Public Sans" pitchFamily="34" charset="-120"/>
              </a:rPr>
              <a:t>6 of 7 done</a:t>
            </a:r>
            <a:endParaRPr lang="en-US" sz="950" dirty="0"/>
          </a:p>
        </p:txBody>
      </p:sp>
      <p:sp>
        <p:nvSpPr>
          <p:cNvPr id="14" name="Shape 12"/>
          <p:cNvSpPr/>
          <p:nvPr/>
        </p:nvSpPr>
        <p:spPr>
          <a:xfrm>
            <a:off x="3632200" y="2514600"/>
            <a:ext cx="2222500" cy="0"/>
          </a:xfrm>
          <a:prstGeom prst="line">
            <a:avLst/>
          </a:prstGeom>
          <a:noFill/>
          <a:ln w="9525">
            <a:solidFill>
              <a:srgbClr val="DDE1E7"/>
            </a:solidFill>
            <a:prstDash val="solid"/>
          </a:ln>
        </p:spPr>
      </p:sp>
      <p:sp>
        <p:nvSpPr>
          <p:cNvPr id="15" name="Text 13"/>
          <p:cNvSpPr txBox="1"/>
          <p:nvPr/>
        </p:nvSpPr>
        <p:spPr>
          <a:xfrm>
            <a:off x="36322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Queue groups and search</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Re-run a check (operator and officer)</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Delete a document while in draft</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Compare any two revisions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Evaluation set: 14 cases, mock gate, live nightly</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Request logging with request id</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S7 admin persona: deferred to v0.4.0</a:t>
            </a:r>
            <a:endParaRPr lang="en-US" sz="900" dirty="0"/>
          </a:p>
        </p:txBody>
      </p:sp>
      <p:sp>
        <p:nvSpPr>
          <p:cNvPr id="16" name="Shape 14"/>
          <p:cNvSpPr/>
          <p:nvPr/>
        </p:nvSpPr>
        <p:spPr>
          <a:xfrm>
            <a:off x="6172200" y="1905000"/>
            <a:ext cx="2552700" cy="4216400"/>
          </a:xfrm>
          <a:prstGeom prst="roundRect">
            <a:avLst>
              <a:gd name="adj" fmla="val 149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17" name="Shape 15"/>
          <p:cNvSpPr/>
          <p:nvPr/>
        </p:nvSpPr>
        <p:spPr>
          <a:xfrm>
            <a:off x="6330950" y="2082800"/>
            <a:ext cx="63500" cy="63500"/>
          </a:xfrm>
          <a:prstGeom prst="ellipse">
            <a:avLst/>
          </a:prstGeom>
          <a:solidFill>
            <a:srgbClr val="9A4A00"/>
          </a:solidFill>
          <a:ln w="12700">
            <a:solidFill>
              <a:srgbClr val="9A4A00"/>
            </a:solidFill>
            <a:prstDash val="solid"/>
          </a:ln>
        </p:spPr>
      </p:sp>
      <p:sp>
        <p:nvSpPr>
          <p:cNvPr id="18" name="Text 16"/>
          <p:cNvSpPr txBox="1"/>
          <p:nvPr/>
        </p:nvSpPr>
        <p:spPr>
          <a:xfrm>
            <a:off x="64643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1B2430"/>
                </a:solidFill>
                <a:latin typeface="Public Sans" pitchFamily="34" charset="0"/>
                <a:ea typeface="Public Sans" pitchFamily="34" charset="-122"/>
                <a:cs typeface="Public Sans" pitchFamily="34" charset="-120"/>
              </a:rPr>
              <a:t>COULD</a:t>
            </a:r>
            <a:endParaRPr lang="en-US" sz="1100" dirty="0"/>
          </a:p>
        </p:txBody>
      </p:sp>
      <p:sp>
        <p:nvSpPr>
          <p:cNvPr id="19" name="Text 17"/>
          <p:cNvSpPr txBox="1"/>
          <p:nvPr/>
        </p:nvSpPr>
        <p:spPr>
          <a:xfrm>
            <a:off x="63373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9A4A00"/>
                </a:solidFill>
                <a:latin typeface="Public Sans" pitchFamily="34" charset="0"/>
                <a:ea typeface="Public Sans" pitchFamily="34" charset="-122"/>
                <a:cs typeface="Public Sans" pitchFamily="34" charset="-120"/>
              </a:rPr>
              <a:t>5 of 8 done</a:t>
            </a:r>
            <a:endParaRPr lang="en-US" sz="950" dirty="0"/>
          </a:p>
        </p:txBody>
      </p:sp>
      <p:sp>
        <p:nvSpPr>
          <p:cNvPr id="20" name="Shape 18"/>
          <p:cNvSpPr/>
          <p:nvPr/>
        </p:nvSpPr>
        <p:spPr>
          <a:xfrm>
            <a:off x="6337300" y="2514600"/>
            <a:ext cx="2222500" cy="0"/>
          </a:xfrm>
          <a:prstGeom prst="line">
            <a:avLst/>
          </a:prstGeom>
          <a:noFill/>
          <a:ln w="9525">
            <a:solidFill>
              <a:srgbClr val="DDE1E7"/>
            </a:solidFill>
            <a:prstDash val="solid"/>
          </a:ln>
        </p:spPr>
      </p:sp>
      <p:sp>
        <p:nvSpPr>
          <p:cNvPr id="21" name="Text 19"/>
          <p:cNvSpPr txBox="1"/>
          <p:nvPr/>
        </p:nvSpPr>
        <p:spPr>
          <a:xfrm>
            <a:off x="63373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Dashboard summary</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Withdraw with a reason (new terminal status)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Licence certificate on approval, preview, PDF</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Owner's domain, two environments, TLS</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Legal, privacy and accessibility review</a:t>
            </a:r>
            <a:endParaRPr lang="en-US" sz="900" dirty="0"/>
          </a:p>
          <a:p>
            <a:pPr algn="l" marL="177800" indent="-177800">
              <a:lnSpc>
                <a:spcPct val="122000"/>
              </a:lnSpc>
              <a:spcAft>
                <a:spcPts val="700"/>
              </a:spcAft>
              <a:buSzPct val="100000"/>
              <a:buChar char="•"/>
            </a:pPr>
            <a:r>
              <a:rPr lang="en-US" sz="900" dirty="0">
                <a:solidFill>
                  <a:srgbClr val="465060"/>
                </a:solidFill>
                <a:latin typeface="Public Sans" pitchFamily="34" charset="0"/>
                <a:ea typeface="Public Sans" pitchFamily="34" charset="-122"/>
                <a:cs typeface="Public Sans" pitchFamily="34" charset="-120"/>
              </a:rPr>
              <a:t>Open: officer assignment, image OCR, bundle download</a:t>
            </a:r>
            <a:endParaRPr lang="en-US" sz="900" dirty="0"/>
          </a:p>
        </p:txBody>
      </p:sp>
      <p:sp>
        <p:nvSpPr>
          <p:cNvPr id="22" name="b1"/>
          <p:cNvSpPr/>
          <p:nvPr/>
        </p:nvSpPr>
        <p:spPr>
          <a:xfrm>
            <a:off x="8877300" y="1905000"/>
            <a:ext cx="2552700" cy="4216400"/>
          </a:xfrm>
          <a:prstGeom prst="roundRect">
            <a:avLst>
              <a:gd name="adj" fmla="val 1493"/>
            </a:avLst>
          </a:prstGeom>
          <a:solidFill>
            <a:srgbClr val="1B2430"/>
          </a:solidFill>
          <a:ln w="9525">
            <a:solidFill>
              <a:srgbClr val="1B2430"/>
            </a:solidFill>
            <a:prstDash val="solid"/>
          </a:ln>
        </p:spPr>
      </p:sp>
      <p:sp>
        <p:nvSpPr>
          <p:cNvPr id="23" name="b1"/>
          <p:cNvSpPr/>
          <p:nvPr/>
        </p:nvSpPr>
        <p:spPr>
          <a:xfrm>
            <a:off x="9036050" y="2082800"/>
            <a:ext cx="63500" cy="63500"/>
          </a:xfrm>
          <a:prstGeom prst="ellipse">
            <a:avLst/>
          </a:prstGeom>
          <a:solidFill>
            <a:srgbClr val="9AA3B0"/>
          </a:solidFill>
          <a:ln w="12700">
            <a:solidFill>
              <a:srgbClr val="9AA3B0"/>
            </a:solidFill>
            <a:prstDash val="solid"/>
          </a:ln>
        </p:spPr>
      </p:sp>
      <p:sp>
        <p:nvSpPr>
          <p:cNvPr id="24" name="b1"/>
          <p:cNvSpPr txBox="1"/>
          <p:nvPr/>
        </p:nvSpPr>
        <p:spPr>
          <a:xfrm>
            <a:off x="9169400" y="2019300"/>
            <a:ext cx="1270000" cy="19050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FFFFFF"/>
                </a:solidFill>
                <a:latin typeface="Public Sans" pitchFamily="34" charset="0"/>
                <a:ea typeface="Public Sans" pitchFamily="34" charset="-122"/>
                <a:cs typeface="Public Sans" pitchFamily="34" charset="-120"/>
              </a:rPr>
              <a:t>DEFERRED</a:t>
            </a:r>
            <a:endParaRPr lang="en-US" sz="1100" dirty="0"/>
          </a:p>
        </p:txBody>
      </p:sp>
      <p:sp>
        <p:nvSpPr>
          <p:cNvPr id="25" name="b1"/>
          <p:cNvSpPr txBox="1"/>
          <p:nvPr/>
        </p:nvSpPr>
        <p:spPr>
          <a:xfrm>
            <a:off x="9042400" y="2247900"/>
            <a:ext cx="2222500" cy="190500"/>
          </a:xfrm>
          <a:prstGeom prst="rect">
            <a:avLst/>
          </a:prstGeom>
          <a:noFill/>
          <a:ln/>
        </p:spPr>
        <p:txBody>
          <a:bodyPr wrap="square" lIns="0" tIns="0" rIns="0" bIns="0" rtlCol="0" anchor="t"/>
          <a:lstStyle/>
          <a:p>
            <a:pPr algn="l" indent="0" marL="0">
              <a:lnSpc>
                <a:spcPct val="115000"/>
              </a:lnSpc>
              <a:buNone/>
            </a:pPr>
            <a:r>
              <a:rPr lang="en-US" sz="950" b="1" dirty="0">
                <a:solidFill>
                  <a:srgbClr val="C5CBD4"/>
                </a:solidFill>
                <a:latin typeface="Public Sans" pitchFamily="34" charset="0"/>
                <a:ea typeface="Public Sans" pitchFamily="34" charset="-122"/>
                <a:cs typeface="Public Sans" pitchFamily="34" charset="-120"/>
              </a:rPr>
              <a:t>13 rows, grouped here</a:t>
            </a:r>
            <a:endParaRPr lang="en-US" sz="950" dirty="0"/>
          </a:p>
        </p:txBody>
      </p:sp>
      <p:sp>
        <p:nvSpPr>
          <p:cNvPr id="26" name="b1"/>
          <p:cNvSpPr/>
          <p:nvPr/>
        </p:nvSpPr>
        <p:spPr>
          <a:xfrm>
            <a:off x="9042400" y="2514600"/>
            <a:ext cx="2222500" cy="0"/>
          </a:xfrm>
          <a:prstGeom prst="line">
            <a:avLst/>
          </a:prstGeom>
          <a:noFill/>
          <a:ln w="9525">
            <a:solidFill>
              <a:srgbClr val="3A4456"/>
            </a:solidFill>
            <a:prstDash val="solid"/>
          </a:ln>
        </p:spPr>
      </p:sp>
      <p:sp>
        <p:nvSpPr>
          <p:cNvPr id="27" name="b1"/>
          <p:cNvSpPr txBox="1"/>
          <p:nvPr/>
        </p:nvSpPr>
        <p:spPr>
          <a:xfrm>
            <a:off x="9042400" y="2603500"/>
            <a:ext cx="2222500" cy="3390900"/>
          </a:xfrm>
          <a:prstGeom prst="rect">
            <a:avLst/>
          </a:prstGeom>
          <a:noFill/>
          <a:ln/>
        </p:spPr>
        <p:txBody>
          <a:bodyPr wrap="square" lIns="0" tIns="0" rIns="0" bIns="0" rtlCol="0" anchor="t"/>
          <a:lstStyle/>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UC3 checklist (1.5 days estimated)</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Email delivery (mocked, in-app only)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Worker queue for AI checks (in-process today)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Object storage (volume today)</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Registration, reset, MFA, SSO</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Configurable forms, OCR, push, WAF, virus scan</a:t>
            </a:r>
            <a:endParaRPr lang="en-US" sz="900" dirty="0"/>
          </a:p>
          <a:p>
            <a:pPr algn="l" marL="177800" indent="-177800">
              <a:lnSpc>
                <a:spcPct val="122000"/>
              </a:lnSpc>
              <a:spcAft>
                <a:spcPts val="700"/>
              </a:spcAft>
              <a:buSzPct val="100000"/>
              <a:buChar char="•"/>
            </a:pPr>
            <a:r>
              <a:rPr lang="en-US" sz="900" dirty="0">
                <a:solidFill>
                  <a:srgbClr val="C5CBD4"/>
                </a:solidFill>
                <a:latin typeface="Public Sans" pitchFamily="34" charset="0"/>
                <a:ea typeface="Public Sans" pitchFamily="34" charset="-122"/>
                <a:cs typeface="Public Sans" pitchFamily="34" charset="-120"/>
              </a:rPr>
              <a:t>Session in sessionStorage, US-region providers, one replica: disclosed with severity</a:t>
            </a:r>
            <a:endParaRPr lang="en-US" sz="900" dirty="0"/>
          </a:p>
        </p:txBody>
      </p:sp>
      <p:sp>
        <p:nvSpPr>
          <p:cNvPr id="28" name="Text 26"/>
          <p:cNvSpPr txBox="1"/>
          <p:nvPr/>
        </p:nvSpPr>
        <p:spPr>
          <a:xfrm>
            <a:off x="762000" y="6299200"/>
            <a:ext cx="1016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SCOPE.md: decision in one line, MUST / SHOULD / COULD / DEFERRED tables, 17 assumptions, a stack paragraph, and a check at each sprint close.</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03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2"/>
                                        </p:tgtEl>
                                        <p:attrNameLst>
                                          <p:attrName>style.visibility</p:attrName>
                                        </p:attrNameLst>
                                      </p:cBhvr>
                                      <p:to>
                                        <p:strVal val="visible"/>
                                      </p:to>
                                    </p:set>
                                    <p:animEffect transition="in" filter="fade">
                                      <p:cBhvr>
                                        <p:cTn id="5" dur="320"/>
                                        <p:tgtEl>
                                          <p:spTgt spid="2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3"/>
                                        </p:tgtEl>
                                        <p:attrNameLst>
                                          <p:attrName>style.visibility</p:attrName>
                                        </p:attrNameLst>
                                      </p:cBhvr>
                                      <p:to>
                                        <p:strVal val="visible"/>
                                      </p:to>
                                    </p:set>
                                    <p:animEffect transition="in" filter="fade">
                                      <p:cBhvr>
                                        <p:cTn id="8" dur="320"/>
                                        <p:tgtEl>
                                          <p:spTgt spid="2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20"/>
                                        <p:tgtEl>
                                          <p:spTgt spid="2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320"/>
                                        <p:tgtEl>
                                          <p:spTgt spid="2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320"/>
                                        <p:tgtEl>
                                          <p:spTgt spid="2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3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ASSUMPTIONS</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Where the brief was ambiguous, the assumption is written down and enforced by code.</a:t>
            </a:r>
            <a:endParaRPr lang="en-US" sz="2200" dirty="0"/>
          </a:p>
        </p:txBody>
      </p:sp>
      <p:sp>
        <p:nvSpPr>
          <p:cNvPr id="4" name="Shape 2"/>
          <p:cNvSpPr/>
          <p:nvPr/>
        </p:nvSpPr>
        <p:spPr>
          <a:xfrm>
            <a:off x="762000" y="1905000"/>
            <a:ext cx="5181600" cy="0"/>
          </a:xfrm>
          <a:prstGeom prst="line">
            <a:avLst/>
          </a:prstGeom>
          <a:noFill/>
          <a:ln w="9525">
            <a:solidFill>
              <a:srgbClr val="DDE1E7"/>
            </a:solidFill>
            <a:prstDash val="solid"/>
          </a:ln>
        </p:spPr>
      </p:sp>
      <p:sp>
        <p:nvSpPr>
          <p:cNvPr id="5" name="Text 3"/>
          <p:cNvSpPr txBox="1"/>
          <p:nvPr/>
        </p:nvSpPr>
        <p:spPr>
          <a:xfrm>
            <a:off x="7620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993900"/>
            <a:ext cx="4787900" cy="2159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 draft state exists before Application Received</a:t>
            </a:r>
            <a:endParaRPr lang="en-US" sz="1150" dirty="0"/>
          </a:p>
        </p:txBody>
      </p:sp>
      <p:sp>
        <p:nvSpPr>
          <p:cNvPr id="7" name="Text 5"/>
          <p:cNvSpPr txBox="1"/>
          <p:nvPr/>
        </p:nvSpPr>
        <p:spPr>
          <a:xfrm>
            <a:off x="1155700" y="2247900"/>
            <a:ext cx="4787900" cy="889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Needed for save and return; never shown to officers; deletable outright until submitted (US-045). SCOPE.md assumption 2 and 14.</a:t>
            </a:r>
            <a:endParaRPr lang="en-US" sz="950" dirty="0"/>
          </a:p>
        </p:txBody>
      </p:sp>
      <p:sp>
        <p:nvSpPr>
          <p:cNvPr id="8" name="Shape 6"/>
          <p:cNvSpPr/>
          <p:nvPr/>
        </p:nvSpPr>
        <p:spPr>
          <a:xfrm>
            <a:off x="6248400" y="1905000"/>
            <a:ext cx="5181600" cy="0"/>
          </a:xfrm>
          <a:prstGeom prst="line">
            <a:avLst/>
          </a:prstGeom>
          <a:noFill/>
          <a:ln w="9525">
            <a:solidFill>
              <a:srgbClr val="DDE1E7"/>
            </a:solidFill>
            <a:prstDash val="solid"/>
          </a:ln>
        </p:spPr>
      </p:sp>
      <p:sp>
        <p:nvSpPr>
          <p:cNvPr id="9" name="Text 7"/>
          <p:cNvSpPr txBox="1"/>
          <p:nvPr/>
        </p:nvSpPr>
        <p:spPr>
          <a:xfrm>
            <a:off x="6248400" y="201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993900"/>
            <a:ext cx="4787900" cy="2159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Under Review starts on an explicit officer action</a:t>
            </a:r>
            <a:endParaRPr lang="en-US" sz="1150" dirty="0"/>
          </a:p>
        </p:txBody>
      </p:sp>
      <p:sp>
        <p:nvSpPr>
          <p:cNvPr id="11" name="Text 9"/>
          <p:cNvSpPr txBox="1"/>
          <p:nvPr/>
        </p:nvSpPr>
        <p:spPr>
          <a:xfrm>
            <a:off x="6642100" y="2247900"/>
            <a:ext cx="4787900" cy="889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So the actor lands in the audit trail. Start review is a transition row, not a side effect. Assumption 3.</a:t>
            </a:r>
            <a:endParaRPr lang="en-US" sz="950" dirty="0"/>
          </a:p>
        </p:txBody>
      </p:sp>
      <p:sp>
        <p:nvSpPr>
          <p:cNvPr id="12" name="Shape 10"/>
          <p:cNvSpPr/>
          <p:nvPr/>
        </p:nvSpPr>
        <p:spPr>
          <a:xfrm>
            <a:off x="762000" y="3276600"/>
            <a:ext cx="5181600" cy="0"/>
          </a:xfrm>
          <a:prstGeom prst="line">
            <a:avLst/>
          </a:prstGeom>
          <a:noFill/>
          <a:ln w="9525">
            <a:solidFill>
              <a:srgbClr val="DDE1E7"/>
            </a:solidFill>
            <a:prstDash val="solid"/>
          </a:ln>
        </p:spPr>
      </p:sp>
      <p:sp>
        <p:nvSpPr>
          <p:cNvPr id="13" name="Text 11"/>
          <p:cNvSpPr txBox="1"/>
          <p:nvPr/>
        </p:nvSpPr>
        <p:spPr>
          <a:xfrm>
            <a:off x="7620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Text 12"/>
          <p:cNvSpPr txBox="1"/>
          <p:nvPr/>
        </p:nvSpPr>
        <p:spPr>
          <a:xfrm>
            <a:off x="1155700" y="3365500"/>
            <a:ext cx="4787900" cy="2159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Food licensing; the operator applies for the business</a:t>
            </a:r>
            <a:endParaRPr lang="en-US" sz="1150" dirty="0"/>
          </a:p>
        </p:txBody>
      </p:sp>
      <p:sp>
        <p:nvSpPr>
          <p:cNvPr id="15" name="Text 13"/>
          <p:cNvSpPr txBox="1"/>
          <p:nvPr/>
        </p:nvSpPr>
        <p:spPr>
          <a:xfrm>
            <a:off x="1155700" y="3619500"/>
            <a:ext cx="4787900" cy="889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brief names no licence: I chose Singapore's Food Establishment Licence (four sections, four documents an AI check can compare with the form). Operators are the business owner or an agent applying on its behalf; the account holder is the applicant, authority is not verified. Assumptions 1 and 10.</a:t>
            </a:r>
            <a:endParaRPr lang="en-US" sz="950" dirty="0"/>
          </a:p>
        </p:txBody>
      </p:sp>
      <p:sp>
        <p:nvSpPr>
          <p:cNvPr id="16" name="Shape 14"/>
          <p:cNvSpPr/>
          <p:nvPr/>
        </p:nvSpPr>
        <p:spPr>
          <a:xfrm>
            <a:off x="6248400" y="3276600"/>
            <a:ext cx="5181600" cy="0"/>
          </a:xfrm>
          <a:prstGeom prst="line">
            <a:avLst/>
          </a:prstGeom>
          <a:noFill/>
          <a:ln w="9525">
            <a:solidFill>
              <a:srgbClr val="DDE1E7"/>
            </a:solidFill>
            <a:prstDash val="solid"/>
          </a:ln>
        </p:spPr>
      </p:sp>
      <p:sp>
        <p:nvSpPr>
          <p:cNvPr id="17" name="Text 15"/>
          <p:cNvSpPr txBox="1"/>
          <p:nvPr/>
        </p:nvSpPr>
        <p:spPr>
          <a:xfrm>
            <a:off x="6248400" y="33909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Text 16"/>
          <p:cNvSpPr txBox="1"/>
          <p:nvPr/>
        </p:nvSpPr>
        <p:spPr>
          <a:xfrm>
            <a:off x="6642100" y="3365500"/>
            <a:ext cx="4787900" cy="2159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Addressed is automatic, resolved is a decision</a:t>
            </a:r>
            <a:endParaRPr lang="en-US" sz="1150" dirty="0"/>
          </a:p>
        </p:txBody>
      </p:sp>
      <p:sp>
        <p:nvSpPr>
          <p:cNvPr id="19" name="Text 17"/>
          <p:cNvSpPr txBox="1"/>
          <p:nvPr/>
        </p:nvSpPr>
        <p:spPr>
          <a:xfrm>
            <a:off x="6642100" y="3619500"/>
            <a:ext cx="4787900" cy="889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linked section or document changed in the next revision: addressed. The officer confirms: resolved. Assumption 7.</a:t>
            </a:r>
            <a:endParaRPr lang="en-US" sz="950" dirty="0"/>
          </a:p>
        </p:txBody>
      </p:sp>
      <p:sp>
        <p:nvSpPr>
          <p:cNvPr id="20" name="Shape 18"/>
          <p:cNvSpPr/>
          <p:nvPr/>
        </p:nvSpPr>
        <p:spPr>
          <a:xfrm>
            <a:off x="762000" y="4648200"/>
            <a:ext cx="5181600" cy="0"/>
          </a:xfrm>
          <a:prstGeom prst="line">
            <a:avLst/>
          </a:prstGeom>
          <a:noFill/>
          <a:ln w="9525">
            <a:solidFill>
              <a:srgbClr val="DDE1E7"/>
            </a:solidFill>
            <a:prstDash val="solid"/>
          </a:ln>
        </p:spPr>
      </p:sp>
      <p:sp>
        <p:nvSpPr>
          <p:cNvPr id="21" name="Text 19"/>
          <p:cNvSpPr txBox="1"/>
          <p:nvPr/>
        </p:nvSpPr>
        <p:spPr>
          <a:xfrm>
            <a:off x="7620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Text 20"/>
          <p:cNvSpPr txBox="1"/>
          <p:nvPr/>
        </p:nvSpPr>
        <p:spPr>
          <a:xfrm>
            <a:off x="1155700" y="4737100"/>
            <a:ext cx="4787900" cy="2159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Only flagged sections may change on resubmission: enforced</a:t>
            </a:r>
            <a:endParaRPr lang="en-US" sz="1150" dirty="0"/>
          </a:p>
        </p:txBody>
      </p:sp>
      <p:sp>
        <p:nvSpPr>
          <p:cNvPr id="23" name="Text 21"/>
          <p:cNvSpPr txBox="1"/>
          <p:nvPr/>
        </p:nvSpPr>
        <p:spPr>
          <a:xfrm>
            <a:off x="1155700" y="4991100"/>
            <a:ext cx="4787900" cy="889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API returns 403 for any other change. A product decision open to reversal. Assumption 13, domain/resolution.py.</a:t>
            </a:r>
            <a:endParaRPr lang="en-US" sz="950" dirty="0"/>
          </a:p>
        </p:txBody>
      </p:sp>
      <p:sp>
        <p:nvSpPr>
          <p:cNvPr id="24" name="Shape 22"/>
          <p:cNvSpPr/>
          <p:nvPr/>
        </p:nvSpPr>
        <p:spPr>
          <a:xfrm>
            <a:off x="6248400" y="4648200"/>
            <a:ext cx="5181600" cy="0"/>
          </a:xfrm>
          <a:prstGeom prst="line">
            <a:avLst/>
          </a:prstGeom>
          <a:noFill/>
          <a:ln w="9525">
            <a:solidFill>
              <a:srgbClr val="DDE1E7"/>
            </a:solidFill>
            <a:prstDash val="solid"/>
          </a:ln>
        </p:spPr>
      </p:sp>
      <p:sp>
        <p:nvSpPr>
          <p:cNvPr id="25" name="Text 23"/>
          <p:cNvSpPr txBox="1"/>
          <p:nvPr/>
        </p:nvSpPr>
        <p:spPr>
          <a:xfrm>
            <a:off x="6248400" y="47625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Text 24"/>
          <p:cNvSpPr txBox="1"/>
          <p:nvPr/>
        </p:nvSpPr>
        <p:spPr>
          <a:xfrm>
            <a:off x="6642100" y="4737100"/>
            <a:ext cx="4787900" cy="215900"/>
          </a:xfrm>
          <a:prstGeom prst="rect">
            <a:avLst/>
          </a:prstGeom>
          <a:noFill/>
          <a:ln/>
        </p:spPr>
        <p:txBody>
          <a:bodyPr wrap="non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Operators see Pending Approval as a waiting state</a:t>
            </a:r>
            <a:endParaRPr lang="en-US" sz="1150" dirty="0"/>
          </a:p>
        </p:txBody>
      </p:sp>
      <p:sp>
        <p:nvSpPr>
          <p:cNvPr id="27" name="Text 25"/>
          <p:cNvSpPr txBox="1"/>
          <p:nvPr/>
        </p:nvSpPr>
        <p:spPr>
          <a:xfrm>
            <a:off x="6642100" y="4991100"/>
            <a:ext cx="4787900" cy="889000"/>
          </a:xfrm>
          <a:prstGeom prst="rect">
            <a:avLst/>
          </a:prstGeom>
          <a:noFill/>
          <a:ln/>
        </p:spPr>
        <p:txBody>
          <a:bodyPr wrap="square" lIns="0" tIns="0" rIns="0" bIns="0" rtlCol="0" anchor="t"/>
          <a:lstStyle/>
          <a:p>
            <a:pPr algn="l" indent="0" marL="0">
              <a:lnSpc>
                <a:spcPct val="125000"/>
              </a:lnSpc>
              <a:buNone/>
            </a:pPr>
            <a:r>
              <a:rPr lang="en-US" sz="950" dirty="0">
                <a:solidFill>
                  <a:srgbClr val="465060"/>
                </a:solidFill>
                <a:latin typeface="Public Sans" pitchFamily="34" charset="0"/>
                <a:ea typeface="Public Sans" pitchFamily="34" charset="-122"/>
                <a:cs typeface="Public Sans" pitchFamily="34" charset="-120"/>
              </a:rPr>
              <a:t>The brief's own table gives that label; the officer-only label Route to Approval and the decision note never reach an operator. Assumption 17.</a:t>
            </a:r>
            <a:endParaRPr lang="en-US" sz="950" dirty="0"/>
          </a:p>
        </p:txBody>
      </p:sp>
      <p:sp>
        <p:nvSpPr>
          <p:cNvPr id="28" name="Text 26"/>
          <p:cNvSpPr txBox="1"/>
          <p:nvPr/>
        </p:nvSpPr>
        <p:spPr>
          <a:xfrm>
            <a:off x="762000" y="6299200"/>
            <a:ext cx="762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All 17 assumptions: SCOPE.md. Each one that changes behaviour has a test.</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04 / 21</a:t>
            </a:r>
            <a:endParaRPr lang="en-US" sz="1000" dirty="0"/>
          </a:p>
        </p:txBody>
      </p:sp>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HOW THE WORK WAS RUN</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Three one-day sprints on a board that mirrors the repository, a definition of done per story, a close ritual per sprint.</a:t>
            </a:r>
            <a:endParaRPr lang="en-US" sz="2200" dirty="0"/>
          </a:p>
        </p:txBody>
      </p:sp>
      <p:sp>
        <p:nvSpPr>
          <p:cNvPr id="4" name="Shape 2"/>
          <p:cNvSpPr/>
          <p:nvPr/>
        </p:nvSpPr>
        <p:spPr>
          <a:xfrm>
            <a:off x="711200" y="1739900"/>
            <a:ext cx="7284387"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docs/05-planning/notion/stories.png">    </p:cNvPr>
          <p:cNvPicPr>
            <a:picLocks noChangeAspect="1"/>
          </p:cNvPicPr>
          <p:nvPr/>
        </p:nvPicPr>
        <p:blipFill>
          <a:blip r:embed="rId1"/>
          <a:stretch>
            <a:fillRect/>
          </a:stretch>
        </p:blipFill>
        <p:spPr>
          <a:xfrm>
            <a:off x="762000" y="1790700"/>
            <a:ext cx="7182787" cy="4381500"/>
          </a:xfrm>
          <a:prstGeom prst="rect">
            <a:avLst/>
          </a:prstGeom>
        </p:spPr>
      </p:pic>
      <p:sp>
        <p:nvSpPr>
          <p:cNvPr id="6" name="Shape 3"/>
          <p:cNvSpPr/>
          <p:nvPr/>
        </p:nvSpPr>
        <p:spPr>
          <a:xfrm>
            <a:off x="8198787" y="1790700"/>
            <a:ext cx="3231213" cy="0"/>
          </a:xfrm>
          <a:prstGeom prst="line">
            <a:avLst/>
          </a:prstGeom>
          <a:noFill/>
          <a:ln w="9525">
            <a:solidFill>
              <a:srgbClr val="DDE1E7"/>
            </a:solidFill>
            <a:prstDash val="solid"/>
          </a:ln>
        </p:spPr>
      </p:sp>
      <p:sp>
        <p:nvSpPr>
          <p:cNvPr id="7" name="Text 4"/>
          <p:cNvSpPr txBox="1"/>
          <p:nvPr/>
        </p:nvSpPr>
        <p:spPr>
          <a:xfrm>
            <a:off x="8198787" y="18669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Board and repository, one to one</a:t>
            </a:r>
            <a:endParaRPr lang="en-US" sz="1100" dirty="0"/>
          </a:p>
        </p:txBody>
      </p:sp>
      <p:sp>
        <p:nvSpPr>
          <p:cNvPr id="8" name="Text 5"/>
          <p:cNvSpPr txBox="1"/>
          <p:nvPr/>
        </p:nvSpPr>
        <p:spPr>
          <a:xfrm>
            <a:off x="8198787" y="20701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74 stories in five epics on the board (11 deferred: use case 3 and the admin epic); USER_STORIES.md carries the same ids, titles and acceptance criteria; every branch name carries its story id. Design phase 17 Sep, Sprints 1 to 3 on 18 and 19 Sep.</a:t>
            </a:r>
            <a:endParaRPr lang="en-US" sz="900" dirty="0"/>
          </a:p>
        </p:txBody>
      </p:sp>
      <p:sp>
        <p:nvSpPr>
          <p:cNvPr id="9" name="b1"/>
          <p:cNvSpPr/>
          <p:nvPr/>
        </p:nvSpPr>
        <p:spPr>
          <a:xfrm>
            <a:off x="8198787" y="2908300"/>
            <a:ext cx="3231213" cy="0"/>
          </a:xfrm>
          <a:prstGeom prst="line">
            <a:avLst/>
          </a:prstGeom>
          <a:noFill/>
          <a:ln w="9525">
            <a:solidFill>
              <a:srgbClr val="DDE1E7"/>
            </a:solidFill>
            <a:prstDash val="solid"/>
          </a:ln>
        </p:spPr>
      </p:sp>
      <p:sp>
        <p:nvSpPr>
          <p:cNvPr id="10" name="b1"/>
          <p:cNvSpPr txBox="1"/>
          <p:nvPr/>
        </p:nvSpPr>
        <p:spPr>
          <a:xfrm>
            <a:off x="8198787" y="29845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Cadence</a:t>
            </a:r>
            <a:endParaRPr lang="en-US" sz="1100" dirty="0"/>
          </a:p>
        </p:txBody>
      </p:sp>
      <p:sp>
        <p:nvSpPr>
          <p:cNvPr id="11" name="b1"/>
          <p:cNvSpPr txBox="1"/>
          <p:nvPr/>
        </p:nvSpPr>
        <p:spPr>
          <a:xfrm>
            <a:off x="8198787" y="31877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Planning, 15 minutes at the start of the day. Mid-sprint check at midday: cut or simplify then, not at 23:00. Review and close at the end of the day. Two stories in progress at most.</a:t>
            </a:r>
            <a:endParaRPr lang="en-US" sz="900" dirty="0"/>
          </a:p>
        </p:txBody>
      </p:sp>
      <p:sp>
        <p:nvSpPr>
          <p:cNvPr id="12" name="b1"/>
          <p:cNvSpPr/>
          <p:nvPr/>
        </p:nvSpPr>
        <p:spPr>
          <a:xfrm>
            <a:off x="8198787" y="4025900"/>
            <a:ext cx="3231213" cy="0"/>
          </a:xfrm>
          <a:prstGeom prst="line">
            <a:avLst/>
          </a:prstGeom>
          <a:noFill/>
          <a:ln w="9525">
            <a:solidFill>
              <a:srgbClr val="DDE1E7"/>
            </a:solidFill>
            <a:prstDash val="solid"/>
          </a:ln>
        </p:spPr>
      </p:sp>
      <p:sp>
        <p:nvSpPr>
          <p:cNvPr id="13" name="b1"/>
          <p:cNvSpPr txBox="1"/>
          <p:nvPr/>
        </p:nvSpPr>
        <p:spPr>
          <a:xfrm>
            <a:off x="8198787" y="41021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Definition of done, per story</a:t>
            </a:r>
            <a:endParaRPr lang="en-US" sz="1100" dirty="0"/>
          </a:p>
        </p:txBody>
      </p:sp>
      <p:sp>
        <p:nvSpPr>
          <p:cNvPr id="14" name="b1"/>
          <p:cNvSpPr txBox="1"/>
          <p:nvPr/>
        </p:nvSpPr>
        <p:spPr>
          <a:xfrm>
            <a:off x="8198787" y="43053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Acceptance criteria met; server validation and authorization tested with the wrong role and owner; the standard error body; audit in the same transaction; no path from AI output to state; tests per layer green in CI; docs and the board updated.</a:t>
            </a:r>
            <a:endParaRPr lang="en-US" sz="900" dirty="0"/>
          </a:p>
        </p:txBody>
      </p:sp>
      <p:sp>
        <p:nvSpPr>
          <p:cNvPr id="15" name="b1"/>
          <p:cNvSpPr/>
          <p:nvPr/>
        </p:nvSpPr>
        <p:spPr>
          <a:xfrm>
            <a:off x="8198787" y="5143500"/>
            <a:ext cx="3231213" cy="0"/>
          </a:xfrm>
          <a:prstGeom prst="line">
            <a:avLst/>
          </a:prstGeom>
          <a:noFill/>
          <a:ln w="9525">
            <a:solidFill>
              <a:srgbClr val="DDE1E7"/>
            </a:solidFill>
            <a:prstDash val="solid"/>
          </a:ln>
        </p:spPr>
      </p:sp>
      <p:sp>
        <p:nvSpPr>
          <p:cNvPr id="16" name="b1"/>
          <p:cNvSpPr txBox="1"/>
          <p:nvPr/>
        </p:nvSpPr>
        <p:spPr>
          <a:xfrm>
            <a:off x="8198787" y="5219700"/>
            <a:ext cx="3231213"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Close ritual, run three times</a:t>
            </a:r>
            <a:endParaRPr lang="en-US" sz="1100" dirty="0"/>
          </a:p>
        </p:txBody>
      </p:sp>
      <p:sp>
        <p:nvSpPr>
          <p:cNvPr id="17" name="b1"/>
          <p:cNvSpPr txBox="1"/>
          <p:nvPr/>
        </p:nvSpPr>
        <p:spPr>
          <a:xfrm>
            <a:off x="8198787" y="5422900"/>
            <a:ext cx="3231213"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Tests green, commits checked, board final, CHANGELOG entry with Shipped, Slipped and Retro, SCOPE.md re-read, commit docs: close sprint N. At the third close the admin epic was cut per the cut order, to v0.4.0.</a:t>
            </a:r>
            <a:endParaRPr lang="en-US" sz="900" dirty="0"/>
          </a:p>
        </p:txBody>
      </p:sp>
      <p:sp>
        <p:nvSpPr>
          <p:cNvPr id="18" name="x1"/>
          <p:cNvSpPr/>
          <p:nvPr/>
        </p:nvSpPr>
        <p:spPr>
          <a:xfrm>
            <a:off x="0" y="0"/>
            <a:ext cx="12192000" cy="6858000"/>
          </a:xfrm>
          <a:prstGeom prst="roundRect">
            <a:avLst/>
          </a:prstGeom>
          <a:solidFill>
            <a:srgbClr val="F4F5F7"/>
          </a:solidFill>
          <a:ln w="12700">
            <a:solidFill>
              <a:srgbClr val="F4F5F7"/>
            </a:solidFill>
            <a:prstDash val="solid"/>
          </a:ln>
        </p:spPr>
      </p:sp>
      <p:sp>
        <p:nvSpPr>
          <p:cNvPr id="19" name="x1"/>
          <p:cNvSpPr/>
          <p:nvPr/>
        </p:nvSpPr>
        <p:spPr>
          <a:xfrm>
            <a:off x="840282" y="203200"/>
            <a:ext cx="10511436" cy="6451600"/>
          </a:xfrm>
          <a:prstGeom prst="roundRect">
            <a:avLst>
              <a:gd name="adj" fmla="val 78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20" name="x1" descr="/Users/suhaasnv/Documents/Desktop ALT/portfolioprojects/permitflow/docs/05-planning/notion/stories.png">    </p:cNvPr>
          <p:cNvPicPr>
            <a:picLocks noChangeAspect="1"/>
          </p:cNvPicPr>
          <p:nvPr/>
        </p:nvPicPr>
        <p:blipFill>
          <a:blip r:embed="rId2"/>
          <a:stretch>
            <a:fillRect/>
          </a:stretch>
        </p:blipFill>
        <p:spPr>
          <a:xfrm>
            <a:off x="891082" y="254000"/>
            <a:ext cx="10409836" cy="6350000"/>
          </a:xfrm>
          <a:prstGeom prst="rect">
            <a:avLst/>
          </a:prstGeom>
        </p:spPr>
      </p:pic>
      <p:sp>
        <p:nvSpPr>
          <p:cNvPr id="21"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docs/05-planning: SPRINTS.md (cadence, sprint DoD, close ritual, cut order) · DEFINITION_OF_DONE.md · KANBAN.md · USER_STORIES.md · notion/</a:t>
            </a:r>
            <a:endParaRPr lang="en-US" sz="1000" dirty="0"/>
          </a:p>
        </p:txBody>
      </p:sp>
      <p:sp>
        <p:nvSpPr>
          <p:cNvPr id="22"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05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xit" presetSubtype="0" fill="hold" grpId="0" nodeType="clickEffect">
                                  <p:stCondLst>
                                    <p:cond delay="0"/>
                                  </p:stCondLst>
                                  <p:childTnLst>
                                    <p:animEffect transition="out" filter="fade">
                                      <p:cBhvr>
                                        <p:cTn id="4" dur="320"/>
                                        <p:tgtEl>
                                          <p:spTgt spid="18"/>
                                        </p:tgtEl>
                                      </p:cBhvr>
                                    </p:animEffect>
                                    <p:set>
                                      <p:cBhvr>
                                        <p:cTn id="5" dur="1" fill="hold">
                                          <p:stCondLst>
                                            <p:cond delay="319"/>
                                          </p:stCondLst>
                                        </p:cTn>
                                        <p:tgtEl>
                                          <p:spTgt spid="18"/>
                                        </p:tgtEl>
                                        <p:attrNameLst>
                                          <p:attrName>style.visibility</p:attrName>
                                        </p:attrNameLst>
                                      </p:cBhvr>
                                      <p:to>
                                        <p:strVal val="hidden"/>
                                      </p:to>
                                    </p:set>
                                  </p:childTnLst>
                                </p:cTn>
                              </p:par>
                              <p:par>
                                <p:cTn id="6" presetID="10" presetClass="exit" presetSubtype="0" fill="hold" grpId="0" nodeType="withEffect">
                                  <p:stCondLst>
                                    <p:cond delay="100"/>
                                  </p:stCondLst>
                                  <p:childTnLst>
                                    <p:animEffect transition="out" filter="fade">
                                      <p:cBhvr>
                                        <p:cTn id="7" dur="320"/>
                                        <p:tgtEl>
                                          <p:spTgt spid="19"/>
                                        </p:tgtEl>
                                      </p:cBhvr>
                                    </p:animEffect>
                                    <p:set>
                                      <p:cBhvr>
                                        <p:cTn id="8" dur="1" fill="hold">
                                          <p:stCondLst>
                                            <p:cond delay="319"/>
                                          </p:stCondLst>
                                        </p:cTn>
                                        <p:tgtEl>
                                          <p:spTgt spid="19"/>
                                        </p:tgtEl>
                                        <p:attrNameLst>
                                          <p:attrName>style.visibility</p:attrName>
                                        </p:attrNameLst>
                                      </p:cBhvr>
                                      <p:to>
                                        <p:strVal val="hidden"/>
                                      </p:to>
                                    </p:set>
                                  </p:childTnLst>
                                </p:cTn>
                              </p:par>
                              <p:par>
                                <p:cTn id="9" presetID="10" presetClass="exit" presetSubtype="0" fill="hold" grpId="0" nodeType="withEffect">
                                  <p:stCondLst>
                                    <p:cond delay="200"/>
                                  </p:stCondLst>
                                  <p:childTnLst>
                                    <p:animEffect transition="out" filter="fade">
                                      <p:cBhvr>
                                        <p:cTn id="10" dur="320"/>
                                        <p:tgtEl>
                                          <p:spTgt spid="20"/>
                                        </p:tgtEl>
                                      </p:cBhvr>
                                    </p:animEffect>
                                    <p:set>
                                      <p:cBhvr>
                                        <p:cTn id="11" dur="1" fill="hold">
                                          <p:stCondLst>
                                            <p:cond delay="319"/>
                                          </p:stCondLst>
                                        </p:cTn>
                                        <p:tgtEl>
                                          <p:spTgt spid="20"/>
                                        </p:tgtEl>
                                        <p:attrNameLst>
                                          <p:attrName>style.visibility</p:attrName>
                                        </p:attrNameLst>
                                      </p:cBhvr>
                                      <p:to>
                                        <p:strVal val="hidden"/>
                                      </p:to>
                                    </p:set>
                                  </p:childTnLst>
                                </p:cTn>
                              </p:par>
                              <p:par>
                                <p:cTn id="12" presetID="10" presetClass="entr" presetSubtype="0"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20"/>
                                        <p:tgtEl>
                                          <p:spTgt spid="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20"/>
                                        <p:tgtEl>
                                          <p:spTgt spid="1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20"/>
                                        <p:tgtEl>
                                          <p:spTgt spid="1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20"/>
                                        <p:tgtEl>
                                          <p:spTgt spid="1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20"/>
                                        <p:tgtEl>
                                          <p:spTgt spid="1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20"/>
                                        <p:tgtEl>
                                          <p:spTgt spid="1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20"/>
                                        <p:tgtEl>
                                          <p:spTgt spid="1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20"/>
                                        <p:tgtEl>
                                          <p:spTgt spid="1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ARCHITECTURE</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A modular monolith: one API in strict layers, one web app, one database, an isolated AI module.</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1-solution-architectur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Layers, enforced</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api, services, domain, repositories, models. domain is pure Python: no SQLAlchemy, no FastAPI, no I/O. tests/unit/test_layering.py fails the build if a layer imports downward the wrong way. ADR-001.</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PostgreSQL only</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Relations for users, applications, feedback and audit; every submitted revision an immutable JSON snapshot. Row locks and a version column for concurrency. ADR-002.</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AI in-process, behind an interface</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Background task per document, result polled every 2 s, stale runs marked failed on restart. VerificationProvider with OpenAI and a deterministic mock. ADR-004, the worker is next.</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Stack and telemetry</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FastAPI, SQLAlchemy 2, Pydantic v2, Alembic; React 19, TypeScript strict, Vite, TanStack Query, React Hook Form, Zod; pytest, vitest, Playwright (ADR-009). Prometheus scrapes GET /api/v1/metrics behind a token; Grafana shows one dashboard; six alert rules (US-077).</a:t>
            </a:r>
            <a:endParaRPr lang="en-US" sz="900" dirty="0"/>
          </a:p>
        </p:txBody>
      </p:sp>
      <p:sp>
        <p:nvSpPr>
          <p:cNvPr id="18" name="x1"/>
          <p:cNvSpPr/>
          <p:nvPr/>
        </p:nvSpPr>
        <p:spPr>
          <a:xfrm>
            <a:off x="0" y="0"/>
            <a:ext cx="12192000" cy="6858000"/>
          </a:xfrm>
          <a:prstGeom prst="roundRect">
            <a:avLst/>
          </a:prstGeom>
          <a:solidFill>
            <a:srgbClr val="F4F5F7"/>
          </a:solidFill>
          <a:ln w="12700">
            <a:solidFill>
              <a:srgbClr val="F4F5F7"/>
            </a:solidFill>
            <a:prstDash val="solid"/>
          </a:ln>
        </p:spPr>
      </p:sp>
      <p:sp>
        <p:nvSpPr>
          <p:cNvPr id="19" name="x1"/>
          <p:cNvSpPr/>
          <p:nvPr/>
        </p:nvSpPr>
        <p:spPr>
          <a:xfrm>
            <a:off x="1282700" y="203200"/>
            <a:ext cx="9626600" cy="6451600"/>
          </a:xfrm>
          <a:prstGeom prst="roundRect">
            <a:avLst>
              <a:gd name="adj" fmla="val 78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20" name="x1" descr="/Users/suhaasnv/Documents/Desktop ALT/portfolioprojects/permitflow/notes/pitch/technical/diagrams/01-solution-architecture.png">    </p:cNvPr>
          <p:cNvPicPr>
            <a:picLocks noChangeAspect="1"/>
          </p:cNvPicPr>
          <p:nvPr/>
        </p:nvPicPr>
        <p:blipFill>
          <a:blip r:embed="rId2"/>
          <a:stretch>
            <a:fillRect/>
          </a:stretch>
        </p:blipFill>
        <p:spPr>
          <a:xfrm>
            <a:off x="1333500" y="254000"/>
            <a:ext cx="9525000" cy="6350000"/>
          </a:xfrm>
          <a:prstGeom prst="rect">
            <a:avLst/>
          </a:prstGeom>
        </p:spPr>
      </p:pic>
      <p:sp>
        <p:nvSpPr>
          <p:cNvPr id="21"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docs/03-architecture/ARCHITECTURE.md (API table, request flows) · docs/03-architecture/decisions (12 ADRs, three groups: shape, rules, delivery)</a:t>
            </a:r>
            <a:endParaRPr lang="en-US" sz="1000" dirty="0"/>
          </a:p>
        </p:txBody>
      </p:sp>
      <p:sp>
        <p:nvSpPr>
          <p:cNvPr id="22"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06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xit" presetSubtype="0" fill="hold" grpId="0" nodeType="clickEffect">
                                  <p:stCondLst>
                                    <p:cond delay="0"/>
                                  </p:stCondLst>
                                  <p:childTnLst>
                                    <p:animEffect transition="out" filter="fade">
                                      <p:cBhvr>
                                        <p:cTn id="4" dur="320"/>
                                        <p:tgtEl>
                                          <p:spTgt spid="18"/>
                                        </p:tgtEl>
                                      </p:cBhvr>
                                    </p:animEffect>
                                    <p:set>
                                      <p:cBhvr>
                                        <p:cTn id="5" dur="1" fill="hold">
                                          <p:stCondLst>
                                            <p:cond delay="319"/>
                                          </p:stCondLst>
                                        </p:cTn>
                                        <p:tgtEl>
                                          <p:spTgt spid="18"/>
                                        </p:tgtEl>
                                        <p:attrNameLst>
                                          <p:attrName>style.visibility</p:attrName>
                                        </p:attrNameLst>
                                      </p:cBhvr>
                                      <p:to>
                                        <p:strVal val="hidden"/>
                                      </p:to>
                                    </p:set>
                                  </p:childTnLst>
                                </p:cTn>
                              </p:par>
                              <p:par>
                                <p:cTn id="6" presetID="10" presetClass="exit" presetSubtype="0" fill="hold" grpId="0" nodeType="withEffect">
                                  <p:stCondLst>
                                    <p:cond delay="100"/>
                                  </p:stCondLst>
                                  <p:childTnLst>
                                    <p:animEffect transition="out" filter="fade">
                                      <p:cBhvr>
                                        <p:cTn id="7" dur="320"/>
                                        <p:tgtEl>
                                          <p:spTgt spid="19"/>
                                        </p:tgtEl>
                                      </p:cBhvr>
                                    </p:animEffect>
                                    <p:set>
                                      <p:cBhvr>
                                        <p:cTn id="8" dur="1" fill="hold">
                                          <p:stCondLst>
                                            <p:cond delay="319"/>
                                          </p:stCondLst>
                                        </p:cTn>
                                        <p:tgtEl>
                                          <p:spTgt spid="19"/>
                                        </p:tgtEl>
                                        <p:attrNameLst>
                                          <p:attrName>style.visibility</p:attrName>
                                        </p:attrNameLst>
                                      </p:cBhvr>
                                      <p:to>
                                        <p:strVal val="hidden"/>
                                      </p:to>
                                    </p:set>
                                  </p:childTnLst>
                                </p:cTn>
                              </p:par>
                              <p:par>
                                <p:cTn id="9" presetID="10" presetClass="exit" presetSubtype="0" fill="hold" grpId="0" nodeType="withEffect">
                                  <p:stCondLst>
                                    <p:cond delay="200"/>
                                  </p:stCondLst>
                                  <p:childTnLst>
                                    <p:animEffect transition="out" filter="fade">
                                      <p:cBhvr>
                                        <p:cTn id="10" dur="320"/>
                                        <p:tgtEl>
                                          <p:spTgt spid="20"/>
                                        </p:tgtEl>
                                      </p:cBhvr>
                                    </p:animEffect>
                                    <p:set>
                                      <p:cBhvr>
                                        <p:cTn id="11" dur="1" fill="hold">
                                          <p:stCondLst>
                                            <p:cond delay="319"/>
                                          </p:stCondLst>
                                        </p:cTn>
                                        <p:tgtEl>
                                          <p:spTgt spid="20"/>
                                        </p:tgtEl>
                                        <p:attrNameLst>
                                          <p:attrName>style.visibility</p:attrName>
                                        </p:attrNameLst>
                                      </p:cBhvr>
                                      <p:to>
                                        <p:strVal val="hidden"/>
                                      </p:to>
                                    </p:set>
                                  </p:childTnLst>
                                </p:cTn>
                              </p:par>
                              <p:par>
                                <p:cTn id="12" presetID="10" presetClass="entr" presetSubtype="0"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20"/>
                                        <p:tgtEl>
                                          <p:spTgt spid="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20"/>
                                        <p:tgtEl>
                                          <p:spTgt spid="1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20"/>
                                        <p:tgtEl>
                                          <p:spTgt spid="1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20"/>
                                        <p:tgtEl>
                                          <p:spTgt spid="1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20"/>
                                        <p:tgtEl>
                                          <p:spTgt spid="1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20"/>
                                        <p:tgtEl>
                                          <p:spTgt spid="1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20"/>
                                        <p:tgtEl>
                                          <p:spTgt spid="1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20"/>
                                        <p:tgtEl>
                                          <p:spTgt spid="1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1 OF 4 · ADR-003</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The workflow is a table, not a set of if statements.</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The fourteen statuses and every allowed move as data: from, to, actor, guard, label. One function, transition(), consults it. available_actions() gives the UI its buttons with the reason a button is disabled.</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Status changes scattered through services, or a workflow library with its own model of the world.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A table can be compared with the brief's status table line by line and tested exhaustively. Adding a status is a row. Reject is possible from every state the MVP can reach and withdraw from every post-submission state, so no case can get stuck; the three post-site states get reject when use case 3 ships.</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1258824"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1258824"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Officer action</a:t>
            </a:r>
            <a:endParaRPr lang="en-US" sz="950" dirty="0"/>
          </a:p>
        </p:txBody>
      </p:sp>
      <p:sp>
        <p:nvSpPr>
          <p:cNvPr id="16" name="Text 14"/>
          <p:cNvSpPr txBox="1"/>
          <p:nvPr/>
        </p:nvSpPr>
        <p:spPr>
          <a:xfrm>
            <a:off x="2046224"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2300224" y="5664200"/>
            <a:ext cx="272592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2300224" y="5664200"/>
            <a:ext cx="27259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transition(status, target, actor)</a:t>
            </a:r>
            <a:endParaRPr lang="en-US" sz="950" dirty="0"/>
          </a:p>
        </p:txBody>
      </p:sp>
      <p:sp>
        <p:nvSpPr>
          <p:cNvPr id="19" name="Text 17"/>
          <p:cNvSpPr txBox="1"/>
          <p:nvPr/>
        </p:nvSpPr>
        <p:spPr>
          <a:xfrm>
            <a:off x="505155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5305552" y="5664200"/>
            <a:ext cx="563880"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5305552" y="56642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guard</a:t>
            </a:r>
            <a:endParaRPr lang="en-US" sz="950" dirty="0"/>
          </a:p>
        </p:txBody>
      </p:sp>
      <p:sp>
        <p:nvSpPr>
          <p:cNvPr id="22" name="Shape 20"/>
          <p:cNvSpPr/>
          <p:nvPr/>
        </p:nvSpPr>
        <p:spPr>
          <a:xfrm>
            <a:off x="762000" y="5981700"/>
            <a:ext cx="226263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226263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status, audit, notification</a:t>
            </a:r>
            <a:endParaRPr lang="en-US" sz="950" dirty="0"/>
          </a:p>
        </p:txBody>
      </p:sp>
      <p:sp>
        <p:nvSpPr>
          <p:cNvPr id="24" name="Text 22"/>
          <p:cNvSpPr txBox="1"/>
          <p:nvPr/>
        </p:nvSpPr>
        <p:spPr>
          <a:xfrm>
            <a:off x="30500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3304032" y="5981700"/>
            <a:ext cx="949960"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330403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one commit</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domain/workflow.py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16 explicit rows, plus reject from 7 states and withdraw from 10 (33 transitions); guards: is_complete, open_feedback_count, has_changes_to_flagged_targets</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domain/labels.py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the brief's table verbatim: internal status, officer label, operator label, badge tone</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tests/unit/test_workflow.py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every (source, target, actor) combination: 14 x 14 x 3 = 588 cases; terminal states have no exits; guards</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POST /officer/applications/{id}/transition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row lock, expected_version, 409 invalid_transition with the allowed list, audit and notification in the same transaction</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Guards are Python callables, so a guard that needs data the context does not carry means extending the context. Accepted: the context has three fields and has not grown since Day 1.</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07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1 OF 4 · THE TABLE ITSELF</a:t>
            </a:r>
            <a:endParaRPr lang="en-US" sz="1100" dirty="0"/>
          </a:p>
        </p:txBody>
      </p:sp>
      <p:sp>
        <p:nvSpPr>
          <p:cNvPr id="3" name="Text 1"/>
          <p:cNvSpPr txBox="1"/>
          <p:nvPr/>
        </p:nvSpPr>
        <p:spPr>
          <a:xfrm>
            <a:off x="762000" y="863600"/>
            <a:ext cx="10668000" cy="635000"/>
          </a:xfrm>
          <a:prstGeom prst="rect">
            <a:avLst/>
          </a:prstGeom>
          <a:noFill/>
          <a:ln/>
        </p:spPr>
        <p:txBody>
          <a:bodyPr wrap="square" lIns="0" tIns="0" rIns="0" bIns="0" rtlCol="0" anchor="t"/>
          <a:lstStyle/>
          <a:p>
            <a:pPr algn="l" indent="0" marL="0">
              <a:lnSpc>
                <a:spcPct val="108000"/>
              </a:lnSpc>
              <a:buNone/>
            </a:pPr>
            <a:r>
              <a:rPr lang="en-US" sz="2000" dirty="0">
                <a:solidFill>
                  <a:srgbClr val="1B2430"/>
                </a:solidFill>
                <a:latin typeface="Instrument Serif" pitchFamily="34" charset="0"/>
                <a:ea typeface="Instrument Serif" pitchFamily="34" charset="-122"/>
                <a:cs typeface="Instrument Serif" pitchFamily="34" charset="-120"/>
              </a:rPr>
              <a:t>The table in domain/workflow.py: a row per allowed move, one function that consults it.</a:t>
            </a:r>
            <a:endParaRPr lang="en-US" sz="2000" dirty="0"/>
          </a:p>
        </p:txBody>
      </p:sp>
      <p:sp>
        <p:nvSpPr>
          <p:cNvPr id="4" name="Shape 2"/>
          <p:cNvSpPr/>
          <p:nvPr/>
        </p:nvSpPr>
        <p:spPr>
          <a:xfrm>
            <a:off x="762000" y="1714500"/>
            <a:ext cx="6858000" cy="4445000"/>
          </a:xfrm>
          <a:prstGeom prst="roundRect">
            <a:avLst>
              <a:gd name="adj" fmla="val 857"/>
            </a:avLst>
          </a:prstGeom>
          <a:solidFill>
            <a:srgbClr val="1B2430"/>
          </a:solidFill>
          <a:ln w="9525">
            <a:solidFill>
              <a:srgbClr val="1B2430"/>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90600" y="1892300"/>
            <a:ext cx="6400800" cy="4089400"/>
          </a:xfrm>
          <a:prstGeom prst="rect">
            <a:avLst/>
          </a:prstGeom>
          <a:noFill/>
          <a:ln/>
        </p:spPr>
        <p:txBody>
          <a:bodyPr wrap="square" lIns="0" tIns="0" rIns="0" bIns="0" rtlCol="0" anchor="t"/>
          <a:lstStyle/>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@dataclass(frozen=True)</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class Transition:</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source: S</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target: S</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actor: Actor</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guard: Guard | None = None</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label: str = ""</a:t>
            </a:r>
            <a:endParaRPr lang="en-US" sz="900" dirty="0"/>
          </a:p>
          <a:p>
            <a:pPr algn="l" indent="0" marL="0">
              <a:lnSpc>
                <a:spcPct val="130000"/>
              </a:lnSpc>
              <a:buNone/>
            </a:pP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TRANSITIONS: tuple[Transition, ...] = (</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Transition(S.DRAFT, S.APPLICATION_RECEIVED,</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Actor.OPERATOR, _needs_complete, "Submit"),</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Transition(S.APPLICATION_RECEIVED, S.UNDER_REVIEW,</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Actor.OFFICER, None, "Start review"),</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Transition(S.PENDING_APPROVAL, S.APPROVED,</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Actor.OFFICER, None, "Approve"),</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Transition(S.PENDING_APPROVAL, S.UNDER_REVIEW,</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Actor.OFFICER, None, "Return to review"),</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TRANSITIONS += tuple(</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Transition(src, S.REJECTED, Actor.OFFICER, _needs_note, "Reject")</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    for src in _REJECT_SOURCES</a:t>
            </a:r>
            <a:endParaRPr lang="en-US" sz="900" dirty="0"/>
          </a:p>
          <a:p>
            <a:pPr algn="l" indent="0" marL="0">
              <a:lnSpc>
                <a:spcPct val="130000"/>
              </a:lnSpc>
              <a:buNone/>
            </a:pPr>
            <a:r>
              <a:rPr lang="en-US" sz="900" dirty="0">
                <a:solidFill>
                  <a:srgbClr val="E6EAF0"/>
                </a:solidFill>
                <a:latin typeface="IBM Plex Mono" pitchFamily="34" charset="0"/>
                <a:ea typeface="IBM Plex Mono" pitchFamily="34" charset="-122"/>
                <a:cs typeface="IBM Plex Mono" pitchFamily="34" charset="-120"/>
              </a:rPr>
              <a:t>)</a:t>
            </a:r>
            <a:endParaRPr lang="en-US" sz="900" dirty="0"/>
          </a:p>
        </p:txBody>
      </p:sp>
      <p:sp>
        <p:nvSpPr>
          <p:cNvPr id="6" name="Shape 4"/>
          <p:cNvSpPr/>
          <p:nvPr/>
        </p:nvSpPr>
        <p:spPr>
          <a:xfrm>
            <a:off x="7874000" y="1714500"/>
            <a:ext cx="3556000" cy="0"/>
          </a:xfrm>
          <a:prstGeom prst="line">
            <a:avLst/>
          </a:prstGeom>
          <a:noFill/>
          <a:ln w="9525">
            <a:solidFill>
              <a:srgbClr val="DDE1E7"/>
            </a:solidFill>
            <a:prstDash val="solid"/>
          </a:ln>
        </p:spPr>
      </p:sp>
      <p:sp>
        <p:nvSpPr>
          <p:cNvPr id="7" name="Text 5"/>
          <p:cNvSpPr txBox="1"/>
          <p:nvPr/>
        </p:nvSpPr>
        <p:spPr>
          <a:xfrm>
            <a:off x="7874000" y="1803400"/>
            <a:ext cx="3556000" cy="2032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Data, not branches</a:t>
            </a:r>
            <a:endParaRPr lang="en-US" sz="1100" dirty="0"/>
          </a:p>
        </p:txBody>
      </p:sp>
      <p:sp>
        <p:nvSpPr>
          <p:cNvPr id="8" name="Text 6"/>
          <p:cNvSpPr txBox="1"/>
          <p:nvPr/>
        </p:nvSpPr>
        <p:spPr>
          <a:xfrm>
            <a:off x="7874000" y="2032000"/>
            <a:ext cx="3556000" cy="9525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frozen dataclass per row; the tuple is the whole policy. transition() looks a row up, runs its guard, and returns the new status or a typed error (invalid, forbidden, guard).</a:t>
            </a:r>
            <a:endParaRPr lang="en-US" sz="900" dirty="0"/>
          </a:p>
        </p:txBody>
      </p:sp>
      <p:sp>
        <p:nvSpPr>
          <p:cNvPr id="9" name="b1"/>
          <p:cNvSpPr/>
          <p:nvPr/>
        </p:nvSpPr>
        <p:spPr>
          <a:xfrm>
            <a:off x="7874000" y="3187700"/>
            <a:ext cx="3556000" cy="0"/>
          </a:xfrm>
          <a:prstGeom prst="line">
            <a:avLst/>
          </a:prstGeom>
          <a:noFill/>
          <a:ln w="9525">
            <a:solidFill>
              <a:srgbClr val="DDE1E7"/>
            </a:solidFill>
            <a:prstDash val="solid"/>
          </a:ln>
        </p:spPr>
      </p:sp>
      <p:sp>
        <p:nvSpPr>
          <p:cNvPr id="10" name="b1"/>
          <p:cNvSpPr txBox="1"/>
          <p:nvPr/>
        </p:nvSpPr>
        <p:spPr>
          <a:xfrm>
            <a:off x="7874000" y="3276600"/>
            <a:ext cx="3556000" cy="2032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Guards are named</a:t>
            </a:r>
            <a:endParaRPr lang="en-US" sz="1100" dirty="0"/>
          </a:p>
        </p:txBody>
      </p:sp>
      <p:sp>
        <p:nvSpPr>
          <p:cNvPr id="11" name="b1"/>
          <p:cNvSpPr txBox="1"/>
          <p:nvPr/>
        </p:nvSpPr>
        <p:spPr>
          <a:xfrm>
            <a:off x="7874000" y="3505200"/>
            <a:ext cx="3556000" cy="9525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_needs_complete, _needs_note, open feedback counts: small callables over a three-field context, listed in the evidence on the previous slide.</a:t>
            </a:r>
            <a:endParaRPr lang="en-US" sz="900" dirty="0"/>
          </a:p>
        </p:txBody>
      </p:sp>
      <p:sp>
        <p:nvSpPr>
          <p:cNvPr id="12" name="b1"/>
          <p:cNvSpPr/>
          <p:nvPr/>
        </p:nvSpPr>
        <p:spPr>
          <a:xfrm>
            <a:off x="7874000" y="4660900"/>
            <a:ext cx="3556000" cy="0"/>
          </a:xfrm>
          <a:prstGeom prst="line">
            <a:avLst/>
          </a:prstGeom>
          <a:noFill/>
          <a:ln w="9525">
            <a:solidFill>
              <a:srgbClr val="DDE1E7"/>
            </a:solidFill>
            <a:prstDash val="solid"/>
          </a:ln>
        </p:spPr>
      </p:sp>
      <p:sp>
        <p:nvSpPr>
          <p:cNvPr id="13" name="b1"/>
          <p:cNvSpPr txBox="1"/>
          <p:nvPr/>
        </p:nvSpPr>
        <p:spPr>
          <a:xfrm>
            <a:off x="7874000" y="4749800"/>
            <a:ext cx="3556000" cy="2032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The sweep</a:t>
            </a:r>
            <a:endParaRPr lang="en-US" sz="1100" dirty="0"/>
          </a:p>
        </p:txBody>
      </p:sp>
      <p:sp>
        <p:nvSpPr>
          <p:cNvPr id="14" name="b1"/>
          <p:cNvSpPr txBox="1"/>
          <p:nvPr/>
        </p:nvSpPr>
        <p:spPr>
          <a:xfrm>
            <a:off x="7874000" y="4978400"/>
            <a:ext cx="3556000" cy="9525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test_workflow.py builds VALID from this tuple and iterates 14 x 14 x 3 combinations, asserting the kind of refusal, not only that it refused.</a:t>
            </a:r>
            <a:endParaRPr lang="en-US" sz="900" dirty="0"/>
          </a:p>
        </p:txBody>
      </p:sp>
      <p:sp>
        <p:nvSpPr>
          <p:cNvPr id="15" name="Text 13"/>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backend/app/domain/workflow.py · backend/tests/unit/test_workflow.py · the same table drives available_actions() for the UI</a:t>
            </a:r>
            <a:endParaRPr lang="en-US" sz="1000" dirty="0"/>
          </a:p>
        </p:txBody>
      </p:sp>
      <p:sp>
        <p:nvSpPr>
          <p:cNvPr id="16" name="Text 14"/>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08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320"/>
                                        <p:tgtEl>
                                          <p:spTgt spid="9"/>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320"/>
                                        <p:tgtEl>
                                          <p:spTgt spid="10"/>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20"/>
                                        <p:tgtEl>
                                          <p:spTgt spid="11"/>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320"/>
                                        <p:tgtEl>
                                          <p:spTgt spid="12"/>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320"/>
                                        <p:tgtEl>
                                          <p:spTgt spid="1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3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2 OF 4 · ADR-005</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Operators never see internal status codes, because the API cannot send them.</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Role checked per router; ownership enforced in the one function that loads an application (another owner's case is a 404, not a 403); a separate response model per role, so the operator view has no field for the internal status or the officer label.</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Checking roles in the UI, or one shared response shape with fields hidden client-side.</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The brief's constraint, operators cannot see the approval stage, becomes a property of the types and the tests, not a hope. A leaked field would be a schema change, which a reviewer sees in the diff.</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409448"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40944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JWT</a:t>
            </a:r>
            <a:endParaRPr lang="en-US" sz="950" dirty="0"/>
          </a:p>
        </p:txBody>
      </p:sp>
      <p:sp>
        <p:nvSpPr>
          <p:cNvPr id="16" name="Text 14"/>
          <p:cNvSpPr txBox="1"/>
          <p:nvPr/>
        </p:nvSpPr>
        <p:spPr>
          <a:xfrm>
            <a:off x="1196848"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450848" y="5664200"/>
            <a:ext cx="1953768"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450848" y="5664200"/>
            <a:ext cx="195376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require_role per router</a:t>
            </a:r>
            <a:endParaRPr lang="en-US" sz="950" dirty="0"/>
          </a:p>
        </p:txBody>
      </p:sp>
      <p:sp>
        <p:nvSpPr>
          <p:cNvPr id="19" name="Text 17"/>
          <p:cNvSpPr txBox="1"/>
          <p:nvPr/>
        </p:nvSpPr>
        <p:spPr>
          <a:xfrm>
            <a:off x="343001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3684016" y="5664200"/>
            <a:ext cx="187655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684016" y="56642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get_for(user, id): 404</a:t>
            </a:r>
            <a:endParaRPr lang="en-US" sz="950" dirty="0"/>
          </a:p>
        </p:txBody>
      </p:sp>
      <p:sp>
        <p:nvSpPr>
          <p:cNvPr id="22" name="Shape 20"/>
          <p:cNvSpPr/>
          <p:nvPr/>
        </p:nvSpPr>
        <p:spPr>
          <a:xfrm>
            <a:off x="762000" y="5981700"/>
            <a:ext cx="1336040"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role view model</a:t>
            </a:r>
            <a:endParaRPr lang="en-US" sz="950" dirty="0"/>
          </a:p>
        </p:txBody>
      </p:sp>
      <p:sp>
        <p:nvSpPr>
          <p:cNvPr id="24" name="Text 22"/>
          <p:cNvSpPr txBox="1"/>
          <p:nvPr/>
        </p:nvSpPr>
        <p:spPr>
          <a:xfrm>
            <a:off x="2123440"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2377440" y="5981700"/>
            <a:ext cx="795528"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377440" y="5981700"/>
            <a:ext cx="79552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response</a:t>
            </a:r>
            <a:endParaRPr lang="en-US" sz="950" dirty="0"/>
          </a:p>
        </p:txBody>
      </p:sp>
      <p:sp>
        <p:nvSpPr>
          <p:cNvPr id="27"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28" name="b1"/>
          <p:cNvSpPr/>
          <p:nvPr/>
        </p:nvSpPr>
        <p:spPr>
          <a:xfrm>
            <a:off x="6667500" y="2133600"/>
            <a:ext cx="4762500" cy="0"/>
          </a:xfrm>
          <a:prstGeom prst="line">
            <a:avLst/>
          </a:prstGeom>
          <a:noFill/>
          <a:ln w="9525">
            <a:solidFill>
              <a:srgbClr val="DDE1E7"/>
            </a:solidFill>
            <a:prstDash val="solid"/>
          </a:ln>
        </p:spPr>
      </p:sp>
      <p:sp>
        <p:nvSpPr>
          <p:cNvPr id="29"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api/deps.py</a:t>
            </a:r>
            <a:endParaRPr lang="en-US" sz="950" dirty="0"/>
          </a:p>
        </p:txBody>
      </p:sp>
      <p:sp>
        <p:nvSpPr>
          <p:cNvPr id="30"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get_current_user (JWT, active user), require_role('officer'), require_role('admin')</a:t>
            </a:r>
            <a:endParaRPr lang="en-US" sz="900" dirty="0"/>
          </a:p>
        </p:txBody>
      </p:sp>
      <p:sp>
        <p:nvSpPr>
          <p:cNvPr id="31" name="b1"/>
          <p:cNvSpPr/>
          <p:nvPr/>
        </p:nvSpPr>
        <p:spPr>
          <a:xfrm>
            <a:off x="6667500" y="2844800"/>
            <a:ext cx="4762500" cy="0"/>
          </a:xfrm>
          <a:prstGeom prst="line">
            <a:avLst/>
          </a:prstGeom>
          <a:noFill/>
          <a:ln w="9525">
            <a:solidFill>
              <a:srgbClr val="DDE1E7"/>
            </a:solidFill>
            <a:prstDash val="solid"/>
          </a:ln>
        </p:spPr>
      </p:sp>
      <p:sp>
        <p:nvSpPr>
          <p:cNvPr id="32"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repositories/applications.py</a:t>
            </a:r>
            <a:endParaRPr lang="en-US" sz="950" dirty="0"/>
          </a:p>
        </p:txBody>
      </p:sp>
      <p:sp>
        <p:nvSpPr>
          <p:cNvPr id="33"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get_for(user, id) applies the operator_id filter; NotFound for another owner</a:t>
            </a:r>
            <a:endParaRPr lang="en-US" sz="900" dirty="0"/>
          </a:p>
        </p:txBody>
      </p:sp>
      <p:sp>
        <p:nvSpPr>
          <p:cNvPr id="34" name="b1"/>
          <p:cNvSpPr/>
          <p:nvPr/>
        </p:nvSpPr>
        <p:spPr>
          <a:xfrm>
            <a:off x="6667500" y="3556000"/>
            <a:ext cx="4762500" cy="0"/>
          </a:xfrm>
          <a:prstGeom prst="line">
            <a:avLst/>
          </a:prstGeom>
          <a:noFill/>
          <a:ln w="9525">
            <a:solidFill>
              <a:srgbClr val="DDE1E7"/>
            </a:solidFill>
            <a:prstDash val="solid"/>
          </a:ln>
        </p:spPr>
      </p:sp>
      <p:sp>
        <p:nvSpPr>
          <p:cNvPr id="35"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schemas/applications.py vs schemas/officer.py</a:t>
            </a:r>
            <a:endParaRPr lang="en-US" sz="950" dirty="0"/>
          </a:p>
        </p:txBody>
      </p:sp>
      <p:sp>
        <p:nvSpPr>
          <p:cNvPr id="36"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operator view: operator label, released feedback without author, no internal status, no decision note before the outcome</a:t>
            </a:r>
            <a:endParaRPr lang="en-US" sz="900" dirty="0"/>
          </a:p>
        </p:txBody>
      </p:sp>
      <p:sp>
        <p:nvSpPr>
          <p:cNvPr id="37" name="b1"/>
          <p:cNvSpPr/>
          <p:nvPr/>
        </p:nvSpPr>
        <p:spPr>
          <a:xfrm>
            <a:off x="6667500" y="4267200"/>
            <a:ext cx="4762500" cy="0"/>
          </a:xfrm>
          <a:prstGeom prst="line">
            <a:avLst/>
          </a:prstGeom>
          <a:noFill/>
          <a:ln w="9525">
            <a:solidFill>
              <a:srgbClr val="DDE1E7"/>
            </a:solidFill>
            <a:prstDash val="solid"/>
          </a:ln>
        </p:spPr>
      </p:sp>
      <p:sp>
        <p:nvSpPr>
          <p:cNvPr id="38"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tests/integration</a:t>
            </a:r>
            <a:endParaRPr lang="en-US" sz="950" dirty="0"/>
          </a:p>
        </p:txBody>
      </p:sp>
      <p:sp>
        <p:nvSpPr>
          <p:cNvPr id="39"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an authorization test for every endpoint: wrong role 403, wrong owner 404, cross-application ids 404, admin read-only</a:t>
            </a:r>
            <a:endParaRPr lang="en-US" sz="900" dirty="0"/>
          </a:p>
        </p:txBody>
      </p:sp>
      <p:sp>
        <p:nvSpPr>
          <p:cNvPr id="40"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1"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2"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Two response models to keep in step when a field is added. Accepted: the layering test and the API table in ARCHITECTURE.md make a missed field visible.</a:t>
            </a:r>
            <a:endParaRPr lang="en-US" sz="950" dirty="0"/>
          </a:p>
        </p:txBody>
      </p:sp>
      <p:sp>
        <p:nvSpPr>
          <p:cNvPr id="43" name="Text 41"/>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09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7"/>
                                        </p:tgtEl>
                                        <p:attrNameLst>
                                          <p:attrName>style.visibility</p:attrName>
                                        </p:attrNameLst>
                                      </p:cBhvr>
                                      <p:to>
                                        <p:strVal val="visible"/>
                                      </p:to>
                                    </p:set>
                                    <p:animEffect transition="in" filter="fade">
                                      <p:cBhvr>
                                        <p:cTn id="5" dur="320"/>
                                        <p:tgtEl>
                                          <p:spTgt spid="27"/>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28"/>
                                        </p:tgtEl>
                                        <p:attrNameLst>
                                          <p:attrName>style.visibility</p:attrName>
                                        </p:attrNameLst>
                                      </p:cBhvr>
                                      <p:to>
                                        <p:strVal val="visible"/>
                                      </p:to>
                                    </p:set>
                                    <p:animEffect transition="in" filter="fade">
                                      <p:cBhvr>
                                        <p:cTn id="8" dur="320"/>
                                        <p:tgtEl>
                                          <p:spTgt spid="28"/>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320"/>
                                        <p:tgtEl>
                                          <p:spTgt spid="29"/>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320"/>
                                        <p:tgtEl>
                                          <p:spTgt spid="30"/>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320"/>
                                        <p:tgtEl>
                                          <p:spTgt spid="31"/>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320"/>
                                        <p:tgtEl>
                                          <p:spTgt spid="32"/>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3"/>
                                        </p:tgtEl>
                                        <p:attrNameLst>
                                          <p:attrName>style.visibility</p:attrName>
                                        </p:attrNameLst>
                                      </p:cBhvr>
                                      <p:to>
                                        <p:strVal val="visible"/>
                                      </p:to>
                                    </p:set>
                                    <p:animEffect transition="in" filter="fade">
                                      <p:cBhvr>
                                        <p:cTn id="23" dur="320"/>
                                        <p:tgtEl>
                                          <p:spTgt spid="33"/>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320"/>
                                        <p:tgtEl>
                                          <p:spTgt spid="34"/>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320"/>
                                        <p:tgtEl>
                                          <p:spTgt spid="35"/>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320"/>
                                        <p:tgtEl>
                                          <p:spTgt spid="36"/>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320"/>
                                        <p:tgtEl>
                                          <p:spTgt spid="37"/>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320"/>
                                        <p:tgtEl>
                                          <p:spTgt spid="38"/>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320"/>
                                        <p:tgtEl>
                                          <p:spTgt spid="39"/>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320"/>
                                        <p:tgtEl>
                                          <p:spTgt spid="40"/>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320"/>
                                        <p:tgtEl>
                                          <p:spTgt spid="41"/>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2"/>
                                        </p:tgtEl>
                                        <p:attrNameLst>
                                          <p:attrName>style.visibility</p:attrName>
                                        </p:attrNameLst>
                                      </p:cBhvr>
                                      <p:to>
                                        <p:strVal val="visible"/>
                                      </p:to>
                                    </p:set>
                                    <p:animEffect transition="in" filter="fade">
                                      <p:cBhvr>
                                        <p:cTn id="50" dur="32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3 OF 4 · ADR-006</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The AI check advises. Strict schemas and deterministic rules decide what an answer is allowed to mean.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A provider interface with two implementations (OpenAI structured output, deterministic mock). A pinned wire schema, then a strict domain model (extra forbidden, confidence 0 to 1, status must agree with the issue list), then rules after the model: confidence under 0.6 or an injection phrase forces needs_review. The result is stored on the run and shown to the officer. It never touches status, feedback or editability.</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Letting the model's answer drive the workflow, or free-text answers parsed by hand.</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The brief says AI assists and the officer decides. With strict schemas a bad answer becomes a flagged answer, never a state change. Over quota or on failure the run is stored unavailable and the application proceeds.</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upload</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682496" y="5664200"/>
            <a:ext cx="133604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extract, capped</a:t>
            </a:r>
            <a:endParaRPr lang="en-US" sz="950" dirty="0"/>
          </a:p>
        </p:txBody>
      </p:sp>
      <p:sp>
        <p:nvSpPr>
          <p:cNvPr id="19" name="Text 17"/>
          <p:cNvSpPr txBox="1"/>
          <p:nvPr/>
        </p:nvSpPr>
        <p:spPr>
          <a:xfrm>
            <a:off x="304393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3297936" y="5664200"/>
            <a:ext cx="1027176"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3297936"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model, 30 s</a:t>
            </a:r>
            <a:endParaRPr lang="en-US" sz="950" dirty="0"/>
          </a:p>
        </p:txBody>
      </p:sp>
      <p:sp>
        <p:nvSpPr>
          <p:cNvPr id="22" name="Text 20"/>
          <p:cNvSpPr txBox="1"/>
          <p:nvPr/>
        </p:nvSpPr>
        <p:spPr>
          <a:xfrm>
            <a:off x="4350512"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3" name="Shape 21"/>
          <p:cNvSpPr/>
          <p:nvPr/>
        </p:nvSpPr>
        <p:spPr>
          <a:xfrm>
            <a:off x="4604512" y="5664200"/>
            <a:ext cx="1027176" cy="228600"/>
          </a:xfrm>
          <a:prstGeom prst="roundRect">
            <a:avLst>
              <a:gd name="adj" fmla="val 16667"/>
            </a:avLst>
          </a:prstGeom>
          <a:solidFill>
            <a:srgbClr val="FFFFFF"/>
          </a:solidFill>
          <a:ln w="9525">
            <a:solidFill>
              <a:srgbClr val="AEB6C2"/>
            </a:solidFill>
            <a:prstDash val="solid"/>
          </a:ln>
        </p:spPr>
      </p:sp>
      <p:sp>
        <p:nvSpPr>
          <p:cNvPr id="24" name="Text 22"/>
          <p:cNvSpPr txBox="1"/>
          <p:nvPr/>
        </p:nvSpPr>
        <p:spPr>
          <a:xfrm>
            <a:off x="4604512" y="5664200"/>
            <a:ext cx="102717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wire schema</a:t>
            </a:r>
            <a:endParaRPr lang="en-US" sz="950" dirty="0"/>
          </a:p>
        </p:txBody>
      </p:sp>
      <p:sp>
        <p:nvSpPr>
          <p:cNvPr id="25" name="Shape 23"/>
          <p:cNvSpPr/>
          <p:nvPr/>
        </p:nvSpPr>
        <p:spPr>
          <a:xfrm>
            <a:off x="762000"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762000"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domain model</a:t>
            </a:r>
            <a:endParaRPr lang="en-US" sz="950" dirty="0"/>
          </a:p>
        </p:txBody>
      </p:sp>
      <p:sp>
        <p:nvSpPr>
          <p:cNvPr id="27" name="Text 25"/>
          <p:cNvSpPr txBox="1"/>
          <p:nvPr/>
        </p:nvSpPr>
        <p:spPr>
          <a:xfrm>
            <a:off x="189179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8" name="Shape 26"/>
          <p:cNvSpPr/>
          <p:nvPr/>
        </p:nvSpPr>
        <p:spPr>
          <a:xfrm>
            <a:off x="2145792" y="5981700"/>
            <a:ext cx="56388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2145792" y="5981700"/>
            <a:ext cx="56388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rules</a:t>
            </a:r>
            <a:endParaRPr lang="en-US" sz="950" dirty="0"/>
          </a:p>
        </p:txBody>
      </p:sp>
      <p:sp>
        <p:nvSpPr>
          <p:cNvPr id="30" name="Text 28"/>
          <p:cNvSpPr txBox="1"/>
          <p:nvPr/>
        </p:nvSpPr>
        <p:spPr>
          <a:xfrm>
            <a:off x="273507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31" name="Shape 29"/>
          <p:cNvSpPr/>
          <p:nvPr/>
        </p:nvSpPr>
        <p:spPr>
          <a:xfrm>
            <a:off x="2989072" y="5981700"/>
            <a:ext cx="949960" cy="228600"/>
          </a:xfrm>
          <a:prstGeom prst="roundRect">
            <a:avLst>
              <a:gd name="adj" fmla="val 16667"/>
            </a:avLst>
          </a:prstGeom>
          <a:solidFill>
            <a:srgbClr val="FFFFFF"/>
          </a:solidFill>
          <a:ln w="9525">
            <a:solidFill>
              <a:srgbClr val="AEB6C2"/>
            </a:solidFill>
            <a:prstDash val="solid"/>
          </a:ln>
        </p:spPr>
      </p:sp>
      <p:sp>
        <p:nvSpPr>
          <p:cNvPr id="32" name="Text 30"/>
          <p:cNvSpPr txBox="1"/>
          <p:nvPr/>
        </p:nvSpPr>
        <p:spPr>
          <a:xfrm>
            <a:off x="2989072" y="59817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run stored</a:t>
            </a:r>
            <a:endParaRPr lang="en-US" sz="950" dirty="0"/>
          </a:p>
        </p:txBody>
      </p:sp>
      <p:sp>
        <p:nvSpPr>
          <p:cNvPr id="33" name="Text 31"/>
          <p:cNvSpPr txBox="1"/>
          <p:nvPr/>
        </p:nvSpPr>
        <p:spPr>
          <a:xfrm>
            <a:off x="396443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34" name="Shape 32"/>
          <p:cNvSpPr/>
          <p:nvPr/>
        </p:nvSpPr>
        <p:spPr>
          <a:xfrm>
            <a:off x="4218432" y="5981700"/>
            <a:ext cx="1104392" cy="228600"/>
          </a:xfrm>
          <a:prstGeom prst="roundRect">
            <a:avLst>
              <a:gd name="adj" fmla="val 16667"/>
            </a:avLst>
          </a:prstGeom>
          <a:solidFill>
            <a:srgbClr val="FFFFFF"/>
          </a:solidFill>
          <a:ln w="9525">
            <a:solidFill>
              <a:srgbClr val="AEB6C2"/>
            </a:solidFill>
            <a:prstDash val="solid"/>
          </a:ln>
        </p:spPr>
      </p:sp>
      <p:sp>
        <p:nvSpPr>
          <p:cNvPr id="35" name="Text 33"/>
          <p:cNvSpPr txBox="1"/>
          <p:nvPr/>
        </p:nvSpPr>
        <p:spPr>
          <a:xfrm>
            <a:off x="421843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officer sees</a:t>
            </a:r>
            <a:endParaRPr lang="en-US" sz="950" dirty="0"/>
          </a:p>
        </p:txBody>
      </p:sp>
      <p:sp>
        <p:nvSpPr>
          <p:cNvPr id="36"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37" name="b1"/>
          <p:cNvSpPr/>
          <p:nvPr/>
        </p:nvSpPr>
        <p:spPr>
          <a:xfrm>
            <a:off x="6667500" y="2133600"/>
            <a:ext cx="4762500" cy="0"/>
          </a:xfrm>
          <a:prstGeom prst="line">
            <a:avLst/>
          </a:prstGeom>
          <a:noFill/>
          <a:ln w="9525">
            <a:solidFill>
              <a:srgbClr val="DDE1E7"/>
            </a:solidFill>
            <a:prstDash val="solid"/>
          </a:ln>
        </p:spPr>
      </p:sp>
      <p:sp>
        <p:nvSpPr>
          <p:cNvPr id="38"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infra/ai/base.py, openai_provider.py, mock.py</a:t>
            </a:r>
            <a:endParaRPr lang="en-US" sz="950" dirty="0"/>
          </a:p>
        </p:txBody>
      </p:sp>
      <p:sp>
        <p:nvSpPr>
          <p:cNvPr id="39"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VerificationProvider; prompt_version 2026-09-19.3 stamped on every run; 30 s timeout, one retry</a:t>
            </a:r>
            <a:endParaRPr lang="en-US" sz="900" dirty="0"/>
          </a:p>
        </p:txBody>
      </p:sp>
      <p:sp>
        <p:nvSpPr>
          <p:cNvPr id="40" name="b1"/>
          <p:cNvSpPr/>
          <p:nvPr/>
        </p:nvSpPr>
        <p:spPr>
          <a:xfrm>
            <a:off x="6667500" y="2844800"/>
            <a:ext cx="4762500" cy="0"/>
          </a:xfrm>
          <a:prstGeom prst="line">
            <a:avLst/>
          </a:prstGeom>
          <a:noFill/>
          <a:ln w="9525">
            <a:solidFill>
              <a:srgbClr val="DDE1E7"/>
            </a:solidFill>
            <a:prstDash val="solid"/>
          </a:ln>
        </p:spPr>
      </p:sp>
      <p:sp>
        <p:nvSpPr>
          <p:cNvPr id="41"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domain/verification_rules.py</a:t>
            </a:r>
            <a:endParaRPr lang="en-US" sz="950" dirty="0"/>
          </a:p>
        </p:txBody>
      </p:sp>
      <p:sp>
        <p:nvSpPr>
          <p:cNvPr id="42"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VerificationResult (extra=forbid), apply_rules(threshold, injection phrases), find_injection_phrases</a:t>
            </a:r>
            <a:endParaRPr lang="en-US" sz="900" dirty="0"/>
          </a:p>
        </p:txBody>
      </p:sp>
      <p:sp>
        <p:nvSpPr>
          <p:cNvPr id="43" name="b1"/>
          <p:cNvSpPr/>
          <p:nvPr/>
        </p:nvSpPr>
        <p:spPr>
          <a:xfrm>
            <a:off x="6667500" y="3556000"/>
            <a:ext cx="4762500" cy="0"/>
          </a:xfrm>
          <a:prstGeom prst="line">
            <a:avLst/>
          </a:prstGeom>
          <a:noFill/>
          <a:ln w="9525">
            <a:solidFill>
              <a:srgbClr val="DDE1E7"/>
            </a:solidFill>
            <a:prstDash val="solid"/>
          </a:ln>
        </p:spPr>
      </p:sp>
      <p:sp>
        <p:nvSpPr>
          <p:cNvPr id="44"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services/verification.py</a:t>
            </a:r>
            <a:endParaRPr lang="en-US" sz="950" dirty="0"/>
          </a:p>
        </p:txBody>
      </p:sp>
      <p:sp>
        <p:nvSpPr>
          <p:cNvPr id="45"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the only caller of infra.ai; own session and transaction; text extraction capped (30 pages, 20 000 chars, 10 s); never raises out of the task</a:t>
            </a:r>
            <a:endParaRPr lang="en-US" sz="900" dirty="0"/>
          </a:p>
        </p:txBody>
      </p:sp>
      <p:sp>
        <p:nvSpPr>
          <p:cNvPr id="46" name="b1"/>
          <p:cNvSpPr/>
          <p:nvPr/>
        </p:nvSpPr>
        <p:spPr>
          <a:xfrm>
            <a:off x="6667500" y="4267200"/>
            <a:ext cx="4762500" cy="0"/>
          </a:xfrm>
          <a:prstGeom prst="line">
            <a:avLst/>
          </a:prstGeom>
          <a:noFill/>
          <a:ln w="9525">
            <a:solidFill>
              <a:srgbClr val="DDE1E7"/>
            </a:solidFill>
            <a:prstDash val="solid"/>
          </a:ln>
        </p:spPr>
      </p:sp>
      <p:sp>
        <p:nvSpPr>
          <p:cNvPr id="47"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evals/: 14 golden cases, 2 injection cases, 21 fairness runs (18 name-swapped against 3 baselines)</a:t>
            </a:r>
            <a:endParaRPr lang="en-US" sz="950" dirty="0"/>
          </a:p>
        </p:txBody>
      </p:sp>
      <p:sp>
        <p:nvSpPr>
          <p:cNvPr id="48"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mock gate on every push, live nightly, LangSmith experiment per run; docs/07-ai/AI_ASSURANCE.md</a:t>
            </a:r>
            <a:endParaRPr lang="en-US" sz="900" dirty="0"/>
          </a:p>
        </p:txBody>
      </p:sp>
      <p:sp>
        <p:nvSpPr>
          <p:cNvPr id="49"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50"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51"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Confidence is the model's own estimate and is uncalibrated; the injection heuristic is English-only phrases. Both recorded as next steps with the tools to fix them.</a:t>
            </a:r>
            <a:endParaRPr lang="en-US" sz="950" dirty="0"/>
          </a:p>
        </p:txBody>
      </p:sp>
      <p:sp>
        <p:nvSpPr>
          <p:cNvPr id="52" name="Text 50"/>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10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320"/>
                                        <p:tgtEl>
                                          <p:spTgt spid="36"/>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7"/>
                                        </p:tgtEl>
                                        <p:attrNameLst>
                                          <p:attrName>style.visibility</p:attrName>
                                        </p:attrNameLst>
                                      </p:cBhvr>
                                      <p:to>
                                        <p:strVal val="visible"/>
                                      </p:to>
                                    </p:set>
                                    <p:animEffect transition="in" filter="fade">
                                      <p:cBhvr>
                                        <p:cTn id="8" dur="320"/>
                                        <p:tgtEl>
                                          <p:spTgt spid="37"/>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320"/>
                                        <p:tgtEl>
                                          <p:spTgt spid="38"/>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9"/>
                                        </p:tgtEl>
                                        <p:attrNameLst>
                                          <p:attrName>style.visibility</p:attrName>
                                        </p:attrNameLst>
                                      </p:cBhvr>
                                      <p:to>
                                        <p:strVal val="visible"/>
                                      </p:to>
                                    </p:set>
                                    <p:animEffect transition="in" filter="fade">
                                      <p:cBhvr>
                                        <p:cTn id="14" dur="320"/>
                                        <p:tgtEl>
                                          <p:spTgt spid="3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320"/>
                                        <p:tgtEl>
                                          <p:spTgt spid="4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320"/>
                                        <p:tgtEl>
                                          <p:spTgt spid="4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20"/>
                                        <p:tgtEl>
                                          <p:spTgt spid="4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320"/>
                                        <p:tgtEl>
                                          <p:spTgt spid="4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320"/>
                                        <p:tgtEl>
                                          <p:spTgt spid="4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320"/>
                                        <p:tgtEl>
                                          <p:spTgt spid="4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320"/>
                                        <p:tgtEl>
                                          <p:spTgt spid="4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7"/>
                                        </p:tgtEl>
                                        <p:attrNameLst>
                                          <p:attrName>style.visibility</p:attrName>
                                        </p:attrNameLst>
                                      </p:cBhvr>
                                      <p:to>
                                        <p:strVal val="visible"/>
                                      </p:to>
                                    </p:set>
                                    <p:animEffect transition="in" filter="fade">
                                      <p:cBhvr>
                                        <p:cTn id="38" dur="320"/>
                                        <p:tgtEl>
                                          <p:spTgt spid="47"/>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320"/>
                                        <p:tgtEl>
                                          <p:spTgt spid="48"/>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320"/>
                                        <p:tgtEl>
                                          <p:spTgt spid="49"/>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320"/>
                                        <p:tgtEl>
                                          <p:spTgt spid="50"/>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32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DECISION 4 OF 4 · ADR-007 AND ADR-008</a:t>
            </a:r>
            <a:endParaRPr lang="en-US" sz="1100" dirty="0"/>
          </a:p>
        </p:txBody>
      </p:sp>
      <p:sp>
        <p:nvSpPr>
          <p:cNvPr id="3" name="Text 1"/>
          <p:cNvSpPr txBox="1"/>
          <p:nvPr/>
        </p:nvSpPr>
        <p:spPr>
          <a:xfrm>
            <a:off x="762000" y="863600"/>
            <a:ext cx="10668000" cy="889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Nothing is lost between rounds: every submission is a frozen snapshot, and every change writes its audit row in the same transaction.</a:t>
            </a:r>
            <a:endParaRPr lang="en-US" sz="2200" dirty="0"/>
          </a:p>
        </p:txBody>
      </p:sp>
      <p:sp>
        <p:nvSpPr>
          <p:cNvPr id="4" name="Shape 2"/>
          <p:cNvSpPr/>
          <p:nvPr/>
        </p:nvSpPr>
        <p:spPr>
          <a:xfrm>
            <a:off x="762000" y="1905000"/>
            <a:ext cx="5588000" cy="1498600"/>
          </a:xfrm>
          <a:prstGeom prst="roundRect">
            <a:avLst>
              <a:gd name="adj" fmla="val 2542"/>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5" name="Text 3"/>
          <p:cNvSpPr txBox="1"/>
          <p:nvPr/>
        </p:nvSpPr>
        <p:spPr>
          <a:xfrm>
            <a:off x="939800" y="2044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CHOSE</a:t>
            </a:r>
            <a:endParaRPr lang="en-US" sz="900" dirty="0"/>
          </a:p>
        </p:txBody>
      </p:sp>
      <p:sp>
        <p:nvSpPr>
          <p:cNvPr id="6" name="Text 4"/>
          <p:cNvSpPr txBox="1"/>
          <p:nvPr/>
        </p:nvSpPr>
        <p:spPr>
          <a:xfrm>
            <a:off x="939800" y="2235200"/>
            <a:ext cx="5232400" cy="1092200"/>
          </a:xfrm>
          <a:prstGeom prst="rect">
            <a:avLst/>
          </a:prstGeom>
          <a:noFill/>
          <a:ln/>
        </p:spPr>
        <p:txBody>
          <a:bodyPr wrap="square" lIns="0" tIns="0" rIns="0" bIns="0" rtlCol="0" anchor="t"/>
          <a:lstStyle/>
          <a:p>
            <a:pPr algn="l" indent="0" marL="0">
              <a:lnSpc>
                <a:spcPct val="130000"/>
              </a:lnSpc>
              <a:buNone/>
            </a:pPr>
            <a:r>
              <a:rPr lang="en-US" sz="1050" dirty="0">
                <a:solidFill>
                  <a:srgbClr val="1B2430"/>
                </a:solidFill>
                <a:latin typeface="Public Sans" pitchFamily="34" charset="0"/>
                <a:ea typeface="Public Sans" pitchFamily="34" charset="-122"/>
                <a:cs typeface="Public Sans" pitchFamily="34" charset="-120"/>
              </a:rPr>
              <a:t>Each submit or resubmit stores Revision N: the form as JSON plus the document ids. The comparison between revisions is computed at read time from the snapshots. Audit events, notifications and the licence on approval are written in the same database transaction as the change; there is no update or delete path for audit rows.</a:t>
            </a:r>
            <a:endParaRPr lang="en-US" sz="1050" dirty="0"/>
          </a:p>
        </p:txBody>
      </p:sp>
      <p:sp>
        <p:nvSpPr>
          <p:cNvPr id="7" name="Shape 5"/>
          <p:cNvSpPr/>
          <p:nvPr/>
        </p:nvSpPr>
        <p:spPr>
          <a:xfrm>
            <a:off x="762000" y="3492500"/>
            <a:ext cx="5588000" cy="571500"/>
          </a:xfrm>
          <a:prstGeom prst="roundRect">
            <a:avLst>
              <a:gd name="adj" fmla="val 6667"/>
            </a:avLst>
          </a:prstGeom>
          <a:solidFill>
            <a:srgbClr val="F4F5F7"/>
          </a:solidFill>
          <a:ln w="12700">
            <a:solidFill>
              <a:srgbClr val="F4F5F7"/>
            </a:solidFill>
            <a:prstDash val="solid"/>
          </a:ln>
        </p:spPr>
      </p:sp>
      <p:sp>
        <p:nvSpPr>
          <p:cNvPr id="8" name="Text 6"/>
          <p:cNvSpPr txBox="1"/>
          <p:nvPr/>
        </p:nvSpPr>
        <p:spPr>
          <a:xfrm>
            <a:off x="762000" y="35687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OVER</a:t>
            </a:r>
            <a:endParaRPr lang="en-US" sz="900" dirty="0"/>
          </a:p>
        </p:txBody>
      </p:sp>
      <p:sp>
        <p:nvSpPr>
          <p:cNvPr id="9" name="Text 7"/>
          <p:cNvSpPr txBox="1"/>
          <p:nvPr/>
        </p:nvSpPr>
        <p:spPr>
          <a:xfrm>
            <a:off x="762000" y="3746500"/>
            <a:ext cx="5588000" cy="2667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Editing one mutable record, storing diffs instead of snapshots, or a separate logging pipeline and database triggers.</a:t>
            </a:r>
            <a:endParaRPr lang="en-US" sz="1000" dirty="0"/>
          </a:p>
        </p:txBody>
      </p:sp>
      <p:sp>
        <p:nvSpPr>
          <p:cNvPr id="10" name="Shape 8"/>
          <p:cNvSpPr/>
          <p:nvPr/>
        </p:nvSpPr>
        <p:spPr>
          <a:xfrm>
            <a:off x="762000" y="4152900"/>
            <a:ext cx="5588000" cy="1143000"/>
          </a:xfrm>
          <a:prstGeom prst="roundRect">
            <a:avLst>
              <a:gd name="adj" fmla="val 3333"/>
            </a:avLst>
          </a:prstGeom>
          <a:solidFill>
            <a:srgbClr val="F4F5F7"/>
          </a:solidFill>
          <a:ln w="12700">
            <a:solidFill>
              <a:srgbClr val="F4F5F7"/>
            </a:solidFill>
            <a:prstDash val="solid"/>
          </a:ln>
        </p:spPr>
      </p:sp>
      <p:sp>
        <p:nvSpPr>
          <p:cNvPr id="11" name="Text 9"/>
          <p:cNvSpPr txBox="1"/>
          <p:nvPr/>
        </p:nvSpPr>
        <p:spPr>
          <a:xfrm>
            <a:off x="762000" y="42291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BECAUSE</a:t>
            </a:r>
            <a:endParaRPr lang="en-US" sz="900" dirty="0"/>
          </a:p>
        </p:txBody>
      </p:sp>
      <p:sp>
        <p:nvSpPr>
          <p:cNvPr id="12" name="Text 10"/>
          <p:cNvSpPr txBox="1"/>
          <p:nvPr/>
        </p:nvSpPr>
        <p:spPr>
          <a:xfrm>
            <a:off x="762000" y="4406900"/>
            <a:ext cx="5588000" cy="838200"/>
          </a:xfrm>
          <a:prstGeom prst="rect">
            <a:avLst/>
          </a:prstGeom>
          <a:noFill/>
          <a:ln/>
        </p:spPr>
        <p:txBody>
          <a:bodyPr wrap="square" lIns="0" tIns="0" rIns="0" bIns="0" rtlCol="0" anchor="t"/>
          <a:lstStyle/>
          <a:p>
            <a:pPr algn="l" indent="0" marL="0">
              <a:lnSpc>
                <a:spcPct val="130000"/>
              </a:lnSpc>
              <a:buNone/>
            </a:pPr>
            <a:r>
              <a:rPr lang="en-US" sz="1000" dirty="0">
                <a:solidFill>
                  <a:srgbClr val="465060"/>
                </a:solidFill>
                <a:latin typeface="Public Sans" pitchFamily="34" charset="0"/>
                <a:ea typeface="Public Sans" pitchFamily="34" charset="-122"/>
                <a:cs typeface="Public Sans" pitchFamily="34" charset="-120"/>
              </a:rPr>
              <a:t>Never lost between rounds and complete audit trail become true by construction. The officer's compare view cannot disagree with what was submitted. A change without its audit row cannot exist, and vice versa.</a:t>
            </a:r>
            <a:endParaRPr lang="en-US" sz="1000" dirty="0"/>
          </a:p>
        </p:txBody>
      </p:sp>
      <p:sp>
        <p:nvSpPr>
          <p:cNvPr id="13" name="Text 11"/>
          <p:cNvSpPr txBox="1"/>
          <p:nvPr/>
        </p:nvSpPr>
        <p:spPr>
          <a:xfrm>
            <a:off x="762000" y="5448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THE PATH</a:t>
            </a:r>
            <a:endParaRPr lang="en-US" sz="900" dirty="0"/>
          </a:p>
        </p:txBody>
      </p:sp>
      <p:sp>
        <p:nvSpPr>
          <p:cNvPr id="14" name="Shape 12"/>
          <p:cNvSpPr/>
          <p:nvPr/>
        </p:nvSpPr>
        <p:spPr>
          <a:xfrm>
            <a:off x="762000" y="5664200"/>
            <a:ext cx="641096" cy="228600"/>
          </a:xfrm>
          <a:prstGeom prst="roundRect">
            <a:avLst>
              <a:gd name="adj" fmla="val 16667"/>
            </a:avLst>
          </a:prstGeom>
          <a:solidFill>
            <a:srgbClr val="FFFFFF"/>
          </a:solidFill>
          <a:ln w="9525">
            <a:solidFill>
              <a:srgbClr val="AEB6C2"/>
            </a:solidFill>
            <a:prstDash val="solid"/>
          </a:ln>
        </p:spPr>
      </p:sp>
      <p:sp>
        <p:nvSpPr>
          <p:cNvPr id="15" name="Text 13"/>
          <p:cNvSpPr txBox="1"/>
          <p:nvPr/>
        </p:nvSpPr>
        <p:spPr>
          <a:xfrm>
            <a:off x="762000" y="5664200"/>
            <a:ext cx="641096"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submit</a:t>
            </a:r>
            <a:endParaRPr lang="en-US" sz="950" dirty="0"/>
          </a:p>
        </p:txBody>
      </p:sp>
      <p:sp>
        <p:nvSpPr>
          <p:cNvPr id="16" name="Text 14"/>
          <p:cNvSpPr txBox="1"/>
          <p:nvPr/>
        </p:nvSpPr>
        <p:spPr>
          <a:xfrm>
            <a:off x="142849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17" name="Shape 15"/>
          <p:cNvSpPr/>
          <p:nvPr/>
        </p:nvSpPr>
        <p:spPr>
          <a:xfrm>
            <a:off x="1682496" y="5664200"/>
            <a:ext cx="949960" cy="228600"/>
          </a:xfrm>
          <a:prstGeom prst="roundRect">
            <a:avLst>
              <a:gd name="adj" fmla="val 16667"/>
            </a:avLst>
          </a:prstGeom>
          <a:solidFill>
            <a:srgbClr val="FFFFFF"/>
          </a:solidFill>
          <a:ln w="9525">
            <a:solidFill>
              <a:srgbClr val="AEB6C2"/>
            </a:solidFill>
            <a:prstDash val="solid"/>
          </a:ln>
        </p:spPr>
      </p:sp>
      <p:sp>
        <p:nvSpPr>
          <p:cNvPr id="18" name="Text 16"/>
          <p:cNvSpPr txBox="1"/>
          <p:nvPr/>
        </p:nvSpPr>
        <p:spPr>
          <a:xfrm>
            <a:off x="1682496" y="5664200"/>
            <a:ext cx="94996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Revision N</a:t>
            </a:r>
            <a:endParaRPr lang="en-US" sz="950" dirty="0"/>
          </a:p>
        </p:txBody>
      </p:sp>
      <p:sp>
        <p:nvSpPr>
          <p:cNvPr id="19" name="Text 17"/>
          <p:cNvSpPr txBox="1"/>
          <p:nvPr/>
        </p:nvSpPr>
        <p:spPr>
          <a:xfrm>
            <a:off x="2657856" y="56642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0" name="Shape 18"/>
          <p:cNvSpPr/>
          <p:nvPr/>
        </p:nvSpPr>
        <p:spPr>
          <a:xfrm>
            <a:off x="2911856" y="5664200"/>
            <a:ext cx="1490472" cy="228600"/>
          </a:xfrm>
          <a:prstGeom prst="roundRect">
            <a:avLst>
              <a:gd name="adj" fmla="val 16667"/>
            </a:avLst>
          </a:prstGeom>
          <a:solidFill>
            <a:srgbClr val="FFFFFF"/>
          </a:solidFill>
          <a:ln w="9525">
            <a:solidFill>
              <a:srgbClr val="AEB6C2"/>
            </a:solidFill>
            <a:prstDash val="solid"/>
          </a:ln>
        </p:spPr>
      </p:sp>
      <p:sp>
        <p:nvSpPr>
          <p:cNvPr id="21" name="Text 19"/>
          <p:cNvSpPr txBox="1"/>
          <p:nvPr/>
        </p:nvSpPr>
        <p:spPr>
          <a:xfrm>
            <a:off x="2911856" y="5664200"/>
            <a:ext cx="149047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feedback released</a:t>
            </a:r>
            <a:endParaRPr lang="en-US" sz="950" dirty="0"/>
          </a:p>
        </p:txBody>
      </p:sp>
      <p:sp>
        <p:nvSpPr>
          <p:cNvPr id="22" name="Shape 20"/>
          <p:cNvSpPr/>
          <p:nvPr/>
        </p:nvSpPr>
        <p:spPr>
          <a:xfrm>
            <a:off x="762000" y="5981700"/>
            <a:ext cx="1876552" cy="228600"/>
          </a:xfrm>
          <a:prstGeom prst="roundRect">
            <a:avLst>
              <a:gd name="adj" fmla="val 16667"/>
            </a:avLst>
          </a:prstGeom>
          <a:solidFill>
            <a:srgbClr val="FFFFFF"/>
          </a:solidFill>
          <a:ln w="9525">
            <a:solidFill>
              <a:srgbClr val="AEB6C2"/>
            </a:solidFill>
            <a:prstDash val="solid"/>
          </a:ln>
        </p:spPr>
      </p:sp>
      <p:sp>
        <p:nvSpPr>
          <p:cNvPr id="23" name="Text 21"/>
          <p:cNvSpPr txBox="1"/>
          <p:nvPr/>
        </p:nvSpPr>
        <p:spPr>
          <a:xfrm>
            <a:off x="762000" y="5981700"/>
            <a:ext cx="187655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resubmit: flagged only</a:t>
            </a:r>
            <a:endParaRPr lang="en-US" sz="950" dirty="0"/>
          </a:p>
        </p:txBody>
      </p:sp>
      <p:sp>
        <p:nvSpPr>
          <p:cNvPr id="24" name="Text 22"/>
          <p:cNvSpPr txBox="1"/>
          <p:nvPr/>
        </p:nvSpPr>
        <p:spPr>
          <a:xfrm>
            <a:off x="2663952"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5" name="Shape 23"/>
          <p:cNvSpPr/>
          <p:nvPr/>
        </p:nvSpPr>
        <p:spPr>
          <a:xfrm>
            <a:off x="2917952" y="5981700"/>
            <a:ext cx="1104392" cy="228600"/>
          </a:xfrm>
          <a:prstGeom prst="roundRect">
            <a:avLst>
              <a:gd name="adj" fmla="val 16667"/>
            </a:avLst>
          </a:prstGeom>
          <a:solidFill>
            <a:srgbClr val="FFFFFF"/>
          </a:solidFill>
          <a:ln w="9525">
            <a:solidFill>
              <a:srgbClr val="AEB6C2"/>
            </a:solidFill>
            <a:prstDash val="solid"/>
          </a:ln>
        </p:spPr>
      </p:sp>
      <p:sp>
        <p:nvSpPr>
          <p:cNvPr id="26" name="Text 24"/>
          <p:cNvSpPr txBox="1"/>
          <p:nvPr/>
        </p:nvSpPr>
        <p:spPr>
          <a:xfrm>
            <a:off x="2917952" y="5981700"/>
            <a:ext cx="1104392"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Revision N+1</a:t>
            </a:r>
            <a:endParaRPr lang="en-US" sz="950" dirty="0"/>
          </a:p>
        </p:txBody>
      </p:sp>
      <p:sp>
        <p:nvSpPr>
          <p:cNvPr id="27" name="Text 25"/>
          <p:cNvSpPr txBox="1"/>
          <p:nvPr/>
        </p:nvSpPr>
        <p:spPr>
          <a:xfrm>
            <a:off x="4047744" y="5981700"/>
            <a:ext cx="190500" cy="228600"/>
          </a:xfrm>
          <a:prstGeom prst="rect">
            <a:avLst/>
          </a:prstGeom>
          <a:noFill/>
          <a:ln/>
        </p:spPr>
        <p:txBody>
          <a:bodyPr wrap="none" lIns="0" tIns="0" rIns="0" bIns="0" rtlCol="0" anchor="ctr"/>
          <a:lstStyle/>
          <a:p>
            <a:pPr algn="ctr" indent="0" marL="0">
              <a:lnSpc>
                <a:spcPct val="115000"/>
              </a:lnSpc>
              <a:buNone/>
            </a:pPr>
            <a:r>
              <a:rPr lang="en-US" sz="1000" dirty="0">
                <a:solidFill>
                  <a:srgbClr val="AEB6C2"/>
                </a:solidFill>
                <a:latin typeface="Public Sans" pitchFamily="34" charset="0"/>
                <a:ea typeface="Public Sans" pitchFamily="34" charset="-122"/>
                <a:cs typeface="Public Sans" pitchFamily="34" charset="-120"/>
              </a:rPr>
              <a:t>→</a:t>
            </a:r>
            <a:endParaRPr lang="en-US" sz="1000" dirty="0"/>
          </a:p>
        </p:txBody>
      </p:sp>
      <p:sp>
        <p:nvSpPr>
          <p:cNvPr id="28" name="Shape 26"/>
          <p:cNvSpPr/>
          <p:nvPr/>
        </p:nvSpPr>
        <p:spPr>
          <a:xfrm>
            <a:off x="4301744" y="5981700"/>
            <a:ext cx="1336040" cy="228600"/>
          </a:xfrm>
          <a:prstGeom prst="roundRect">
            <a:avLst>
              <a:gd name="adj" fmla="val 16667"/>
            </a:avLst>
          </a:prstGeom>
          <a:solidFill>
            <a:srgbClr val="FFFFFF"/>
          </a:solidFill>
          <a:ln w="9525">
            <a:solidFill>
              <a:srgbClr val="AEB6C2"/>
            </a:solidFill>
            <a:prstDash val="solid"/>
          </a:ln>
        </p:spPr>
      </p:sp>
      <p:sp>
        <p:nvSpPr>
          <p:cNvPr id="29" name="Text 27"/>
          <p:cNvSpPr txBox="1"/>
          <p:nvPr/>
        </p:nvSpPr>
        <p:spPr>
          <a:xfrm>
            <a:off x="4301744" y="5981700"/>
            <a:ext cx="1336040"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compare at read</a:t>
            </a:r>
            <a:endParaRPr lang="en-US" sz="950" dirty="0"/>
          </a:p>
        </p:txBody>
      </p:sp>
      <p:sp>
        <p:nvSpPr>
          <p:cNvPr id="30" name="Shape 28"/>
          <p:cNvSpPr/>
          <p:nvPr/>
        </p:nvSpPr>
        <p:spPr>
          <a:xfrm>
            <a:off x="762000" y="6299200"/>
            <a:ext cx="1567688" cy="228600"/>
          </a:xfrm>
          <a:prstGeom prst="roundRect">
            <a:avLst>
              <a:gd name="adj" fmla="val 16667"/>
            </a:avLst>
          </a:prstGeom>
          <a:solidFill>
            <a:srgbClr val="FFFFFF"/>
          </a:solidFill>
          <a:ln w="9525">
            <a:solidFill>
              <a:srgbClr val="AEB6C2"/>
            </a:solidFill>
            <a:prstDash val="solid"/>
          </a:ln>
        </p:spPr>
      </p:sp>
      <p:sp>
        <p:nvSpPr>
          <p:cNvPr id="31" name="Text 29"/>
          <p:cNvSpPr txBox="1"/>
          <p:nvPr/>
        </p:nvSpPr>
        <p:spPr>
          <a:xfrm>
            <a:off x="762000" y="6299200"/>
            <a:ext cx="1567688" cy="228600"/>
          </a:xfrm>
          <a:prstGeom prst="rect">
            <a:avLst/>
          </a:prstGeom>
          <a:noFill/>
          <a:ln/>
        </p:spPr>
        <p:txBody>
          <a:bodyPr wrap="none" lIns="0" tIns="0" rIns="0" bIns="0" rtlCol="0" anchor="ctr"/>
          <a:lstStyle/>
          <a:p>
            <a:pPr algn="ctr" indent="0" marL="0">
              <a:lnSpc>
                <a:spcPct val="115000"/>
              </a:lnSpc>
              <a:buNone/>
            </a:pPr>
            <a:r>
              <a:rPr lang="en-US" sz="950" b="1" dirty="0">
                <a:solidFill>
                  <a:srgbClr val="1B2430"/>
                </a:solidFill>
                <a:latin typeface="Public Sans" pitchFamily="34" charset="0"/>
                <a:ea typeface="Public Sans" pitchFamily="34" charset="-122"/>
                <a:cs typeface="Public Sans" pitchFamily="34" charset="-120"/>
              </a:rPr>
              <a:t>audit, same commit</a:t>
            </a:r>
            <a:endParaRPr lang="en-US" sz="950" dirty="0"/>
          </a:p>
        </p:txBody>
      </p:sp>
      <p:sp>
        <p:nvSpPr>
          <p:cNvPr id="32" name="b1"/>
          <p:cNvSpPr txBox="1"/>
          <p:nvPr/>
        </p:nvSpPr>
        <p:spPr>
          <a:xfrm>
            <a:off x="6667500" y="1905000"/>
            <a:ext cx="47625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616C7A"/>
                </a:solidFill>
                <a:latin typeface="Public Sans" pitchFamily="34" charset="0"/>
                <a:ea typeface="Public Sans" pitchFamily="34" charset="-122"/>
                <a:cs typeface="Public Sans" pitchFamily="34" charset="-120"/>
              </a:rPr>
              <a:t>EVIDENCE IN THE CODE</a:t>
            </a:r>
            <a:endParaRPr lang="en-US" sz="900" dirty="0"/>
          </a:p>
        </p:txBody>
      </p:sp>
      <p:sp>
        <p:nvSpPr>
          <p:cNvPr id="33" name="b1"/>
          <p:cNvSpPr/>
          <p:nvPr/>
        </p:nvSpPr>
        <p:spPr>
          <a:xfrm>
            <a:off x="6667500" y="2133600"/>
            <a:ext cx="4762500" cy="0"/>
          </a:xfrm>
          <a:prstGeom prst="line">
            <a:avLst/>
          </a:prstGeom>
          <a:noFill/>
          <a:ln w="9525">
            <a:solidFill>
              <a:srgbClr val="DDE1E7"/>
            </a:solidFill>
            <a:prstDash val="solid"/>
          </a:ln>
        </p:spPr>
      </p:sp>
      <p:sp>
        <p:nvSpPr>
          <p:cNvPr id="34" name="b1"/>
          <p:cNvSpPr txBox="1"/>
          <p:nvPr/>
        </p:nvSpPr>
        <p:spPr>
          <a:xfrm>
            <a:off x="6667500" y="21971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models: application_revisions, audit_events</a:t>
            </a:r>
            <a:endParaRPr lang="en-US" sz="950" dirty="0"/>
          </a:p>
        </p:txBody>
      </p:sp>
      <p:sp>
        <p:nvSpPr>
          <p:cNvPr id="35" name="b1"/>
          <p:cNvSpPr txBox="1"/>
          <p:nvPr/>
        </p:nvSpPr>
        <p:spPr>
          <a:xfrm>
            <a:off x="6667500" y="23876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immutable rows; raised_in_revision on feedback; sha256 on documents so an identical re-upload is no change</a:t>
            </a:r>
            <a:endParaRPr lang="en-US" sz="900" dirty="0"/>
          </a:p>
        </p:txBody>
      </p:sp>
      <p:sp>
        <p:nvSpPr>
          <p:cNvPr id="36" name="b1"/>
          <p:cNvSpPr/>
          <p:nvPr/>
        </p:nvSpPr>
        <p:spPr>
          <a:xfrm>
            <a:off x="6667500" y="2844800"/>
            <a:ext cx="4762500" cy="0"/>
          </a:xfrm>
          <a:prstGeom prst="line">
            <a:avLst/>
          </a:prstGeom>
          <a:noFill/>
          <a:ln w="9525">
            <a:solidFill>
              <a:srgbClr val="DDE1E7"/>
            </a:solidFill>
            <a:prstDash val="solid"/>
          </a:ln>
        </p:spPr>
      </p:sp>
      <p:sp>
        <p:nvSpPr>
          <p:cNvPr id="37" name="b1"/>
          <p:cNvSpPr txBox="1"/>
          <p:nvPr/>
        </p:nvSpPr>
        <p:spPr>
          <a:xfrm>
            <a:off x="6667500" y="29083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domain/diff.py, services/compare.py</a:t>
            </a:r>
            <a:endParaRPr lang="en-US" sz="950" dirty="0"/>
          </a:p>
        </p:txBody>
      </p:sp>
      <p:sp>
        <p:nvSpPr>
          <p:cNvPr id="38" name="b1"/>
          <p:cNvSpPr txBox="1"/>
          <p:nvPr/>
        </p:nvSpPr>
        <p:spPr>
          <a:xfrm>
            <a:off x="6667500" y="30988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field-level form diff and document add, remove, replace; GET /applications/{id}/compare?from=n&amp;to=m</a:t>
            </a:r>
            <a:endParaRPr lang="en-US" sz="900" dirty="0"/>
          </a:p>
        </p:txBody>
      </p:sp>
      <p:sp>
        <p:nvSpPr>
          <p:cNvPr id="39" name="b1"/>
          <p:cNvSpPr/>
          <p:nvPr/>
        </p:nvSpPr>
        <p:spPr>
          <a:xfrm>
            <a:off x="6667500" y="3556000"/>
            <a:ext cx="4762500" cy="0"/>
          </a:xfrm>
          <a:prstGeom prst="line">
            <a:avLst/>
          </a:prstGeom>
          <a:noFill/>
          <a:ln w="9525">
            <a:solidFill>
              <a:srgbClr val="DDE1E7"/>
            </a:solidFill>
            <a:prstDash val="solid"/>
          </a:ln>
        </p:spPr>
      </p:sp>
      <p:sp>
        <p:nvSpPr>
          <p:cNvPr id="40" name="b1"/>
          <p:cNvSpPr txBox="1"/>
          <p:nvPr/>
        </p:nvSpPr>
        <p:spPr>
          <a:xfrm>
            <a:off x="6667500" y="36195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services/resubmission.py</a:t>
            </a:r>
            <a:endParaRPr lang="en-US" sz="950" dirty="0"/>
          </a:p>
        </p:txBody>
      </p:sp>
      <p:sp>
        <p:nvSpPr>
          <p:cNvPr id="41" name="b1"/>
          <p:cNvSpPr txBox="1"/>
          <p:nvPr/>
        </p:nvSpPr>
        <p:spPr>
          <a:xfrm>
            <a:off x="6667500" y="38100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SELECT FOR UPDATE, only flagged targets may change (403), at least one flagged target changed (422), Revision N+1, feedback to addressed, audit, notify, one commit</a:t>
            </a:r>
            <a:endParaRPr lang="en-US" sz="900" dirty="0"/>
          </a:p>
        </p:txBody>
      </p:sp>
      <p:sp>
        <p:nvSpPr>
          <p:cNvPr id="42" name="b1"/>
          <p:cNvSpPr/>
          <p:nvPr/>
        </p:nvSpPr>
        <p:spPr>
          <a:xfrm>
            <a:off x="6667500" y="4267200"/>
            <a:ext cx="4762500" cy="0"/>
          </a:xfrm>
          <a:prstGeom prst="line">
            <a:avLst/>
          </a:prstGeom>
          <a:noFill/>
          <a:ln w="9525">
            <a:solidFill>
              <a:srgbClr val="DDE1E7"/>
            </a:solidFill>
            <a:prstDash val="solid"/>
          </a:ln>
        </p:spPr>
      </p:sp>
      <p:sp>
        <p:nvSpPr>
          <p:cNvPr id="43" name="b1"/>
          <p:cNvSpPr txBox="1"/>
          <p:nvPr/>
        </p:nvSpPr>
        <p:spPr>
          <a:xfrm>
            <a:off x="6667500" y="4330700"/>
            <a:ext cx="4762500" cy="177800"/>
          </a:xfrm>
          <a:prstGeom prst="rect">
            <a:avLst/>
          </a:prstGeom>
          <a:noFill/>
          <a:ln/>
        </p:spPr>
        <p:txBody>
          <a:bodyPr wrap="none" lIns="0" tIns="0" rIns="0" bIns="0" rtlCol="0" anchor="t"/>
          <a:lstStyle/>
          <a:p>
            <a:pPr algn="l" indent="0" marL="0">
              <a:lnSpc>
                <a:spcPct val="115000"/>
              </a:lnSpc>
              <a:buNone/>
            </a:pPr>
            <a:r>
              <a:rPr lang="en-US" sz="950" b="1" dirty="0">
                <a:solidFill>
                  <a:srgbClr val="1B2430"/>
                </a:solidFill>
                <a:latin typeface="IBM Plex Mono" pitchFamily="34" charset="0"/>
                <a:ea typeface="IBM Plex Mono" pitchFamily="34" charset="-122"/>
                <a:cs typeface="IBM Plex Mono" pitchFamily="34" charset="-120"/>
              </a:rPr>
              <a:t>GET /officer/applications/{id}/audit</a:t>
            </a:r>
            <a:endParaRPr lang="en-US" sz="950" dirty="0"/>
          </a:p>
        </p:txBody>
      </p:sp>
      <p:sp>
        <p:nvSpPr>
          <p:cNvPr id="44" name="b1"/>
          <p:cNvSpPr txBox="1"/>
          <p:nvPr/>
        </p:nvSpPr>
        <p:spPr>
          <a:xfrm>
            <a:off x="6667500" y="4521200"/>
            <a:ext cx="4762500" cy="4318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actor, role, plain-language summary from domain/audit_labels.py, payload, chronological; 752 backend test cases include every event type</a:t>
            </a:r>
            <a:endParaRPr lang="en-US" sz="900" dirty="0"/>
          </a:p>
        </p:txBody>
      </p:sp>
      <p:sp>
        <p:nvSpPr>
          <p:cNvPr id="45" name="b1"/>
          <p:cNvSpPr/>
          <p:nvPr/>
        </p:nvSpPr>
        <p:spPr>
          <a:xfrm>
            <a:off x="6667500" y="5067300"/>
            <a:ext cx="4762500" cy="1028700"/>
          </a:xfrm>
          <a:prstGeom prst="roundRect">
            <a:avLst>
              <a:gd name="adj" fmla="val 3704"/>
            </a:avLst>
          </a:prstGeom>
          <a:solidFill>
            <a:srgbClr val="1B2430"/>
          </a:solidFill>
          <a:ln w="12700">
            <a:solidFill>
              <a:srgbClr val="1B2430"/>
            </a:solidFill>
            <a:prstDash val="solid"/>
          </a:ln>
        </p:spPr>
      </p:sp>
      <p:sp>
        <p:nvSpPr>
          <p:cNvPr id="46" name="b1"/>
          <p:cNvSpPr txBox="1"/>
          <p:nvPr/>
        </p:nvSpPr>
        <p:spPr>
          <a:xfrm>
            <a:off x="6832600" y="5194300"/>
            <a:ext cx="1905000" cy="165100"/>
          </a:xfrm>
          <a:prstGeom prst="rect">
            <a:avLst/>
          </a:prstGeom>
          <a:noFill/>
          <a:ln/>
        </p:spPr>
        <p:txBody>
          <a:bodyPr wrap="square" lIns="0" tIns="0" rIns="0" bIns="0" rtlCol="0" anchor="t"/>
          <a:lstStyle/>
          <a:p>
            <a:pPr algn="l" indent="0" marL="0">
              <a:lnSpc>
                <a:spcPct val="115000"/>
              </a:lnSpc>
              <a:buNone/>
            </a:pPr>
            <a:r>
              <a:rPr lang="en-US" sz="900" b="1" spc="90" kern="0" dirty="0">
                <a:solidFill>
                  <a:srgbClr val="9AA3B0"/>
                </a:solidFill>
                <a:latin typeface="Public Sans" pitchFamily="34" charset="0"/>
                <a:ea typeface="Public Sans" pitchFamily="34" charset="-122"/>
                <a:cs typeface="Public Sans" pitchFamily="34" charset="-120"/>
              </a:rPr>
              <a:t>TRADE-OFF</a:t>
            </a:r>
            <a:endParaRPr lang="en-US" sz="900" dirty="0"/>
          </a:p>
        </p:txBody>
      </p:sp>
      <p:sp>
        <p:nvSpPr>
          <p:cNvPr id="47" name="b1"/>
          <p:cNvSpPr txBox="1"/>
          <p:nvPr/>
        </p:nvSpPr>
        <p:spPr>
          <a:xfrm>
            <a:off x="6832600" y="5384800"/>
            <a:ext cx="4432300" cy="647700"/>
          </a:xfrm>
          <a:prstGeom prst="rect">
            <a:avLst/>
          </a:prstGeom>
          <a:noFill/>
          <a:ln/>
        </p:spPr>
        <p:txBody>
          <a:bodyPr wrap="square" lIns="0" tIns="0" rIns="0" bIns="0" rtlCol="0" anchor="t"/>
          <a:lstStyle/>
          <a:p>
            <a:pPr algn="l" indent="0" marL="0">
              <a:lnSpc>
                <a:spcPct val="125000"/>
              </a:lnSpc>
              <a:buNone/>
            </a:pPr>
            <a:r>
              <a:rPr lang="en-US" sz="950" dirty="0">
                <a:solidFill>
                  <a:srgbClr val="C5CBD4"/>
                </a:solidFill>
                <a:latin typeface="Public Sans" pitchFamily="34" charset="0"/>
                <a:ea typeface="Public Sans" pitchFamily="34" charset="-122"/>
                <a:cs typeface="Public Sans" pitchFamily="34" charset="-120"/>
              </a:rPr>
              <a:t>Snapshots grow with rounds; at this form size a revision is a few kilobytes. A separate audit store would be the answer at a scale this product is not at.</a:t>
            </a:r>
            <a:endParaRPr lang="en-US" sz="950" dirty="0"/>
          </a:p>
        </p:txBody>
      </p:sp>
      <p:sp>
        <p:nvSpPr>
          <p:cNvPr id="48" name="Text 46"/>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11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320"/>
                                        <p:tgtEl>
                                          <p:spTgt spid="3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320"/>
                                        <p:tgtEl>
                                          <p:spTgt spid="3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320"/>
                                        <p:tgtEl>
                                          <p:spTgt spid="3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320"/>
                                        <p:tgtEl>
                                          <p:spTgt spid="3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320"/>
                                        <p:tgtEl>
                                          <p:spTgt spid="3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320"/>
                                        <p:tgtEl>
                                          <p:spTgt spid="3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320"/>
                                        <p:tgtEl>
                                          <p:spTgt spid="3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320"/>
                                        <p:tgtEl>
                                          <p:spTgt spid="3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320"/>
                                        <p:tgtEl>
                                          <p:spTgt spid="4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320"/>
                                        <p:tgtEl>
                                          <p:spTgt spid="4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320"/>
                                        <p:tgtEl>
                                          <p:spTgt spid="4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320"/>
                                        <p:tgtEl>
                                          <p:spTgt spid="43"/>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320"/>
                                        <p:tgtEl>
                                          <p:spTgt spid="44"/>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320"/>
                                        <p:tgtEl>
                                          <p:spTgt spid="45"/>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320"/>
                                        <p:tgtEl>
                                          <p:spTgt spid="46"/>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32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BRANCHING</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Two long-lived branches, one story per branch, releases by tag.</a:t>
            </a:r>
            <a:endParaRPr lang="en-US" sz="2200" dirty="0"/>
          </a:p>
        </p:txBody>
      </p:sp>
      <p:sp>
        <p:nvSpPr>
          <p:cNvPr id="4" name="Shape 2"/>
          <p:cNvSpPr/>
          <p:nvPr/>
        </p:nvSpPr>
        <p:spPr>
          <a:xfrm>
            <a:off x="711200" y="1739900"/>
            <a:ext cx="746760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6-branching.png">    </p:cNvPr>
          <p:cNvPicPr>
            <a:picLocks noChangeAspect="1"/>
          </p:cNvPicPr>
          <p:nvPr/>
        </p:nvPicPr>
        <p:blipFill>
          <a:blip r:embed="rId1"/>
          <a:stretch>
            <a:fillRect/>
          </a:stretch>
        </p:blipFill>
        <p:spPr>
          <a:xfrm>
            <a:off x="762000" y="1790700"/>
            <a:ext cx="7366000" cy="4349585"/>
          </a:xfrm>
          <a:prstGeom prst="rect">
            <a:avLst/>
          </a:prstGeom>
        </p:spPr>
      </p:pic>
      <p:sp>
        <p:nvSpPr>
          <p:cNvPr id="6" name="Shape 3"/>
          <p:cNvSpPr/>
          <p:nvPr/>
        </p:nvSpPr>
        <p:spPr>
          <a:xfrm>
            <a:off x="8382000" y="1790700"/>
            <a:ext cx="3048000" cy="0"/>
          </a:xfrm>
          <a:prstGeom prst="line">
            <a:avLst/>
          </a:prstGeom>
          <a:noFill/>
          <a:ln w="9525">
            <a:solidFill>
              <a:srgbClr val="DDE1E7"/>
            </a:solidFill>
            <a:prstDash val="solid"/>
          </a:ln>
        </p:spPr>
      </p:sp>
      <p:sp>
        <p:nvSpPr>
          <p:cNvPr id="7" name="Text 4"/>
          <p:cNvSpPr txBox="1"/>
          <p:nvPr/>
        </p:nvSpPr>
        <p:spPr>
          <a:xfrm>
            <a:off x="8382000" y="1866900"/>
            <a:ext cx="304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main and dev</a:t>
            </a:r>
            <a:endParaRPr lang="en-US" sz="1100" dirty="0"/>
          </a:p>
        </p:txBody>
      </p:sp>
      <p:sp>
        <p:nvSpPr>
          <p:cNvPr id="8" name="Text 5"/>
          <p:cNvSpPr txBox="1"/>
          <p:nvPr/>
        </p:nvSpPr>
        <p:spPr>
          <a:xfrm>
            <a:off x="8382000" y="2070100"/>
            <a:ext cx="304800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main is production and receives only release merges from dev (or a hotfix); tagged v0.1.0, v0.2.0, v0.3.0, one per sprint. dev is integration and the default branch: always buildable, CI green, every merge deploys development.</a:t>
            </a:r>
            <a:endParaRPr lang="en-US" sz="900" dirty="0"/>
          </a:p>
        </p:txBody>
      </p:sp>
      <p:sp>
        <p:nvSpPr>
          <p:cNvPr id="9" name="b1"/>
          <p:cNvSpPr/>
          <p:nvPr/>
        </p:nvSpPr>
        <p:spPr>
          <a:xfrm>
            <a:off x="8382000" y="2908300"/>
            <a:ext cx="3048000" cy="0"/>
          </a:xfrm>
          <a:prstGeom prst="line">
            <a:avLst/>
          </a:prstGeom>
          <a:noFill/>
          <a:ln w="9525">
            <a:solidFill>
              <a:srgbClr val="DDE1E7"/>
            </a:solidFill>
            <a:prstDash val="solid"/>
          </a:ln>
        </p:spPr>
      </p:sp>
      <p:sp>
        <p:nvSpPr>
          <p:cNvPr id="10" name="b1"/>
          <p:cNvSpPr txBox="1"/>
          <p:nvPr/>
        </p:nvSpPr>
        <p:spPr>
          <a:xfrm>
            <a:off x="8382000" y="2984500"/>
            <a:ext cx="304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One story per branch</a:t>
            </a:r>
            <a:endParaRPr lang="en-US" sz="1100" dirty="0"/>
          </a:p>
        </p:txBody>
      </p:sp>
      <p:sp>
        <p:nvSpPr>
          <p:cNvPr id="11" name="b1"/>
          <p:cNvSpPr txBox="1"/>
          <p:nvPr/>
        </p:nvSpPr>
        <p:spPr>
          <a:xfrm>
            <a:off x="8382000" y="3187700"/>
            <a:ext cx="304800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feat/us-&lt;id&gt;-&lt;slug&gt;, fix/*, chore/*, docs/*, each from dev and back into dev with --no-ff, so the graph shows one side line per story and the branch name maps to the board. 153 merge commits on dev and 86 branches still on the remote (git log --merges dev, git branch -r), on 20 Sep.</a:t>
            </a:r>
            <a:endParaRPr lang="en-US" sz="900" dirty="0"/>
          </a:p>
        </p:txBody>
      </p:sp>
      <p:sp>
        <p:nvSpPr>
          <p:cNvPr id="12" name="b1"/>
          <p:cNvSpPr/>
          <p:nvPr/>
        </p:nvSpPr>
        <p:spPr>
          <a:xfrm>
            <a:off x="8382000" y="4025900"/>
            <a:ext cx="3048000" cy="0"/>
          </a:xfrm>
          <a:prstGeom prst="line">
            <a:avLst/>
          </a:prstGeom>
          <a:noFill/>
          <a:ln w="9525">
            <a:solidFill>
              <a:srgbClr val="DDE1E7"/>
            </a:solidFill>
            <a:prstDash val="solid"/>
          </a:ln>
        </p:spPr>
      </p:sp>
      <p:sp>
        <p:nvSpPr>
          <p:cNvPr id="13" name="b1"/>
          <p:cNvSpPr txBox="1"/>
          <p:nvPr/>
        </p:nvSpPr>
        <p:spPr>
          <a:xfrm>
            <a:off x="8382000" y="4102100"/>
            <a:ext cx="304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Release and hotfix</a:t>
            </a:r>
            <a:endParaRPr lang="en-US" sz="1100" dirty="0"/>
          </a:p>
        </p:txBody>
      </p:sp>
      <p:sp>
        <p:nvSpPr>
          <p:cNvPr id="14" name="b1"/>
          <p:cNvSpPr txBox="1"/>
          <p:nvPr/>
        </p:nvSpPr>
        <p:spPr>
          <a:xfrm>
            <a:off x="8382000" y="4305300"/>
            <a:ext cx="304800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release is the dev pull request merged into main, then a git tag on that commit; only the tag's CI run writes the v0.x.0 images. Production is then pinned to that sha- image and deployed with approval. A hotfix branches from main and merges into main, then dev.</a:t>
            </a:r>
            <a:endParaRPr lang="en-US" sz="900" dirty="0"/>
          </a:p>
        </p:txBody>
      </p:sp>
      <p:sp>
        <p:nvSpPr>
          <p:cNvPr id="15" name="b1"/>
          <p:cNvSpPr/>
          <p:nvPr/>
        </p:nvSpPr>
        <p:spPr>
          <a:xfrm>
            <a:off x="8382000" y="5143500"/>
            <a:ext cx="3048000" cy="0"/>
          </a:xfrm>
          <a:prstGeom prst="line">
            <a:avLst/>
          </a:prstGeom>
          <a:noFill/>
          <a:ln w="9525">
            <a:solidFill>
              <a:srgbClr val="DDE1E7"/>
            </a:solidFill>
            <a:prstDash val="solid"/>
          </a:ln>
        </p:spPr>
      </p:sp>
      <p:sp>
        <p:nvSpPr>
          <p:cNvPr id="16" name="b1"/>
          <p:cNvSpPr txBox="1"/>
          <p:nvPr/>
        </p:nvSpPr>
        <p:spPr>
          <a:xfrm>
            <a:off x="8382000" y="5219700"/>
            <a:ext cx="304800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Rules</a:t>
            </a:r>
            <a:endParaRPr lang="en-US" sz="1100" dirty="0"/>
          </a:p>
        </p:txBody>
      </p:sp>
      <p:sp>
        <p:nvSpPr>
          <p:cNvPr id="17" name="b1"/>
          <p:cNvSpPr txBox="1"/>
          <p:nvPr/>
        </p:nvSpPr>
        <p:spPr>
          <a:xfrm>
            <a:off x="8382000" y="5422900"/>
            <a:ext cx="304800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main is protected: changes arrive by pull request from dev with seven green checks, no force pushes, the rule applies to the owner. dev is protected against force pushes. Conventional commits; history never rewritten. docs/09-operations/BRANCHING.md.</a:t>
            </a:r>
            <a:endParaRPr lang="en-US" sz="900" dirty="0"/>
          </a:p>
        </p:txBody>
      </p:sp>
      <p:sp>
        <p:nvSpPr>
          <p:cNvPr id="18" name="x1"/>
          <p:cNvSpPr/>
          <p:nvPr/>
        </p:nvSpPr>
        <p:spPr>
          <a:xfrm>
            <a:off x="0" y="0"/>
            <a:ext cx="12192000" cy="6858000"/>
          </a:xfrm>
          <a:prstGeom prst="roundRect">
            <a:avLst/>
          </a:prstGeom>
          <a:solidFill>
            <a:srgbClr val="F4F5F7"/>
          </a:solidFill>
          <a:ln w="12700">
            <a:solidFill>
              <a:srgbClr val="F4F5F7"/>
            </a:solidFill>
            <a:prstDash val="solid"/>
          </a:ln>
        </p:spPr>
      </p:sp>
      <p:sp>
        <p:nvSpPr>
          <p:cNvPr id="19" name="x1"/>
          <p:cNvSpPr/>
          <p:nvPr/>
        </p:nvSpPr>
        <p:spPr>
          <a:xfrm>
            <a:off x="711200" y="228501"/>
            <a:ext cx="10769600" cy="6400998"/>
          </a:xfrm>
          <a:prstGeom prst="roundRect">
            <a:avLst>
              <a:gd name="adj" fmla="val 794"/>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20" name="x1" descr="/Users/suhaasnv/Documents/Desktop ALT/portfolioprojects/permitflow/notes/pitch/technical/diagrams/06-branching.png">    </p:cNvPr>
          <p:cNvPicPr>
            <a:picLocks noChangeAspect="1"/>
          </p:cNvPicPr>
          <p:nvPr/>
        </p:nvPicPr>
        <p:blipFill>
          <a:blip r:embed="rId2"/>
          <a:stretch>
            <a:fillRect/>
          </a:stretch>
        </p:blipFill>
        <p:spPr>
          <a:xfrm>
            <a:off x="762000" y="279301"/>
            <a:ext cx="10668000" cy="6299398"/>
          </a:xfrm>
          <a:prstGeom prst="rect">
            <a:avLst/>
          </a:prstGeom>
        </p:spPr>
      </p:pic>
      <p:sp>
        <p:nvSpPr>
          <p:cNvPr id="21"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docs/09-operations/BRANCHING.md · git log --merges dev · git tag</a:t>
            </a:r>
            <a:endParaRPr lang="en-US" sz="1000" dirty="0"/>
          </a:p>
        </p:txBody>
      </p:sp>
      <p:sp>
        <p:nvSpPr>
          <p:cNvPr id="22"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12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xit" presetSubtype="0" fill="hold" grpId="0" nodeType="clickEffect">
                                  <p:stCondLst>
                                    <p:cond delay="0"/>
                                  </p:stCondLst>
                                  <p:childTnLst>
                                    <p:animEffect transition="out" filter="fade">
                                      <p:cBhvr>
                                        <p:cTn id="4" dur="320"/>
                                        <p:tgtEl>
                                          <p:spTgt spid="18"/>
                                        </p:tgtEl>
                                      </p:cBhvr>
                                    </p:animEffect>
                                    <p:set>
                                      <p:cBhvr>
                                        <p:cTn id="5" dur="1" fill="hold">
                                          <p:stCondLst>
                                            <p:cond delay="319"/>
                                          </p:stCondLst>
                                        </p:cTn>
                                        <p:tgtEl>
                                          <p:spTgt spid="18"/>
                                        </p:tgtEl>
                                        <p:attrNameLst>
                                          <p:attrName>style.visibility</p:attrName>
                                        </p:attrNameLst>
                                      </p:cBhvr>
                                      <p:to>
                                        <p:strVal val="hidden"/>
                                      </p:to>
                                    </p:set>
                                  </p:childTnLst>
                                </p:cTn>
                              </p:par>
                              <p:par>
                                <p:cTn id="6" presetID="10" presetClass="exit" presetSubtype="0" fill="hold" grpId="0" nodeType="withEffect">
                                  <p:stCondLst>
                                    <p:cond delay="100"/>
                                  </p:stCondLst>
                                  <p:childTnLst>
                                    <p:animEffect transition="out" filter="fade">
                                      <p:cBhvr>
                                        <p:cTn id="7" dur="320"/>
                                        <p:tgtEl>
                                          <p:spTgt spid="19"/>
                                        </p:tgtEl>
                                      </p:cBhvr>
                                    </p:animEffect>
                                    <p:set>
                                      <p:cBhvr>
                                        <p:cTn id="8" dur="1" fill="hold">
                                          <p:stCondLst>
                                            <p:cond delay="319"/>
                                          </p:stCondLst>
                                        </p:cTn>
                                        <p:tgtEl>
                                          <p:spTgt spid="19"/>
                                        </p:tgtEl>
                                        <p:attrNameLst>
                                          <p:attrName>style.visibility</p:attrName>
                                        </p:attrNameLst>
                                      </p:cBhvr>
                                      <p:to>
                                        <p:strVal val="hidden"/>
                                      </p:to>
                                    </p:set>
                                  </p:childTnLst>
                                </p:cTn>
                              </p:par>
                              <p:par>
                                <p:cTn id="9" presetID="10" presetClass="exit" presetSubtype="0" fill="hold" grpId="0" nodeType="withEffect">
                                  <p:stCondLst>
                                    <p:cond delay="200"/>
                                  </p:stCondLst>
                                  <p:childTnLst>
                                    <p:animEffect transition="out" filter="fade">
                                      <p:cBhvr>
                                        <p:cTn id="10" dur="320"/>
                                        <p:tgtEl>
                                          <p:spTgt spid="20"/>
                                        </p:tgtEl>
                                      </p:cBhvr>
                                    </p:animEffect>
                                    <p:set>
                                      <p:cBhvr>
                                        <p:cTn id="11" dur="1" fill="hold">
                                          <p:stCondLst>
                                            <p:cond delay="319"/>
                                          </p:stCondLst>
                                        </p:cTn>
                                        <p:tgtEl>
                                          <p:spTgt spid="20"/>
                                        </p:tgtEl>
                                        <p:attrNameLst>
                                          <p:attrName>style.visibility</p:attrName>
                                        </p:attrNameLst>
                                      </p:cBhvr>
                                      <p:to>
                                        <p:strVal val="hidden"/>
                                      </p:to>
                                    </p:set>
                                  </p:childTnLst>
                                </p:cTn>
                              </p:par>
                              <p:par>
                                <p:cTn id="12" presetID="10" presetClass="entr" presetSubtype="0"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20"/>
                                        <p:tgtEl>
                                          <p:spTgt spid="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20"/>
                                        <p:tgtEl>
                                          <p:spTgt spid="1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20"/>
                                        <p:tgtEl>
                                          <p:spTgt spid="1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20"/>
                                        <p:tgtEl>
                                          <p:spTgt spid="1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20"/>
                                        <p:tgtEl>
                                          <p:spTgt spid="1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20"/>
                                        <p:tgtEl>
                                          <p:spTgt spid="1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20"/>
                                        <p:tgtEl>
                                          <p:spTgt spid="1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20"/>
                                        <p:tgtEl>
                                          <p:spTgt spid="1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ADR-011</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Build once, promote by tag, production behind a person.</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4-deployment.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Images built once</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CI builds both images after every other job is green and pushes them to GHCR as sha-&lt;commit&gt; and the branch name. A release tag (v0.3.0) is written only by the CI run for that git tag and must match package.json, so it can never be overwritten. Railway never builds.</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Two environments, plus the monitor</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development from dev, production from main; own PostgreSQL 18, volume, secrets, tokens, domains. Development also runs prometheus (private, scrapes both APIs, one token each) and grafana at grafana.dev.permitflow.space, from public images.</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Gates</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Production is pinned to a release sha-&lt;commit&gt; image, changed by hand at a release. The deploy job records the live deployment id, waits for a different id to reach SUCCESS, then checks /api/v1/health, /healthz and config.js. Production waits for the owner's approval in GitHub.</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Known limit</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workflow_run job executes on the default branch, dev, which the production environment does not admit, so production is deployed by hand: gh workflow run deploy.yml --ref main, with the approval and the gates. Documented in OPERATIONS.md.</a:t>
            </a:r>
            <a:endParaRPr lang="en-US" sz="900" dirty="0"/>
          </a:p>
        </p:txBody>
      </p:sp>
      <p:sp>
        <p:nvSpPr>
          <p:cNvPr id="18" name="x1"/>
          <p:cNvSpPr/>
          <p:nvPr/>
        </p:nvSpPr>
        <p:spPr>
          <a:xfrm>
            <a:off x="0" y="0"/>
            <a:ext cx="12192000" cy="6858000"/>
          </a:xfrm>
          <a:prstGeom prst="roundRect">
            <a:avLst/>
          </a:prstGeom>
          <a:solidFill>
            <a:srgbClr val="F4F5F7"/>
          </a:solidFill>
          <a:ln w="12700">
            <a:solidFill>
              <a:srgbClr val="F4F5F7"/>
            </a:solidFill>
            <a:prstDash val="solid"/>
          </a:ln>
        </p:spPr>
      </p:sp>
      <p:sp>
        <p:nvSpPr>
          <p:cNvPr id="19" name="x1"/>
          <p:cNvSpPr/>
          <p:nvPr/>
        </p:nvSpPr>
        <p:spPr>
          <a:xfrm>
            <a:off x="1282700" y="203200"/>
            <a:ext cx="9626600" cy="6451600"/>
          </a:xfrm>
          <a:prstGeom prst="roundRect">
            <a:avLst>
              <a:gd name="adj" fmla="val 78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20" name="x1" descr="/Users/suhaasnv/Documents/Desktop ALT/portfolioprojects/permitflow/notes/pitch/technical/diagrams/04-deployment.png">    </p:cNvPr>
          <p:cNvPicPr>
            <a:picLocks noChangeAspect="1"/>
          </p:cNvPicPr>
          <p:nvPr/>
        </p:nvPicPr>
        <p:blipFill>
          <a:blip r:embed="rId2"/>
          <a:stretch>
            <a:fillRect/>
          </a:stretch>
        </p:blipFill>
        <p:spPr>
          <a:xfrm>
            <a:off x="1333500" y="254000"/>
            <a:ext cx="9525000" cy="6350000"/>
          </a:xfrm>
          <a:prstGeom prst="rect">
            <a:avLst/>
          </a:prstGeom>
        </p:spPr>
      </p:pic>
      <p:sp>
        <p:nvSpPr>
          <p:cNvPr id="21"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docs/09-operations/OPERATIONS.md: shape, secrets and variables, seeding, custom domain, rollback, what was verified</a:t>
            </a:r>
            <a:endParaRPr lang="en-US" sz="1000" dirty="0"/>
          </a:p>
        </p:txBody>
      </p:sp>
      <p:sp>
        <p:nvSpPr>
          <p:cNvPr id="22"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13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xit" presetSubtype="0" fill="hold" grpId="0" nodeType="clickEffect">
                                  <p:stCondLst>
                                    <p:cond delay="0"/>
                                  </p:stCondLst>
                                  <p:childTnLst>
                                    <p:animEffect transition="out" filter="fade">
                                      <p:cBhvr>
                                        <p:cTn id="4" dur="320"/>
                                        <p:tgtEl>
                                          <p:spTgt spid="18"/>
                                        </p:tgtEl>
                                      </p:cBhvr>
                                    </p:animEffect>
                                    <p:set>
                                      <p:cBhvr>
                                        <p:cTn id="5" dur="1" fill="hold">
                                          <p:stCondLst>
                                            <p:cond delay="319"/>
                                          </p:stCondLst>
                                        </p:cTn>
                                        <p:tgtEl>
                                          <p:spTgt spid="18"/>
                                        </p:tgtEl>
                                        <p:attrNameLst>
                                          <p:attrName>style.visibility</p:attrName>
                                        </p:attrNameLst>
                                      </p:cBhvr>
                                      <p:to>
                                        <p:strVal val="hidden"/>
                                      </p:to>
                                    </p:set>
                                  </p:childTnLst>
                                </p:cTn>
                              </p:par>
                              <p:par>
                                <p:cTn id="6" presetID="10" presetClass="exit" presetSubtype="0" fill="hold" grpId="0" nodeType="withEffect">
                                  <p:stCondLst>
                                    <p:cond delay="100"/>
                                  </p:stCondLst>
                                  <p:childTnLst>
                                    <p:animEffect transition="out" filter="fade">
                                      <p:cBhvr>
                                        <p:cTn id="7" dur="320"/>
                                        <p:tgtEl>
                                          <p:spTgt spid="19"/>
                                        </p:tgtEl>
                                      </p:cBhvr>
                                    </p:animEffect>
                                    <p:set>
                                      <p:cBhvr>
                                        <p:cTn id="8" dur="1" fill="hold">
                                          <p:stCondLst>
                                            <p:cond delay="319"/>
                                          </p:stCondLst>
                                        </p:cTn>
                                        <p:tgtEl>
                                          <p:spTgt spid="19"/>
                                        </p:tgtEl>
                                        <p:attrNameLst>
                                          <p:attrName>style.visibility</p:attrName>
                                        </p:attrNameLst>
                                      </p:cBhvr>
                                      <p:to>
                                        <p:strVal val="hidden"/>
                                      </p:to>
                                    </p:set>
                                  </p:childTnLst>
                                </p:cTn>
                              </p:par>
                              <p:par>
                                <p:cTn id="9" presetID="10" presetClass="exit" presetSubtype="0" fill="hold" grpId="0" nodeType="withEffect">
                                  <p:stCondLst>
                                    <p:cond delay="200"/>
                                  </p:stCondLst>
                                  <p:childTnLst>
                                    <p:animEffect transition="out" filter="fade">
                                      <p:cBhvr>
                                        <p:cTn id="10" dur="320"/>
                                        <p:tgtEl>
                                          <p:spTgt spid="20"/>
                                        </p:tgtEl>
                                      </p:cBhvr>
                                    </p:animEffect>
                                    <p:set>
                                      <p:cBhvr>
                                        <p:cTn id="11" dur="1" fill="hold">
                                          <p:stCondLst>
                                            <p:cond delay="319"/>
                                          </p:stCondLst>
                                        </p:cTn>
                                        <p:tgtEl>
                                          <p:spTgt spid="20"/>
                                        </p:tgtEl>
                                        <p:attrNameLst>
                                          <p:attrName>style.visibility</p:attrName>
                                        </p:attrNameLst>
                                      </p:cBhvr>
                                      <p:to>
                                        <p:strVal val="hidden"/>
                                      </p:to>
                                    </p:set>
                                  </p:childTnLst>
                                </p:cTn>
                              </p:par>
                              <p:par>
                                <p:cTn id="12" presetID="10" presetClass="entr" presetSubtype="0"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20"/>
                                        <p:tgtEl>
                                          <p:spTgt spid="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20"/>
                                        <p:tgtEl>
                                          <p:spTgt spid="1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20"/>
                                        <p:tgtEl>
                                          <p:spTgt spid="1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20"/>
                                        <p:tgtEl>
                                          <p:spTgt spid="1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20"/>
                                        <p:tgtEl>
                                          <p:spTgt spid="1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20"/>
                                        <p:tgtEl>
                                          <p:spTgt spid="1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20"/>
                                        <p:tgtEl>
                                          <p:spTgt spid="1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20"/>
                                        <p:tgtEl>
                                          <p:spTgt spid="1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DELIVERY · CI</a:t>
            </a:r>
            <a:endParaRPr lang="en-US" sz="1100" dirty="0"/>
          </a:p>
        </p:txBody>
      </p:sp>
      <p:sp>
        <p:nvSpPr>
          <p:cNvPr id="3" name="Text 1"/>
          <p:cNvSpPr txBox="1"/>
          <p:nvPr/>
        </p:nvSpPr>
        <p:spPr>
          <a:xfrm>
            <a:off x="762000" y="863600"/>
            <a:ext cx="10668000" cy="762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Seven CI jobs, an AI gate with six, a live evaluation, and a deploy that waits for health.</a:t>
            </a:r>
            <a:endParaRPr lang="en-US" sz="2200" dirty="0"/>
          </a:p>
        </p:txBody>
      </p:sp>
      <p:sp>
        <p:nvSpPr>
          <p:cNvPr id="4" name="Shape 2"/>
          <p:cNvSpPr/>
          <p:nvPr/>
        </p:nvSpPr>
        <p:spPr>
          <a:xfrm>
            <a:off x="711200" y="1739900"/>
            <a:ext cx="6673850" cy="4483100"/>
          </a:xfrm>
          <a:prstGeom prst="roundRect">
            <a:avLst>
              <a:gd name="adj" fmla="val 1133"/>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5" name="Image 0" descr="/Users/suhaasnv/Documents/Desktop ALT/portfolioprojects/permitflow/notes/pitch/technical/diagrams/05-ci-cd-pipeline.png">    </p:cNvPr>
          <p:cNvPicPr>
            <a:picLocks noChangeAspect="1"/>
          </p:cNvPicPr>
          <p:nvPr/>
        </p:nvPicPr>
        <p:blipFill>
          <a:blip r:embed="rId1"/>
          <a:stretch>
            <a:fillRect/>
          </a:stretch>
        </p:blipFill>
        <p:spPr>
          <a:xfrm>
            <a:off x="762000" y="1790700"/>
            <a:ext cx="6572250" cy="4381500"/>
          </a:xfrm>
          <a:prstGeom prst="rect">
            <a:avLst/>
          </a:prstGeom>
        </p:spPr>
      </p:pic>
      <p:sp>
        <p:nvSpPr>
          <p:cNvPr id="6" name="Shape 3"/>
          <p:cNvSpPr/>
          <p:nvPr/>
        </p:nvSpPr>
        <p:spPr>
          <a:xfrm>
            <a:off x="7588250" y="1790700"/>
            <a:ext cx="3841750" cy="0"/>
          </a:xfrm>
          <a:prstGeom prst="line">
            <a:avLst/>
          </a:prstGeom>
          <a:noFill/>
          <a:ln w="9525">
            <a:solidFill>
              <a:srgbClr val="DDE1E7"/>
            </a:solidFill>
            <a:prstDash val="solid"/>
          </a:ln>
        </p:spPr>
      </p:sp>
      <p:sp>
        <p:nvSpPr>
          <p:cNvPr id="7" name="Text 4"/>
          <p:cNvSpPr txBox="1"/>
          <p:nvPr/>
        </p:nvSpPr>
        <p:spPr>
          <a:xfrm>
            <a:off x="7588250" y="18669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Everything blocks</a:t>
            </a:r>
            <a:endParaRPr lang="en-US" sz="1100" dirty="0"/>
          </a:p>
        </p:txBody>
      </p:sp>
      <p:sp>
        <p:nvSpPr>
          <p:cNvPr id="8" name="Text 5"/>
          <p:cNvSpPr txBox="1"/>
          <p:nvPr/>
        </p:nvSpPr>
        <p:spPr>
          <a:xfrm>
            <a:off x="7588250" y="20701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Backend (ruff, mypy strict, 763 pytest cases on PostgreSQL), Frontend (eslint, tsc, 158 vitest with thresholds, build), gitleaks, pip-audit, bandit, npm audit, End to end (the whole stack in the runner, Playwright), Images. No job is advisory.</a:t>
            </a:r>
            <a:endParaRPr lang="en-US" sz="900" dirty="0"/>
          </a:p>
        </p:txBody>
      </p:sp>
      <p:sp>
        <p:nvSpPr>
          <p:cNvPr id="9" name="b1"/>
          <p:cNvSpPr/>
          <p:nvPr/>
        </p:nvSpPr>
        <p:spPr>
          <a:xfrm>
            <a:off x="7588250" y="2908300"/>
            <a:ext cx="3841750" cy="0"/>
          </a:xfrm>
          <a:prstGeom prst="line">
            <a:avLst/>
          </a:prstGeom>
          <a:noFill/>
          <a:ln w="9525">
            <a:solidFill>
              <a:srgbClr val="DDE1E7"/>
            </a:solidFill>
            <a:prstDash val="solid"/>
          </a:ln>
        </p:spPr>
      </p:sp>
      <p:sp>
        <p:nvSpPr>
          <p:cNvPr id="10" name="b1"/>
          <p:cNvSpPr txBox="1"/>
          <p:nvPr/>
        </p:nvSpPr>
        <p:spPr>
          <a:xfrm>
            <a:off x="7588250" y="29845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AI gate on every push</a:t>
            </a:r>
            <a:endParaRPr lang="en-US" sz="1100" dirty="0"/>
          </a:p>
        </p:txBody>
      </p:sp>
      <p:sp>
        <p:nvSpPr>
          <p:cNvPr id="11" name="b1"/>
          <p:cNvSpPr txBox="1"/>
          <p:nvPr/>
        </p:nvSpPr>
        <p:spPr>
          <a:xfrm>
            <a:off x="7588250" y="31877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Model approval, contracts on a real database, 14 golden cases, adversarial injection cases, 21 fairness runs (18 name-swapped), verdict. On the mock provider so it is deterministic and free.</a:t>
            </a:r>
            <a:endParaRPr lang="en-US" sz="900" dirty="0"/>
          </a:p>
        </p:txBody>
      </p:sp>
      <p:sp>
        <p:nvSpPr>
          <p:cNvPr id="12" name="b1"/>
          <p:cNvSpPr/>
          <p:nvPr/>
        </p:nvSpPr>
        <p:spPr>
          <a:xfrm>
            <a:off x="7588250" y="4025900"/>
            <a:ext cx="3841750" cy="0"/>
          </a:xfrm>
          <a:prstGeom prst="line">
            <a:avLst/>
          </a:prstGeom>
          <a:noFill/>
          <a:ln w="9525">
            <a:solidFill>
              <a:srgbClr val="DDE1E7"/>
            </a:solidFill>
            <a:prstDash val="solid"/>
          </a:ln>
        </p:spPr>
      </p:sp>
      <p:sp>
        <p:nvSpPr>
          <p:cNvPr id="13" name="b1"/>
          <p:cNvSpPr txBox="1"/>
          <p:nvPr/>
        </p:nvSpPr>
        <p:spPr>
          <a:xfrm>
            <a:off x="7588250" y="41021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Live evaluation</a:t>
            </a:r>
            <a:endParaRPr lang="en-US" sz="1100" dirty="0"/>
          </a:p>
        </p:txBody>
      </p:sp>
      <p:sp>
        <p:nvSpPr>
          <p:cNvPr id="14" name="b1"/>
          <p:cNvSpPr txBox="1"/>
          <p:nvPr/>
        </p:nvSpPr>
        <p:spPr>
          <a:xfrm>
            <a:off x="7588250" y="43053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Nightly and on AI-path pushes against the real OpenAI model: blocking at 14 of 14, each run recorded as a LangSmith experiment. Fails loudly when the key is missing.</a:t>
            </a:r>
            <a:endParaRPr lang="en-US" sz="900" dirty="0"/>
          </a:p>
        </p:txBody>
      </p:sp>
      <p:sp>
        <p:nvSpPr>
          <p:cNvPr id="15" name="b1"/>
          <p:cNvSpPr/>
          <p:nvPr/>
        </p:nvSpPr>
        <p:spPr>
          <a:xfrm>
            <a:off x="7588250" y="5143500"/>
            <a:ext cx="3841750" cy="0"/>
          </a:xfrm>
          <a:prstGeom prst="line">
            <a:avLst/>
          </a:prstGeom>
          <a:noFill/>
          <a:ln w="9525">
            <a:solidFill>
              <a:srgbClr val="DDE1E7"/>
            </a:solidFill>
            <a:prstDash val="solid"/>
          </a:ln>
        </p:spPr>
      </p:sp>
      <p:sp>
        <p:nvSpPr>
          <p:cNvPr id="16" name="b1"/>
          <p:cNvSpPr txBox="1"/>
          <p:nvPr/>
        </p:nvSpPr>
        <p:spPr>
          <a:xfrm>
            <a:off x="7588250" y="5219700"/>
            <a:ext cx="3841750" cy="1905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Reproducible</a:t>
            </a:r>
            <a:endParaRPr lang="en-US" sz="1100" dirty="0"/>
          </a:p>
        </p:txBody>
      </p:sp>
      <p:sp>
        <p:nvSpPr>
          <p:cNvPr id="17" name="b1"/>
          <p:cNvSpPr txBox="1"/>
          <p:nvPr/>
        </p:nvSpPr>
        <p:spPr>
          <a:xfrm>
            <a:off x="7588250" y="5422900"/>
            <a:ext cx="3841750" cy="7112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The end-to-end job runs migrations, seed, uvicorn and vite preview inside the runner, with rate limits set to 0 and the mock provider. The same commands run locally.</a:t>
            </a:r>
            <a:endParaRPr lang="en-US" sz="900" dirty="0"/>
          </a:p>
        </p:txBody>
      </p:sp>
      <p:sp>
        <p:nvSpPr>
          <p:cNvPr id="18" name="x1"/>
          <p:cNvSpPr/>
          <p:nvPr/>
        </p:nvSpPr>
        <p:spPr>
          <a:xfrm>
            <a:off x="0" y="0"/>
            <a:ext cx="12192000" cy="6858000"/>
          </a:xfrm>
          <a:prstGeom prst="roundRect">
            <a:avLst/>
          </a:prstGeom>
          <a:solidFill>
            <a:srgbClr val="F4F5F7"/>
          </a:solidFill>
          <a:ln w="12700">
            <a:solidFill>
              <a:srgbClr val="F4F5F7"/>
            </a:solidFill>
            <a:prstDash val="solid"/>
          </a:ln>
        </p:spPr>
      </p:sp>
      <p:sp>
        <p:nvSpPr>
          <p:cNvPr id="19" name="x1"/>
          <p:cNvSpPr/>
          <p:nvPr/>
        </p:nvSpPr>
        <p:spPr>
          <a:xfrm>
            <a:off x="1282700" y="203200"/>
            <a:ext cx="9626600" cy="6451600"/>
          </a:xfrm>
          <a:prstGeom prst="roundRect">
            <a:avLst>
              <a:gd name="adj" fmla="val 78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pic>
        <p:nvPicPr>
          <p:cNvPr id="20" name="x1" descr="/Users/suhaasnv/Documents/Desktop ALT/portfolioprojects/permitflow/notes/pitch/technical/diagrams/05-ci-cd-pipeline.png">    </p:cNvPr>
          <p:cNvPicPr>
            <a:picLocks noChangeAspect="1"/>
          </p:cNvPicPr>
          <p:nvPr/>
        </p:nvPicPr>
        <p:blipFill>
          <a:blip r:embed="rId2"/>
          <a:stretch>
            <a:fillRect/>
          </a:stretch>
        </p:blipFill>
        <p:spPr>
          <a:xfrm>
            <a:off x="1333500" y="254000"/>
            <a:ext cx="9525000" cy="6350000"/>
          </a:xfrm>
          <a:prstGeom prst="rect">
            <a:avLst/>
          </a:prstGeom>
        </p:spPr>
      </p:pic>
      <p:sp>
        <p:nvSpPr>
          <p:cNvPr id="21"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.github/workflows: ci.yml, ai-gate.yml (workflow_call), ai-eval.yml, deploy.yml · shell: bash with pipefail everywhere</a:t>
            </a:r>
            <a:endParaRPr lang="en-US" sz="1000" dirty="0"/>
          </a:p>
        </p:txBody>
      </p:sp>
      <p:sp>
        <p:nvSpPr>
          <p:cNvPr id="22"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14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xit" presetSubtype="0" fill="hold" grpId="0" nodeType="clickEffect">
                                  <p:stCondLst>
                                    <p:cond delay="0"/>
                                  </p:stCondLst>
                                  <p:childTnLst>
                                    <p:animEffect transition="out" filter="fade">
                                      <p:cBhvr>
                                        <p:cTn id="4" dur="320"/>
                                        <p:tgtEl>
                                          <p:spTgt spid="18"/>
                                        </p:tgtEl>
                                      </p:cBhvr>
                                    </p:animEffect>
                                    <p:set>
                                      <p:cBhvr>
                                        <p:cTn id="5" dur="1" fill="hold">
                                          <p:stCondLst>
                                            <p:cond delay="319"/>
                                          </p:stCondLst>
                                        </p:cTn>
                                        <p:tgtEl>
                                          <p:spTgt spid="18"/>
                                        </p:tgtEl>
                                        <p:attrNameLst>
                                          <p:attrName>style.visibility</p:attrName>
                                        </p:attrNameLst>
                                      </p:cBhvr>
                                      <p:to>
                                        <p:strVal val="hidden"/>
                                      </p:to>
                                    </p:set>
                                  </p:childTnLst>
                                </p:cTn>
                              </p:par>
                              <p:par>
                                <p:cTn id="6" presetID="10" presetClass="exit" presetSubtype="0" fill="hold" grpId="0" nodeType="withEffect">
                                  <p:stCondLst>
                                    <p:cond delay="100"/>
                                  </p:stCondLst>
                                  <p:childTnLst>
                                    <p:animEffect transition="out" filter="fade">
                                      <p:cBhvr>
                                        <p:cTn id="7" dur="320"/>
                                        <p:tgtEl>
                                          <p:spTgt spid="19"/>
                                        </p:tgtEl>
                                      </p:cBhvr>
                                    </p:animEffect>
                                    <p:set>
                                      <p:cBhvr>
                                        <p:cTn id="8" dur="1" fill="hold">
                                          <p:stCondLst>
                                            <p:cond delay="319"/>
                                          </p:stCondLst>
                                        </p:cTn>
                                        <p:tgtEl>
                                          <p:spTgt spid="19"/>
                                        </p:tgtEl>
                                        <p:attrNameLst>
                                          <p:attrName>style.visibility</p:attrName>
                                        </p:attrNameLst>
                                      </p:cBhvr>
                                      <p:to>
                                        <p:strVal val="hidden"/>
                                      </p:to>
                                    </p:set>
                                  </p:childTnLst>
                                </p:cTn>
                              </p:par>
                              <p:par>
                                <p:cTn id="9" presetID="10" presetClass="exit" presetSubtype="0" fill="hold" grpId="0" nodeType="withEffect">
                                  <p:stCondLst>
                                    <p:cond delay="200"/>
                                  </p:stCondLst>
                                  <p:childTnLst>
                                    <p:animEffect transition="out" filter="fade">
                                      <p:cBhvr>
                                        <p:cTn id="10" dur="320"/>
                                        <p:tgtEl>
                                          <p:spTgt spid="20"/>
                                        </p:tgtEl>
                                      </p:cBhvr>
                                    </p:animEffect>
                                    <p:set>
                                      <p:cBhvr>
                                        <p:cTn id="11" dur="1" fill="hold">
                                          <p:stCondLst>
                                            <p:cond delay="319"/>
                                          </p:stCondLst>
                                        </p:cTn>
                                        <p:tgtEl>
                                          <p:spTgt spid="20"/>
                                        </p:tgtEl>
                                        <p:attrNameLst>
                                          <p:attrName>style.visibility</p:attrName>
                                        </p:attrNameLst>
                                      </p:cBhvr>
                                      <p:to>
                                        <p:strVal val="hidden"/>
                                      </p:to>
                                    </p:set>
                                  </p:childTnLst>
                                </p:cTn>
                              </p:par>
                              <p:par>
                                <p:cTn id="12" presetID="10" presetClass="entr" presetSubtype="0" fill="hold" grpId="0" nodeType="withEffect">
                                  <p:stCondLst>
                                    <p:cond delay="3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20"/>
                                        <p:tgtEl>
                                          <p:spTgt spid="9"/>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20"/>
                                        <p:tgtEl>
                                          <p:spTgt spid="10"/>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20"/>
                                        <p:tgtEl>
                                          <p:spTgt spid="11"/>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20"/>
                                        <p:tgtEl>
                                          <p:spTgt spid="12"/>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320"/>
                                        <p:tgtEl>
                                          <p:spTgt spid="13"/>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20"/>
                                        <p:tgtEl>
                                          <p:spTgt spid="14"/>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20"/>
                                        <p:tgtEl>
                                          <p:spTgt spid="15"/>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20"/>
                                        <p:tgtEl>
                                          <p:spTgt spid="16"/>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PRODUCTION READINESS</a:t>
            </a:r>
            <a:endParaRPr lang="en-US" sz="1100" dirty="0"/>
          </a:p>
        </p:txBody>
      </p:sp>
      <p:sp>
        <p:nvSpPr>
          <p:cNvPr id="3" name="Text 1"/>
          <p:cNvSpPr txBox="1"/>
          <p:nvPr/>
        </p:nvSpPr>
        <p:spPr>
          <a:xfrm>
            <a:off x="762000" y="863600"/>
            <a:ext cx="9906000" cy="571500"/>
          </a:xfrm>
          <a:prstGeom prst="rect">
            <a:avLst/>
          </a:prstGeom>
          <a:noFill/>
          <a:ln/>
        </p:spPr>
        <p:txBody>
          <a:bodyPr wrap="square" lIns="0" tIns="0" rIns="0" bIns="0" rtlCol="0" anchor="t"/>
          <a:lstStyle/>
          <a:p>
            <a:pPr algn="l" indent="0" marL="0">
              <a:lnSpc>
                <a:spcPct val="108000"/>
              </a:lnSpc>
              <a:buNone/>
            </a:pPr>
            <a:r>
              <a:rPr lang="en-US" sz="2300" dirty="0">
                <a:solidFill>
                  <a:srgbClr val="1B2430"/>
                </a:solidFill>
                <a:latin typeface="Instrument Serif" pitchFamily="34" charset="0"/>
                <a:ea typeface="Instrument Serif" pitchFamily="34" charset="-122"/>
                <a:cs typeface="Instrument Serif" pitchFamily="34" charset="-120"/>
              </a:rPr>
              <a:t>Checked by tests, gates and a written record.</a:t>
            </a:r>
            <a:endParaRPr lang="en-US" sz="2300" dirty="0"/>
          </a:p>
        </p:txBody>
      </p:sp>
      <p:sp>
        <p:nvSpPr>
          <p:cNvPr id="4" name="Text 2"/>
          <p:cNvSpPr txBox="1"/>
          <p:nvPr/>
        </p:nvSpPr>
        <p:spPr>
          <a:xfrm>
            <a:off x="762000" y="1524000"/>
            <a:ext cx="10668000" cy="254000"/>
          </a:xfrm>
          <a:prstGeom prst="rect">
            <a:avLst/>
          </a:prstGeom>
          <a:noFill/>
          <a:ln/>
        </p:spPr>
        <p:txBody>
          <a:bodyPr wrap="none" lIns="0" tIns="0" rIns="0" bIns="0" rtlCol="0" anchor="ctr"/>
          <a:lstStyle/>
          <a:p>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763</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backend test cases, 95 % statements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158</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frontend tests, 81 %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8</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Playwright specs, axe over 23 states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23</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threats, each with a control     </a:t>
            </a:r>
            <a:pPr algn="l" indent="0" marL="0">
              <a:lnSpc>
                <a:spcPct val="115000"/>
              </a:lnSpc>
              <a:buNone/>
            </a:pPr>
            <a:r>
              <a:rPr lang="en-US" sz="1300" b="1" dirty="0">
                <a:solidFill>
                  <a:srgbClr val="1B2430"/>
                </a:solidFill>
                <a:latin typeface="Public Sans" pitchFamily="34" charset="0"/>
                <a:ea typeface="Public Sans" pitchFamily="34" charset="-122"/>
                <a:cs typeface="Public Sans" pitchFamily="34" charset="-120"/>
              </a:rPr>
              <a:t>24</a:t>
            </a:r>
            <a:pPr algn="l" indent="0" marL="0">
              <a:lnSpc>
                <a:spcPct val="115000"/>
              </a:lnSpc>
              <a:buNone/>
            </a:pPr>
            <a:r>
              <a:rPr lang="en-US" sz="950" dirty="0">
                <a:solidFill>
                  <a:srgbClr val="465060"/>
                </a:solidFill>
                <a:latin typeface="Public Sans" pitchFamily="34" charset="0"/>
                <a:ea typeface="Public Sans" pitchFamily="34" charset="-122"/>
                <a:cs typeface="Public Sans" pitchFamily="34" charset="-120"/>
              </a:rPr>
              <a:t> readiness rows with severity</a:t>
            </a:r>
            <a:endParaRPr lang="en-US" sz="950" dirty="0"/>
          </a:p>
        </p:txBody>
      </p:sp>
      <p:sp>
        <p:nvSpPr>
          <p:cNvPr id="5" name="Shape 3"/>
          <p:cNvSpPr/>
          <p:nvPr/>
        </p:nvSpPr>
        <p:spPr>
          <a:xfrm>
            <a:off x="812800" y="2000250"/>
            <a:ext cx="50800" cy="50800"/>
          </a:xfrm>
          <a:prstGeom prst="line">
            <a:avLst/>
          </a:prstGeom>
          <a:noFill/>
          <a:ln w="25400">
            <a:solidFill>
              <a:srgbClr val="067647"/>
            </a:solidFill>
            <a:prstDash val="solid"/>
          </a:ln>
        </p:spPr>
      </p:sp>
      <p:sp>
        <p:nvSpPr>
          <p:cNvPr id="6" name="Shape 4"/>
          <p:cNvSpPr/>
          <p:nvPr/>
        </p:nvSpPr>
        <p:spPr>
          <a:xfrm flipV="1">
            <a:off x="863600" y="1955800"/>
            <a:ext cx="82550" cy="95250"/>
          </a:xfrm>
          <a:prstGeom prst="line">
            <a:avLst/>
          </a:prstGeom>
          <a:noFill/>
          <a:ln w="25400">
            <a:solidFill>
              <a:srgbClr val="067647"/>
            </a:solidFill>
            <a:prstDash val="solid"/>
          </a:ln>
        </p:spPr>
      </p:sp>
      <p:sp>
        <p:nvSpPr>
          <p:cNvPr id="7" name="Text 5"/>
          <p:cNvSpPr txBox="1"/>
          <p:nvPr/>
        </p:nvSpPr>
        <p:spPr>
          <a:xfrm>
            <a:off x="1079500" y="19050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Input validation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Pydantic 422 with per-field details; upload allowlist, size streamed to 10 MB, magic bytes; zod schemas built from the server's form schema.</a:t>
            </a:r>
            <a:endParaRPr lang="en-US" sz="900" dirty="0"/>
          </a:p>
        </p:txBody>
      </p:sp>
      <p:sp>
        <p:nvSpPr>
          <p:cNvPr id="8" name="Shape 6"/>
          <p:cNvSpPr/>
          <p:nvPr/>
        </p:nvSpPr>
        <p:spPr>
          <a:xfrm>
            <a:off x="762000" y="2476500"/>
            <a:ext cx="6223000" cy="0"/>
          </a:xfrm>
          <a:prstGeom prst="line">
            <a:avLst/>
          </a:prstGeom>
          <a:noFill/>
          <a:ln w="9525">
            <a:solidFill>
              <a:srgbClr val="DDE1E7"/>
            </a:solidFill>
            <a:prstDash val="solid"/>
          </a:ln>
        </p:spPr>
      </p:sp>
      <p:sp>
        <p:nvSpPr>
          <p:cNvPr id="9" name="Shape 7"/>
          <p:cNvSpPr/>
          <p:nvPr/>
        </p:nvSpPr>
        <p:spPr>
          <a:xfrm>
            <a:off x="812800" y="2609850"/>
            <a:ext cx="50800" cy="50800"/>
          </a:xfrm>
          <a:prstGeom prst="line">
            <a:avLst/>
          </a:prstGeom>
          <a:noFill/>
          <a:ln w="25400">
            <a:solidFill>
              <a:srgbClr val="067647"/>
            </a:solidFill>
            <a:prstDash val="solid"/>
          </a:ln>
        </p:spPr>
      </p:sp>
      <p:sp>
        <p:nvSpPr>
          <p:cNvPr id="10" name="Shape 8"/>
          <p:cNvSpPr/>
          <p:nvPr/>
        </p:nvSpPr>
        <p:spPr>
          <a:xfrm flipV="1">
            <a:off x="863600" y="2565400"/>
            <a:ext cx="82550" cy="95250"/>
          </a:xfrm>
          <a:prstGeom prst="line">
            <a:avLst/>
          </a:prstGeom>
          <a:noFill/>
          <a:ln w="25400">
            <a:solidFill>
              <a:srgbClr val="067647"/>
            </a:solidFill>
            <a:prstDash val="solid"/>
          </a:ln>
        </p:spPr>
      </p:sp>
      <p:sp>
        <p:nvSpPr>
          <p:cNvPr id="11" name="Text 9"/>
          <p:cNvSpPr txBox="1"/>
          <p:nvPr/>
        </p:nvSpPr>
        <p:spPr>
          <a:xfrm>
            <a:off x="1079500" y="25146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Error envelope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 error: { code, message, details } } on every route, including 401, 403, 422, 429 and 500 with a request id and no stack trace.</a:t>
            </a:r>
            <a:endParaRPr lang="en-US" sz="900" dirty="0"/>
          </a:p>
        </p:txBody>
      </p:sp>
      <p:sp>
        <p:nvSpPr>
          <p:cNvPr id="12" name="Shape 10"/>
          <p:cNvSpPr/>
          <p:nvPr/>
        </p:nvSpPr>
        <p:spPr>
          <a:xfrm>
            <a:off x="762000" y="3086100"/>
            <a:ext cx="6223000" cy="0"/>
          </a:xfrm>
          <a:prstGeom prst="line">
            <a:avLst/>
          </a:prstGeom>
          <a:noFill/>
          <a:ln w="9525">
            <a:solidFill>
              <a:srgbClr val="DDE1E7"/>
            </a:solidFill>
            <a:prstDash val="solid"/>
          </a:ln>
        </p:spPr>
      </p:sp>
      <p:sp>
        <p:nvSpPr>
          <p:cNvPr id="13" name="Shape 11"/>
          <p:cNvSpPr/>
          <p:nvPr/>
        </p:nvSpPr>
        <p:spPr>
          <a:xfrm>
            <a:off x="812800" y="3219450"/>
            <a:ext cx="50800" cy="50800"/>
          </a:xfrm>
          <a:prstGeom prst="line">
            <a:avLst/>
          </a:prstGeom>
          <a:noFill/>
          <a:ln w="25400">
            <a:solidFill>
              <a:srgbClr val="067647"/>
            </a:solidFill>
            <a:prstDash val="solid"/>
          </a:ln>
        </p:spPr>
      </p:sp>
      <p:sp>
        <p:nvSpPr>
          <p:cNvPr id="14" name="Shape 12"/>
          <p:cNvSpPr/>
          <p:nvPr/>
        </p:nvSpPr>
        <p:spPr>
          <a:xfrm flipV="1">
            <a:off x="863600" y="3175000"/>
            <a:ext cx="82550" cy="95250"/>
          </a:xfrm>
          <a:prstGeom prst="line">
            <a:avLst/>
          </a:prstGeom>
          <a:noFill/>
          <a:ln w="25400">
            <a:solidFill>
              <a:srgbClr val="067647"/>
            </a:solidFill>
            <a:prstDash val="solid"/>
          </a:ln>
        </p:spPr>
      </p:sp>
      <p:sp>
        <p:nvSpPr>
          <p:cNvPr id="15" name="Text 13"/>
          <p:cNvSpPr txBox="1"/>
          <p:nvPr/>
        </p:nvSpPr>
        <p:spPr>
          <a:xfrm>
            <a:off x="1079500" y="31242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Concurrency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SELECT FOR UPDATE on the application; expected_version on transitions (409 version_conflict); stale AI runs recovered on restart.</a:t>
            </a:r>
            <a:endParaRPr lang="en-US" sz="900" dirty="0"/>
          </a:p>
        </p:txBody>
      </p:sp>
      <p:sp>
        <p:nvSpPr>
          <p:cNvPr id="16" name="Shape 14"/>
          <p:cNvSpPr/>
          <p:nvPr/>
        </p:nvSpPr>
        <p:spPr>
          <a:xfrm>
            <a:off x="762000" y="3695700"/>
            <a:ext cx="6223000" cy="0"/>
          </a:xfrm>
          <a:prstGeom prst="line">
            <a:avLst/>
          </a:prstGeom>
          <a:noFill/>
          <a:ln w="9525">
            <a:solidFill>
              <a:srgbClr val="DDE1E7"/>
            </a:solidFill>
            <a:prstDash val="solid"/>
          </a:ln>
        </p:spPr>
      </p:sp>
      <p:sp>
        <p:nvSpPr>
          <p:cNvPr id="17" name="Shape 15"/>
          <p:cNvSpPr/>
          <p:nvPr/>
        </p:nvSpPr>
        <p:spPr>
          <a:xfrm>
            <a:off x="812800" y="3829050"/>
            <a:ext cx="50800" cy="50800"/>
          </a:xfrm>
          <a:prstGeom prst="line">
            <a:avLst/>
          </a:prstGeom>
          <a:noFill/>
          <a:ln w="25400">
            <a:solidFill>
              <a:srgbClr val="067647"/>
            </a:solidFill>
            <a:prstDash val="solid"/>
          </a:ln>
        </p:spPr>
      </p:sp>
      <p:sp>
        <p:nvSpPr>
          <p:cNvPr id="18" name="Shape 16"/>
          <p:cNvSpPr/>
          <p:nvPr/>
        </p:nvSpPr>
        <p:spPr>
          <a:xfrm flipV="1">
            <a:off x="863600" y="3784600"/>
            <a:ext cx="82550" cy="95250"/>
          </a:xfrm>
          <a:prstGeom prst="line">
            <a:avLst/>
          </a:prstGeom>
          <a:noFill/>
          <a:ln w="25400">
            <a:solidFill>
              <a:srgbClr val="067647"/>
            </a:solidFill>
            <a:prstDash val="solid"/>
          </a:ln>
        </p:spPr>
      </p:sp>
      <p:sp>
        <p:nvSpPr>
          <p:cNvPr id="19" name="Text 17"/>
          <p:cNvSpPr txBox="1"/>
          <p:nvPr/>
        </p:nvSpPr>
        <p:spPr>
          <a:xfrm>
            <a:off x="1079500" y="37338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Abuse limits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240 requests and 20 sign-ins per client per minute with Retry-After; 20 open drafts; 60 checks per applicant and 1 000 per day, over quota stored unavailable.</a:t>
            </a:r>
            <a:endParaRPr lang="en-US" sz="900" dirty="0"/>
          </a:p>
        </p:txBody>
      </p:sp>
      <p:sp>
        <p:nvSpPr>
          <p:cNvPr id="20" name="Shape 18"/>
          <p:cNvSpPr/>
          <p:nvPr/>
        </p:nvSpPr>
        <p:spPr>
          <a:xfrm>
            <a:off x="762000" y="4305300"/>
            <a:ext cx="6223000" cy="0"/>
          </a:xfrm>
          <a:prstGeom prst="line">
            <a:avLst/>
          </a:prstGeom>
          <a:noFill/>
          <a:ln w="9525">
            <a:solidFill>
              <a:srgbClr val="DDE1E7"/>
            </a:solidFill>
            <a:prstDash val="solid"/>
          </a:ln>
        </p:spPr>
      </p:sp>
      <p:sp>
        <p:nvSpPr>
          <p:cNvPr id="21" name="Shape 19"/>
          <p:cNvSpPr/>
          <p:nvPr/>
        </p:nvSpPr>
        <p:spPr>
          <a:xfrm>
            <a:off x="812800" y="4438650"/>
            <a:ext cx="50800" cy="50800"/>
          </a:xfrm>
          <a:prstGeom prst="line">
            <a:avLst/>
          </a:prstGeom>
          <a:noFill/>
          <a:ln w="25400">
            <a:solidFill>
              <a:srgbClr val="067647"/>
            </a:solidFill>
            <a:prstDash val="solid"/>
          </a:ln>
        </p:spPr>
      </p:sp>
      <p:sp>
        <p:nvSpPr>
          <p:cNvPr id="22" name="Shape 20"/>
          <p:cNvSpPr/>
          <p:nvPr/>
        </p:nvSpPr>
        <p:spPr>
          <a:xfrm flipV="1">
            <a:off x="863600" y="4394200"/>
            <a:ext cx="82550" cy="95250"/>
          </a:xfrm>
          <a:prstGeom prst="line">
            <a:avLst/>
          </a:prstGeom>
          <a:noFill/>
          <a:ln w="25400">
            <a:solidFill>
              <a:srgbClr val="067647"/>
            </a:solidFill>
            <a:prstDash val="solid"/>
          </a:ln>
        </p:spPr>
      </p:sp>
      <p:sp>
        <p:nvSpPr>
          <p:cNvPr id="23" name="Text 21"/>
          <p:cNvSpPr txBox="1"/>
          <p:nvPr/>
        </p:nvSpPr>
        <p:spPr>
          <a:xfrm>
            <a:off x="1079500" y="43434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Headers and secrets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CSP, HSTS, COOP, Permissions-Policy on both tiers; Argon2, JWT 8 h re-validated per request; gitleaks over the history; .env.example documents every variable.</a:t>
            </a:r>
            <a:endParaRPr lang="en-US" sz="900" dirty="0"/>
          </a:p>
        </p:txBody>
      </p:sp>
      <p:sp>
        <p:nvSpPr>
          <p:cNvPr id="24" name="Shape 22"/>
          <p:cNvSpPr/>
          <p:nvPr/>
        </p:nvSpPr>
        <p:spPr>
          <a:xfrm>
            <a:off x="762000" y="4914900"/>
            <a:ext cx="6223000" cy="0"/>
          </a:xfrm>
          <a:prstGeom prst="line">
            <a:avLst/>
          </a:prstGeom>
          <a:noFill/>
          <a:ln w="9525">
            <a:solidFill>
              <a:srgbClr val="DDE1E7"/>
            </a:solidFill>
            <a:prstDash val="solid"/>
          </a:ln>
        </p:spPr>
      </p:sp>
      <p:sp>
        <p:nvSpPr>
          <p:cNvPr id="25" name="Shape 23"/>
          <p:cNvSpPr/>
          <p:nvPr/>
        </p:nvSpPr>
        <p:spPr>
          <a:xfrm>
            <a:off x="812800" y="5048250"/>
            <a:ext cx="50800" cy="50800"/>
          </a:xfrm>
          <a:prstGeom prst="line">
            <a:avLst/>
          </a:prstGeom>
          <a:noFill/>
          <a:ln w="25400">
            <a:solidFill>
              <a:srgbClr val="067647"/>
            </a:solidFill>
            <a:prstDash val="solid"/>
          </a:ln>
        </p:spPr>
      </p:sp>
      <p:sp>
        <p:nvSpPr>
          <p:cNvPr id="26" name="Shape 24"/>
          <p:cNvSpPr/>
          <p:nvPr/>
        </p:nvSpPr>
        <p:spPr>
          <a:xfrm flipV="1">
            <a:off x="863600" y="5003800"/>
            <a:ext cx="82550" cy="95250"/>
          </a:xfrm>
          <a:prstGeom prst="line">
            <a:avLst/>
          </a:prstGeom>
          <a:noFill/>
          <a:ln w="25400">
            <a:solidFill>
              <a:srgbClr val="067647"/>
            </a:solidFill>
            <a:prstDash val="solid"/>
          </a:ln>
        </p:spPr>
      </p:sp>
      <p:sp>
        <p:nvSpPr>
          <p:cNvPr id="27" name="Text 25"/>
          <p:cNvSpPr txBox="1"/>
          <p:nvPr/>
        </p:nvSpPr>
        <p:spPr>
          <a:xfrm>
            <a:off x="1079500" y="49530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Accessibility and legal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axe gate in CI over 23 screen states; labels never colour alone; policy pages and demonstration notices; fonts self-hosted.</a:t>
            </a:r>
            <a:endParaRPr lang="en-US" sz="900" dirty="0"/>
          </a:p>
        </p:txBody>
      </p:sp>
      <p:sp>
        <p:nvSpPr>
          <p:cNvPr id="28" name="Shape 26"/>
          <p:cNvSpPr/>
          <p:nvPr/>
        </p:nvSpPr>
        <p:spPr>
          <a:xfrm>
            <a:off x="762000" y="5524500"/>
            <a:ext cx="6223000" cy="0"/>
          </a:xfrm>
          <a:prstGeom prst="line">
            <a:avLst/>
          </a:prstGeom>
          <a:noFill/>
          <a:ln w="9525">
            <a:solidFill>
              <a:srgbClr val="DDE1E7"/>
            </a:solidFill>
            <a:prstDash val="solid"/>
          </a:ln>
        </p:spPr>
      </p:sp>
      <p:sp>
        <p:nvSpPr>
          <p:cNvPr id="29" name="Shape 27"/>
          <p:cNvSpPr/>
          <p:nvPr/>
        </p:nvSpPr>
        <p:spPr>
          <a:xfrm>
            <a:off x="812800" y="5657850"/>
            <a:ext cx="50800" cy="50800"/>
          </a:xfrm>
          <a:prstGeom prst="line">
            <a:avLst/>
          </a:prstGeom>
          <a:noFill/>
          <a:ln w="25400">
            <a:solidFill>
              <a:srgbClr val="067647"/>
            </a:solidFill>
            <a:prstDash val="solid"/>
          </a:ln>
        </p:spPr>
      </p:sp>
      <p:sp>
        <p:nvSpPr>
          <p:cNvPr id="30" name="Shape 28"/>
          <p:cNvSpPr/>
          <p:nvPr/>
        </p:nvSpPr>
        <p:spPr>
          <a:xfrm flipV="1">
            <a:off x="863600" y="5613400"/>
            <a:ext cx="82550" cy="95250"/>
          </a:xfrm>
          <a:prstGeom prst="line">
            <a:avLst/>
          </a:prstGeom>
          <a:noFill/>
          <a:ln w="25400">
            <a:solidFill>
              <a:srgbClr val="067647"/>
            </a:solidFill>
            <a:prstDash val="solid"/>
          </a:ln>
        </p:spPr>
      </p:sp>
      <p:sp>
        <p:nvSpPr>
          <p:cNvPr id="31" name="Text 29"/>
          <p:cNvSpPr txBox="1"/>
          <p:nvPr/>
        </p:nvSpPr>
        <p:spPr>
          <a:xfrm>
            <a:off x="1079500" y="5562600"/>
            <a:ext cx="5905500" cy="571500"/>
          </a:xfrm>
          <a:prstGeom prst="rect">
            <a:avLst/>
          </a:prstGeom>
          <a:noFill/>
          <a:ln/>
        </p:spPr>
        <p:txBody>
          <a:bodyPr wrap="square" lIns="0" tIns="0" rIns="0" bIns="0" rtlCol="0" anchor="t"/>
          <a:lstStyle/>
          <a:p>
            <a:pPr algn="l" indent="0" marL="0">
              <a:lnSpc>
                <a:spcPct val="126000"/>
              </a:lnSpc>
              <a:buNone/>
            </a:pPr>
            <a:r>
              <a:rPr lang="en-US" sz="900" b="1" dirty="0">
                <a:solidFill>
                  <a:srgbClr val="1B2430"/>
                </a:solidFill>
                <a:latin typeface="Public Sans" pitchFamily="34" charset="0"/>
                <a:ea typeface="Public Sans" pitchFamily="34" charset="-122"/>
                <a:cs typeface="Public Sans" pitchFamily="34" charset="-120"/>
              </a:rPr>
              <a:t>Observability  </a:t>
            </a:r>
            <a:pPr algn="l" indent="0" marL="0">
              <a:lnSpc>
                <a:spcPct val="126000"/>
              </a:lnSpc>
              <a:buNone/>
            </a:pPr>
            <a:r>
              <a:rPr lang="en-US" sz="900" dirty="0">
                <a:solidFill>
                  <a:srgbClr val="465060"/>
                </a:solidFill>
                <a:latin typeface="Public Sans" pitchFamily="34" charset="0"/>
                <a:ea typeface="Public Sans" pitchFamily="34" charset="-122"/>
                <a:cs typeface="Public Sans" pitchFamily="34" charset="-120"/>
              </a:rPr>
              <a:t>GET /api/v1/metrics behind a bearer token: requests, latency, refusals, check outcomes and cost, transitions, queue; Prometheus with six alert rules; one Grafana dashboard, local and on Railway (US-077).</a:t>
            </a:r>
            <a:endParaRPr lang="en-US" sz="900" dirty="0"/>
          </a:p>
        </p:txBody>
      </p:sp>
      <p:sp>
        <p:nvSpPr>
          <p:cNvPr id="32" name="b1"/>
          <p:cNvSpPr/>
          <p:nvPr/>
        </p:nvSpPr>
        <p:spPr>
          <a:xfrm>
            <a:off x="7366000" y="19050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3" name="b1"/>
          <p:cNvSpPr txBox="1"/>
          <p:nvPr/>
        </p:nvSpPr>
        <p:spPr>
          <a:xfrm>
            <a:off x="7531100" y="20193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Threat model</a:t>
            </a:r>
            <a:endParaRPr lang="en-US" sz="1050" dirty="0"/>
          </a:p>
        </p:txBody>
      </p:sp>
      <p:sp>
        <p:nvSpPr>
          <p:cNvPr id="34" name="b1"/>
          <p:cNvSpPr txBox="1"/>
          <p:nvPr/>
        </p:nvSpPr>
        <p:spPr>
          <a:xfrm>
            <a:off x="7531100" y="22225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docs/06-security/THREAT_MODEL.md: T1 to T23 plus T1a, STRIDE per asset, the control for each, what is accepted for a demonstration and why.</a:t>
            </a:r>
            <a:endParaRPr lang="en-US" sz="900" dirty="0"/>
          </a:p>
        </p:txBody>
      </p:sp>
      <p:sp>
        <p:nvSpPr>
          <p:cNvPr id="35" name="b1"/>
          <p:cNvSpPr/>
          <p:nvPr/>
        </p:nvSpPr>
        <p:spPr>
          <a:xfrm>
            <a:off x="7366000" y="29464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6" name="b1"/>
          <p:cNvSpPr txBox="1"/>
          <p:nvPr/>
        </p:nvSpPr>
        <p:spPr>
          <a:xfrm>
            <a:off x="7531100" y="30607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Readiness review</a:t>
            </a:r>
            <a:endParaRPr lang="en-US" sz="1050" dirty="0"/>
          </a:p>
        </p:txBody>
      </p:sp>
      <p:sp>
        <p:nvSpPr>
          <p:cNvPr id="37" name="b1"/>
          <p:cNvSpPr txBox="1"/>
          <p:nvPr/>
        </p:nvSpPr>
        <p:spPr>
          <a:xfrm>
            <a:off x="7531100" y="32639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docs/11-reviews/PRODUCTION_READINESS_REVIEW.md: 24 rows, severity, what mitigates today, what production needs.</a:t>
            </a:r>
            <a:endParaRPr lang="en-US" sz="900" dirty="0"/>
          </a:p>
        </p:txBody>
      </p:sp>
      <p:sp>
        <p:nvSpPr>
          <p:cNvPr id="38" name="b1"/>
          <p:cNvSpPr/>
          <p:nvPr/>
        </p:nvSpPr>
        <p:spPr>
          <a:xfrm>
            <a:off x="7366000" y="39878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39" name="b1"/>
          <p:cNvSpPr txBox="1"/>
          <p:nvPr/>
        </p:nvSpPr>
        <p:spPr>
          <a:xfrm>
            <a:off x="7531100" y="41021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Security hardening</a:t>
            </a:r>
            <a:endParaRPr lang="en-US" sz="1050" dirty="0"/>
          </a:p>
        </p:txBody>
      </p:sp>
      <p:sp>
        <p:nvSpPr>
          <p:cNvPr id="40" name="b1"/>
          <p:cNvSpPr txBox="1"/>
          <p:nvPr/>
        </p:nvSpPr>
        <p:spPr>
          <a:xfrm>
            <a:off x="7531100" y="43053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docs/06-security/SECURITY_REVIEW.md: four attack scenarios walked through against the code, with the fix or the accepted risk.</a:t>
            </a:r>
            <a:endParaRPr lang="en-US" sz="900" dirty="0"/>
          </a:p>
        </p:txBody>
      </p:sp>
      <p:sp>
        <p:nvSpPr>
          <p:cNvPr id="41" name="b1"/>
          <p:cNvSpPr/>
          <p:nvPr/>
        </p:nvSpPr>
        <p:spPr>
          <a:xfrm>
            <a:off x="7366000" y="5029200"/>
            <a:ext cx="4064000" cy="965200"/>
          </a:xfrm>
          <a:prstGeom prst="roundRect">
            <a:avLst>
              <a:gd name="adj" fmla="val 3947"/>
            </a:avLst>
          </a:prstGeom>
          <a:solidFill>
            <a:srgbClr val="FFFFFF"/>
          </a:solidFill>
          <a:ln w="9525">
            <a:solidFill>
              <a:srgbClr val="DDE1E7"/>
            </a:solidFill>
            <a:prstDash val="solid"/>
          </a:ln>
          <a:effectLst>
            <a:outerShdw sx="100000" sy="100000" kx="0" ky="0" algn="bl" rotWithShape="0" blurRad="38100" dist="12700" dir="5400000">
              <a:srgbClr val="101828">
                <a:alpha val="8000"/>
              </a:srgbClr>
            </a:outerShdw>
          </a:effectLst>
        </p:spPr>
      </p:sp>
      <p:sp>
        <p:nvSpPr>
          <p:cNvPr id="42" name="b1"/>
          <p:cNvSpPr txBox="1"/>
          <p:nvPr/>
        </p:nvSpPr>
        <p:spPr>
          <a:xfrm>
            <a:off x="7531100" y="5143500"/>
            <a:ext cx="3733800" cy="1905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UAT</a:t>
            </a:r>
            <a:endParaRPr lang="en-US" sz="1050" dirty="0"/>
          </a:p>
        </p:txBody>
      </p:sp>
      <p:sp>
        <p:nvSpPr>
          <p:cNvPr id="43" name="b1"/>
          <p:cNvSpPr txBox="1"/>
          <p:nvPr/>
        </p:nvSpPr>
        <p:spPr>
          <a:xfrm>
            <a:off x="7531100" y="5346700"/>
            <a:ext cx="3733800" cy="584200"/>
          </a:xfrm>
          <a:prstGeom prst="rect">
            <a:avLst/>
          </a:prstGeom>
          <a:noFill/>
          <a:ln/>
        </p:spPr>
        <p:txBody>
          <a:bodyPr wrap="square" lIns="0" tIns="0" rIns="0" bIns="0" rtlCol="0" anchor="t"/>
          <a:lstStyle/>
          <a:p>
            <a:pPr algn="l" indent="0" marL="0">
              <a:lnSpc>
                <a:spcPct val="122000"/>
              </a:lnSpc>
              <a:buNone/>
            </a:pPr>
            <a:r>
              <a:rPr lang="en-US" sz="900" dirty="0">
                <a:solidFill>
                  <a:srgbClr val="465060"/>
                </a:solidFill>
                <a:latin typeface="Public Sans" pitchFamily="34" charset="0"/>
                <a:ea typeface="Public Sans" pitchFamily="34" charset="-122"/>
                <a:cs typeface="Public Sans" pitchFamily="34" charset="-120"/>
              </a:rPr>
              <a:t>docs/10-uat/UAT_PLAN.md: twelve scripts, executed on development and again on production after v0.3.0.</a:t>
            </a:r>
            <a:endParaRPr lang="en-US" sz="900" dirty="0"/>
          </a:p>
        </p:txBody>
      </p:sp>
      <p:sp>
        <p:nvSpPr>
          <p:cNvPr id="44" name="Text 42"/>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15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2"/>
                                        </p:tgtEl>
                                        <p:attrNameLst>
                                          <p:attrName>style.visibility</p:attrName>
                                        </p:attrNameLst>
                                      </p:cBhvr>
                                      <p:to>
                                        <p:strVal val="visible"/>
                                      </p:to>
                                    </p:set>
                                    <p:animEffect transition="in" filter="fade">
                                      <p:cBhvr>
                                        <p:cTn id="5" dur="320"/>
                                        <p:tgtEl>
                                          <p:spTgt spid="3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33"/>
                                        </p:tgtEl>
                                        <p:attrNameLst>
                                          <p:attrName>style.visibility</p:attrName>
                                        </p:attrNameLst>
                                      </p:cBhvr>
                                      <p:to>
                                        <p:strVal val="visible"/>
                                      </p:to>
                                    </p:set>
                                    <p:animEffect transition="in" filter="fade">
                                      <p:cBhvr>
                                        <p:cTn id="8" dur="320"/>
                                        <p:tgtEl>
                                          <p:spTgt spid="3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320"/>
                                        <p:tgtEl>
                                          <p:spTgt spid="3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320"/>
                                        <p:tgtEl>
                                          <p:spTgt spid="3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320"/>
                                        <p:tgtEl>
                                          <p:spTgt spid="3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320"/>
                                        <p:tgtEl>
                                          <p:spTgt spid="3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320"/>
                                        <p:tgtEl>
                                          <p:spTgt spid="3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39"/>
                                        </p:tgtEl>
                                        <p:attrNameLst>
                                          <p:attrName>style.visibility</p:attrName>
                                        </p:attrNameLst>
                                      </p:cBhvr>
                                      <p:to>
                                        <p:strVal val="visible"/>
                                      </p:to>
                                    </p:set>
                                    <p:animEffect transition="in" filter="fade">
                                      <p:cBhvr>
                                        <p:cTn id="26" dur="320"/>
                                        <p:tgtEl>
                                          <p:spTgt spid="3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40"/>
                                        </p:tgtEl>
                                        <p:attrNameLst>
                                          <p:attrName>style.visibility</p:attrName>
                                        </p:attrNameLst>
                                      </p:cBhvr>
                                      <p:to>
                                        <p:strVal val="visible"/>
                                      </p:to>
                                    </p:set>
                                    <p:animEffect transition="in" filter="fade">
                                      <p:cBhvr>
                                        <p:cTn id="29" dur="320"/>
                                        <p:tgtEl>
                                          <p:spTgt spid="4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320"/>
                                        <p:tgtEl>
                                          <p:spTgt spid="4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320"/>
                                        <p:tgtEl>
                                          <p:spTgt spid="4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32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AI USAGE, 1 OF 4 · BUILDING THE PRODUCT</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100" dirty="0">
                <a:solidFill>
                  <a:srgbClr val="1B2430"/>
                </a:solidFill>
                <a:latin typeface="Instrument Serif" pitchFamily="34" charset="0"/>
                <a:ea typeface="Instrument Serif" pitchFamily="34" charset="-122"/>
                <a:cs typeface="Instrument Serif" pitchFamily="34" charset="-120"/>
              </a:rPr>
              <a:t>AI wrote most of the code inside rules that are checked in. Every decision and every check is mine.</a:t>
            </a:r>
            <a:endParaRPr lang="en-US" sz="2100" dirty="0"/>
          </a:p>
        </p:txBody>
      </p:sp>
      <p:sp>
        <p:nvSpPr>
          <p:cNvPr id="4" name="Shape 2"/>
          <p:cNvSpPr/>
          <p:nvPr/>
        </p:nvSpPr>
        <p:spPr>
          <a:xfrm>
            <a:off x="762000" y="1905000"/>
            <a:ext cx="10668000" cy="0"/>
          </a:xfrm>
          <a:prstGeom prst="line">
            <a:avLst/>
          </a:prstGeom>
          <a:noFill/>
          <a:ln w="9525">
            <a:solidFill>
              <a:srgbClr val="DDE1E7"/>
            </a:solidFill>
            <a:prstDash val="solid"/>
          </a:ln>
        </p:spPr>
      </p:sp>
      <p:sp>
        <p:nvSpPr>
          <p:cNvPr id="5" name="Text 3"/>
          <p:cNvSpPr txBox="1"/>
          <p:nvPr/>
        </p:nvSpPr>
        <p:spPr>
          <a:xfrm>
            <a:off x="762000" y="19812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Models and tools</a:t>
            </a:r>
            <a:endParaRPr lang="en-US" sz="1050" dirty="0"/>
          </a:p>
        </p:txBody>
      </p:sp>
      <p:sp>
        <p:nvSpPr>
          <p:cNvPr id="6" name="Text 4"/>
          <p:cNvSpPr txBox="1"/>
          <p:nvPr/>
        </p:nvSpPr>
        <p:spPr>
          <a:xfrm>
            <a:off x="2476500" y="19812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Claude Code in the Cursor terminal (Opus 5, some sessions Fable 5.1); Cursor to read every diff; Wispr Flow for the long briefs; Claude in Chrome for run-throughs and dashboards, my own sign-in, no secret through the agent.</a:t>
            </a:r>
            <a:endParaRPr lang="en-US" sz="950" dirty="0"/>
          </a:p>
        </p:txBody>
      </p:sp>
      <p:sp>
        <p:nvSpPr>
          <p:cNvPr id="7" name="Shape 5"/>
          <p:cNvSpPr/>
          <p:nvPr/>
        </p:nvSpPr>
        <p:spPr>
          <a:xfrm>
            <a:off x="762000" y="2743200"/>
            <a:ext cx="10668000" cy="0"/>
          </a:xfrm>
          <a:prstGeom prst="line">
            <a:avLst/>
          </a:prstGeom>
          <a:noFill/>
          <a:ln w="9525">
            <a:solidFill>
              <a:srgbClr val="DDE1E7"/>
            </a:solidFill>
            <a:prstDash val="solid"/>
          </a:ln>
        </p:spPr>
      </p:sp>
      <p:sp>
        <p:nvSpPr>
          <p:cNvPr id="8" name="Text 6"/>
          <p:cNvSpPr txBox="1"/>
          <p:nvPr/>
        </p:nvSpPr>
        <p:spPr>
          <a:xfrm>
            <a:off x="762000" y="28194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Share of the work</a:t>
            </a:r>
            <a:endParaRPr lang="en-US" sz="1050" dirty="0"/>
          </a:p>
        </p:txBody>
      </p:sp>
      <p:sp>
        <p:nvSpPr>
          <p:cNvPr id="9" name="Text 7"/>
          <p:cNvSpPr txBox="1"/>
          <p:nvPr/>
        </p:nvSpPr>
        <p:spPr>
          <a:xfrm>
            <a:off x="2476500" y="28194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Nearly all application code and most documents generated by the agent; every decision, prompt, review, merge and push mine. OpenAI only inside the product.</a:t>
            </a:r>
            <a:endParaRPr lang="en-US" sz="950" dirty="0"/>
          </a:p>
        </p:txBody>
      </p:sp>
      <p:sp>
        <p:nvSpPr>
          <p:cNvPr id="10" name="b1"/>
          <p:cNvSpPr/>
          <p:nvPr/>
        </p:nvSpPr>
        <p:spPr>
          <a:xfrm>
            <a:off x="762000" y="3581400"/>
            <a:ext cx="10668000" cy="0"/>
          </a:xfrm>
          <a:prstGeom prst="line">
            <a:avLst/>
          </a:prstGeom>
          <a:noFill/>
          <a:ln w="9525">
            <a:solidFill>
              <a:srgbClr val="DDE1E7"/>
            </a:solidFill>
            <a:prstDash val="solid"/>
          </a:ln>
        </p:spPr>
      </p:sp>
      <p:sp>
        <p:nvSpPr>
          <p:cNvPr id="11" name="b1"/>
          <p:cNvSpPr txBox="1"/>
          <p:nvPr/>
        </p:nvSpPr>
        <p:spPr>
          <a:xfrm>
            <a:off x="762000" y="36576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Workflow first</a:t>
            </a:r>
            <a:endParaRPr lang="en-US" sz="1050" dirty="0"/>
          </a:p>
        </p:txBody>
      </p:sp>
      <p:sp>
        <p:nvSpPr>
          <p:cNvPr id="12" name="b1"/>
          <p:cNvSpPr txBox="1"/>
          <p:nvPr/>
        </p:nvSpPr>
        <p:spPr>
          <a:xfrm>
            <a:off x="2476500" y="36576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Requirements with ids, SCOPE.md, solutioning, a 23-artboard prototype, three one-day sprints on the board, one branch per story, CI/CD and two environments from day 3.</a:t>
            </a:r>
            <a:endParaRPr lang="en-US" sz="950" dirty="0"/>
          </a:p>
        </p:txBody>
      </p:sp>
      <p:sp>
        <p:nvSpPr>
          <p:cNvPr id="13" name="b1"/>
          <p:cNvSpPr/>
          <p:nvPr/>
        </p:nvSpPr>
        <p:spPr>
          <a:xfrm>
            <a:off x="762000" y="4419600"/>
            <a:ext cx="10668000" cy="0"/>
          </a:xfrm>
          <a:prstGeom prst="line">
            <a:avLst/>
          </a:prstGeom>
          <a:noFill/>
          <a:ln w="9525">
            <a:solidFill>
              <a:srgbClr val="DDE1E7"/>
            </a:solidFill>
            <a:prstDash val="solid"/>
          </a:ln>
        </p:spPr>
      </p:sp>
      <p:sp>
        <p:nvSpPr>
          <p:cNvPr id="14" name="b1"/>
          <p:cNvSpPr txBox="1"/>
          <p:nvPr/>
        </p:nvSpPr>
        <p:spPr>
          <a:xfrm>
            <a:off x="762000" y="44958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Standing context</a:t>
            </a:r>
            <a:endParaRPr lang="en-US" sz="1050" dirty="0"/>
          </a:p>
        </p:txBody>
      </p:sp>
      <p:sp>
        <p:nvSpPr>
          <p:cNvPr id="15" name="b1"/>
          <p:cNvSpPr txBox="1"/>
          <p:nvPr/>
        </p:nvSpPr>
        <p:spPr>
          <a:xfrm>
            <a:off x="2476500" y="44958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Two instruction files in every session; the project one is checked in as CLAUDE.md (two slides on). The brief's five context types, each with an example in AI_USAGE.md.</a:t>
            </a:r>
            <a:endParaRPr lang="en-US" sz="950" dirty="0"/>
          </a:p>
        </p:txBody>
      </p:sp>
      <p:sp>
        <p:nvSpPr>
          <p:cNvPr id="16" name="b1"/>
          <p:cNvSpPr/>
          <p:nvPr/>
        </p:nvSpPr>
        <p:spPr>
          <a:xfrm>
            <a:off x="762000" y="5257800"/>
            <a:ext cx="10668000" cy="0"/>
          </a:xfrm>
          <a:prstGeom prst="line">
            <a:avLst/>
          </a:prstGeom>
          <a:noFill/>
          <a:ln w="9525">
            <a:solidFill>
              <a:srgbClr val="DDE1E7"/>
            </a:solidFill>
            <a:prstDash val="solid"/>
          </a:ln>
        </p:spPr>
      </p:sp>
      <p:sp>
        <p:nvSpPr>
          <p:cNvPr id="17" name="b1"/>
          <p:cNvSpPr txBox="1"/>
          <p:nvPr/>
        </p:nvSpPr>
        <p:spPr>
          <a:xfrm>
            <a:off x="762000" y="53340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How output was checked</a:t>
            </a:r>
            <a:endParaRPr lang="en-US" sz="1050" dirty="0"/>
          </a:p>
        </p:txBody>
      </p:sp>
      <p:sp>
        <p:nvSpPr>
          <p:cNvPr id="18" name="b1"/>
          <p:cNvSpPr txBox="1"/>
          <p:nvPr/>
        </p:nvSpPr>
        <p:spPr>
          <a:xfrm>
            <a:off x="2476500" y="53340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Full suites, ruff, mypy strict, tsc strict on every story; browser checks at three widths; subagent reviews that had to reproduce a finding; docs checked against code at each close.</a:t>
            </a:r>
            <a:endParaRPr lang="en-US" sz="950" dirty="0"/>
          </a:p>
        </p:txBody>
      </p:sp>
      <p:sp>
        <p:nvSpPr>
          <p:cNvPr id="19"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README.md AI Usage (short) · AI_USAGE.md (full record: tools, context, prompts, checks, what was discarded)</a:t>
            </a:r>
            <a:endParaRPr lang="en-US" sz="1000" dirty="0"/>
          </a:p>
        </p:txBody>
      </p:sp>
      <p:sp>
        <p:nvSpPr>
          <p:cNvPr id="20"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16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320"/>
                                        <p:tgtEl>
                                          <p:spTgt spid="10"/>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320"/>
                                        <p:tgtEl>
                                          <p:spTgt spid="11"/>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20"/>
                                        <p:tgtEl>
                                          <p:spTgt spid="12"/>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20"/>
                                        <p:tgtEl>
                                          <p:spTgt spid="13"/>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20"/>
                                        <p:tgtEl>
                                          <p:spTgt spid="14"/>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320"/>
                                        <p:tgtEl>
                                          <p:spTgt spid="15"/>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320"/>
                                        <p:tgtEl>
                                          <p:spTgt spid="16"/>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20"/>
                                        <p:tgtEl>
                                          <p:spTgt spid="17"/>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AI USAGE, 2 OF 4 · WHERE IT WAS WRONG</a:t>
            </a:r>
            <a:endParaRPr lang="en-US" sz="1100" dirty="0"/>
          </a:p>
        </p:txBody>
      </p:sp>
      <p:sp>
        <p:nvSpPr>
          <p:cNvPr id="3" name="Text 1"/>
          <p:cNvSpPr txBox="1"/>
          <p:nvPr/>
        </p:nvSpPr>
        <p:spPr>
          <a:xfrm>
            <a:off x="762000" y="863600"/>
            <a:ext cx="10668000" cy="635000"/>
          </a:xfrm>
          <a:prstGeom prst="rect">
            <a:avLst/>
          </a:prstGeom>
          <a:noFill/>
          <a:ln/>
        </p:spPr>
        <p:txBody>
          <a:bodyPr wrap="square" lIns="0" tIns="0" rIns="0" bIns="0" rtlCol="0" anchor="t"/>
          <a:lstStyle/>
          <a:p>
            <a:pPr algn="l" indent="0" marL="0">
              <a:lnSpc>
                <a:spcPct val="108000"/>
              </a:lnSpc>
              <a:buNone/>
            </a:pPr>
            <a:r>
              <a:rPr lang="en-US" sz="2200" dirty="0">
                <a:solidFill>
                  <a:srgbClr val="1B2430"/>
                </a:solidFill>
                <a:latin typeface="Instrument Serif" pitchFamily="34" charset="0"/>
                <a:ea typeface="Instrument Serif" pitchFamily="34" charset="-122"/>
                <a:cs typeface="Instrument Serif" pitchFamily="34" charset="-120"/>
              </a:rPr>
              <a:t>Six things the AI got wrong, what caught each one, and what changed.</a:t>
            </a:r>
            <a:endParaRPr lang="en-US" sz="2200" dirty="0"/>
          </a:p>
        </p:txBody>
      </p:sp>
      <p:sp>
        <p:nvSpPr>
          <p:cNvPr id="4" name="Shape 2"/>
          <p:cNvSpPr/>
          <p:nvPr/>
        </p:nvSpPr>
        <p:spPr>
          <a:xfrm>
            <a:off x="762000" y="1778000"/>
            <a:ext cx="5181600" cy="0"/>
          </a:xfrm>
          <a:prstGeom prst="line">
            <a:avLst/>
          </a:prstGeom>
          <a:noFill/>
          <a:ln w="9525">
            <a:solidFill>
              <a:srgbClr val="DDE1E7"/>
            </a:solidFill>
            <a:prstDash val="solid"/>
          </a:ln>
        </p:spPr>
      </p:sp>
      <p:sp>
        <p:nvSpPr>
          <p:cNvPr id="5" name="Text 3"/>
          <p:cNvSpPr txBox="1"/>
          <p:nvPr/>
        </p:nvSpPr>
        <p:spPr>
          <a:xfrm>
            <a:off x="762000" y="1892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866900"/>
            <a:ext cx="4787900" cy="4064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Invented enum values, and an expired certificate read as valid</a:t>
            </a:r>
            <a:endParaRPr lang="en-US" sz="1100" dirty="0"/>
          </a:p>
        </p:txBody>
      </p:sp>
      <p:sp>
        <p:nvSpPr>
          <p:cNvPr id="7" name="Text 5"/>
          <p:cNvSpPr txBox="1"/>
          <p:nvPr/>
        </p:nvSpPr>
        <p:spPr>
          <a:xfrm>
            <a:off x="1155700" y="2311400"/>
            <a:ext cx="4787900" cy="762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First live run of the verifier. Caught by reading the run. Fix: the vocabulary pinned in the wire schema, today's date in the prompt; the harness now gates every prompt change.</a:t>
            </a:r>
            <a:endParaRPr lang="en-US" sz="900" dirty="0"/>
          </a:p>
        </p:txBody>
      </p:sp>
      <p:sp>
        <p:nvSpPr>
          <p:cNvPr id="8" name="Shape 6"/>
          <p:cNvSpPr/>
          <p:nvPr/>
        </p:nvSpPr>
        <p:spPr>
          <a:xfrm>
            <a:off x="6248400" y="1778000"/>
            <a:ext cx="5181600" cy="0"/>
          </a:xfrm>
          <a:prstGeom prst="line">
            <a:avLst/>
          </a:prstGeom>
          <a:noFill/>
          <a:ln w="9525">
            <a:solidFill>
              <a:srgbClr val="DDE1E7"/>
            </a:solidFill>
            <a:prstDash val="solid"/>
          </a:ln>
        </p:spPr>
      </p:sp>
      <p:sp>
        <p:nvSpPr>
          <p:cNvPr id="9" name="Text 7"/>
          <p:cNvSpPr txBox="1"/>
          <p:nvPr/>
        </p:nvSpPr>
        <p:spPr>
          <a:xfrm>
            <a:off x="6248400" y="1892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866900"/>
            <a:ext cx="4787900" cy="4064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 scope-creeping story and a red landing band</a:t>
            </a:r>
            <a:endParaRPr lang="en-US" sz="1100" dirty="0"/>
          </a:p>
        </p:txBody>
      </p:sp>
      <p:sp>
        <p:nvSpPr>
          <p:cNvPr id="11" name="Text 9"/>
          <p:cNvSpPr txBox="1"/>
          <p:nvPr/>
        </p:nvSpPr>
        <p:spPr>
          <a:xfrm>
            <a:off x="6642100" y="2311400"/>
            <a:ext cx="4787900" cy="762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Proposed unasked. Caught at review. Both rejected and recorded in the story notes; SCOPE.md changes only by decision.</a:t>
            </a:r>
            <a:endParaRPr lang="en-US" sz="900" dirty="0"/>
          </a:p>
        </p:txBody>
      </p:sp>
      <p:sp>
        <p:nvSpPr>
          <p:cNvPr id="12" name="b1"/>
          <p:cNvSpPr/>
          <p:nvPr/>
        </p:nvSpPr>
        <p:spPr>
          <a:xfrm>
            <a:off x="762000" y="3175000"/>
            <a:ext cx="5181600" cy="0"/>
          </a:xfrm>
          <a:prstGeom prst="line">
            <a:avLst/>
          </a:prstGeom>
          <a:noFill/>
          <a:ln w="9525">
            <a:solidFill>
              <a:srgbClr val="DDE1E7"/>
            </a:solidFill>
            <a:prstDash val="solid"/>
          </a:ln>
        </p:spPr>
      </p:sp>
      <p:sp>
        <p:nvSpPr>
          <p:cNvPr id="13" name="b1"/>
          <p:cNvSpPr txBox="1"/>
          <p:nvPr/>
        </p:nvSpPr>
        <p:spPr>
          <a:xfrm>
            <a:off x="762000" y="328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b1"/>
          <p:cNvSpPr txBox="1"/>
          <p:nvPr/>
        </p:nvSpPr>
        <p:spPr>
          <a:xfrm>
            <a:off x="1155700" y="3263900"/>
            <a:ext cx="4787900" cy="4064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 transition the state machine did not allow</a:t>
            </a:r>
            <a:endParaRPr lang="en-US" sz="1100" dirty="0"/>
          </a:p>
        </p:txBody>
      </p:sp>
      <p:sp>
        <p:nvSpPr>
          <p:cNvPr id="15" name="b1"/>
          <p:cNvSpPr txBox="1"/>
          <p:nvPr/>
        </p:nvSpPr>
        <p:spPr>
          <a:xfrm>
            <a:off x="1155700" y="3708400"/>
            <a:ext cx="4787900" cy="762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An approval-stage option offered without checking the table. Caught by the sweep. It exposed a real gap: Return to review was added as a row.</a:t>
            </a:r>
            <a:endParaRPr lang="en-US" sz="900" dirty="0"/>
          </a:p>
        </p:txBody>
      </p:sp>
      <p:sp>
        <p:nvSpPr>
          <p:cNvPr id="16" name="b1"/>
          <p:cNvSpPr/>
          <p:nvPr/>
        </p:nvSpPr>
        <p:spPr>
          <a:xfrm>
            <a:off x="6248400" y="3175000"/>
            <a:ext cx="5181600" cy="0"/>
          </a:xfrm>
          <a:prstGeom prst="line">
            <a:avLst/>
          </a:prstGeom>
          <a:noFill/>
          <a:ln w="9525">
            <a:solidFill>
              <a:srgbClr val="DDE1E7"/>
            </a:solidFill>
            <a:prstDash val="solid"/>
          </a:ln>
        </p:spPr>
      </p:sp>
      <p:sp>
        <p:nvSpPr>
          <p:cNvPr id="17" name="b1"/>
          <p:cNvSpPr txBox="1"/>
          <p:nvPr/>
        </p:nvSpPr>
        <p:spPr>
          <a:xfrm>
            <a:off x="6248400" y="3289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b1"/>
          <p:cNvSpPr txBox="1"/>
          <p:nvPr/>
        </p:nvSpPr>
        <p:spPr>
          <a:xfrm>
            <a:off x="6642100" y="3263900"/>
            <a:ext cx="4787900" cy="4064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 scratch file swept into a commit</a:t>
            </a:r>
            <a:endParaRPr lang="en-US" sz="1100" dirty="0"/>
          </a:p>
        </p:txBody>
      </p:sp>
      <p:sp>
        <p:nvSpPr>
          <p:cNvPr id="19" name="b1"/>
          <p:cNvSpPr txBox="1"/>
          <p:nvPr/>
        </p:nvSpPr>
        <p:spPr>
          <a:xfrm>
            <a:off x="6642100" y="3708400"/>
            <a:ext cx="4787900" cy="762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subagent's test file caught by git add -A while it was still running. Caught in the diff. Staging became explicit from then on.</a:t>
            </a:r>
            <a:endParaRPr lang="en-US" sz="900" dirty="0"/>
          </a:p>
        </p:txBody>
      </p:sp>
      <p:sp>
        <p:nvSpPr>
          <p:cNvPr id="20" name="b1"/>
          <p:cNvSpPr/>
          <p:nvPr/>
        </p:nvSpPr>
        <p:spPr>
          <a:xfrm>
            <a:off x="762000" y="4572000"/>
            <a:ext cx="5181600" cy="0"/>
          </a:xfrm>
          <a:prstGeom prst="line">
            <a:avLst/>
          </a:prstGeom>
          <a:noFill/>
          <a:ln w="9525">
            <a:solidFill>
              <a:srgbClr val="DDE1E7"/>
            </a:solidFill>
            <a:prstDash val="solid"/>
          </a:ln>
        </p:spPr>
      </p:sp>
      <p:sp>
        <p:nvSpPr>
          <p:cNvPr id="21" name="b1"/>
          <p:cNvSpPr txBox="1"/>
          <p:nvPr/>
        </p:nvSpPr>
        <p:spPr>
          <a:xfrm>
            <a:off x="762000" y="4686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b1"/>
          <p:cNvSpPr txBox="1"/>
          <p:nvPr/>
        </p:nvSpPr>
        <p:spPr>
          <a:xfrm>
            <a:off x="1155700" y="4660900"/>
            <a:ext cx="4787900" cy="4064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Licence dates computed in UTC</a:t>
            </a:r>
            <a:endParaRPr lang="en-US" sz="1100" dirty="0"/>
          </a:p>
        </p:txBody>
      </p:sp>
      <p:sp>
        <p:nvSpPr>
          <p:cNvPr id="23" name="b1"/>
          <p:cNvSpPr txBox="1"/>
          <p:nvPr/>
        </p:nvSpPr>
        <p:spPr>
          <a:xfrm>
            <a:off x="1155700" y="5105400"/>
            <a:ext cx="4787900" cy="762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A day off in Singapore. Caught in the rendered PDF. Fixed to Asia/Singapore with a test.</a:t>
            </a:r>
            <a:endParaRPr lang="en-US" sz="900" dirty="0"/>
          </a:p>
        </p:txBody>
      </p:sp>
      <p:sp>
        <p:nvSpPr>
          <p:cNvPr id="24" name="b1"/>
          <p:cNvSpPr/>
          <p:nvPr/>
        </p:nvSpPr>
        <p:spPr>
          <a:xfrm>
            <a:off x="6248400" y="4572000"/>
            <a:ext cx="5181600" cy="0"/>
          </a:xfrm>
          <a:prstGeom prst="line">
            <a:avLst/>
          </a:prstGeom>
          <a:noFill/>
          <a:ln w="9525">
            <a:solidFill>
              <a:srgbClr val="DDE1E7"/>
            </a:solidFill>
            <a:prstDash val="solid"/>
          </a:ln>
        </p:spPr>
      </p:sp>
      <p:sp>
        <p:nvSpPr>
          <p:cNvPr id="25" name="b1"/>
          <p:cNvSpPr txBox="1"/>
          <p:nvPr/>
        </p:nvSpPr>
        <p:spPr>
          <a:xfrm>
            <a:off x="6248400" y="46863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b1"/>
          <p:cNvSpPr txBox="1"/>
          <p:nvPr/>
        </p:nvSpPr>
        <p:spPr>
          <a:xfrm>
            <a:off x="6642100" y="4660900"/>
            <a:ext cx="4787900" cy="406400"/>
          </a:xfrm>
          <a:prstGeom prst="rect">
            <a:avLst/>
          </a:prstGeom>
          <a:noFill/>
          <a:ln/>
        </p:spPr>
        <p:txBody>
          <a:bodyPr wrap="square" lIns="0" tIns="0" rIns="0" bIns="0" rtlCol="0" anchor="t"/>
          <a:lstStyle/>
          <a:p>
            <a:pPr algn="l" indent="0" marL="0">
              <a:lnSpc>
                <a:spcPct val="115000"/>
              </a:lnSpc>
              <a:buNone/>
            </a:pPr>
            <a:r>
              <a:rPr lang="en-US" sz="1100" b="1" dirty="0">
                <a:solidFill>
                  <a:srgbClr val="1B2430"/>
                </a:solidFill>
                <a:latin typeface="Public Sans" pitchFamily="34" charset="0"/>
                <a:ea typeface="Public Sans" pitchFamily="34" charset="-122"/>
                <a:cs typeface="Public Sans" pitchFamily="34" charset="-120"/>
              </a:rPr>
              <a:t>A harness fault blamed on the model</a:t>
            </a:r>
            <a:endParaRPr lang="en-US" sz="1100" dirty="0"/>
          </a:p>
        </p:txBody>
      </p:sp>
      <p:sp>
        <p:nvSpPr>
          <p:cNvPr id="27" name="b1"/>
          <p:cNvSpPr txBox="1"/>
          <p:nvPr/>
        </p:nvSpPr>
        <p:spPr>
          <a:xfrm>
            <a:off x="6642100" y="5105400"/>
            <a:ext cx="4787900" cy="762000"/>
          </a:xfrm>
          <a:prstGeom prst="rect">
            <a:avLst/>
          </a:prstGeom>
          <a:noFill/>
          <a:ln/>
        </p:spPr>
        <p:txBody>
          <a:bodyPr wrap="square" lIns="0" tIns="0" rIns="0" bIns="0" rtlCol="0" anchor="t"/>
          <a:lstStyle/>
          <a:p>
            <a:pPr algn="l" indent="0" marL="0">
              <a:lnSpc>
                <a:spcPct val="125000"/>
              </a:lnSpc>
              <a:buNone/>
            </a:pPr>
            <a:r>
              <a:rPr lang="en-US" sz="900" dirty="0">
                <a:solidFill>
                  <a:srgbClr val="465060"/>
                </a:solidFill>
                <a:latin typeface="Public Sans" pitchFamily="34" charset="0"/>
                <a:ea typeface="Public Sans" pitchFamily="34" charset="-122"/>
                <a:cs typeface="Public Sans" pitchFamily="34" charset="-120"/>
              </a:rPr>
              <a:t>The first fairness run reported two name-swapped cases as differing; the harness had left the baseline email in the form. Caught by reading the traces. Twenty-one of twenty-one after the fix, recorded as such.</a:t>
            </a:r>
            <a:endParaRPr lang="en-US" sz="900" dirty="0"/>
          </a:p>
        </p:txBody>
      </p:sp>
      <p:sp>
        <p:nvSpPr>
          <p:cNvPr id="28" name="Text 26"/>
          <p:cNvSpPr txBox="1"/>
          <p:nvPr/>
        </p:nvSpPr>
        <p:spPr>
          <a:xfrm>
            <a:off x="762000" y="6299200"/>
            <a:ext cx="10160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AI_USAGE.md section 6: the full list, with what I would not defend line by line (the certificate layout code, the widest Tailwind class strings, the fairness harness).</a:t>
            </a:r>
            <a:endParaRPr lang="en-US" sz="1000" dirty="0"/>
          </a:p>
        </p:txBody>
      </p:sp>
      <p:sp>
        <p:nvSpPr>
          <p:cNvPr id="29" name="Text 27"/>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17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51" fill="hold">
                      <p:stCondLst>
                        <p:cond delay="indefinite"/>
                      </p:stCondLst>
                      <p:childTnLst>
                        <p:par>
                          <p:cTn id="5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320"/>
                                        <p:tgtEl>
                                          <p:spTgt spid="12"/>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320"/>
                                        <p:tgtEl>
                                          <p:spTgt spid="13"/>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20"/>
                                        <p:tgtEl>
                                          <p:spTgt spid="14"/>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320"/>
                                        <p:tgtEl>
                                          <p:spTgt spid="15"/>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320"/>
                                        <p:tgtEl>
                                          <p:spTgt spid="16"/>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20"/>
                                        <p:tgtEl>
                                          <p:spTgt spid="17"/>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320"/>
                                        <p:tgtEl>
                                          <p:spTgt spid="18"/>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320"/>
                                        <p:tgtEl>
                                          <p:spTgt spid="19"/>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320"/>
                                        <p:tgtEl>
                                          <p:spTgt spid="20"/>
                                        </p:tgtEl>
                                      </p:cBhvr>
                                    </p:animEffect>
                                  </p:childTnLst>
                                </p:cTn>
                              </p:par>
                              <p:par>
                                <p:cTn id="30" presetID="10" presetClass="entr" presetSubtype="0" fill="hold" grpId="0" nodeType="withEffect">
                                  <p:stCondLst>
                                    <p:cond delay="90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320"/>
                                        <p:tgtEl>
                                          <p:spTgt spid="21"/>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320"/>
                                        <p:tgtEl>
                                          <p:spTgt spid="22"/>
                                        </p:tgtEl>
                                      </p:cBhvr>
                                    </p:animEffect>
                                  </p:childTnLst>
                                </p:cTn>
                              </p:par>
                              <p:par>
                                <p:cTn id="36" presetID="10" presetClass="entr" presetSubtype="0" fill="hold" grpId="0" nodeType="withEffect">
                                  <p:stCondLst>
                                    <p:cond delay="110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320"/>
                                        <p:tgtEl>
                                          <p:spTgt spid="23"/>
                                        </p:tgtEl>
                                      </p:cBhvr>
                                    </p:animEffect>
                                  </p:childTnLst>
                                </p:cTn>
                              </p:par>
                              <p:par>
                                <p:cTn id="39" presetID="10" presetClass="entr" presetSubtype="0" fill="hold" grpId="0" nodeType="withEffect">
                                  <p:stCondLst>
                                    <p:cond delay="12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320"/>
                                        <p:tgtEl>
                                          <p:spTgt spid="24"/>
                                        </p:tgtEl>
                                      </p:cBhvr>
                                    </p:animEffect>
                                  </p:childTnLst>
                                </p:cTn>
                              </p:par>
                              <p:par>
                                <p:cTn id="42" presetID="10" presetClass="entr" presetSubtype="0" fill="hold" grpId="0" nodeType="withEffect">
                                  <p:stCondLst>
                                    <p:cond delay="130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320"/>
                                        <p:tgtEl>
                                          <p:spTgt spid="25"/>
                                        </p:tgtEl>
                                      </p:cBhvr>
                                    </p:animEffect>
                                  </p:childTnLst>
                                </p:cTn>
                              </p:par>
                              <p:par>
                                <p:cTn id="45" presetID="10" presetClass="entr" presetSubtype="0" fill="hold" grpId="0" nodeType="withEffect">
                                  <p:stCondLst>
                                    <p:cond delay="140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320"/>
                                        <p:tgtEl>
                                          <p:spTgt spid="26"/>
                                        </p:tgtEl>
                                      </p:cBhvr>
                                    </p:animEffect>
                                  </p:childTnLst>
                                </p:cTn>
                              </p:par>
                              <p:par>
                                <p:cTn id="48" presetID="10" presetClass="entr" presetSubtype="0" fill="hold" grpId="0" nodeType="withEffect">
                                  <p:stCondLst>
                                    <p:cond delay="150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3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AI USAGE, 3 OF 4 · THE RULES THE AGENT WORKED UNDER</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100" dirty="0">
                <a:solidFill>
                  <a:srgbClr val="1B2430"/>
                </a:solidFill>
                <a:latin typeface="Instrument Serif" pitchFamily="34" charset="0"/>
                <a:ea typeface="Instrument Serif" pitchFamily="34" charset="-122"/>
                <a:cs typeface="Instrument Serif" pitchFamily="34" charset="-120"/>
              </a:rPr>
              <a:t>CLAUDE.md is checked in: the standing rules every session read first, and the checklist run after every story.</a:t>
            </a:r>
            <a:endParaRPr lang="en-US" sz="2100" dirty="0"/>
          </a:p>
        </p:txBody>
      </p:sp>
      <p:sp>
        <p:nvSpPr>
          <p:cNvPr id="4" name="Shape 2"/>
          <p:cNvSpPr/>
          <p:nvPr/>
        </p:nvSpPr>
        <p:spPr>
          <a:xfrm>
            <a:off x="762000" y="1905000"/>
            <a:ext cx="10668000" cy="0"/>
          </a:xfrm>
          <a:prstGeom prst="line">
            <a:avLst/>
          </a:prstGeom>
          <a:noFill/>
          <a:ln w="9525">
            <a:solidFill>
              <a:srgbClr val="DDE1E7"/>
            </a:solidFill>
            <a:prstDash val="solid"/>
          </a:ln>
        </p:spPr>
      </p:sp>
      <p:sp>
        <p:nvSpPr>
          <p:cNvPr id="5" name="Text 3"/>
          <p:cNvSpPr txBox="1"/>
          <p:nvPr/>
        </p:nvSpPr>
        <p:spPr>
          <a:xfrm>
            <a:off x="762000" y="19812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Sources of truth</a:t>
            </a:r>
            <a:endParaRPr lang="en-US" sz="1050" dirty="0"/>
          </a:p>
        </p:txBody>
      </p:sp>
      <p:sp>
        <p:nvSpPr>
          <p:cNvPr id="6" name="Text 4"/>
          <p:cNvSpPr txBox="1"/>
          <p:nvPr/>
        </p:nvSpPr>
        <p:spPr>
          <a:xfrm>
            <a:off x="2476500" y="19812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SCOPE.md, REQUIREMENTS.md with ids, USER_STORIES.md one to one with the board, the architecture documents, the threat model. Code and a document disagree: fix one in the same change.</a:t>
            </a:r>
            <a:endParaRPr lang="en-US" sz="950" dirty="0"/>
          </a:p>
        </p:txBody>
      </p:sp>
      <p:sp>
        <p:nvSpPr>
          <p:cNvPr id="7" name="Shape 5"/>
          <p:cNvSpPr/>
          <p:nvPr/>
        </p:nvSpPr>
        <p:spPr>
          <a:xfrm>
            <a:off x="762000" y="2743200"/>
            <a:ext cx="10668000" cy="0"/>
          </a:xfrm>
          <a:prstGeom prst="line">
            <a:avLst/>
          </a:prstGeom>
          <a:noFill/>
          <a:ln w="9525">
            <a:solidFill>
              <a:srgbClr val="DDE1E7"/>
            </a:solidFill>
            <a:prstDash val="solid"/>
          </a:ln>
        </p:spPr>
      </p:sp>
      <p:sp>
        <p:nvSpPr>
          <p:cNvPr id="8" name="Text 6"/>
          <p:cNvSpPr txBox="1"/>
          <p:nvPr/>
        </p:nvSpPr>
        <p:spPr>
          <a:xfrm>
            <a:off x="762000" y="28194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Personas and engineering rules</a:t>
            </a:r>
            <a:endParaRPr lang="en-US" sz="1050" dirty="0"/>
          </a:p>
        </p:txBody>
      </p:sp>
      <p:sp>
        <p:nvSpPr>
          <p:cNvPr id="9" name="Text 7"/>
          <p:cNvSpPr txBox="1"/>
          <p:nvPr/>
        </p:nvSpPr>
        <p:spPr>
          <a:xfrm>
            <a:off x="2476500" y="28194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Three roles; server-side authorization; operators never receive internal codes; strict layering; every status change through workflow.py; the AI never mutates state; immutable revisions; same-transaction audit.</a:t>
            </a:r>
            <a:endParaRPr lang="en-US" sz="950" dirty="0"/>
          </a:p>
        </p:txBody>
      </p:sp>
      <p:sp>
        <p:nvSpPr>
          <p:cNvPr id="10" name="b1"/>
          <p:cNvSpPr/>
          <p:nvPr/>
        </p:nvSpPr>
        <p:spPr>
          <a:xfrm>
            <a:off x="762000" y="3581400"/>
            <a:ext cx="10668000" cy="0"/>
          </a:xfrm>
          <a:prstGeom prst="line">
            <a:avLst/>
          </a:prstGeom>
          <a:noFill/>
          <a:ln w="9525">
            <a:solidFill>
              <a:srgbClr val="DDE1E7"/>
            </a:solidFill>
            <a:prstDash val="solid"/>
          </a:ln>
        </p:spPr>
      </p:sp>
      <p:sp>
        <p:nvSpPr>
          <p:cNvPr id="11" name="b1"/>
          <p:cNvSpPr txBox="1"/>
          <p:nvPr/>
        </p:nvSpPr>
        <p:spPr>
          <a:xfrm>
            <a:off x="762000" y="36576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Notion board, same turn</a:t>
            </a:r>
            <a:endParaRPr lang="en-US" sz="1050" dirty="0"/>
          </a:p>
        </p:txBody>
      </p:sp>
      <p:sp>
        <p:nvSpPr>
          <p:cNvPr id="12" name="b1"/>
          <p:cNvSpPr txBox="1"/>
          <p:nvPr/>
        </p:nvSpPr>
        <p:spPr>
          <a:xfrm>
            <a:off x="2476500" y="36576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In progress when a story starts, Done only on its definition of done, slipped with a note; new or renamed stories mirrored in the same turn.</a:t>
            </a:r>
            <a:endParaRPr lang="en-US" sz="950" dirty="0"/>
          </a:p>
        </p:txBody>
      </p:sp>
      <p:sp>
        <p:nvSpPr>
          <p:cNvPr id="13" name="b1"/>
          <p:cNvSpPr/>
          <p:nvPr/>
        </p:nvSpPr>
        <p:spPr>
          <a:xfrm>
            <a:off x="762000" y="4419600"/>
            <a:ext cx="10668000" cy="0"/>
          </a:xfrm>
          <a:prstGeom prst="line">
            <a:avLst/>
          </a:prstGeom>
          <a:noFill/>
          <a:ln w="9525">
            <a:solidFill>
              <a:srgbClr val="DDE1E7"/>
            </a:solidFill>
            <a:prstDash val="solid"/>
          </a:ln>
        </p:spPr>
      </p:sp>
      <p:sp>
        <p:nvSpPr>
          <p:cNvPr id="14" name="b1"/>
          <p:cNvSpPr txBox="1"/>
          <p:nvPr/>
        </p:nvSpPr>
        <p:spPr>
          <a:xfrm>
            <a:off x="762000" y="44958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After every story, the checklist</a:t>
            </a:r>
            <a:endParaRPr lang="en-US" sz="1050" dirty="0"/>
          </a:p>
        </p:txBody>
      </p:sp>
      <p:sp>
        <p:nvSpPr>
          <p:cNvPr id="15" name="b1"/>
          <p:cNvSpPr txBox="1"/>
          <p:nvPr/>
        </p:nvSpPr>
        <p:spPr>
          <a:xfrm>
            <a:off x="2476500" y="44958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Tests per layer; env vars to .env.example, README, OPERATIONS; schema changes to a migration and DOMAIN_MODEL; endpoints to the API table plus an authorization test; ADRs; SCOPE.md at once; prompt changes to docs/07-ai.</a:t>
            </a:r>
            <a:endParaRPr lang="en-US" sz="950" dirty="0"/>
          </a:p>
        </p:txBody>
      </p:sp>
      <p:sp>
        <p:nvSpPr>
          <p:cNvPr id="16" name="b1"/>
          <p:cNvSpPr/>
          <p:nvPr/>
        </p:nvSpPr>
        <p:spPr>
          <a:xfrm>
            <a:off x="762000" y="5257800"/>
            <a:ext cx="10668000" cy="0"/>
          </a:xfrm>
          <a:prstGeom prst="line">
            <a:avLst/>
          </a:prstGeom>
          <a:noFill/>
          <a:ln w="9525">
            <a:solidFill>
              <a:srgbClr val="DDE1E7"/>
            </a:solidFill>
            <a:prstDash val="solid"/>
          </a:ln>
        </p:spPr>
      </p:sp>
      <p:sp>
        <p:nvSpPr>
          <p:cNvPr id="17" name="b1"/>
          <p:cNvSpPr txBox="1"/>
          <p:nvPr/>
        </p:nvSpPr>
        <p:spPr>
          <a:xfrm>
            <a:off x="762000" y="53340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Every hat, every day</a:t>
            </a:r>
            <a:endParaRPr lang="en-US" sz="1050" dirty="0"/>
          </a:p>
        </p:txBody>
      </p:sp>
      <p:sp>
        <p:nvSpPr>
          <p:cNvPr id="18" name="b1"/>
          <p:cNvSpPr txBox="1"/>
          <p:nvPr/>
        </p:nvSpPr>
        <p:spPr>
          <a:xfrm>
            <a:off x="2476500" y="53340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One developer, so the agent carries PM, architect, QA, security, DevOps, writer and reviewer duties per story; sprint close daily; a handover line if a session stops mid-story; no push without my yes.</a:t>
            </a:r>
            <a:endParaRPr lang="en-US" sz="950" dirty="0"/>
          </a:p>
        </p:txBody>
      </p:sp>
      <p:sp>
        <p:nvSpPr>
          <p:cNvPr id="19"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CLAUDE.md at the repository root (sections 0 to 8) · AI_USAGE.md section 3 (the context the AI was given)</a:t>
            </a:r>
            <a:endParaRPr lang="en-US" sz="1000" dirty="0"/>
          </a:p>
        </p:txBody>
      </p:sp>
      <p:sp>
        <p:nvSpPr>
          <p:cNvPr id="20"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18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320"/>
                                        <p:tgtEl>
                                          <p:spTgt spid="10"/>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320"/>
                                        <p:tgtEl>
                                          <p:spTgt spid="11"/>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20"/>
                                        <p:tgtEl>
                                          <p:spTgt spid="12"/>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20"/>
                                        <p:tgtEl>
                                          <p:spTgt spid="13"/>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20"/>
                                        <p:tgtEl>
                                          <p:spTgt spid="14"/>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320"/>
                                        <p:tgtEl>
                                          <p:spTgt spid="15"/>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320"/>
                                        <p:tgtEl>
                                          <p:spTgt spid="16"/>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20"/>
                                        <p:tgtEl>
                                          <p:spTgt spid="17"/>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AI USAGE, 4 OF 4 · THE DEBRIEF MATERIAL</a:t>
            </a:r>
            <a:endParaRPr lang="en-US" sz="1100" dirty="0"/>
          </a:p>
        </p:txBody>
      </p:sp>
      <p:sp>
        <p:nvSpPr>
          <p:cNvPr id="3" name="Text 1"/>
          <p:cNvSpPr txBox="1"/>
          <p:nvPr/>
        </p:nvSpPr>
        <p:spPr>
          <a:xfrm>
            <a:off x="762000" y="863600"/>
            <a:ext cx="10668000" cy="825500"/>
          </a:xfrm>
          <a:prstGeom prst="rect">
            <a:avLst/>
          </a:prstGeom>
          <a:noFill/>
          <a:ln/>
        </p:spPr>
        <p:txBody>
          <a:bodyPr wrap="square" lIns="0" tIns="0" rIns="0" bIns="0" rtlCol="0" anchor="t"/>
          <a:lstStyle/>
          <a:p>
            <a:pPr algn="l" indent="0" marL="0">
              <a:lnSpc>
                <a:spcPct val="108000"/>
              </a:lnSpc>
              <a:buNone/>
            </a:pPr>
            <a:r>
              <a:rPr lang="en-US" sz="2100" dirty="0">
                <a:solidFill>
                  <a:srgbClr val="1B2430"/>
                </a:solidFill>
                <a:latin typeface="Instrument Serif" pitchFamily="34" charset="0"/>
                <a:ea typeface="Instrument Serif" pitchFamily="34" charset="-122"/>
                <a:cs typeface="Instrument Serif" pitchFamily="34" charset="-120"/>
              </a:rPr>
              <a:t>Two decks and three videos, made by a second session from the repository, with the same rules.</a:t>
            </a:r>
            <a:endParaRPr lang="en-US" sz="2100" dirty="0"/>
          </a:p>
        </p:txBody>
      </p:sp>
      <p:sp>
        <p:nvSpPr>
          <p:cNvPr id="4" name="Shape 2"/>
          <p:cNvSpPr/>
          <p:nvPr/>
        </p:nvSpPr>
        <p:spPr>
          <a:xfrm>
            <a:off x="762000" y="1905000"/>
            <a:ext cx="10668000" cy="0"/>
          </a:xfrm>
          <a:prstGeom prst="line">
            <a:avLst/>
          </a:prstGeom>
          <a:noFill/>
          <a:ln w="9525">
            <a:solidFill>
              <a:srgbClr val="DDE1E7"/>
            </a:solidFill>
            <a:prstDash val="solid"/>
          </a:ln>
        </p:spPr>
      </p:sp>
      <p:sp>
        <p:nvSpPr>
          <p:cNvPr id="5" name="Text 3"/>
          <p:cNvSpPr txBox="1"/>
          <p:nvPr/>
        </p:nvSpPr>
        <p:spPr>
          <a:xfrm>
            <a:off x="762000" y="19812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What was made</a:t>
            </a:r>
            <a:endParaRPr lang="en-US" sz="1050" dirty="0"/>
          </a:p>
        </p:txBody>
      </p:sp>
      <p:sp>
        <p:nvSpPr>
          <p:cNvPr id="6" name="Text 4"/>
          <p:cNvSpPr txBox="1"/>
          <p:nvPr/>
        </p:nvSpPr>
        <p:spPr>
          <a:xfrm>
            <a:off x="2476500" y="19812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Launch video 70.7 s, narrated walkthrough 4 min 36 s, technical video 4 min, all 1920 x 1080 at 60 fps with subtitles; the pitch deck (12 slides) and this deck (21 slides). All in docs/13-debrief/.</a:t>
            </a:r>
            <a:endParaRPr lang="en-US" sz="950" dirty="0"/>
          </a:p>
        </p:txBody>
      </p:sp>
      <p:sp>
        <p:nvSpPr>
          <p:cNvPr id="7" name="Shape 5"/>
          <p:cNvSpPr/>
          <p:nvPr/>
        </p:nvSpPr>
        <p:spPr>
          <a:xfrm>
            <a:off x="762000" y="2743200"/>
            <a:ext cx="10668000" cy="0"/>
          </a:xfrm>
          <a:prstGeom prst="line">
            <a:avLst/>
          </a:prstGeom>
          <a:noFill/>
          <a:ln w="9525">
            <a:solidFill>
              <a:srgbClr val="DDE1E7"/>
            </a:solidFill>
            <a:prstDash val="solid"/>
          </a:ln>
        </p:spPr>
      </p:sp>
      <p:sp>
        <p:nvSpPr>
          <p:cNvPr id="8" name="Text 6"/>
          <p:cNvSpPr txBox="1"/>
          <p:nvPr/>
        </p:nvSpPr>
        <p:spPr>
          <a:xfrm>
            <a:off x="762000" y="28194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How</a:t>
            </a:r>
            <a:endParaRPr lang="en-US" sz="1050" dirty="0"/>
          </a:p>
        </p:txBody>
      </p:sp>
      <p:sp>
        <p:nvSpPr>
          <p:cNvPr id="9" name="Text 7"/>
          <p:cNvSpPr txBox="1"/>
          <p:nvPr/>
        </p:nvSpPr>
        <p:spPr>
          <a:xfrm>
            <a:off x="2476500" y="28194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A second Claude Code session after the code freeze, with the video skills installed for the workflow; Playwright footage from the development environment at 4K, a synthetic voice, catalogue music under it, rendered at 60 fps.</a:t>
            </a:r>
            <a:endParaRPr lang="en-US" sz="950" dirty="0"/>
          </a:p>
        </p:txBody>
      </p:sp>
      <p:sp>
        <p:nvSpPr>
          <p:cNvPr id="10" name="b1"/>
          <p:cNvSpPr/>
          <p:nvPr/>
        </p:nvSpPr>
        <p:spPr>
          <a:xfrm>
            <a:off x="762000" y="3581400"/>
            <a:ext cx="10668000" cy="0"/>
          </a:xfrm>
          <a:prstGeom prst="line">
            <a:avLst/>
          </a:prstGeom>
          <a:noFill/>
          <a:ln w="9525">
            <a:solidFill>
              <a:srgbClr val="DDE1E7"/>
            </a:solidFill>
            <a:prstDash val="solid"/>
          </a:ln>
        </p:spPr>
      </p:sp>
      <p:sp>
        <p:nvSpPr>
          <p:cNvPr id="11" name="b1"/>
          <p:cNvSpPr txBox="1"/>
          <p:nvPr/>
        </p:nvSpPr>
        <p:spPr>
          <a:xfrm>
            <a:off x="762000" y="36576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Guardrails</a:t>
            </a:r>
            <a:endParaRPr lang="en-US" sz="1050" dirty="0"/>
          </a:p>
        </p:txBody>
      </p:sp>
      <p:sp>
        <p:nvSpPr>
          <p:cNvPr id="12" name="b1"/>
          <p:cNvSpPr txBox="1"/>
          <p:nvPr/>
        </p:nvSpPr>
        <p:spPr>
          <a:xfrm>
            <a:off x="2476500" y="36576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Plans reviewed by four persona subagents through fourteen revisions before any build; the code, not the design documents, as the source of truth for every label; a leak sweep of every recording; production never touched.</a:t>
            </a:r>
            <a:endParaRPr lang="en-US" sz="950" dirty="0"/>
          </a:p>
        </p:txBody>
      </p:sp>
      <p:sp>
        <p:nvSpPr>
          <p:cNvPr id="13" name="b1"/>
          <p:cNvSpPr/>
          <p:nvPr/>
        </p:nvSpPr>
        <p:spPr>
          <a:xfrm>
            <a:off x="762000" y="4419600"/>
            <a:ext cx="10668000" cy="0"/>
          </a:xfrm>
          <a:prstGeom prst="line">
            <a:avLst/>
          </a:prstGeom>
          <a:noFill/>
          <a:ln w="9525">
            <a:solidFill>
              <a:srgbClr val="DDE1E7"/>
            </a:solidFill>
            <a:prstDash val="solid"/>
          </a:ln>
        </p:spPr>
      </p:sp>
      <p:sp>
        <p:nvSpPr>
          <p:cNvPr id="14" name="b1"/>
          <p:cNvSpPr txBox="1"/>
          <p:nvPr/>
        </p:nvSpPr>
        <p:spPr>
          <a:xfrm>
            <a:off x="762000" y="44958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Diagrams</a:t>
            </a:r>
            <a:endParaRPr lang="en-US" sz="1050" dirty="0"/>
          </a:p>
        </p:txBody>
      </p:sp>
      <p:sp>
        <p:nvSpPr>
          <p:cNvPr id="15" name="b1"/>
          <p:cNvSpPr txBox="1"/>
          <p:nvPr/>
        </p:nvSpPr>
        <p:spPr>
          <a:xfrm>
            <a:off x="2476500" y="44958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Generated by ChatGPT from prompts written against the workflows, Dockerfiles and operations documents, each with an acceptance list; rated against the code before use, two rejected for invented components.</a:t>
            </a:r>
            <a:endParaRPr lang="en-US" sz="950" dirty="0"/>
          </a:p>
        </p:txBody>
      </p:sp>
      <p:sp>
        <p:nvSpPr>
          <p:cNvPr id="16" name="b1"/>
          <p:cNvSpPr/>
          <p:nvPr/>
        </p:nvSpPr>
        <p:spPr>
          <a:xfrm>
            <a:off x="762000" y="5257800"/>
            <a:ext cx="10668000" cy="0"/>
          </a:xfrm>
          <a:prstGeom prst="line">
            <a:avLst/>
          </a:prstGeom>
          <a:noFill/>
          <a:ln w="9525">
            <a:solidFill>
              <a:srgbClr val="DDE1E7"/>
            </a:solidFill>
            <a:prstDash val="solid"/>
          </a:ln>
        </p:spPr>
      </p:sp>
      <p:sp>
        <p:nvSpPr>
          <p:cNvPr id="17" name="b1"/>
          <p:cNvSpPr txBox="1"/>
          <p:nvPr/>
        </p:nvSpPr>
        <p:spPr>
          <a:xfrm>
            <a:off x="762000" y="5334000"/>
            <a:ext cx="1587500" cy="381000"/>
          </a:xfrm>
          <a:prstGeom prst="rect">
            <a:avLst/>
          </a:prstGeom>
          <a:noFill/>
          <a:ln/>
        </p:spPr>
        <p:txBody>
          <a:bodyPr wrap="square" lIns="0" tIns="0" rIns="0" bIns="0" rtlCol="0" anchor="t"/>
          <a:lstStyle/>
          <a:p>
            <a:pPr algn="l" indent="0" marL="0">
              <a:lnSpc>
                <a:spcPct val="115000"/>
              </a:lnSpc>
              <a:buNone/>
            </a:pPr>
            <a:r>
              <a:rPr lang="en-US" sz="1050" b="1" dirty="0">
                <a:solidFill>
                  <a:srgbClr val="1B2430"/>
                </a:solidFill>
                <a:latin typeface="Public Sans" pitchFamily="34" charset="0"/>
                <a:ea typeface="Public Sans" pitchFamily="34" charset="-122"/>
                <a:cs typeface="Public Sans" pitchFamily="34" charset="-120"/>
              </a:rPr>
              <a:t>Decks</a:t>
            </a:r>
            <a:endParaRPr lang="en-US" sz="1050" dirty="0"/>
          </a:p>
        </p:txBody>
      </p:sp>
      <p:sp>
        <p:nvSpPr>
          <p:cNvPr id="18" name="b1"/>
          <p:cNvSpPr txBox="1"/>
          <p:nvPr/>
        </p:nvSpPr>
        <p:spPr>
          <a:xfrm>
            <a:off x="2476500" y="5334000"/>
            <a:ext cx="8953500" cy="7366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One content.json per deck through a pptxgenjs generator; facts pulled from the repository; a cold hiring-manager review on 20 Sep corrected five counts and one claim before this version.</a:t>
            </a:r>
            <a:endParaRPr lang="en-US" sz="950" dirty="0"/>
          </a:p>
        </p:txBody>
      </p:sp>
      <p:sp>
        <p:nvSpPr>
          <p:cNvPr id="19" name="Text 17"/>
          <p:cNvSpPr txBox="1"/>
          <p:nvPr/>
        </p:nvSpPr>
        <p:spPr>
          <a:xfrm>
            <a:off x="762000" y="6299200"/>
            <a:ext cx="952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AI_USAGE.md section 1 (second-session row) and section 4 (Debrief material) · docs/13-debrief/README.md</a:t>
            </a:r>
            <a:endParaRPr lang="en-US" sz="1000" dirty="0"/>
          </a:p>
        </p:txBody>
      </p:sp>
      <p:sp>
        <p:nvSpPr>
          <p:cNvPr id="20" name="Text 18"/>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19 / 21</a:t>
            </a:r>
            <a:endParaRPr lang="en-US" sz="10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0" fill="hold">
                      <p:stCondLst>
                        <p:cond delay="indefinite"/>
                      </p:stCondLst>
                      <p:childTnLst>
                        <p:par>
                          <p:cTn id="3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320"/>
                                        <p:tgtEl>
                                          <p:spTgt spid="10"/>
                                        </p:tgtEl>
                                      </p:cBhvr>
                                    </p:animEffect>
                                  </p:childTnLst>
                                </p:cTn>
                              </p:par>
                              <p:par>
                                <p:cTn id="6" presetID="10" presetClass="entr" presetSubtype="0" fill="hold" grpId="0" nodeType="withEffect">
                                  <p:stCondLst>
                                    <p:cond delay="10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320"/>
                                        <p:tgtEl>
                                          <p:spTgt spid="11"/>
                                        </p:tgtEl>
                                      </p:cBhvr>
                                    </p:animEffect>
                                  </p:childTnLst>
                                </p:cTn>
                              </p:par>
                              <p:par>
                                <p:cTn id="9" presetID="10" presetClass="entr" presetSubtype="0" fill="hold" grpId="0" nodeType="withEffect">
                                  <p:stCondLst>
                                    <p:cond delay="2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20"/>
                                        <p:tgtEl>
                                          <p:spTgt spid="12"/>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20"/>
                                        <p:tgtEl>
                                          <p:spTgt spid="13"/>
                                        </p:tgtEl>
                                      </p:cBhvr>
                                    </p:animEffect>
                                  </p:childTnLst>
                                </p:cTn>
                              </p:par>
                              <p:par>
                                <p:cTn id="15" presetID="10" presetClass="entr" presetSubtype="0" fill="hold" grpId="0" nodeType="withEffect">
                                  <p:stCondLst>
                                    <p:cond delay="4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20"/>
                                        <p:tgtEl>
                                          <p:spTgt spid="14"/>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320"/>
                                        <p:tgtEl>
                                          <p:spTgt spid="15"/>
                                        </p:tgtEl>
                                      </p:cBhvr>
                                    </p:animEffect>
                                  </p:childTnLst>
                                </p:cTn>
                              </p:par>
                              <p:par>
                                <p:cTn id="21" presetID="10" presetClass="entr" presetSubtype="0" fill="hold" grpId="0" nodeType="withEffect">
                                  <p:stCondLst>
                                    <p:cond delay="6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320"/>
                                        <p:tgtEl>
                                          <p:spTgt spid="16"/>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320"/>
                                        <p:tgtEl>
                                          <p:spTgt spid="17"/>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3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7"/>
        </a:solidFill>
      </p:bgPr>
    </p:bg>
    <p:spTree>
      <p:nvGrpSpPr>
        <p:cNvPr id="1" name=""/>
        <p:cNvGrpSpPr/>
        <p:nvPr/>
      </p:nvGrpSpPr>
      <p:grpSpPr>
        <a:xfrm>
          <a:off x="0" y="0"/>
          <a:ext cx="0" cy="0"/>
          <a:chOff x="0" y="0"/>
          <a:chExt cx="0" cy="0"/>
        </a:xfrm>
      </p:grpSpPr>
      <p:sp>
        <p:nvSpPr>
          <p:cNvPr id="2" name="Text 0"/>
          <p:cNvSpPr txBox="1"/>
          <p:nvPr/>
        </p:nvSpPr>
        <p:spPr>
          <a:xfrm>
            <a:off x="762000" y="558800"/>
            <a:ext cx="8890000" cy="190500"/>
          </a:xfrm>
          <a:prstGeom prst="rect">
            <a:avLst/>
          </a:prstGeom>
          <a:noFill/>
          <a:ln/>
        </p:spPr>
        <p:txBody>
          <a:bodyPr wrap="square" lIns="0" tIns="0" rIns="0" bIns="0" rtlCol="0" anchor="t"/>
          <a:lstStyle/>
          <a:p>
            <a:pPr algn="l" indent="0" marL="0">
              <a:lnSpc>
                <a:spcPct val="115000"/>
              </a:lnSpc>
              <a:buNone/>
            </a:pPr>
            <a:r>
              <a:rPr lang="en-US" sz="1100" b="1" spc="90" kern="0" dirty="0">
                <a:solidFill>
                  <a:srgbClr val="616C7A"/>
                </a:solidFill>
                <a:latin typeface="Public Sans" pitchFamily="34" charset="0"/>
                <a:ea typeface="Public Sans" pitchFamily="34" charset="-122"/>
                <a:cs typeface="Public Sans" pitchFamily="34" charset="-120"/>
              </a:rPr>
              <a:t>WHAT I WOULD DO NEXT</a:t>
            </a:r>
            <a:endParaRPr lang="en-US" sz="1100" dirty="0"/>
          </a:p>
        </p:txBody>
      </p:sp>
      <p:sp>
        <p:nvSpPr>
          <p:cNvPr id="3" name="Text 1"/>
          <p:cNvSpPr txBox="1"/>
          <p:nvPr/>
        </p:nvSpPr>
        <p:spPr>
          <a:xfrm>
            <a:off x="762000" y="863600"/>
            <a:ext cx="9906000" cy="635000"/>
          </a:xfrm>
          <a:prstGeom prst="rect">
            <a:avLst/>
          </a:prstGeom>
          <a:noFill/>
          <a:ln/>
        </p:spPr>
        <p:txBody>
          <a:bodyPr wrap="square" lIns="0" tIns="0" rIns="0" bIns="0" rtlCol="0" anchor="t"/>
          <a:lstStyle/>
          <a:p>
            <a:pPr algn="l" indent="0" marL="0">
              <a:lnSpc>
                <a:spcPct val="108000"/>
              </a:lnSpc>
              <a:buNone/>
            </a:pPr>
            <a:r>
              <a:rPr lang="en-US" sz="2400" dirty="0">
                <a:solidFill>
                  <a:srgbClr val="1B2430"/>
                </a:solidFill>
                <a:latin typeface="Instrument Serif" pitchFamily="34" charset="0"/>
                <a:ea typeface="Instrument Serif" pitchFamily="34" charset="-122"/>
                <a:cs typeface="Instrument Serif" pitchFamily="34" charset="-120"/>
              </a:rPr>
              <a:t>Known gaps first, then what production would need.</a:t>
            </a:r>
            <a:endParaRPr lang="en-US" sz="2400" dirty="0"/>
          </a:p>
        </p:txBody>
      </p:sp>
      <p:sp>
        <p:nvSpPr>
          <p:cNvPr id="4" name="Shape 2"/>
          <p:cNvSpPr/>
          <p:nvPr/>
        </p:nvSpPr>
        <p:spPr>
          <a:xfrm>
            <a:off x="762000" y="1841500"/>
            <a:ext cx="5181600" cy="0"/>
          </a:xfrm>
          <a:prstGeom prst="line">
            <a:avLst/>
          </a:prstGeom>
          <a:noFill/>
          <a:ln w="9525">
            <a:solidFill>
              <a:srgbClr val="DDE1E7"/>
            </a:solidFill>
            <a:prstDash val="solid"/>
          </a:ln>
        </p:spPr>
      </p:sp>
      <p:sp>
        <p:nvSpPr>
          <p:cNvPr id="5" name="Text 3"/>
          <p:cNvSpPr txBox="1"/>
          <p:nvPr/>
        </p:nvSpPr>
        <p:spPr>
          <a:xfrm>
            <a:off x="7620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01</a:t>
            </a:r>
            <a:endParaRPr lang="en-US" sz="1100" dirty="0"/>
          </a:p>
        </p:txBody>
      </p:sp>
      <p:sp>
        <p:nvSpPr>
          <p:cNvPr id="6" name="Text 4"/>
          <p:cNvSpPr txBox="1"/>
          <p:nvPr/>
        </p:nvSpPr>
        <p:spPr>
          <a:xfrm>
            <a:off x="11557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Use case 3</a:t>
            </a:r>
            <a:endParaRPr lang="en-US" sz="1150" dirty="0"/>
          </a:p>
        </p:txBody>
      </p:sp>
      <p:sp>
        <p:nvSpPr>
          <p:cNvPr id="7" name="Text 5"/>
          <p:cNvSpPr txBox="1"/>
          <p:nvPr/>
        </p:nvSpPr>
        <p:spPr>
          <a:xfrm>
            <a:off x="11557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The checklist model, the officer capture screen with draft save, per-item clarification and the operator's targeted response. The statuses and transitions exist. About 1.5 days.</a:t>
            </a:r>
            <a:endParaRPr lang="en-US" sz="950" dirty="0"/>
          </a:p>
        </p:txBody>
      </p:sp>
      <p:sp>
        <p:nvSpPr>
          <p:cNvPr id="8" name="Shape 6"/>
          <p:cNvSpPr/>
          <p:nvPr/>
        </p:nvSpPr>
        <p:spPr>
          <a:xfrm>
            <a:off x="6248400" y="1841500"/>
            <a:ext cx="5181600" cy="0"/>
          </a:xfrm>
          <a:prstGeom prst="line">
            <a:avLst/>
          </a:prstGeom>
          <a:noFill/>
          <a:ln w="9525">
            <a:solidFill>
              <a:srgbClr val="DDE1E7"/>
            </a:solidFill>
            <a:prstDash val="solid"/>
          </a:ln>
        </p:spPr>
      </p:sp>
      <p:sp>
        <p:nvSpPr>
          <p:cNvPr id="9" name="Text 7"/>
          <p:cNvSpPr txBox="1"/>
          <p:nvPr/>
        </p:nvSpPr>
        <p:spPr>
          <a:xfrm>
            <a:off x="6248400" y="19558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02</a:t>
            </a:r>
            <a:endParaRPr lang="en-US" sz="1100" dirty="0"/>
          </a:p>
        </p:txBody>
      </p:sp>
      <p:sp>
        <p:nvSpPr>
          <p:cNvPr id="10" name="Text 8"/>
          <p:cNvSpPr txBox="1"/>
          <p:nvPr/>
        </p:nvSpPr>
        <p:spPr>
          <a:xfrm>
            <a:off x="6642100" y="19304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 worker for the AI checks</a:t>
            </a:r>
            <a:endParaRPr lang="en-US" sz="1150" dirty="0"/>
          </a:p>
        </p:txBody>
      </p:sp>
      <p:sp>
        <p:nvSpPr>
          <p:cNvPr id="11" name="Text 9"/>
          <p:cNvSpPr txBox="1"/>
          <p:nvPr/>
        </p:nvSpPr>
        <p:spPr>
          <a:xfrm>
            <a:off x="6642100" y="21463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Redis and a worker, or a Postgres SKIP LOCKED queue, so checks survive deploys and scale apart from the API. ADR-004 has one call site to change.</a:t>
            </a:r>
            <a:endParaRPr lang="en-US" sz="950" dirty="0"/>
          </a:p>
        </p:txBody>
      </p:sp>
      <p:sp>
        <p:nvSpPr>
          <p:cNvPr id="12" name="Shape 10"/>
          <p:cNvSpPr/>
          <p:nvPr/>
        </p:nvSpPr>
        <p:spPr>
          <a:xfrm>
            <a:off x="762000" y="2908300"/>
            <a:ext cx="5181600" cy="0"/>
          </a:xfrm>
          <a:prstGeom prst="line">
            <a:avLst/>
          </a:prstGeom>
          <a:noFill/>
          <a:ln w="9525">
            <a:solidFill>
              <a:srgbClr val="DDE1E7"/>
            </a:solidFill>
            <a:prstDash val="solid"/>
          </a:ln>
        </p:spPr>
      </p:sp>
      <p:sp>
        <p:nvSpPr>
          <p:cNvPr id="13" name="Text 11"/>
          <p:cNvSpPr txBox="1"/>
          <p:nvPr/>
        </p:nvSpPr>
        <p:spPr>
          <a:xfrm>
            <a:off x="7620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03</a:t>
            </a:r>
            <a:endParaRPr lang="en-US" sz="1100" dirty="0"/>
          </a:p>
        </p:txBody>
      </p:sp>
      <p:sp>
        <p:nvSpPr>
          <p:cNvPr id="14" name="Text 12"/>
          <p:cNvSpPr txBox="1"/>
          <p:nvPr/>
        </p:nvSpPr>
        <p:spPr>
          <a:xfrm>
            <a:off x="11557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Object storage and backups</a:t>
            </a:r>
            <a:endParaRPr lang="en-US" sz="1150" dirty="0"/>
          </a:p>
        </p:txBody>
      </p:sp>
      <p:sp>
        <p:nvSpPr>
          <p:cNvPr id="15" name="Text 13"/>
          <p:cNvSpPr txBox="1"/>
          <p:nvPr/>
        </p:nvSpPr>
        <p:spPr>
          <a:xfrm>
            <a:off x="11557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S3-compatible bucket with signed URLs and a virus scan; a file backup and a restore drill; a retention policy for documents and traces.</a:t>
            </a:r>
            <a:endParaRPr lang="en-US" sz="950" dirty="0"/>
          </a:p>
        </p:txBody>
      </p:sp>
      <p:sp>
        <p:nvSpPr>
          <p:cNvPr id="16" name="Shape 14"/>
          <p:cNvSpPr/>
          <p:nvPr/>
        </p:nvSpPr>
        <p:spPr>
          <a:xfrm>
            <a:off x="6248400" y="2908300"/>
            <a:ext cx="5181600" cy="0"/>
          </a:xfrm>
          <a:prstGeom prst="line">
            <a:avLst/>
          </a:prstGeom>
          <a:noFill/>
          <a:ln w="9525">
            <a:solidFill>
              <a:srgbClr val="DDE1E7"/>
            </a:solidFill>
            <a:prstDash val="solid"/>
          </a:ln>
        </p:spPr>
      </p:sp>
      <p:sp>
        <p:nvSpPr>
          <p:cNvPr id="17" name="Text 15"/>
          <p:cNvSpPr txBox="1"/>
          <p:nvPr/>
        </p:nvSpPr>
        <p:spPr>
          <a:xfrm>
            <a:off x="6248400" y="30226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04</a:t>
            </a:r>
            <a:endParaRPr lang="en-US" sz="1100" dirty="0"/>
          </a:p>
        </p:txBody>
      </p:sp>
      <p:sp>
        <p:nvSpPr>
          <p:cNvPr id="18" name="Text 16"/>
          <p:cNvSpPr txBox="1"/>
          <p:nvPr/>
        </p:nvSpPr>
        <p:spPr>
          <a:xfrm>
            <a:off x="6642100" y="29972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Session and edge</a:t>
            </a:r>
            <a:endParaRPr lang="en-US" sz="1150" dirty="0"/>
          </a:p>
        </p:txBody>
      </p:sp>
      <p:sp>
        <p:nvSpPr>
          <p:cNvPr id="19" name="Text 17"/>
          <p:cNvSpPr txBox="1"/>
          <p:nvPr/>
        </p:nvSpPr>
        <p:spPr>
          <a:xfrm>
            <a:off x="6642100" y="32131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httpOnly cookie with CSRF protection instead of sessionStorage; CSP nonces; the rate windows in Redis or at the edge.</a:t>
            </a:r>
            <a:endParaRPr lang="en-US" sz="950" dirty="0"/>
          </a:p>
        </p:txBody>
      </p:sp>
      <p:sp>
        <p:nvSpPr>
          <p:cNvPr id="20" name="Shape 18"/>
          <p:cNvSpPr/>
          <p:nvPr/>
        </p:nvSpPr>
        <p:spPr>
          <a:xfrm>
            <a:off x="762000" y="3975100"/>
            <a:ext cx="5181600" cy="0"/>
          </a:xfrm>
          <a:prstGeom prst="line">
            <a:avLst/>
          </a:prstGeom>
          <a:noFill/>
          <a:ln w="9525">
            <a:solidFill>
              <a:srgbClr val="DDE1E7"/>
            </a:solidFill>
            <a:prstDash val="solid"/>
          </a:ln>
        </p:spPr>
      </p:sp>
      <p:sp>
        <p:nvSpPr>
          <p:cNvPr id="21" name="Text 19"/>
          <p:cNvSpPr txBox="1"/>
          <p:nvPr/>
        </p:nvSpPr>
        <p:spPr>
          <a:xfrm>
            <a:off x="7620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05</a:t>
            </a:r>
            <a:endParaRPr lang="en-US" sz="1100" dirty="0"/>
          </a:p>
        </p:txBody>
      </p:sp>
      <p:sp>
        <p:nvSpPr>
          <p:cNvPr id="22" name="Text 20"/>
          <p:cNvSpPr txBox="1"/>
          <p:nvPr/>
        </p:nvSpPr>
        <p:spPr>
          <a:xfrm>
            <a:off x="11557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AI assurance</a:t>
            </a:r>
            <a:endParaRPr lang="en-US" sz="1150" dirty="0"/>
          </a:p>
        </p:txBody>
      </p:sp>
      <p:sp>
        <p:nvSpPr>
          <p:cNvPr id="23" name="Text 21"/>
          <p:cNvSpPr txBox="1"/>
          <p:nvPr/>
        </p:nvSpPr>
        <p:spPr>
          <a:xfrm>
            <a:off x="11557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A labelled set from officer overrides; promptfoo or PyRIT red-team beyond two injection cases; Project Moonshot for Singapore evidence; calibrated confidence; in-region tracing; a multilingual injection classifier.</a:t>
            </a:r>
            <a:endParaRPr lang="en-US" sz="950" dirty="0"/>
          </a:p>
        </p:txBody>
      </p:sp>
      <p:sp>
        <p:nvSpPr>
          <p:cNvPr id="24" name="Shape 22"/>
          <p:cNvSpPr/>
          <p:nvPr/>
        </p:nvSpPr>
        <p:spPr>
          <a:xfrm>
            <a:off x="6248400" y="3975100"/>
            <a:ext cx="5181600" cy="0"/>
          </a:xfrm>
          <a:prstGeom prst="line">
            <a:avLst/>
          </a:prstGeom>
          <a:noFill/>
          <a:ln w="9525">
            <a:solidFill>
              <a:srgbClr val="DDE1E7"/>
            </a:solidFill>
            <a:prstDash val="solid"/>
          </a:ln>
        </p:spPr>
      </p:sp>
      <p:sp>
        <p:nvSpPr>
          <p:cNvPr id="25" name="Text 23"/>
          <p:cNvSpPr txBox="1"/>
          <p:nvPr/>
        </p:nvSpPr>
        <p:spPr>
          <a:xfrm>
            <a:off x="6248400" y="40894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06</a:t>
            </a:r>
            <a:endParaRPr lang="en-US" sz="1100" dirty="0"/>
          </a:p>
        </p:txBody>
      </p:sp>
      <p:sp>
        <p:nvSpPr>
          <p:cNvPr id="26" name="Text 24"/>
          <p:cNvSpPr txBox="1"/>
          <p:nvPr/>
        </p:nvSpPr>
        <p:spPr>
          <a:xfrm>
            <a:off x="6642100" y="40640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Admin epic, v0.4.0</a:t>
            </a:r>
            <a:endParaRPr lang="en-US" sz="1150" dirty="0"/>
          </a:p>
        </p:txBody>
      </p:sp>
      <p:sp>
        <p:nvSpPr>
          <p:cNvPr id="27" name="Text 25"/>
          <p:cNvSpPr txBox="1"/>
          <p:nvPr/>
        </p:nvSpPr>
        <p:spPr>
          <a:xfrm>
            <a:off x="6642100" y="42799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Overview with AI health and quota counters, audit feed, read-only case view, user management. Role and routes reserved, screens not built.</a:t>
            </a:r>
            <a:endParaRPr lang="en-US" sz="950" dirty="0"/>
          </a:p>
        </p:txBody>
      </p:sp>
      <p:sp>
        <p:nvSpPr>
          <p:cNvPr id="28" name="Shape 26"/>
          <p:cNvSpPr/>
          <p:nvPr/>
        </p:nvSpPr>
        <p:spPr>
          <a:xfrm>
            <a:off x="762000" y="5041900"/>
            <a:ext cx="5181600" cy="0"/>
          </a:xfrm>
          <a:prstGeom prst="line">
            <a:avLst/>
          </a:prstGeom>
          <a:noFill/>
          <a:ln w="9525">
            <a:solidFill>
              <a:srgbClr val="DDE1E7"/>
            </a:solidFill>
            <a:prstDash val="solid"/>
          </a:ln>
        </p:spPr>
      </p:sp>
      <p:sp>
        <p:nvSpPr>
          <p:cNvPr id="29" name="Text 27"/>
          <p:cNvSpPr txBox="1"/>
          <p:nvPr/>
        </p:nvSpPr>
        <p:spPr>
          <a:xfrm>
            <a:off x="7620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07</a:t>
            </a:r>
            <a:endParaRPr lang="en-US" sz="1100" dirty="0"/>
          </a:p>
        </p:txBody>
      </p:sp>
      <p:sp>
        <p:nvSpPr>
          <p:cNvPr id="30" name="Text 28"/>
          <p:cNvSpPr txBox="1"/>
          <p:nvPr/>
        </p:nvSpPr>
        <p:spPr>
          <a:xfrm>
            <a:off x="11557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Delivery</a:t>
            </a:r>
            <a:endParaRPr lang="en-US" sz="1150" dirty="0"/>
          </a:p>
        </p:txBody>
      </p:sp>
      <p:sp>
        <p:nvSpPr>
          <p:cNvPr id="31" name="Text 29"/>
          <p:cNvSpPr txBox="1"/>
          <p:nvPr/>
        </p:nvSpPr>
        <p:spPr>
          <a:xfrm>
            <a:off x="11557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Staging with a copy of production data for migration rehearsal; two replicas; Semgrep and CodeQL; Trivy with an SBOM. Observability, second half: alerts routed to a channel (Alertmanager), nginx and Postgres exporters, one Prometheus per environment, a runbook per alert.</a:t>
            </a:r>
            <a:endParaRPr lang="en-US" sz="950" dirty="0"/>
          </a:p>
        </p:txBody>
      </p:sp>
      <p:sp>
        <p:nvSpPr>
          <p:cNvPr id="32" name="Shape 30"/>
          <p:cNvSpPr/>
          <p:nvPr/>
        </p:nvSpPr>
        <p:spPr>
          <a:xfrm>
            <a:off x="6248400" y="5041900"/>
            <a:ext cx="5181600" cy="0"/>
          </a:xfrm>
          <a:prstGeom prst="line">
            <a:avLst/>
          </a:prstGeom>
          <a:noFill/>
          <a:ln w="9525">
            <a:solidFill>
              <a:srgbClr val="DDE1E7"/>
            </a:solidFill>
            <a:prstDash val="solid"/>
          </a:ln>
        </p:spPr>
      </p:sp>
      <p:sp>
        <p:nvSpPr>
          <p:cNvPr id="33" name="Text 31"/>
          <p:cNvSpPr txBox="1"/>
          <p:nvPr/>
        </p:nvSpPr>
        <p:spPr>
          <a:xfrm>
            <a:off x="6248400" y="5156200"/>
            <a:ext cx="317500" cy="190500"/>
          </a:xfrm>
          <a:prstGeom prst="rect">
            <a:avLst/>
          </a:prstGeom>
          <a:noFill/>
          <a:ln/>
        </p:spPr>
        <p:txBody>
          <a:bodyPr wrap="square" lIns="0" tIns="0" rIns="0" bIns="0" rtlCol="0" anchor="t"/>
          <a:lstStyle/>
          <a:p>
            <a:pPr algn="l" indent="0" marL="0">
              <a:lnSpc>
                <a:spcPct val="115000"/>
              </a:lnSpc>
              <a:buNone/>
            </a:pPr>
            <a:r>
              <a:rPr lang="en-US" sz="1100" dirty="0">
                <a:solidFill>
                  <a:srgbClr val="616C7A"/>
                </a:solidFill>
                <a:latin typeface="IBM Plex Mono" pitchFamily="34" charset="0"/>
                <a:ea typeface="IBM Plex Mono" pitchFamily="34" charset="-122"/>
                <a:cs typeface="IBM Plex Mono" pitchFamily="34" charset="-120"/>
              </a:rPr>
              <a:t>08</a:t>
            </a:r>
            <a:endParaRPr lang="en-US" sz="1100" dirty="0"/>
          </a:p>
        </p:txBody>
      </p:sp>
      <p:sp>
        <p:nvSpPr>
          <p:cNvPr id="34" name="Text 32"/>
          <p:cNvSpPr txBox="1"/>
          <p:nvPr/>
        </p:nvSpPr>
        <p:spPr>
          <a:xfrm>
            <a:off x="6642100" y="5130800"/>
            <a:ext cx="4787900" cy="203200"/>
          </a:xfrm>
          <a:prstGeom prst="rect">
            <a:avLst/>
          </a:prstGeom>
          <a:noFill/>
          <a:ln/>
        </p:spPr>
        <p:txBody>
          <a:bodyPr wrap="square" lIns="0" tIns="0" rIns="0" bIns="0" rtlCol="0" anchor="t"/>
          <a:lstStyle/>
          <a:p>
            <a:pPr algn="l" indent="0" marL="0">
              <a:lnSpc>
                <a:spcPct val="115000"/>
              </a:lnSpc>
              <a:buNone/>
            </a:pPr>
            <a:r>
              <a:rPr lang="en-US" sz="1150" b="1" dirty="0">
                <a:solidFill>
                  <a:srgbClr val="1B2430"/>
                </a:solidFill>
                <a:latin typeface="Public Sans" pitchFamily="34" charset="0"/>
                <a:ea typeface="Public Sans" pitchFamily="34" charset="-122"/>
                <a:cs typeface="Public Sans" pitchFamily="34" charset="-120"/>
              </a:rPr>
              <a:t>Product</a:t>
            </a:r>
            <a:endParaRPr lang="en-US" sz="1150" dirty="0"/>
          </a:p>
        </p:txBody>
      </p:sp>
      <p:sp>
        <p:nvSpPr>
          <p:cNvPr id="35" name="Text 33"/>
          <p:cNvSpPr txBox="1"/>
          <p:nvPr/>
        </p:nvSpPr>
        <p:spPr>
          <a:xfrm>
            <a:off x="6642100" y="5346700"/>
            <a:ext cx="4787900" cy="711200"/>
          </a:xfrm>
          <a:prstGeom prst="rect">
            <a:avLst/>
          </a:prstGeom>
          <a:noFill/>
          <a:ln/>
        </p:spPr>
        <p:txBody>
          <a:bodyPr wrap="square" lIns="0" tIns="0" rIns="0" bIns="0" rtlCol="0" anchor="t"/>
          <a:lstStyle/>
          <a:p>
            <a:pPr algn="l" indent="0" marL="0">
              <a:lnSpc>
                <a:spcPct val="124000"/>
              </a:lnSpc>
              <a:buNone/>
            </a:pPr>
            <a:r>
              <a:rPr lang="en-US" sz="950" dirty="0">
                <a:solidFill>
                  <a:srgbClr val="465060"/>
                </a:solidFill>
                <a:latin typeface="Public Sans" pitchFamily="34" charset="0"/>
                <a:ea typeface="Public Sans" pitchFamily="34" charset="-122"/>
                <a:cs typeface="Public Sans" pitchFamily="34" charset="-120"/>
              </a:rPr>
              <a:t>Email delivery, officer assignment, more licence types via a configurable form schema, a public verification page for certificates.</a:t>
            </a:r>
            <a:endParaRPr lang="en-US" sz="950" dirty="0"/>
          </a:p>
        </p:txBody>
      </p:sp>
      <p:sp>
        <p:nvSpPr>
          <p:cNvPr id="36" name="Text 34"/>
          <p:cNvSpPr txBox="1"/>
          <p:nvPr/>
        </p:nvSpPr>
        <p:spPr>
          <a:xfrm>
            <a:off x="762000" y="6299200"/>
            <a:ext cx="8255000" cy="381000"/>
          </a:xfrm>
          <a:prstGeom prst="rect">
            <a:avLst/>
          </a:prstGeom>
          <a:noFill/>
          <a:ln/>
        </p:spPr>
        <p:txBody>
          <a:bodyPr wrap="square" lIns="0" tIns="0" rIns="0" bIns="0" rtlCol="0" anchor="t"/>
          <a:lstStyle/>
          <a:p>
            <a:pPr algn="l" indent="0" marL="0">
              <a:lnSpc>
                <a:spcPct val="130000"/>
              </a:lnSpc>
              <a:buNone/>
            </a:pPr>
            <a:r>
              <a:rPr lang="en-US" sz="1000" dirty="0">
                <a:solidFill>
                  <a:srgbClr val="616C7A"/>
                </a:solidFill>
                <a:latin typeface="Public Sans" pitchFamily="34" charset="0"/>
                <a:ea typeface="Public Sans" pitchFamily="34" charset="-122"/>
                <a:cs typeface="Public Sans" pitchFamily="34" charset="-120"/>
              </a:rPr>
              <a:t>README.md What I would do next · docs/11-reviews/PRODUCTION_READINESS_REVIEW.md (severity per row)</a:t>
            </a:r>
            <a:endParaRPr lang="en-US" sz="1000" dirty="0"/>
          </a:p>
        </p:txBody>
      </p:sp>
      <p:sp>
        <p:nvSpPr>
          <p:cNvPr id="37" name="Text 35"/>
          <p:cNvSpPr txBox="1"/>
          <p:nvPr/>
        </p:nvSpPr>
        <p:spPr>
          <a:xfrm>
            <a:off x="10160000" y="571500"/>
            <a:ext cx="1270000" cy="190500"/>
          </a:xfrm>
          <a:prstGeom prst="rect">
            <a:avLst/>
          </a:prstGeom>
          <a:noFill/>
          <a:ln/>
        </p:spPr>
        <p:txBody>
          <a:bodyPr wrap="square" lIns="0" tIns="0" rIns="0" bIns="0" rtlCol="0" anchor="t"/>
          <a:lstStyle/>
          <a:p>
            <a:pPr algn="r" indent="0" marL="0">
              <a:lnSpc>
                <a:spcPct val="115000"/>
              </a:lnSpc>
              <a:buNone/>
            </a:pPr>
            <a:r>
              <a:rPr lang="en-US" sz="1000" dirty="0">
                <a:solidFill>
                  <a:srgbClr val="616C7A"/>
                </a:solidFill>
                <a:latin typeface="IBM Plex Mono" pitchFamily="34" charset="0"/>
                <a:ea typeface="IBM Plex Mono" pitchFamily="34" charset="-122"/>
                <a:cs typeface="IBM Plex Mono" pitchFamily="34" charset="-120"/>
              </a:rPr>
              <a:t>20 / 21</a:t>
            </a:r>
            <a:endParaRPr lang="en-US" sz="1000" dirty="0"/>
          </a:p>
        </p:txBody>
      </p:sp>
    </p:spTree>
  </p:cSld>
  <p:clrMapOvr>
    <a:masterClrMapping/>
  </p:clrMapOvr>
  <p:transition spd="fast">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2430"/>
        </a:solidFill>
      </p:bgPr>
    </p:bg>
    <p:spTree>
      <p:nvGrpSpPr>
        <p:cNvPr id="1" name=""/>
        <p:cNvGrpSpPr/>
        <p:nvPr/>
      </p:nvGrpSpPr>
      <p:grpSpPr>
        <a:xfrm>
          <a:off x="0" y="0"/>
          <a:ext cx="0" cy="0"/>
          <a:chOff x="0" y="0"/>
          <a:chExt cx="0" cy="0"/>
        </a:xfrm>
      </p:grpSpPr>
      <p:pic>
        <p:nvPicPr>
          <p:cNvPr id="2" name="Image 0" descr="/Users/suhaasnv/Documents/Desktop ALT/portfolioprojects/permitflow/notes/pitch/pitch-deck/pptx/build/mark.png">    </p:cNvPr>
          <p:cNvPicPr>
            <a:picLocks noChangeAspect="1"/>
          </p:cNvPicPr>
          <p:nvPr/>
        </p:nvPicPr>
        <p:blipFill>
          <a:blip r:embed="rId1"/>
          <a:stretch>
            <a:fillRect/>
          </a:stretch>
        </p:blipFill>
        <p:spPr>
          <a:xfrm>
            <a:off x="762000" y="1397000"/>
            <a:ext cx="609600" cy="609600"/>
          </a:xfrm>
          <a:prstGeom prst="rect">
            <a:avLst/>
          </a:prstGeom>
        </p:spPr>
      </p:pic>
      <p:sp>
        <p:nvSpPr>
          <p:cNvPr id="3" name="Text 0"/>
          <p:cNvSpPr txBox="1"/>
          <p:nvPr/>
        </p:nvSpPr>
        <p:spPr>
          <a:xfrm>
            <a:off x="1549400" y="1397000"/>
            <a:ext cx="3810000" cy="609600"/>
          </a:xfrm>
          <a:prstGeom prst="rect">
            <a:avLst/>
          </a:prstGeom>
          <a:noFill/>
          <a:ln/>
        </p:spPr>
        <p:txBody>
          <a:bodyPr wrap="square" lIns="0" tIns="0" rIns="0" bIns="0" rtlCol="0" anchor="ctr"/>
          <a:lstStyle/>
          <a:p>
            <a:pPr algn="l" indent="0" marL="0">
              <a:lnSpc>
                <a:spcPct val="115000"/>
              </a:lnSpc>
              <a:buNone/>
            </a:pPr>
            <a:r>
              <a:rPr lang="en-US" sz="2976" b="1" spc="-100" kern="0" dirty="0">
                <a:solidFill>
                  <a:srgbClr val="FFFFFF"/>
                </a:solidFill>
                <a:latin typeface="Public Sans" pitchFamily="34" charset="0"/>
                <a:ea typeface="Public Sans" pitchFamily="34" charset="-122"/>
                <a:cs typeface="Public Sans" pitchFamily="34" charset="-120"/>
              </a:rPr>
              <a:t>PermitFlow</a:t>
            </a:r>
            <a:endParaRPr lang="en-US" sz="2976" dirty="0"/>
          </a:p>
        </p:txBody>
      </p:sp>
      <p:sp>
        <p:nvSpPr>
          <p:cNvPr id="4" name="Text 1"/>
          <p:cNvSpPr txBox="1"/>
          <p:nvPr/>
        </p:nvSpPr>
        <p:spPr>
          <a:xfrm>
            <a:off x="762000" y="2311400"/>
            <a:ext cx="9525000" cy="1397000"/>
          </a:xfrm>
          <a:prstGeom prst="rect">
            <a:avLst/>
          </a:prstGeom>
          <a:noFill/>
          <a:ln/>
        </p:spPr>
        <p:txBody>
          <a:bodyPr wrap="square" lIns="0" tIns="0" rIns="0" bIns="0" rtlCol="0" anchor="t"/>
          <a:lstStyle/>
          <a:p>
            <a:pPr algn="l" indent="0" marL="0">
              <a:lnSpc>
                <a:spcPct val="108000"/>
              </a:lnSpc>
              <a:buNone/>
            </a:pPr>
            <a:r>
              <a:rPr lang="en-US" sz="4000" dirty="0">
                <a:solidFill>
                  <a:srgbClr val="FFFFFF"/>
                </a:solidFill>
                <a:latin typeface="Instrument Serif" pitchFamily="34" charset="0"/>
                <a:ea typeface="Instrument Serif" pitchFamily="34" charset="-122"/>
                <a:cs typeface="Instrument Serif" pitchFamily="34" charset="-120"/>
              </a:rPr>
              <a:t>Every decision has a file. Every claim has a test.</a:t>
            </a:r>
            <a:endParaRPr lang="en-US" sz="4000" dirty="0"/>
          </a:p>
        </p:txBody>
      </p:sp>
      <p:sp>
        <p:nvSpPr>
          <p:cNvPr id="5" name="Shape 2"/>
          <p:cNvSpPr/>
          <p:nvPr/>
        </p:nvSpPr>
        <p:spPr>
          <a:xfrm>
            <a:off x="762000" y="4445000"/>
            <a:ext cx="1135888" cy="431800"/>
          </a:xfrm>
          <a:prstGeom prst="roundRect">
            <a:avLst>
              <a:gd name="adj" fmla="val 8824"/>
            </a:avLst>
          </a:prstGeom>
          <a:solidFill>
            <a:srgbClr val="1B2430"/>
          </a:solidFill>
          <a:ln w="9525">
            <a:solidFill>
              <a:srgbClr val="5A6373"/>
            </a:solidFill>
            <a:prstDash val="solid"/>
          </a:ln>
        </p:spPr>
      </p:sp>
      <p:sp>
        <p:nvSpPr>
          <p:cNvPr id="6" name="Text 3"/>
          <p:cNvSpPr txBox="1"/>
          <p:nvPr/>
        </p:nvSpPr>
        <p:spPr>
          <a:xfrm>
            <a:off x="762000" y="4445000"/>
            <a:ext cx="1135888"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SCOPE.md</a:t>
            </a:r>
            <a:endParaRPr lang="en-US" sz="1200" dirty="0"/>
          </a:p>
        </p:txBody>
      </p:sp>
      <p:sp>
        <p:nvSpPr>
          <p:cNvPr id="7" name="Text 4"/>
          <p:cNvSpPr txBox="1"/>
          <p:nvPr/>
        </p:nvSpPr>
        <p:spPr>
          <a:xfrm>
            <a:off x="198678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8" name="Shape 5"/>
          <p:cNvSpPr/>
          <p:nvPr/>
        </p:nvSpPr>
        <p:spPr>
          <a:xfrm>
            <a:off x="2266188" y="4445000"/>
            <a:ext cx="745744" cy="431800"/>
          </a:xfrm>
          <a:prstGeom prst="roundRect">
            <a:avLst>
              <a:gd name="adj" fmla="val 8824"/>
            </a:avLst>
          </a:prstGeom>
          <a:solidFill>
            <a:srgbClr val="1B2430"/>
          </a:solidFill>
          <a:ln w="9525">
            <a:solidFill>
              <a:srgbClr val="5A6373"/>
            </a:solidFill>
            <a:prstDash val="solid"/>
          </a:ln>
        </p:spPr>
      </p:sp>
      <p:sp>
        <p:nvSpPr>
          <p:cNvPr id="9" name="Text 6"/>
          <p:cNvSpPr txBox="1"/>
          <p:nvPr/>
        </p:nvSpPr>
        <p:spPr>
          <a:xfrm>
            <a:off x="2266188" y="4445000"/>
            <a:ext cx="745744"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ADRs</a:t>
            </a:r>
            <a:endParaRPr lang="en-US" sz="1200" dirty="0"/>
          </a:p>
        </p:txBody>
      </p:sp>
      <p:sp>
        <p:nvSpPr>
          <p:cNvPr id="10" name="Text 7"/>
          <p:cNvSpPr txBox="1"/>
          <p:nvPr/>
        </p:nvSpPr>
        <p:spPr>
          <a:xfrm>
            <a:off x="3100832"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1" name="Shape 8"/>
          <p:cNvSpPr/>
          <p:nvPr/>
        </p:nvSpPr>
        <p:spPr>
          <a:xfrm>
            <a:off x="3380232" y="4445000"/>
            <a:ext cx="1428496" cy="431800"/>
          </a:xfrm>
          <a:prstGeom prst="roundRect">
            <a:avLst>
              <a:gd name="adj" fmla="val 8824"/>
            </a:avLst>
          </a:prstGeom>
          <a:solidFill>
            <a:srgbClr val="1B2430"/>
          </a:solidFill>
          <a:ln w="9525">
            <a:solidFill>
              <a:srgbClr val="5A6373"/>
            </a:solidFill>
            <a:prstDash val="solid"/>
          </a:ln>
        </p:spPr>
      </p:sp>
      <p:sp>
        <p:nvSpPr>
          <p:cNvPr id="12" name="Text 9"/>
          <p:cNvSpPr txBox="1"/>
          <p:nvPr/>
        </p:nvSpPr>
        <p:spPr>
          <a:xfrm>
            <a:off x="3380232" y="4445000"/>
            <a:ext cx="142849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workflow.py</a:t>
            </a:r>
            <a:endParaRPr lang="en-US" sz="1200" dirty="0"/>
          </a:p>
        </p:txBody>
      </p:sp>
      <p:sp>
        <p:nvSpPr>
          <p:cNvPr id="13" name="Text 10"/>
          <p:cNvSpPr txBox="1"/>
          <p:nvPr/>
        </p:nvSpPr>
        <p:spPr>
          <a:xfrm>
            <a:off x="489762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4" name="Shape 11"/>
          <p:cNvSpPr/>
          <p:nvPr/>
        </p:nvSpPr>
        <p:spPr>
          <a:xfrm>
            <a:off x="5177028" y="4445000"/>
            <a:ext cx="843280" cy="431800"/>
          </a:xfrm>
          <a:prstGeom prst="roundRect">
            <a:avLst>
              <a:gd name="adj" fmla="val 8824"/>
            </a:avLst>
          </a:prstGeom>
          <a:solidFill>
            <a:srgbClr val="1B2430"/>
          </a:solidFill>
          <a:ln w="9525">
            <a:solidFill>
              <a:srgbClr val="5A6373"/>
            </a:solidFill>
            <a:prstDash val="solid"/>
          </a:ln>
        </p:spPr>
      </p:sp>
      <p:sp>
        <p:nvSpPr>
          <p:cNvPr id="15" name="Text 12"/>
          <p:cNvSpPr txBox="1"/>
          <p:nvPr/>
        </p:nvSpPr>
        <p:spPr>
          <a:xfrm>
            <a:off x="5177028" y="4445000"/>
            <a:ext cx="84328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tests</a:t>
            </a:r>
            <a:endParaRPr lang="en-US" sz="1200" dirty="0"/>
          </a:p>
        </p:txBody>
      </p:sp>
      <p:sp>
        <p:nvSpPr>
          <p:cNvPr id="16" name="Text 13"/>
          <p:cNvSpPr txBox="1"/>
          <p:nvPr/>
        </p:nvSpPr>
        <p:spPr>
          <a:xfrm>
            <a:off x="6109208"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17" name="Shape 14"/>
          <p:cNvSpPr/>
          <p:nvPr/>
        </p:nvSpPr>
        <p:spPr>
          <a:xfrm>
            <a:off x="6388608" y="4445000"/>
            <a:ext cx="940816" cy="431800"/>
          </a:xfrm>
          <a:prstGeom prst="roundRect">
            <a:avLst>
              <a:gd name="adj" fmla="val 8824"/>
            </a:avLst>
          </a:prstGeom>
          <a:solidFill>
            <a:srgbClr val="1B2430"/>
          </a:solidFill>
          <a:ln w="9525">
            <a:solidFill>
              <a:srgbClr val="5A6373"/>
            </a:solidFill>
            <a:prstDash val="solid"/>
          </a:ln>
        </p:spPr>
      </p:sp>
      <p:sp>
        <p:nvSpPr>
          <p:cNvPr id="18" name="Text 15"/>
          <p:cNvSpPr txBox="1"/>
          <p:nvPr/>
        </p:nvSpPr>
        <p:spPr>
          <a:xfrm>
            <a:off x="6388608" y="4445000"/>
            <a:ext cx="94081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ci.yml</a:t>
            </a:r>
            <a:endParaRPr lang="en-US" sz="1200" dirty="0"/>
          </a:p>
        </p:txBody>
      </p:sp>
      <p:sp>
        <p:nvSpPr>
          <p:cNvPr id="19" name="Text 16"/>
          <p:cNvSpPr txBox="1"/>
          <p:nvPr/>
        </p:nvSpPr>
        <p:spPr>
          <a:xfrm>
            <a:off x="741832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20" name="Shape 17"/>
          <p:cNvSpPr/>
          <p:nvPr/>
        </p:nvSpPr>
        <p:spPr>
          <a:xfrm>
            <a:off x="7697724" y="4445000"/>
            <a:ext cx="1330960" cy="431800"/>
          </a:xfrm>
          <a:prstGeom prst="roundRect">
            <a:avLst>
              <a:gd name="adj" fmla="val 8824"/>
            </a:avLst>
          </a:prstGeom>
          <a:solidFill>
            <a:srgbClr val="1B2430"/>
          </a:solidFill>
          <a:ln w="9525">
            <a:solidFill>
              <a:srgbClr val="5A6373"/>
            </a:solidFill>
            <a:prstDash val="solid"/>
          </a:ln>
        </p:spPr>
      </p:sp>
      <p:sp>
        <p:nvSpPr>
          <p:cNvPr id="21" name="Text 18"/>
          <p:cNvSpPr txBox="1"/>
          <p:nvPr/>
        </p:nvSpPr>
        <p:spPr>
          <a:xfrm>
            <a:off x="7697724" y="4445000"/>
            <a:ext cx="1330960"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deploy.yml</a:t>
            </a:r>
            <a:endParaRPr lang="en-US" sz="1200" dirty="0"/>
          </a:p>
        </p:txBody>
      </p:sp>
      <p:sp>
        <p:nvSpPr>
          <p:cNvPr id="22" name="Text 19"/>
          <p:cNvSpPr txBox="1"/>
          <p:nvPr/>
        </p:nvSpPr>
        <p:spPr>
          <a:xfrm>
            <a:off x="9117584" y="4445000"/>
            <a:ext cx="190500" cy="431800"/>
          </a:xfrm>
          <a:prstGeom prst="rect">
            <a:avLst/>
          </a:prstGeom>
          <a:noFill/>
          <a:ln/>
        </p:spPr>
        <p:txBody>
          <a:bodyPr wrap="square" lIns="0" tIns="0" rIns="0" bIns="0" rtlCol="0" anchor="ctr"/>
          <a:lstStyle/>
          <a:p>
            <a:pPr algn="ctr" indent="0" marL="0">
              <a:lnSpc>
                <a:spcPct val="115000"/>
              </a:lnSpc>
              <a:buNone/>
            </a:pPr>
            <a:r>
              <a:rPr lang="en-US" sz="1100" dirty="0">
                <a:solidFill>
                  <a:srgbClr val="9AA3B0"/>
                </a:solidFill>
                <a:latin typeface="Public Sans" pitchFamily="34" charset="0"/>
                <a:ea typeface="Public Sans" pitchFamily="34" charset="-122"/>
                <a:cs typeface="Public Sans" pitchFamily="34" charset="-120"/>
              </a:rPr>
              <a:t>→</a:t>
            </a:r>
            <a:endParaRPr lang="en-US" sz="1100" dirty="0"/>
          </a:p>
        </p:txBody>
      </p:sp>
      <p:sp>
        <p:nvSpPr>
          <p:cNvPr id="23" name="Shape 20"/>
          <p:cNvSpPr/>
          <p:nvPr/>
        </p:nvSpPr>
        <p:spPr>
          <a:xfrm>
            <a:off x="9396984" y="4445000"/>
            <a:ext cx="1916176" cy="431800"/>
          </a:xfrm>
          <a:prstGeom prst="roundRect">
            <a:avLst>
              <a:gd name="adj" fmla="val 8824"/>
            </a:avLst>
          </a:prstGeom>
          <a:solidFill>
            <a:srgbClr val="1B2430"/>
          </a:solidFill>
          <a:ln w="9525">
            <a:solidFill>
              <a:srgbClr val="5A6373"/>
            </a:solidFill>
            <a:prstDash val="solid"/>
          </a:ln>
        </p:spPr>
      </p:sp>
      <p:sp>
        <p:nvSpPr>
          <p:cNvPr id="24" name="Text 21"/>
          <p:cNvSpPr txBox="1"/>
          <p:nvPr/>
        </p:nvSpPr>
        <p:spPr>
          <a:xfrm>
            <a:off x="9396984" y="4445000"/>
            <a:ext cx="1916176" cy="431800"/>
          </a:xfrm>
          <a:prstGeom prst="rect">
            <a:avLst/>
          </a:prstGeom>
          <a:noFill/>
          <a:ln/>
        </p:spPr>
        <p:txBody>
          <a:bodyPr wrap="none" lIns="0" tIns="0" rIns="0" bIns="0" rtlCol="0" anchor="ctr"/>
          <a:lstStyle/>
          <a:p>
            <a:pPr algn="ctr" indent="0" marL="0">
              <a:lnSpc>
                <a:spcPct val="115000"/>
              </a:lnSpc>
              <a:buNone/>
            </a:pPr>
            <a:r>
              <a:rPr lang="en-US" sz="1200" b="1" dirty="0">
                <a:solidFill>
                  <a:srgbClr val="FFFFFF"/>
                </a:solidFill>
                <a:latin typeface="IBM Plex Mono" pitchFamily="34" charset="0"/>
                <a:ea typeface="IBM Plex Mono" pitchFamily="34" charset="-122"/>
                <a:cs typeface="IBM Plex Mono" pitchFamily="34" charset="-120"/>
              </a:rPr>
              <a:t>permitflow.space</a:t>
            </a:r>
            <a:endParaRPr lang="en-US" sz="1200" dirty="0"/>
          </a:p>
        </p:txBody>
      </p:sp>
      <p:sp>
        <p:nvSpPr>
          <p:cNvPr id="25" name="Text 22"/>
          <p:cNvSpPr txBox="1"/>
          <p:nvPr/>
        </p:nvSpPr>
        <p:spPr>
          <a:xfrm>
            <a:off x="762000" y="5816600"/>
            <a:ext cx="6350000" cy="254000"/>
          </a:xfrm>
          <a:prstGeom prst="rect">
            <a:avLst/>
          </a:prstGeom>
          <a:noFill/>
          <a:ln/>
        </p:spPr>
        <p:txBody>
          <a:bodyPr wrap="square" lIns="0" tIns="0" rIns="0" bIns="0" rtlCol="0" anchor="b"/>
          <a:lstStyle/>
          <a:p>
            <a:pPr algn="l" indent="0" marL="0">
              <a:lnSpc>
                <a:spcPct val="115000"/>
              </a:lnSpc>
              <a:buNone/>
            </a:pPr>
            <a:r>
              <a:rPr lang="en-US" sz="1300" dirty="0">
                <a:solidFill>
                  <a:srgbClr val="C5CBD4"/>
                </a:solidFill>
                <a:latin typeface="Public Sans" pitchFamily="34" charset="0"/>
                <a:ea typeface="Public Sans" pitchFamily="34" charset="-122"/>
                <a:cs typeface="Public Sans" pitchFamily="34" charset="-120"/>
              </a:rPr>
              <a:t>Thank you. Questions on any file, any decision, any gap.</a:t>
            </a:r>
            <a:endParaRPr lang="en-US" sz="1300" dirty="0"/>
          </a:p>
        </p:txBody>
      </p:sp>
      <p:sp>
        <p:nvSpPr>
          <p:cNvPr id="26" name="Text 23"/>
          <p:cNvSpPr txBox="1"/>
          <p:nvPr/>
        </p:nvSpPr>
        <p:spPr>
          <a:xfrm>
            <a:off x="7620000" y="5562600"/>
            <a:ext cx="3810000" cy="508000"/>
          </a:xfrm>
          <a:prstGeom prst="rect">
            <a:avLst/>
          </a:prstGeom>
          <a:noFill/>
          <a:ln/>
        </p:spPr>
        <p:txBody>
          <a:bodyPr wrap="square" lIns="0" tIns="0" rIns="0" bIns="0" rtlCol="0" anchor="b"/>
          <a:lstStyle/>
          <a:p>
            <a:pPr algn="r" indent="0" marL="0">
              <a:lnSpc>
                <a:spcPct val="140000"/>
              </a:lnSpc>
              <a:buNone/>
            </a:pPr>
            <a:r>
              <a:rPr lang="en-US" sz="1500" dirty="0">
                <a:solidFill>
                  <a:srgbClr val="FFFFFF"/>
                </a:solidFill>
                <a:latin typeface="Public Sans" pitchFamily="34" charset="0"/>
                <a:ea typeface="Public Sans" pitchFamily="34" charset="-122"/>
                <a:cs typeface="Public Sans" pitchFamily="34" charset="-120"/>
              </a:rPr>
              <a:t>permitflow.space</a:t>
            </a:r>
            <a:endParaRPr lang="en-US" sz="1500" dirty="0"/>
          </a:p>
          <a:p>
            <a:pPr algn="r" indent="0" marL="0">
              <a:lnSpc>
                <a:spcPct val="140000"/>
              </a:lnSpc>
              <a:buNone/>
            </a:pPr>
            <a:r>
              <a:rPr lang="en-US" sz="1500" dirty="0">
                <a:solidFill>
                  <a:srgbClr val="FFFFFF"/>
                </a:solidFill>
                <a:latin typeface="Public Sans" pitchFamily="34" charset="0"/>
                <a:ea typeface="Public Sans" pitchFamily="34" charset="-122"/>
                <a:cs typeface="Public Sans" pitchFamily="34" charset="-120"/>
              </a:rPr>
              <a:t>github.com/SuhaasNv/permitflow</a:t>
            </a:r>
            <a:endParaRPr lang="en-US" sz="1500" dirty="0"/>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PermitFlow technical deck</dc:title>
  <dc:subject>PptxGenJS Presentation</dc:subject>
  <dc:creator>Suhaas Nv</dc:creator>
  <cp:lastModifiedBy>Suhaas Nv</cp:lastModifiedBy>
  <cp:revision>1</cp:revision>
  <dcterms:created xsi:type="dcterms:W3CDTF">2026-09-20T06:17:03Z</dcterms:created>
  <dcterms:modified xsi:type="dcterms:W3CDTF">2026-09-20T06:17:03Z</dcterms:modified>
</cp:coreProperties>
</file>